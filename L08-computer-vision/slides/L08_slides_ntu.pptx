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to L08 — Computer Vision and CNNs. Marcus's next ask is to auto-tag product photos.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Last lesson Sarah trained her first NN. Marcus's next ask: auto-tag the catalogue.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questions structure today: what is an image? what is a CNN? when do we use transfer learning?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 image is just a tensor. Channels-first convention: (batch, channels, height, width).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Flatten + MLP works for small images, but parameter count explodes at realistic sizes.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MLP treats every pixel as independent — ignores that nearby pixels are related.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convolution slides a small kernel over an image. The kernel is just 9 numbers — and it can detect edges.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real conv layer learns many kernels in parallel — each produces its own feature map.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mechanical operators: stride, padding, pooling.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Stacking conv layers gives compositionality: edges → parts → objects.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02_convolutions_intuition.ipynb: 20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canonical CNN block: Conv → ReLU → Pool. Stack a few of these + classifier head and you're done.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Concrete: TinyCNN on Fashion-MNIST. 105K parameters, 2 conv blocks + small classifier.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CNNs reuse the same training loop you learnt in L07. Only architecture changes.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 Fashion-MNIST, TinyCNN beats FlatMLP with half the parameters. Bigger win as image complexity grows.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03_first_cnn.ipynb: 25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 catalogues don't have 60K labelled images. They have 500. That's where transfer learning matters.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Pretrained models come from torchvision. ResNet18 / EfficientNet / ViT are workhorses.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transfer-learning patterns: feature extraction (freeze, train head) vs fine-tuning (unfreeze last block).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Honest finding: on Fashion-MNIST, head-only transfer LOSES to from-scratch CNN. Fine-tuning recovers.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Code-along on 04_transfer_learning.ipynb: 25 min, Core only.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Sarah's Friday recommendation for Marcus's auto-tagger.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Production maturity: ship the model + a human-in-the-loop + a data-collection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things from L08.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When-to-use-what cheat sheet for CV problems.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Common CNN pitfalls.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 week (L09): natural language search.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Q&amp;A and assignment preview.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3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365760" y="1417320"/>
            <a:ext cx="534924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rial"/>
              </a:rPr>
              <a:t>L08 — Computer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926080"/>
            <a:ext cx="5029200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Convolutional Neural Networks &amp; Transfer Learning</a:t>
            </a:r>
          </a:p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/>
            </a:r>
          </a:p>
          <a:p>
            <a:pPr algn="l"/>
            <a:r>
              <a:rPr sz="1400">
                <a:solidFill>
                  <a:srgbClr val="FFFFFF"/>
                </a:solidFill>
                <a:latin typeface="Arial"/>
              </a:rPr>
              <a:t>Convolutions · CNNs in PyTorch · Pretrained models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Where We Left 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From session features to pixels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0972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Marcus, end of L07: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14500"/>
            <a:ext cx="7886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Trebuchet MS"/>
              </a:rPr>
              <a:t>"Can we auto-tag product photos as dress, shirt, sneaker?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Trebuchet MS"/>
              </a:rPr>
              <a:t>We have ~10,000 new uploads each season."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7462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What's different this week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308610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New modality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91840" y="30861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Inputs are images (28×28×1 or 224×224×3 tensors), not tabular rows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" y="346329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New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346329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Convolutional layers replace the flat MLP first layer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0060" y="38404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New tool: transfer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384048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Pretrained models from torchvision — don't start from scratch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0060" y="421767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▸ Same training 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421767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zero_grad → forward → loss → backward → step (L07 unchanged)</a:t>
            </a:r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Today's Three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From pixels to predictions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548640" cy="994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4305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990" y="133731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4018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What does an image LOOK LIKE</a:t>
            </a:r>
          </a:p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to a neural network?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8882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A tensor of pixel intensities — and why MLPs choke on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34590"/>
            <a:ext cx="548640" cy="9944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4033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2990" y="243459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53746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What IS a convolutional</a:t>
            </a:r>
          </a:p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neural network?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8610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Stack of (Conv → ReLU → Pool) blocks + a classifier head.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31870"/>
            <a:ext cx="548640" cy="9944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3761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2990" y="353187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3474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When should we reach for</a:t>
            </a:r>
          </a:p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transfer learning?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8338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When data is small AND the domain is close to ImageNet.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An Image Is Just A Tensor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Numbers in a particular shape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4114800" cy="30861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4018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Grayscale 28×28 image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48790"/>
            <a:ext cx="37719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9E795"/>
                </a:solidFill>
                <a:latin typeface="Consolas"/>
              </a:rPr>
              <a:t>shape = (1, 28, 28)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233172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Colour 224×224 photo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640330"/>
            <a:ext cx="37719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9E795"/>
                </a:solidFill>
                <a:latin typeface="Consolas"/>
              </a:rPr>
              <a:t>shape = (3, 224, 224)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3223260"/>
            <a:ext cx="3771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PyTorch batch convention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3531870"/>
            <a:ext cx="377190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F9E795"/>
                </a:solidFill>
                <a:latin typeface="Consolas"/>
              </a:rPr>
              <a:t>(B, C, H, W)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303020"/>
            <a:ext cx="3909060" cy="30861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937760" y="1440180"/>
            <a:ext cx="37033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Pixel values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1783080"/>
            <a:ext cx="3703320" cy="2400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Raw: 0-255 (uint8)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Normalised: 0.0-1.0 (float)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Grayscale: 1 intensity per pixel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RGB: 3 intensities per pixel (R, G, B)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To a neural network this is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literally a NumPy array. No</a:t>
            </a:r>
          </a:p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special "image" magic.</a:t>
            </a:r>
          </a:p>
        </p:txBody>
      </p:sp>
      <p:pic>
        <p:nvPicPr>
          <p:cNvPr id="16" name="Picture 1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The Flat-MLP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Why MLPs don't scale to real images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33731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Flatten the image, feed it to a 2-hidden-layer MLP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51660"/>
            <a:ext cx="4046220" cy="2606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9545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E795"/>
                </a:solidFill>
                <a:latin typeface="Calibri"/>
              </a:rPr>
              <a:t>28×28 Fashion-MNIST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2930" y="236601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Input dim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74620" y="236601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onsolas"/>
              </a:rPr>
              <a:t>784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2930" y="270891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Hidden 1 (256)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74620" y="270891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onsolas"/>
              </a:rPr>
              <a:t>200,960 params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2930" y="305181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Hidden 2 (128)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74620" y="305181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onsolas"/>
              </a:rPr>
              <a:t>32,896 params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930" y="339471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Output (10)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74620" y="339471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onsolas"/>
              </a:rPr>
              <a:t>1,290 params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2930" y="373761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TOTAL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4620" y="373761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onsolas"/>
              </a:rPr>
              <a:t>~235K parameters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851660"/>
            <a:ext cx="4046220" cy="260604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834890" y="195453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Calibri"/>
              </a:rPr>
              <a:t>224×224×3 (real photos)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34890" y="236601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Input dim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0" y="236601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onsolas"/>
              </a:rPr>
              <a:t>150,528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34890" y="270891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Hidden 1 (256)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70891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onsolas"/>
              </a:rPr>
              <a:t>38.5M params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34890" y="305181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Hidden 2 (128)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305181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onsolas"/>
              </a:rPr>
              <a:t>32,896 params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34890" y="339471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Output (10)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0" y="339471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onsolas"/>
              </a:rPr>
              <a:t>1,290 params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834890" y="373761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TOTAL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0" y="3737610"/>
            <a:ext cx="17145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onsolas"/>
              </a:rPr>
              <a:t>~38.6M params  💥</a:t>
            </a:r>
          </a:p>
        </p:txBody>
      </p:sp>
      <p:pic>
        <p:nvPicPr>
          <p:cNvPr id="33" name="Picture 3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The Spatial-Locality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What MLPs can't exploit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5087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E8F1F5"/>
                </a:solidFill>
                <a:latin typeface="Calibri"/>
              </a:rPr>
              <a:t>Two facts about images that MLPs IGNORE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4879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1.  LOCALITY  —  nearby pixels are related (edges, textures live in small patches)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212598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2.  TRANSLATION INVARIANCE  —  a sleeve is a sleeve top-left or bottom-right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220" y="246888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9E795"/>
                </a:solidFill>
                <a:latin typeface="Calibri"/>
              </a:rPr>
              <a:t>An MLP must LEARN these from data. Expensive and fragile.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3017520"/>
            <a:ext cx="8298180" cy="13716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20" y="312039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What we need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" y="3463290"/>
            <a:ext cx="7886700" cy="8915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A model that BAKES IN locality and translation invariance.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Same feature detector slides everywhere — fewer parameters, better inductive bias.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That model is the Convolutional Neural Network.</a:t>
            </a:r>
          </a:p>
        </p:txBody>
      </p:sp>
      <p:pic>
        <p:nvPicPr>
          <p:cNvPr id="14" name="Picture 1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The Kernel Intuition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Nine numbers that detect edges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4114800" cy="32918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38404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E8F1F5"/>
                </a:solidFill>
                <a:latin typeface="Calibri"/>
              </a:rPr>
              <a:t>An edge-detection kernel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83080"/>
            <a:ext cx="384048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100" b="1">
                <a:solidFill>
                  <a:srgbClr val="F9E795"/>
                </a:solidFill>
                <a:latin typeface="Consolas"/>
              </a:rPr>
              <a:t>-1   -1   -1</a:t>
            </a:r>
          </a:p>
          <a:p>
            <a:pPr algn="ctr"/>
            <a:r>
              <a:rPr sz="2100" b="1">
                <a:solidFill>
                  <a:srgbClr val="F9E795"/>
                </a:solidFill>
                <a:latin typeface="Consolas"/>
              </a:rPr>
              <a:t>-1    8   -1</a:t>
            </a:r>
          </a:p>
          <a:p>
            <a:pPr algn="ctr"/>
            <a:r>
              <a:rPr sz="2100" b="1">
                <a:solidFill>
                  <a:srgbClr val="F9E795"/>
                </a:solidFill>
                <a:latin typeface="Consolas"/>
              </a:rPr>
              <a:t>-1   -1   -1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7220" y="3429000"/>
            <a:ext cx="384048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Flat region: 8 - 8 = 0  → output near 0</a:t>
            </a:r>
          </a:p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Edge: large difference → big output</a:t>
            </a:r>
          </a:p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/>
            <a:r>
              <a:rPr sz="975" b="0">
                <a:solidFill>
                  <a:srgbClr val="FFFFFF"/>
                </a:solidFill>
                <a:latin typeface="Calibri"/>
              </a:rPr>
              <a:t>Nine numbers detect ALL edges everywhere in the image.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303020"/>
            <a:ext cx="3909060" cy="329184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72050" y="1405889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Parameter savings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72050" y="174879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7293"/>
                </a:solidFill>
                <a:latin typeface="Consolas"/>
              </a:rPr>
              <a:t>Conv2d(3, 32, kernel=3)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72050" y="2057400"/>
            <a:ext cx="3703320" cy="157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onsolas"/>
              </a:rPr>
              <a:t>32 kernels × (3×3×3) + 32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onsolas"/>
              </a:rPr>
              <a:t>  = 864 + 32 = 896 params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2050" y="2743200"/>
            <a:ext cx="370332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7293"/>
                </a:solidFill>
                <a:latin typeface="Calibri"/>
              </a:rPr>
              <a:t>MLP first layer, same input/output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2050" y="3051810"/>
            <a:ext cx="3703320" cy="15773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onsolas"/>
              </a:rPr>
              <a:t>224×224×3 × 32 = 4,816,896 params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72050" y="3771900"/>
            <a:ext cx="3531870" cy="6858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3500" y="3840480"/>
            <a:ext cx="32918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~5,000× fewer</a:t>
            </a:r>
          </a:p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parameters</a:t>
            </a:r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Multiple Kernels = Feature Maps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One layer learns many detectors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0972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E8F1F5"/>
                </a:solidFill>
                <a:latin typeface="Calibri"/>
              </a:rPr>
              <a:t>A Conv2d layer with out_channels=16 learns 16 different 3×3 kernels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83080"/>
            <a:ext cx="7886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Each kernel produces its own "feature map" — a 2D activation showing where its pattern fired.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Deep CNNs stack many of these.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0604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What different depths detect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017520"/>
            <a:ext cx="240030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4350" y="305181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Layer 1  (shallow)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17520" y="305181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Edges, blobs, simple colour gradients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429000"/>
            <a:ext cx="240030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4350" y="346329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Layer 2-3  (middle)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46329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Corners, curves, repeated textures, small parts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840480"/>
            <a:ext cx="240030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4350" y="387477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Layer 4+  (deep)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17520" y="387477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Object parts (sleeves, wheels), whole-object detectors</a:t>
            </a:r>
          </a:p>
        </p:txBody>
      </p:sp>
      <p:pic>
        <p:nvPicPr>
          <p:cNvPr id="19" name="Picture 18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Stride · Padding · Pooling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The three mechanical operators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1714500" cy="994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11630"/>
            <a:ext cx="17145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STRIDE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28850" y="1337310"/>
            <a:ext cx="644652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00300" y="1474470"/>
            <a:ext cx="617220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How many pixels the kernel jumps between applications.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Stride 2 halves the output size.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2434590"/>
            <a:ext cx="1714500" cy="9944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2708910"/>
            <a:ext cx="17145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PADDING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228850" y="2434590"/>
            <a:ext cx="644652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00300" y="2571750"/>
            <a:ext cx="617220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Zeros added around the input so the kernel can reach the edges.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padding=1 with kernel=3 keeps the output size identical to the input.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3531870"/>
            <a:ext cx="1714500" cy="9944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3806190"/>
            <a:ext cx="17145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MAX POOLING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228850" y="3531870"/>
            <a:ext cx="644652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00300" y="3669030"/>
            <a:ext cx="6172200" cy="7543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After a conv block, take the max over each 2×2 window.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Shrinks feature maps (less compute), adds translation tolerance.</a:t>
            </a:r>
          </a:p>
        </p:txBody>
      </p:sp>
      <p:pic>
        <p:nvPicPr>
          <p:cNvPr id="18" name="Picture 17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Stacking = Compositionality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Why deep CNNs work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8298180" cy="48006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4018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E8F1F5"/>
                </a:solidFill>
                <a:latin typeface="Calibri"/>
              </a:rPr>
              <a:t>Each layer combines features from the layer below — hierarchy of visual concepts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194560"/>
            <a:ext cx="1508760" cy="15773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80060" y="2297430"/>
            <a:ext cx="1371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0060" y="2708910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E8F1F5"/>
                </a:solidFill>
                <a:latin typeface="Calibri"/>
              </a:rPr>
              <a:t>raw pixels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125980" y="2194560"/>
            <a:ext cx="1508760" cy="15773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194560" y="2297430"/>
            <a:ext cx="1371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Layer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94560" y="2708910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E8F1F5"/>
                </a:solidFill>
                <a:latin typeface="Calibri"/>
              </a:rPr>
              <a:t>edges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2194560"/>
            <a:ext cx="1508760" cy="15773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09060" y="2297430"/>
            <a:ext cx="1371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Layer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09060" y="2708910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E8F1F5"/>
                </a:solidFill>
                <a:latin typeface="Calibri"/>
              </a:rPr>
              <a:t>corners,</a:t>
            </a:r>
          </a:p>
          <a:p>
            <a:pPr algn="ctr"/>
            <a:r>
              <a:rPr sz="1050" b="0">
                <a:solidFill>
                  <a:srgbClr val="E8F1F5"/>
                </a:solidFill>
                <a:latin typeface="Calibri"/>
              </a:rPr>
              <a:t>textures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554980" y="2194560"/>
            <a:ext cx="1508760" cy="15773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2297430"/>
            <a:ext cx="1371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Layer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2708910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E8F1F5"/>
                </a:solidFill>
                <a:latin typeface="Calibri"/>
              </a:rPr>
              <a:t>object parts</a:t>
            </a:r>
          </a:p>
          <a:p>
            <a:pPr algn="ctr"/>
            <a:r>
              <a:rPr sz="1050" b="0">
                <a:solidFill>
                  <a:srgbClr val="E8F1F5"/>
                </a:solidFill>
                <a:latin typeface="Calibri"/>
              </a:rPr>
              <a:t>(sleeves)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69480" y="2194560"/>
            <a:ext cx="1508760" cy="157734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38060" y="2297430"/>
            <a:ext cx="1371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125" b="1">
                <a:solidFill>
                  <a:srgbClr val="FFFFFF"/>
                </a:solidFill>
                <a:latin typeface="Calibri"/>
              </a:rPr>
              <a:t>Layer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38060" y="2708910"/>
            <a:ext cx="13716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50" b="0">
                <a:solidFill>
                  <a:srgbClr val="E8F1F5"/>
                </a:solidFill>
                <a:latin typeface="Calibri"/>
              </a:rPr>
              <a:t>whole</a:t>
            </a:r>
          </a:p>
          <a:p>
            <a:pPr algn="ctr"/>
            <a:r>
              <a:rPr sz="1050" b="0">
                <a:solidFill>
                  <a:srgbClr val="E8F1F5"/>
                </a:solidFill>
                <a:latin typeface="Calibri"/>
              </a:rPr>
              <a:t>categories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411480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Each kernel is small (e.g. 3×3), but stacking 4-5 layers gives a large effective receptive field —</a:t>
            </a:r>
          </a:p>
        </p:txBody>
      </p:sp>
      <p:pic>
        <p:nvPicPr>
          <p:cNvPr id="25" name="Picture 2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onsolas"/>
              </a:rPr>
              <a:t>Open: 02_convolutions_intuition.ipynb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Apply 3 hand-crafted kernels (edge / blur / sharpen) to a real image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Compare manual conv2d to nn.Conv2d — see they agree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Inspect 16 random-init feature maps; see max-pool halve resolution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6903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Stop at the Extension marker on the optional sections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20 minutes  ·  Stop at the Extension marker</a:t>
            </a:r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The CNN Block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Conv → ReLU → MaxPool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33731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Three operations, stacked 2-3 times, then a Flatten + Linear head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920240"/>
            <a:ext cx="8298180" cy="20574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" y="2057400"/>
            <a:ext cx="7886700" cy="1851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9E795"/>
                </a:solidFill>
                <a:latin typeface="Consolas"/>
              </a:rPr>
              <a:t>Conv2d(in, out, kernel=3, padding=1)</a:t>
            </a:r>
          </a:p>
          <a:p>
            <a:pPr algn="ctr"/>
            <a:r>
              <a:rPr sz="1500" b="1">
                <a:solidFill>
                  <a:srgbClr val="F9E795"/>
                </a:solidFill>
                <a:latin typeface="Consolas"/>
              </a:rPr>
              <a:t>        ↓</a:t>
            </a:r>
          </a:p>
          <a:p>
            <a:pPr algn="ctr"/>
            <a:r>
              <a:rPr sz="1500" b="1">
                <a:solidFill>
                  <a:srgbClr val="F9E795"/>
                </a:solidFill>
                <a:latin typeface="Consolas"/>
              </a:rPr>
              <a:t>ReLU()</a:t>
            </a:r>
          </a:p>
          <a:p>
            <a:pPr algn="ctr"/>
            <a:r>
              <a:rPr sz="1500" b="1">
                <a:solidFill>
                  <a:srgbClr val="F9E795"/>
                </a:solidFill>
                <a:latin typeface="Consolas"/>
              </a:rPr>
              <a:t>        ↓</a:t>
            </a:r>
          </a:p>
          <a:p>
            <a:pPr algn="ctr"/>
            <a:r>
              <a:rPr sz="1500" b="1">
                <a:solidFill>
                  <a:srgbClr val="F9E795"/>
                </a:solidFill>
                <a:latin typeface="Consolas"/>
              </a:rPr>
              <a:t>MaxPool2d(2)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411480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Repeat 2-3 times, doubling output channels each block.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TinyCNN — A Working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Two conv blocks + classifier head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32918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3086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Conv2d(1,  16, k=3, padding=1)  →  ReLU  →  MaxPool(2)      # 1×28×28 → 16×14×14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Conv2d(16, 32, k=3, padding=1)  →  ReLU  →  MaxPool(2)      # 16×14×14 → 32×7×7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Flatten                                                    # → 1,568 features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Linear(1568, 64)  →  ReLU</a:t>
            </a:r>
          </a:p>
          <a:p>
            <a:pPr algn="l"/>
            <a:r>
              <a:rPr sz="1050" b="0">
                <a:solidFill>
                  <a:srgbClr val="F9E795"/>
                </a:solidFill>
                <a:latin typeface="Consolas"/>
              </a:rPr>
              <a:t>Linear(64, 10)                                             # 10 class logits</a:t>
            </a:r>
          </a:p>
        </p:txBody>
      </p:sp>
      <p:pic>
        <p:nvPicPr>
          <p:cNvPr id="10" name="Picture 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The Training Loop Is Unchanged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L07's 5 lines still rule them all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33731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Same five-line pattern. Conv2d / MaxPool2d are drop-in replacements for Linear.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783080"/>
            <a:ext cx="8298180" cy="26060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220" y="1954530"/>
            <a:ext cx="7886700" cy="2331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F9E795"/>
                </a:solidFill>
                <a:latin typeface="Consolas"/>
              </a:rPr>
              <a:t>for xb, yb in train_loader:</a:t>
            </a:r>
          </a:p>
          <a:p>
            <a:pPr algn="l"/>
            <a:r>
              <a:rPr sz="1350" b="0">
                <a:solidFill>
                  <a:srgbClr val="F9E795"/>
                </a:solidFill>
                <a:latin typeface="Consolas"/>
              </a:rPr>
              <a:t>    optimizer.zero_grad()</a:t>
            </a:r>
          </a:p>
          <a:p>
            <a:pPr algn="l"/>
            <a:r>
              <a:rPr sz="1350" b="0">
                <a:solidFill>
                  <a:srgbClr val="F9E795"/>
                </a:solidFill>
                <a:latin typeface="Consolas"/>
              </a:rPr>
              <a:t>    loss = criterion(model(xb), yb)</a:t>
            </a:r>
          </a:p>
          <a:p>
            <a:pPr algn="l"/>
            <a:r>
              <a:rPr sz="1350" b="0">
                <a:solidFill>
                  <a:srgbClr val="F9E795"/>
                </a:solidFill>
                <a:latin typeface="Consolas"/>
              </a:rPr>
              <a:t>    loss.backward()</a:t>
            </a:r>
          </a:p>
          <a:p>
            <a:pPr algn="l"/>
            <a:r>
              <a:rPr sz="1350" b="0">
                <a:solidFill>
                  <a:srgbClr val="F9E795"/>
                </a:solidFill>
                <a:latin typeface="Consolas"/>
              </a:rPr>
              <a:t>    optimizer.step()</a:t>
            </a:r>
          </a:p>
        </p:txBody>
      </p:sp>
      <p:pic>
        <p:nvPicPr>
          <p:cNvPr id="11" name="Picture 1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Results — TinyCNN vs FlatMLP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Same dataset, same training, different model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440180"/>
            <a:ext cx="8298180" cy="4114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50876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54680" y="150876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Params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49240" y="150876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Test Acc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69480" y="150876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Note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195453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930" y="202311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FlatMLP (L07-style)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54680" y="202311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onsolas"/>
              </a:rPr>
              <a:t>235K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49240" y="202311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0.871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02311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Linear baseline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2400300"/>
            <a:ext cx="82981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82930" y="2468880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TinyCNN  (this lesson)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154680" y="246888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onsolas"/>
              </a:rPr>
              <a:t>106K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49240" y="2468880"/>
            <a:ext cx="1920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0.884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69480" y="2468880"/>
            <a:ext cx="1508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Beats MLP with 45% of the params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086100"/>
            <a:ext cx="829818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7220" y="315468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CNN advantage is small here (~10% relative error reduction) — on CIFAR-10 the gap is far bigger.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70332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TakeAway: on tabular data, gradient boosting often ties NN. On images, CNNs win and the gap grows with image complexity.</a:t>
            </a:r>
          </a:p>
        </p:txBody>
      </p:sp>
      <p:pic>
        <p:nvPicPr>
          <p:cNvPr id="24" name="Picture 2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onsolas"/>
              </a:rPr>
              <a:t>Open: 03_first_cnn.ipynb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Build TinyCNN (2 conv blocks + classifier head) in PyTorch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Train 5 epochs on Fashion-MNIST — same loop as L07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Compare CNN vs MLP confusion matrix — see the shirt-class advantage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6903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Visualise the learnt 3×3 kernels in the first conv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25 minutes  ·  Stop at the Extension marker</a:t>
            </a:r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Transfer Learning — Why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Real catalogues have hundreds of images, not millions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89154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9E795"/>
                </a:solidFill>
                <a:latin typeface="Calibri"/>
              </a:rPr>
              <a:t>The reality at NorthStar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680210"/>
            <a:ext cx="7886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Fashion-MNIST has 60,000 training images. Marcus's catalogue has ~500 per class.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Train a CNN from scratch on 500 images and it OVERFITS — memorises noise.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400300"/>
            <a:ext cx="8298180" cy="20574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" y="250317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065A82"/>
                </a:solidFill>
                <a:latin typeface="Calibri"/>
              </a:rPr>
              <a:t>The fix — don't start from scratch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2880360"/>
            <a:ext cx="7886700" cy="1714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Start from a model someone else trained on a much bigger dataset (ImageNet, 1.2M photos).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Keep its hard-won feature detectors. Replace only the final classification head.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Train that head on YOUR 500 images.</a:t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/>
            </a:r>
          </a:p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You're not training a model — you're adapting one.</a:t>
            </a:r>
          </a:p>
        </p:txBody>
      </p:sp>
      <p:pic>
        <p:nvPicPr>
          <p:cNvPr id="12" name="Picture 1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Pretrained Models In torchvision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ImageNet veterans, ready to download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6858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371600"/>
            <a:ext cx="788670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F9E795"/>
                </a:solidFill>
                <a:latin typeface="Consolas"/>
              </a:rPr>
              <a:t>from torchvision.models import resnet18, ResNet18_Weights</a:t>
            </a:r>
          </a:p>
          <a:p>
            <a:pPr algn="l"/>
            <a:r>
              <a:rPr sz="1200" b="1">
                <a:solidFill>
                  <a:srgbClr val="F9E795"/>
                </a:solidFill>
                <a:latin typeface="Consolas"/>
              </a:rPr>
              <a:t>model = resnet18(weights=ResNet18_Weights.DEFAULT)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2598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1C7293"/>
                </a:solidFill>
                <a:latin typeface="Calibri"/>
              </a:rPr>
              <a:t>Common backbones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468880"/>
            <a:ext cx="240030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14350" y="250317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nsolas"/>
              </a:rPr>
              <a:t>ResNet18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50317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11.7M params · the workhorse · trains fast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46070"/>
            <a:ext cx="240030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4350" y="288036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nsolas"/>
              </a:rPr>
              <a:t>ResNet50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17520" y="288036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25.6M params · stronger features · slower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3223260"/>
            <a:ext cx="240030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350" y="325755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nsolas"/>
              </a:rPr>
              <a:t>MobileNetV3-small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17520" y="325755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1.5M params · for production / on-device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600450"/>
            <a:ext cx="240030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14350" y="363474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nsolas"/>
              </a:rPr>
              <a:t>EfficientNet-B0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0" y="363474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5.3M params · great accuracy/compute tradeoff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977640"/>
            <a:ext cx="240030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4350" y="4011930"/>
            <a:ext cx="22631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onsolas"/>
              </a:rPr>
              <a:t>ViT-B/16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017520" y="401193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86M params · transformer-based · needs more data</a:t>
            </a:r>
          </a:p>
        </p:txBody>
      </p:sp>
      <p:pic>
        <p:nvPicPr>
          <p:cNvPr id="24" name="Picture 23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Two Transfer-Learning Patterns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Feature extraction vs fine-tuning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2194560" cy="144018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611630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FEATURE EXTRACTION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08910" y="1337310"/>
            <a:ext cx="6000750" cy="14401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880360" y="1440180"/>
            <a:ext cx="56921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65A82"/>
                </a:solidFill>
                <a:latin typeface="Consolas"/>
              </a:rPr>
              <a:t>1.  Freeze every layer</a:t>
            </a:r>
          </a:p>
          <a:p>
            <a:pPr algn="l"/>
            <a:r>
              <a:rPr sz="975" b="0">
                <a:solidFill>
                  <a:srgbClr val="065A82"/>
                </a:solidFill>
                <a:latin typeface="Consolas"/>
              </a:rPr>
              <a:t>2.  Replace classifier head</a:t>
            </a:r>
          </a:p>
          <a:p>
            <a:pPr algn="l"/>
            <a:r>
              <a:rPr sz="975" b="0">
                <a:solidFill>
                  <a:srgbClr val="065A82"/>
                </a:solidFill>
                <a:latin typeface="Consolas"/>
              </a:rPr>
              <a:t>3.  Train only the head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80360" y="2297430"/>
            <a:ext cx="56921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Fast. Few trainable params. Works when target domain matches pretraining domain.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914650"/>
            <a:ext cx="2194560" cy="144018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3188970"/>
            <a:ext cx="2194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FINE-TUNING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08910" y="2914650"/>
            <a:ext cx="6000750" cy="14401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3017520"/>
            <a:ext cx="569214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065A82"/>
                </a:solidFill>
                <a:latin typeface="Consolas"/>
              </a:rPr>
              <a:t>1.  Freeze most of the backbone</a:t>
            </a:r>
          </a:p>
          <a:p>
            <a:pPr algn="l"/>
            <a:r>
              <a:rPr sz="975" b="0">
                <a:solidFill>
                  <a:srgbClr val="065A82"/>
                </a:solidFill>
                <a:latin typeface="Consolas"/>
              </a:rPr>
              <a:t>2.  Unfreeze the LAST conv block (layer4)</a:t>
            </a:r>
          </a:p>
          <a:p>
            <a:pPr algn="l"/>
            <a:r>
              <a:rPr sz="975" b="0">
                <a:solidFill>
                  <a:srgbClr val="065A82"/>
                </a:solidFill>
                <a:latin typeface="Consolas"/>
              </a:rPr>
              <a:t>3.  Train with a TINY learning rate (1e-4)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360" y="3874770"/>
            <a:ext cx="569214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Slower. More params updated. Adapts pretrained features when domain gap is large.</a:t>
            </a:r>
          </a:p>
        </p:txBody>
      </p:sp>
      <p:pic>
        <p:nvPicPr>
          <p:cNvPr id="16" name="Picture 1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The Honest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Transfer learning isn't free — domain match matters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3429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33731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ImageNet (colour photos) → Fashion-MNIST (grayscale silhouettes): big domain gap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1817370"/>
            <a:ext cx="829818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2930" y="1851660"/>
            <a:ext cx="4457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Approach (2K imgs, head-only or fine-tune)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185166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FFFFFF"/>
                </a:solidFill>
                <a:latin typeface="Calibri"/>
              </a:rPr>
              <a:t>Test accuracy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228850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82930" y="2263140"/>
            <a:ext cx="4457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TinyCNN from scratch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226314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onsolas"/>
              </a:rPr>
              <a:t>0.787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606040"/>
            <a:ext cx="8298180" cy="3429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82930" y="2640330"/>
            <a:ext cx="4457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ResNet18 transfer — head only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264033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96167"/>
                </a:solidFill>
                <a:latin typeface="Consolas"/>
              </a:rPr>
              <a:t>0.715  ← loses!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11480" y="2983229"/>
            <a:ext cx="8298180" cy="3429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82930" y="3017519"/>
            <a:ext cx="4457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ResNet18 — fine-tune layer4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017519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21C39A"/>
                </a:solidFill>
                <a:latin typeface="Consolas"/>
              </a:rPr>
              <a:t>0.832  ← wins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3771900"/>
            <a:ext cx="8298180" cy="96012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" y="3874770"/>
            <a:ext cx="788670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Lesson: transfer learning isn't magic. On a wide domain gap, head-only feature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extraction can lose. Fine-tune the last conv block at a tiny LR to recover.</a:t>
            </a:r>
          </a:p>
          <a:p>
            <a:pPr algn="l"/>
            <a:r>
              <a:rPr sz="975" b="0">
                <a:solidFill>
                  <a:srgbClr val="E8F1F5"/>
                </a:solidFill>
                <a:latin typeface="Calibri"/>
              </a:rPr>
              <a:t>For Marcus's real catalogue (colour photos, closer to ImageNet), expect a much smaller gap.</a:t>
            </a:r>
          </a:p>
        </p:txBody>
      </p:sp>
      <p:pic>
        <p:nvPicPr>
          <p:cNvPr id="22" name="Picture 21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51435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42900" y="342900"/>
            <a:ext cx="8457971" cy="44577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85800"/>
            <a:ext cx="80238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21C39A"/>
                </a:solidFill>
                <a:latin typeface="Calibri"/>
              </a:rPr>
              <a:t>CODE-ALONG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802386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FFFFFF"/>
                </a:solidFill>
                <a:latin typeface="Consolas"/>
              </a:rPr>
              <a:t>Open: 04_transfer_learning.ipynb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25980"/>
            <a:ext cx="80238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8F1F5"/>
                </a:solidFill>
                <a:latin typeface="Calibri"/>
              </a:rPr>
              <a:t>What you'll do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53746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Subsample Fashion-MNIST to 200 images per class (small data)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1465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Train TinyCNN from scratch as baseline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Load pretrained ResNet18, freeze backbone, train head only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669030"/>
            <a:ext cx="78867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Calibri"/>
              </a:rPr>
              <a:t>Sweep training set size, then fine-tune layer4 in Extension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3909060"/>
            <a:ext cx="802386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046220"/>
            <a:ext cx="788670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FFFFFF"/>
                </a:solidFill>
                <a:latin typeface="Calibri"/>
              </a:rPr>
              <a:t>25 minutes  ·  Stop at the Extension marker</a:t>
            </a:r>
          </a:p>
        </p:txBody>
      </p:sp>
      <p:pic>
        <p:nvPicPr>
          <p:cNvPr id="13" name="Picture 12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Sarah's Friday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Production-ready transfer learning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4401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Sarah, end of L08: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14500"/>
            <a:ext cx="7886700" cy="1028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"Start with a pretrained ResNet18. Train new head for a few epochs.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Unfreeze the last conv block (layer4) at LR 1e-4. Fine-tune until val flattens.</a:t>
            </a:r>
          </a:p>
          <a:p>
            <a:pPr algn="l"/>
            <a:r>
              <a:rPr sz="1125" b="0">
                <a:solidFill>
                  <a:srgbClr val="FFFFFF"/>
                </a:solidFill>
                <a:latin typeface="Trebuchet MS"/>
              </a:rPr>
              <a:t>Expect ~92-95% top-1 on the 10 main categories with 500 photos per class."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880360"/>
            <a:ext cx="829818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" y="291465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Recipe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336042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1.  Load pretrained ResNet18 backbone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366903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2.  Replace fc head → 10-class linear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" y="397764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3.  Train head for 3 epochs at LR 1e-3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" y="428625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4.  Unfreeze layer4, fine-tune at LR 1e-4 until validation curve flattens</a:t>
            </a:r>
          </a:p>
        </p:txBody>
      </p:sp>
      <p:pic>
        <p:nvPicPr>
          <p:cNvPr id="15" name="Picture 14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Production Maturity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Ship the model + a human + a plan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48006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371600"/>
            <a:ext cx="788670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>
                <a:solidFill>
                  <a:srgbClr val="065A82"/>
                </a:solidFill>
                <a:latin typeface="Calibri"/>
              </a:rPr>
              <a:t>Don't ship the model in isolation. Ship a SYSTEM.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057400"/>
            <a:ext cx="1645920" cy="68580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80" y="222885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Day 1</a:t>
            </a:r>
          </a:p>
        </p:txBody>
      </p:sp>
      <p:sp>
        <p:nvSpPr>
          <p:cNvPr id="9" name="Rectangle 8"/>
          <p:cNvSpPr/>
          <p:nvPr/>
        </p:nvSpPr>
        <p:spPr>
          <a:xfrm>
            <a:off x="2160270" y="2057400"/>
            <a:ext cx="654939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228850"/>
            <a:ext cx="62407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Model auto-tags. Surface top-3 predictions to merchandisers for confirmation.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880360"/>
            <a:ext cx="1645920" cy="6858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305181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Month 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160270" y="2880360"/>
            <a:ext cx="654939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31720" y="3051810"/>
            <a:ext cx="62407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Track which predictions merchandisers correct. Build labelled dataset.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703320"/>
            <a:ext cx="1645920" cy="68580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874770"/>
            <a:ext cx="1645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Month 6+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60270" y="3703320"/>
            <a:ext cx="6549390" cy="68580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331720" y="3874770"/>
            <a:ext cx="6240780" cy="4114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Retrain / fine-tune backbone on collected corrections. Drop human review for high-confidence cases.</a:t>
            </a:r>
          </a:p>
        </p:txBody>
      </p:sp>
      <p:pic>
        <p:nvPicPr>
          <p:cNvPr id="20" name="Picture 1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Three Things To Remember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L08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37310"/>
            <a:ext cx="548640" cy="994410"/>
          </a:xfrm>
          <a:prstGeom prst="rect">
            <a:avLst/>
          </a:prstGeom>
          <a:solidFill>
            <a:srgbClr val="065A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54305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1</a:t>
            </a:r>
          </a:p>
        </p:txBody>
      </p:sp>
      <p:sp>
        <p:nvSpPr>
          <p:cNvPr id="7" name="Rectangle 6"/>
          <p:cNvSpPr/>
          <p:nvPr/>
        </p:nvSpPr>
        <p:spPr>
          <a:xfrm>
            <a:off x="1062990" y="133731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234440" y="144018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Convolutions exploit locality</a:t>
            </a:r>
          </a:p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and translation invariance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34440" y="198882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Same kernel slides everywhere → fewer params, better inductive bias for images.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2434590"/>
            <a:ext cx="548640" cy="99441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64033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62990" y="243459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40" y="253746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The PyTorch training loop</a:t>
            </a:r>
          </a:p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doesn't change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308610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Conv2d / MaxPool2d are drop-in replacements for Linear. L07's loop just works.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3531870"/>
            <a:ext cx="548640" cy="99441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" y="3737610"/>
            <a:ext cx="54864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150" b="1">
                <a:solidFill>
                  <a:srgbClr val="FFFFFF"/>
                </a:solidFill>
                <a:latin typeface="Trebuchet MS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62990" y="3531870"/>
            <a:ext cx="7612380" cy="99441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234440" y="3634740"/>
            <a:ext cx="7338060" cy="480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Don't train CNNs from scratch</a:t>
            </a:r>
          </a:p>
          <a:p>
            <a:pPr algn="l"/>
            <a:r>
              <a:rPr sz="1275" b="1">
                <a:solidFill>
                  <a:srgbClr val="065A82"/>
                </a:solidFill>
                <a:latin typeface="Calibri"/>
              </a:rPr>
              <a:t>on small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4183380"/>
            <a:ext cx="73380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Use a pretrained backbone. Head-only sometimes works, fine-tuning usually does.</a:t>
            </a:r>
          </a:p>
        </p:txBody>
      </p:sp>
      <p:pic>
        <p:nvPicPr>
          <p:cNvPr id="21" name="Picture 20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Method Cheat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Pick the right tool for the data you have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829818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82930" y="140589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663440" y="140589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Recommendation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178308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82930" y="18516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Tabular features (rows × cols)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185166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Stick with gradient boosting or LR (L02-L04)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" y="2228850"/>
            <a:ext cx="82981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2930" y="229743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10K+ small images, 10 classes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29743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Train a small CNN from scratch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1480" y="267462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2930" y="2743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&lt; 1K images per class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74320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Transfer learning with a pretrained backbone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3120390"/>
            <a:ext cx="82981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2930" y="318897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100+ classes, lots of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318897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Fine-tune a larger pretrained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11480" y="3566160"/>
            <a:ext cx="8298180" cy="411480"/>
          </a:xfrm>
          <a:prstGeom prst="rect">
            <a:avLst/>
          </a:prstGeom>
          <a:solidFill>
            <a:srgbClr val="E8F1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82930" y="36347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Production: need fast inference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63474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MobileNetV3 backbone, or ONNX-compiled ResNet18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11480" y="4011930"/>
            <a:ext cx="8298180" cy="4114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2930" y="408051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Need it Tuesday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4080510"/>
            <a:ext cx="4114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1">
                <a:solidFill>
                  <a:srgbClr val="065A82"/>
                </a:solidFill>
                <a:latin typeface="Calibri"/>
              </a:rPr>
              <a:t>Call a hosted vision API. Revisit later.</a:t>
            </a:r>
          </a:p>
        </p:txBody>
      </p:sp>
      <p:pic>
        <p:nvPicPr>
          <p:cNvPr id="27" name="Picture 26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Common Pitfalls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What goes wrong in practice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7160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4018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91540" y="140589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Forgetting normalisation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1540" y="161163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Pretrained models expect ImageNet mean/std. Skip it and accuracy tanks.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188595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95453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1540" y="192024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Wrong learning rate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1540" y="212598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1e-3 for from-scratch, 1e-4 for fine-tuning. Mixing them kills pretrained features.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" y="240030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" y="246888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1540" y="243459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Training too few epochs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" y="264033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CNNs need 8-20 epochs to plateau. MLPs often look done after 5.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" y="291465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298323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" y="294894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No data augmentation on small data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" y="315468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Without flip/crop/jitter, small datasets overfit in 2 epochs.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342900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349758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1540" y="346329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Domain gap blindness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1540" y="366903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Fashion-MNIST ≠ ImageNet. Always run a from-scratch baseline.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" y="3943350"/>
            <a:ext cx="342900" cy="411480"/>
          </a:xfrm>
          <a:prstGeom prst="rect">
            <a:avLst/>
          </a:prstGeom>
          <a:solidFill>
            <a:srgbClr val="F961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1480" y="4011930"/>
            <a:ext cx="3429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1540" y="3977640"/>
            <a:ext cx="7818120" cy="24003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065A82"/>
                </a:solidFill>
                <a:latin typeface="Calibri"/>
              </a:rPr>
              <a:t>Skipping a confusion matrix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1540" y="4183380"/>
            <a:ext cx="78181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36454F"/>
                </a:solidFill>
                <a:latin typeface="Calibri"/>
              </a:rPr>
              <a:t>Overall accuracy hides class-specific failure modes.</a:t>
            </a:r>
          </a:p>
        </p:txBody>
      </p:sp>
      <p:pic>
        <p:nvPicPr>
          <p:cNvPr id="30" name="Picture 29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Bridge to L09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From pixels to words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09728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E8F1F5"/>
                </a:solidFill>
                <a:latin typeface="Calibri"/>
              </a:rPr>
              <a:t>Marcus, after the auto-tagger ships: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14500"/>
            <a:ext cx="7886700" cy="685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50" b="0">
                <a:solidFill>
                  <a:srgbClr val="FFFFFF"/>
                </a:solidFill>
                <a:latin typeface="Trebuchet MS"/>
              </a:rPr>
              <a:t>"Can we also do natural-language search?</a:t>
            </a:r>
          </a:p>
          <a:p>
            <a:pPr algn="l"/>
            <a:r>
              <a:rPr sz="1350" b="0">
                <a:solidFill>
                  <a:srgbClr val="FFFFFF"/>
                </a:solidFill>
                <a:latin typeface="Trebuchet MS"/>
              </a:rPr>
              <a:t>A customer types 'blue summer dress' — surface the right products."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74620"/>
            <a:ext cx="829818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25" b="1">
                <a:solidFill>
                  <a:srgbClr val="1C7293"/>
                </a:solidFill>
                <a:latin typeface="Calibri"/>
              </a:rPr>
              <a:t>Next modality: text</a:t>
            </a:r>
          </a:p>
        </p:txBody>
      </p:sp>
      <p:sp>
        <p:nvSpPr>
          <p:cNvPr id="9" name="Rectangle 8"/>
          <p:cNvSpPr/>
          <p:nvPr/>
        </p:nvSpPr>
        <p:spPr>
          <a:xfrm>
            <a:off x="411480" y="3154680"/>
            <a:ext cx="274320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82930" y="3257550"/>
            <a:ext cx="25374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L09 — Embeddings &amp; NLP foundations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60420" y="3257550"/>
            <a:ext cx="52806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Turning words into vectors. Tokenisation, word embeddings, similarity search.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3840480"/>
            <a:ext cx="2743200" cy="54864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2930" y="3943350"/>
            <a:ext cx="253746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L10 — Transformers &amp; GenAI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60420" y="3943350"/>
            <a:ext cx="5280660" cy="3429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The architecture behind GPT, BERT, ChatGPT. Attention, generation, fine-tuning.</a:t>
            </a:r>
          </a:p>
        </p:txBody>
      </p:sp>
      <p:pic>
        <p:nvPicPr>
          <p:cNvPr id="16" name="Picture 1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3771" cy="109728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240030"/>
            <a:ext cx="8229600" cy="6172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50" b="1">
                <a:solidFill>
                  <a:srgbClr val="065A82"/>
                </a:solidFill>
                <a:latin typeface="Trebuchet MS"/>
              </a:rPr>
              <a:t>Q&amp;A · Assignment 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85800"/>
            <a:ext cx="82296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36454F"/>
                </a:solidFill>
                <a:latin typeface="Calibri"/>
              </a:rPr>
              <a:t>What's due before L09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303020"/>
            <a:ext cx="8298180" cy="1371600"/>
          </a:xfrm>
          <a:prstGeom prst="rect">
            <a:avLst/>
          </a:prstGeom>
          <a:solidFill>
            <a:srgbClr val="21295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17220" y="1405889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9E795"/>
                </a:solidFill>
                <a:latin typeface="Calibri"/>
              </a:rPr>
              <a:t>Assignment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7220" y="1714500"/>
            <a:ext cx="788670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CIFAR-10 classifier (10 categories of small colour photos):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Part A — CNN from scratch, beat 65% accuracy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Part B — Transfer learning, beat 75% accuracy</a:t>
            </a:r>
          </a:p>
          <a:p>
            <a:pPr algn="l"/>
            <a:r>
              <a:rPr sz="1050" b="0">
                <a:solidFill>
                  <a:srgbClr val="FFFFFF"/>
                </a:solidFill>
                <a:latin typeface="Calibri"/>
              </a:rPr>
              <a:t>  Part C — Reflect on why transfer behaves differently here than on Fashion-MNIST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2811779"/>
            <a:ext cx="8298180" cy="342900"/>
          </a:xfrm>
          <a:prstGeom prst="rect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" y="284607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Calibri"/>
              </a:rPr>
              <a:t>Optional self-study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7220" y="325755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optional_extensions.ipynb — data augmentation, BatchNorm, learning-rate schedulers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" y="356616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Try a different backbone (MobileNetV3 / EfficientNet) on the assignment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7220" y="3874770"/>
            <a:ext cx="78867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75" b="0">
                <a:solidFill>
                  <a:srgbClr val="36454F"/>
                </a:solidFill>
                <a:latin typeface="Calibri"/>
              </a:rPr>
              <a:t>▸ Build a confusion matrix for the CIFAR-10 model — which pairs of classes get mixed up?</a:t>
            </a:r>
          </a:p>
        </p:txBody>
      </p:sp>
      <p:pic>
        <p:nvPicPr>
          <p:cNvPr id="16" name="Picture 15" descr="image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873752"/>
            <a:ext cx="9144000" cy="28346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GAIA_1920x1080_1" id="{AE813658-6506-A745-B494-E9623D69A84F}" vid="{98D95D8B-1F05-BF49-9671-2CF52C7BA51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