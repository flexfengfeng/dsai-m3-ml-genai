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L08 — Computer Vision and CNNs. Marcus's next ask is to auto-tag product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lesson Sarah trained her first NN. Marcus's next ask: auto-tag the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structure today: what is an image? what is a CNN? when do we use transfer learning?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image is just a tensor. Channels-first convention: (batch, channels, height, width).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+ MLP works for small images, but parameter count explodes at realistic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MLP treats every pixel as independent — ignores that nearby pixels are related.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convolution slides a small kernel over an image. The kernel is just 9 numbers — and it can detect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conv layer learns many kernels in parallel — each produces its own feature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mechanical operators: stride, padding, pooling.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Stacking conv layers gives compositionality: edges → parts →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02_convolutions_intuition.ipynb: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canonical CNN block: Conv → ReLU → Pool. Stack a few of these + classifier head and you're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TinyCNN on Fashion-MNIST. 105K parameters, 2 conv blocks + small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CNNs reuse the same training loop you learnt in L07. Only architecture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Fashion-MNIST, TinyCNN beats FlatMLP with half the parameters. Bigger win as image complexity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03_first_cnn.ipynb: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catalogues don't have 60K labelled images. They have 500. That's where transfer learning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Pretrained models come from torchvision. ResNet18 / EfficientNet / ViT are workhorses.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transfer-learning patterns: feature extraction (freeze, train head) vs fine-tuning (unfreeze last block).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finding: on Fashion-MNIST, head-only transfer LOSES to from-scratch CNN. Fine-tuning recovers.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04_transfer_learning.ipynb: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Friday recommendation for Marcus's auto-tagger.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maturity: ship the model + a human-in-the-loop + a data-collection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from L08.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When-to-use-what cheat sheet for CV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CNN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 (L09): natural language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and assignment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Trebuchet MS"/>
              </a:rPr>
              <a:t>L08 —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F1F5"/>
                </a:solidFill>
                <a:latin typeface="Calibri"/>
              </a:rPr>
              <a:t>Convolutional Neural Networks &amp;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F1F5"/>
                </a:solidFill>
                <a:latin typeface="Calibri"/>
              </a:rPr>
              <a:t>Convolutions · CNNs in PyTorch · Pretrained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Format: ~90 min slides · ~90 min hands-on (3 notebooks)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session features to pixels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end of L07: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"Can we auto-tag product photos as dress, shirt, sneaker?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We have ~10,000 new uploads each season."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New modality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114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Inputs are images (28×28×1 or 224×224×3 tensors), not tabular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New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Convolutional layers replace the flat MLP first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New tool: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Pretrained models from torchvision — don't start from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▸ Same training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623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zero_grad → forward → loss → backward → step (L07 unchanged)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Today's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pixels to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What does an image LOOK LIKE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to a neural network?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A tensor of pixel intensities — and why MLPs choke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What IS a convolutional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neural network?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14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Stack of (Conv → ReLU → Pool) blocks + a classifier head.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When should we reach for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transfer learning?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When data is small AND the domain is close to ImageNet.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An Image Is Just A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Numbers in a particular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Grayscale 28×28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Consolas"/>
              </a:rPr>
              <a:t>shape = (1, 28, 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Colour 224×224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Consolas"/>
              </a:rPr>
              <a:t>shape = (3, 224, 224)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PyTorch batch convention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9E795"/>
                </a:solidFill>
                <a:latin typeface="Consolas"/>
              </a:rPr>
              <a:t>(B, C, H, 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212080" cy="4114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Pixel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Raw: 0-255 (uint8)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Normalised: 0.0-1.0 (float)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Grayscale: 1 intensity per pixel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RGB: 3 intensities per pixel (R, G, B)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To a neural network this is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literally a NumPy array. No</a:t>
            </a:r>
          </a:p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special "image" magic.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Flat-MLP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Why MLPs don't scale to real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Flatten the image, feed it to a 2-hidden-layer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394960" cy="3474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alibri"/>
              </a:rPr>
              <a:t>28×28 Fashion-MNIST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Input 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54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784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Hidden 1 (256)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200,960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Hidden 2 (128)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069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32,896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Output (10)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26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1,290 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~235K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5394960" cy="3474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224×224×3 (real photos)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Input dim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154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150,528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Hidden 1 (256)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38.5M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69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Hidden 2 (128)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069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32,896 params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Output (10)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526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1,290 params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983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~38.6M params  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6167"/>
                </a:solidFill>
                <a:latin typeface="Calibri"/>
              </a:rPr>
              <a:t>Parameter count scales LINEARLY with input size. Need a smarter approach.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Spatial-Locality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MLPs can't exploit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Two facts about images that MLPs 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1.  LOCALITY  —  nearby pixels are related (edges, textures live in small patches)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2.  TRANSLATION INVARIANCE  —  a sleeve is a sleeve top-left or bottom-right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9E795"/>
                </a:solidFill>
                <a:latin typeface="Calibri"/>
              </a:rPr>
              <a:t>An MLP must LEARN these from data. Expensive and fragile.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What we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A model that BAKES IN locality and translation invariance.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Same feature detector slides everywhere — fewer parameters, better inductive bias.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That model is the Convolutional Neural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Kernel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Nine numbers that detect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An edge-detection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9E795"/>
                </a:solidFill>
                <a:latin typeface="Consolas"/>
              </a:rPr>
              <a:t>-1   -1   -1</a:t>
            </a:r>
          </a:p>
          <a:p>
            <a:pPr algn="ctr"/>
            <a:r>
              <a:rPr sz="2800" b="1">
                <a:solidFill>
                  <a:srgbClr val="F9E795"/>
                </a:solidFill>
                <a:latin typeface="Consolas"/>
              </a:rPr>
              <a:t>-1    8   -1</a:t>
            </a:r>
          </a:p>
          <a:p>
            <a:pPr algn="ctr"/>
            <a:r>
              <a:rPr sz="2800" b="1">
                <a:solidFill>
                  <a:srgbClr val="F9E795"/>
                </a:solidFill>
                <a:latin typeface="Consolas"/>
              </a:rPr>
              <a:t>-1   -1  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Flat region: 8 - 8 = 0  → output near 0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Edge: large difference → big output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Nine numbers detect ALL edges everywhere in the image.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212080" cy="4389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7451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Parameter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onsolas"/>
              </a:rPr>
              <a:t>Conv2d(3, 32, kernel=3)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32 kernels × (3×3×3) + 32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  = 864 + 32 = 896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6576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MLP first layer, same input/output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06908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onsolas"/>
              </a:rPr>
              <a:t>224×224×3 × 32 = 4,816,896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5029200"/>
            <a:ext cx="4709160" cy="914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12064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~5,000× fewer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Multiple Kernels = Feature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One layer learns many detectors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A Conv2d layer with out_channels=16 learns 16 different 3×3 kernels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Each kernel produces its own "feature map" — a 2D activation showing where its pattern fired.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Deep CNNs stack many of these.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What different depths detect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Layer 1  (shallow)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069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Edges, blobs, simple colour gradients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Layer 2-3  (middle)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Corners, curves, repeated textures, small parts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Layer 4+  (deep)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166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Object parts (sleeves, wheels), whole-object detectors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Stride · Padding ·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The three mechanical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28600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STRIDE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783080"/>
            <a:ext cx="85953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How many pixels the kernel jumps between applications.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Stride 2 halves the output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228600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PADDING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3246120"/>
            <a:ext cx="85953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42900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Zeros added around the input so the kernel can reach the edges.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padding=1 with kernel=3 keeps the output size identical to the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228600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MAX POOLING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4709160"/>
            <a:ext cx="859536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489204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After a conv block, take the max over each 2×2 window.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Shrinks feature maps (less compute), adds translation tolerance.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Stacking = Compositionality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Why deep CNNs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Each layer combines features from the layer below — hierarchy of visual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011680" cy="2103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raw pixels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926080"/>
            <a:ext cx="2011680" cy="2103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118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926080"/>
            <a:ext cx="2011680" cy="2103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6118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corners,</a:t>
            </a:r>
          </a:p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textures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926080"/>
            <a:ext cx="2011680" cy="2103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6118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object parts</a:t>
            </a:r>
          </a:p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(sleeves)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926080"/>
            <a:ext cx="2011680" cy="2103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61188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whole</a:t>
            </a:r>
          </a:p>
          <a:p>
            <a:pPr algn="ctr"/>
            <a:r>
              <a:rPr sz="1400" b="0">
                <a:solidFill>
                  <a:srgbClr val="E8F1F5"/>
                </a:solidFill>
                <a:latin typeface="Calibri"/>
              </a:rPr>
              <a:t>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Each kernel is small (e.g. 3×3), but stacking 4-5 layers gives a large effective receptive field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deep neurons see large chunks of the image and respond to complex compositions of simple parts.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nsolas"/>
              </a:rPr>
              <a:t>Open: 02_convolutions_intuition.ipynb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Apply 3 hand-crafted kernels (edge / blur / sharpen) to a real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Compare manual conv2d to nn.Conv2d — see they agree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Inspect 16 random-init feature maps; see max-pool halve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Stop at the Extension marker on the optional sections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CNN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Conv → ReLU → MaxPool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Three operations, stacked 2-3 times, then a Flatten + Linear 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106424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9E795"/>
                </a:solidFill>
                <a:latin typeface="Consolas"/>
              </a:rPr>
              <a:t>Conv2d(in, out, kernel=3, padding=1)</a:t>
            </a:r>
          </a:p>
          <a:p>
            <a:pPr algn="ctr"/>
            <a:r>
              <a:rPr sz="2000" b="1">
                <a:solidFill>
                  <a:srgbClr val="F9E795"/>
                </a:solidFill>
                <a:latin typeface="Consolas"/>
              </a:rPr>
              <a:t>        ↓</a:t>
            </a:r>
          </a:p>
          <a:p>
            <a:pPr algn="ctr"/>
            <a:r>
              <a:rPr sz="2000" b="1">
                <a:solidFill>
                  <a:srgbClr val="F9E795"/>
                </a:solidFill>
                <a:latin typeface="Consolas"/>
              </a:rPr>
              <a:t>ReLU()</a:t>
            </a:r>
          </a:p>
          <a:p>
            <a:pPr algn="ctr"/>
            <a:r>
              <a:rPr sz="2000" b="1">
                <a:solidFill>
                  <a:srgbClr val="F9E795"/>
                </a:solidFill>
                <a:latin typeface="Consolas"/>
              </a:rPr>
              <a:t>        ↓</a:t>
            </a:r>
          </a:p>
          <a:p>
            <a:pPr algn="ctr"/>
            <a:r>
              <a:rPr sz="2000" b="1">
                <a:solidFill>
                  <a:srgbClr val="F9E795"/>
                </a:solidFill>
                <a:latin typeface="Consolas"/>
              </a:rPr>
              <a:t>MaxPool2d(2)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Repeat 2-3 times, doubling output channels each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Final spatial size shrinks (28→14→7), channel count grows (1→16→32). Then Flatten + Linear.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TinyCNN — A Working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Two conv blocks + classifier 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Conv2d(1,  16, k=3, padding=1)  →  ReLU  →  MaxPool(2)      # 1×28×28 → 16×14×14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Conv2d(16, 32, k=3, padding=1)  →  ReLU  →  MaxPool(2)      # 16×14×14 → 32×7×7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Flatten                                                    # → 1,568 features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Linear(1568, 64)  →  ReLU</a:t>
            </a:r>
          </a:p>
          <a:p>
            <a:pPr algn="l"/>
            <a:r>
              <a:rPr sz="1400" b="0">
                <a:solidFill>
                  <a:srgbClr val="F9E795"/>
                </a:solidFill>
                <a:latin typeface="Consolas"/>
              </a:rPr>
              <a:t>Linear(64, 10)                                             # 10 class logits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Total: ~105K parameters  (half the MLP, beats it by ~1.5pp test 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Training Loop Is Unchanged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L07's 5 lines still rule them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Same five-line pattern. Conv2d / MaxPool2d are drop-in replacements for Linear.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9E795"/>
                </a:solidFill>
                <a:latin typeface="Consolas"/>
              </a:rPr>
              <a:t>for xb, yb in train_loader:</a:t>
            </a:r>
          </a:p>
          <a:p>
            <a:pPr algn="l"/>
            <a:r>
              <a:rPr sz="1800" b="0">
                <a:solidFill>
                  <a:srgbClr val="F9E795"/>
                </a:solidFill>
                <a:latin typeface="Consolas"/>
              </a:rPr>
              <a:t>    optimizer.zero_grad()</a:t>
            </a:r>
          </a:p>
          <a:p>
            <a:pPr algn="l"/>
            <a:r>
              <a:rPr sz="1800" b="0">
                <a:solidFill>
                  <a:srgbClr val="F9E795"/>
                </a:solidFill>
                <a:latin typeface="Consolas"/>
              </a:rPr>
              <a:t>    loss = criterion(model(xb), yb)</a:t>
            </a:r>
          </a:p>
          <a:p>
            <a:pPr algn="l"/>
            <a:r>
              <a:rPr sz="1800" b="0">
                <a:solidFill>
                  <a:srgbClr val="F9E795"/>
                </a:solidFill>
                <a:latin typeface="Consolas"/>
              </a:rPr>
              <a:t>    loss.backward()</a:t>
            </a:r>
          </a:p>
          <a:p>
            <a:pPr algn="l"/>
            <a:r>
              <a:rPr sz="1800" b="0">
                <a:solidFill>
                  <a:srgbClr val="F9E795"/>
                </a:solidFill>
                <a:latin typeface="Consolas"/>
              </a:rPr>
              <a:t>    optimizer.step()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Loss function, optimiser, eval — all identical to L07. Only the model definition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Results — TinyCNN vs FlatMLP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Same dataset, same training, different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FlatMLP (L07-style)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235K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97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0.871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697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Linear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TinyCNN  (this lesson)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onsolas"/>
              </a:rPr>
              <a:t>106K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0.884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291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Beats MLP with 45% of the params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CNN advantage is small here (~10% relative error reduction) — on CIFAR-10 the gap is far bigger.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TakeAway: on tabular data, gradient boosting often ties NN. On images, CNNs win and the gap grows with image complexity.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nsolas"/>
              </a:rPr>
              <a:t>Open: 03_first_cnn.ipynb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Build TinyCNN (2 conv blocks + classifier head) in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Train 5 epochs on Fashion-MNIST — same loop as L07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Compare CNN vs MLP confusion matrix — see the shirt-class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Visualise the learnt 3×3 kernels in the first conv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Transfer Learning —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Real catalogues have hundreds of images, not millions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The reality at NorthStar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Fashion-MNIST has 60,000 training images. Marcus's catalogue has ~500 per class.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Train a CNN from scratch on 500 images and it OVERFITS — memorises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The fix — don't start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Start from a model someone else trained on a much bigger dataset (ImageNet, 1.2M photos).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Keep its hard-won feature detectors. Replace only the final classification head.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Train that head on YOUR 500 images.</a:t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You're not training a model — you're adapting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Pretrained Models In torchvision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ImageNet veterans, ready to download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9E795"/>
                </a:solidFill>
                <a:latin typeface="Consolas"/>
              </a:rPr>
              <a:t>from torchvision.models import resnet18, ResNet18_Weights</a:t>
            </a:r>
          </a:p>
          <a:p>
            <a:pPr algn="l"/>
            <a:r>
              <a:rPr sz="1600" b="1">
                <a:solidFill>
                  <a:srgbClr val="F9E795"/>
                </a:solidFill>
                <a:latin typeface="Consolas"/>
              </a:rPr>
              <a:t>model = resnet18(weights=ResNet18_Weights.DEFAULT)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Common backbones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ResNet18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337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11.7M params · the workhorse · trains fast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40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ResNet50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25.6M params · stronger features · slower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MobileNetV3-small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343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1.5M params · for production / on-device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060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EfficientNet-B0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846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5.3M params · great accuracy/compute tradeoff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ViT-B/16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86M params · transformer-based · needs more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Two Transfer-Learning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Feature extraction vs fine-tuning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926080" cy="1920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783080"/>
            <a:ext cx="8001000" cy="1920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65A82"/>
                </a:solidFill>
                <a:latin typeface="Consolas"/>
              </a:rPr>
              <a:t>1.  Freeze every layer</a:t>
            </a:r>
          </a:p>
          <a:p>
            <a:pPr algn="l"/>
            <a:r>
              <a:rPr sz="1300" b="0">
                <a:solidFill>
                  <a:srgbClr val="065A82"/>
                </a:solidFill>
                <a:latin typeface="Consolas"/>
              </a:rPr>
              <a:t>2.  Replace classifier head</a:t>
            </a:r>
          </a:p>
          <a:p>
            <a:pPr algn="l"/>
            <a:r>
              <a:rPr sz="1300" b="0">
                <a:solidFill>
                  <a:srgbClr val="065A82"/>
                </a:solidFill>
                <a:latin typeface="Consolas"/>
              </a:rPr>
              <a:t>3.  Train only the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6324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Fast. Few trainable params. Works when target domain matches pretraining domain.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2926080" cy="1920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886200"/>
            <a:ext cx="8001000" cy="19202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0233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65A82"/>
                </a:solidFill>
                <a:latin typeface="Consolas"/>
              </a:rPr>
              <a:t>1.  Freeze most of the backbone</a:t>
            </a:r>
          </a:p>
          <a:p>
            <a:pPr algn="l"/>
            <a:r>
              <a:rPr sz="1300" b="0">
                <a:solidFill>
                  <a:srgbClr val="065A82"/>
                </a:solidFill>
                <a:latin typeface="Consolas"/>
              </a:rPr>
              <a:t>2.  Unfreeze the LAST conv block (layer4)</a:t>
            </a:r>
          </a:p>
          <a:p>
            <a:pPr algn="l"/>
            <a:r>
              <a:rPr sz="1300" b="0">
                <a:solidFill>
                  <a:srgbClr val="065A82"/>
                </a:solidFill>
                <a:latin typeface="Consolas"/>
              </a:rPr>
              <a:t>3.  Train with a TINY learning rate (1e-4)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16636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Slower. More params updated. Adapts pretrained features when domain gap is large.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The Honest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Transfer learning isn't free — domain match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ImageNet (colour photos) → Fashion-MNIST (grayscale silhouettes): big domain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Approach (2K imgs, head-only or fine-tune)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TinyCNN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onsolas"/>
              </a:rPr>
              <a:t>0.787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ResNet18 transfer — head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onsolas"/>
              </a:rPr>
              <a:t>0.715  ← loses!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11064240" cy="4572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5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ResNet18 — fine-tune layer4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02335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C39A"/>
                </a:solidFill>
                <a:latin typeface="Consolas"/>
              </a:rPr>
              <a:t>0.832  ← wins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Lesson: transfer learning isn't magic. On a wide domain gap, head-only feature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extraction can lose. Fine-tune the last conv block at a tiny LR to recover.</a:t>
            </a:r>
          </a:p>
          <a:p>
            <a:pPr algn="l"/>
            <a:r>
              <a:rPr sz="1300" b="0">
                <a:solidFill>
                  <a:srgbClr val="E8F1F5"/>
                </a:solidFill>
                <a:latin typeface="Calibri"/>
              </a:rPr>
              <a:t>For Marcus's real catalogue (colour photos, closer to ImageNet), expect a much smaller gap.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nsolas"/>
              </a:rPr>
              <a:t>Open: 04_transfer_learning.ipynb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Subsample Fashion-MNIST to 200 images per class (small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Train TinyCNN from scratch as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Load pretrained ResNet18, freeze backbone, train head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Sweep training set size, then fine-tune layer4 in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Sarah's Friday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Production-ready transfer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920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Sarah, end of L08: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"Start with a pretrained ResNet18. Train new head for a few epochs.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Unfreeze the last conv block (layer4) at LR 1e-4. Fine-tune until val flattens.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rebuchet MS"/>
              </a:rPr>
              <a:t>Expect ~92-95% top-1 on the 10 main categories with 500 photos per class."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1.  Load pretrained ResNet18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2.  Replace fc head → 10-class linear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3.  Train head for 3 epochs at LR 1e-3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4.  Unfreeze layer4, fine-tune at LR 1e-4 until validation curve flattens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Production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Ship the model + a human + a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Don't ship the model in isolation. Ship a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19456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743200"/>
            <a:ext cx="873252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97180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Model auto-tags. Surface top-3 predictions to merchandisers for confirmation.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219456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840480"/>
            <a:ext cx="873252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40690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Track which predictions merchandisers correct. Build labelled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2194560" cy="914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Month 6+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4937760"/>
            <a:ext cx="8732520" cy="914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51663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Retrain / fine-tune backbone on collected corrections. Drop human review for high-confidence cases.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L08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731520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78308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Convolutions exploit locality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and translation invariance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Same kernel slides everywhere → fewer params, better inductive bias for images.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0" cy="1325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4612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832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The PyTorch training loop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doesn't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14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Conv2d / MaxPool2d are drop-in replacements for Linear. L07's loop just works.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731520" cy="13258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4709160"/>
            <a:ext cx="10149840" cy="13258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Don't train CNNs from scratch</a:t>
            </a:r>
          </a:p>
          <a:p>
            <a:pPr algn="l"/>
            <a:r>
              <a:rPr sz="1700" b="1">
                <a:solidFill>
                  <a:srgbClr val="065A82"/>
                </a:solidFill>
                <a:latin typeface="Calibri"/>
              </a:rPr>
              <a:t>on small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Use a pretrained backbone. Head-only sometimes works, fine-tuning usually does.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Method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Pick the right tool for the data you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Tabular features (rows × cols)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Stick with gradient boosting or LR (L02-L04)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10K+ small images, 10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63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Train a small CNN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&lt; 1K images per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Transfer learning with a pretrained backbone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100+ classes, lots of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51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Fine-tune a larger pretrained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Production: need fast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MobileNetV3 backbone, or ONNX-compiled ResNet18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Need it Tuesday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440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Call a hosted vision API. Revisit later.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 goes wrong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Forgetting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Pretrained models expect ImageNet mean/std. Skip it and accuracy tanks.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603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Wrong learning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346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1e-3 for from-scratch, 1e-4 for fine-tuning. Mixing them kills pretrained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461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Training too few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204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CNNs need 8-20 epochs to plateau. MLPs often look done after 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No data augmentation on small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Without flip/crop/jitter, small datasets overfit in 2 epochs.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17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Domain gap blindness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920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Fashion-MNIST ≠ ImageNet. Always run a from-scratch baseline.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457200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035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Skipping a 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454F"/>
                </a:solidFill>
                <a:latin typeface="Calibri"/>
              </a:rPr>
              <a:t>Overall accuracy hides class-specific failure modes.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Bridge to L09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From pixels to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F1F5"/>
                </a:solidFill>
                <a:latin typeface="Calibri"/>
              </a:rPr>
              <a:t>Marcus, after the auto-tagger ships: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"Can we also do natural-language search?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rebuchet MS"/>
              </a:rPr>
              <a:t>A customer types 'blue summer dress' — surface the right products."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Calibri"/>
              </a:rPr>
              <a:t>Next modality: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06240"/>
            <a:ext cx="365760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L09 — Embeddings &amp; NLP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34340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Turning words into vectors. Tokenisation, word embeddings, similarity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20640"/>
            <a:ext cx="365760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L10 — Transformers &amp; GenAI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25780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The architecture behind GPT, BERT, ChatGPT. Attention, generation, fine-tuning.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Trebuchet MS"/>
              </a:rPr>
              <a:t>Q&amp;A · 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454F"/>
                </a:solidFill>
                <a:latin typeface="Calibri"/>
              </a:rPr>
              <a:t>What's due before L09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E795"/>
                </a:solidFill>
                <a:latin typeface="Calibri"/>
              </a:rP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CIFAR-10 classifier (10 categories of small colour photos):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A — CNN from scratch, beat 65% accuracy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B — Transfer learning, beat 75% accuracy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Part C — Reflect on why transfer behaves differently here than on Fashion-MNIST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Optional self-study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optional_extensions.ipynb — data augmentation, BatchNorm, learning-rate schedulers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Try a different backbone (MobileNetV3 / EfficientNet) on the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454F"/>
                </a:solidFill>
                <a:latin typeface="Calibri"/>
              </a:rPr>
              <a:t>▸ Build a confusion matrix for the CIFAR-10 model — which pairs of classes get mixed up?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week: L09 — Embeddings &amp; NLP foundations. See you Monday.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C7293"/>
                </a:solidFill>
                <a:latin typeface="Calibri"/>
              </a:rPr>
              <a:t>L08 — Slide 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