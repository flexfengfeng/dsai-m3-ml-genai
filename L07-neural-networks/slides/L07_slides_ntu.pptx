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L07 — Neural Networks &amp; Deep Learning. The bridge from classical ML to the three domain-specific deep-learning lessons (L08-L10). The goal today is INTUITION, not production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recap. End of L06 Marcus asked about predicting checkout completion from sequential customer behaviour. This week Sarah trains her first neural network — the foundation for L08-L10.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define a neural network. A function (forward pass). A loss (how wrong we are). A learning algorithm (gradient descent + backprop).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perceptron is one neuron. It takes inputs, multiplies each by a weight, sums them, adds a bias, applies an activation. With sigmoid, it's logistic regression. That's the simplest neural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Stacking perceptrons in layers + adding non-linear activations gives you a Multi-Layer Perceptron (MLP). The non-linearity is what unlocks expressive power. Without it, stacked layers are still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XOR problem proves the multi-layer + non-linearity point. No single line separates the XOR pattern. A multi-layer network learns it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02_perceptron_to_mlp.ipynb: 30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Gradient descent is the algorithm. The mountain analogy: blindfolded on a mountain, you feel the slope and take a small step downhill. Repeat. Eventually you reach a valley.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update rule. One line. Subtract a small fraction of the gradient. That's it. The fraction is the learning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Backpropagation is HOW we compute the gradient. Apply the chain rule, walking backwards through the network. PyTorch does this automatically — you don't derive it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03_gradient_descent.ipynb: 30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PyTorch has four objects you need to know: Tensor, nn.Module, DataLoader, Optimizer. Together they give you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PyTorch training loop. Memorise this. The same 5 lines drive training for an MLP, CNN, transformer — any deep learning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04_pytorch_training_loop.ipynb: 30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reach for neural networks vs gradient boosting. Tabular data of moderate size? Usually GB wins. Images, text, audio? Neural networks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Friday — Sarah's deliverable. Three models compared. Gradient boosting wins this tabular task. The MLP is the foundation for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Marcus's new question — 'tag product photos' — moves from tabular data to IMAGES. Same PyTorch training loop, new architecture: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assignment parts. Part A: loan default classification. Part B: housing-price regression. Same training loop, different loss +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big lessons from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to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Numerical results across the L07 in-class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reference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PyTorch pitfalls. Avoid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quick reference. How big should my MLP be?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L08-L10 specialise this toolkit to images, text, and transformers.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L08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17320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L07 —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Sarah's week of building her first neural network</a:t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Perceptron → MLP · Gradient descent + backprop · PyTorch training loop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From time series to sequential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end of L06: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"If we had DETAILED CUSTOMER BEHAVIOUR data — every click, every page view, every cart event —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could you predict whether they'd complete checkout WHILE they're shopping?"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08610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" y="30861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Neural networks for the first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0" y="30861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MLP with hidden layers + non-linear activations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" y="346329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" y="346329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PyTorch as the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1900" y="346329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The 5-line training loop you'll use forever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384048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" y="3840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Goal is INTUITION, not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0" y="38404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L08-L10 are where deep learning beats classical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" y="421767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" y="421767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Same compare-to-baselines mindset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0" y="421767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MLP vs LR vs gradient boosting on the same data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What IS a Neural Network?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Three things, then we're done with the mystique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0589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A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4879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 flexible, non-linear function from inputs to outputs.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Learned automatically — you specify the architecture, not the function.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91690"/>
            <a:ext cx="73380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▸ Forward pass: input →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4033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50317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A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4607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 measure of how wrong the function is on training data.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For classification: cross-entropy. For regression: MSE.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188970"/>
            <a:ext cx="73380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C7293"/>
                </a:solidFill>
                <a:latin typeface="Calibri"/>
              </a:rPr>
              <a:t>▸ Loss tells gradient descent which way to walk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73761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60045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A LEARNING 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4335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Gradient descent + backpropagation.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Walk downhill on the loss surface, one small step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286250"/>
            <a:ext cx="733806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▸ Updates: weights -= lr × gradient_of_loss</a:t>
            </a:r>
          </a:p>
        </p:txBody>
      </p:sp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Perceptron — One 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1958 building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287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50" b="1">
                <a:solidFill>
                  <a:srgbClr val="F9E795"/>
                </a:solidFill>
                <a:latin typeface="Consolas"/>
              </a:rPr>
              <a:t>output = activation(w₁·x₁ + w₂·x₂ + … + wₙ·xₙ +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Activation function determines the model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▸ Linear (no activation)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= Linear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9471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▸ Threshold (step function)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9471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= 1958 perceptron, binary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7190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▸ Sigmoid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7719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= Logistic regression (binary classification)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4909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▸ Softmax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14909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= Multinomial logistic regression (multiclass)</a:t>
            </a:r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Multi-Layer Perceptron (MLP)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Stack perceptrons + non-linear activations between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6459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An MLP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83080"/>
            <a:ext cx="788670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Input (9 features) → Linear → ReLU → Linear → ReLU → Linear → output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Each 'Linear' layer is a stack of perceptrons (the same weight × input + bias).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'ReLU' between layers is the non-linearity that makes the network EXPRESSIVE.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086100"/>
            <a:ext cx="8298180" cy="1645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322326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The Universal Approximation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531870"/>
            <a:ext cx="78867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>A single hidden layer with enough neurons + non-linear activations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>can approximate ANY continuous function arbitrarily well.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>In practice: 2-3 hidden layers (a 'deep' network) trains better than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>one very wide layer with the same total parameters.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XOR — The Case for Multi-Layer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Why a single perceptron isn't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XOR truth table: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17370"/>
            <a:ext cx="102870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7223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x₁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180" y="1817370"/>
            <a:ext cx="102870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180" y="187223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x₂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817370"/>
            <a:ext cx="102870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87223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25980"/>
            <a:ext cx="10287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8084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0180" y="2125980"/>
            <a:ext cx="10287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0180" y="218084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125980"/>
            <a:ext cx="10287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18084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434590"/>
            <a:ext cx="102870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48945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0180" y="2434590"/>
            <a:ext cx="102870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180" y="248945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434590"/>
            <a:ext cx="102870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248945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743200"/>
            <a:ext cx="10287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79806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0180" y="2743200"/>
            <a:ext cx="10287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0180" y="279806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2743200"/>
            <a:ext cx="10287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279806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051810"/>
            <a:ext cx="102870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10667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40180" y="3051810"/>
            <a:ext cx="102870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0180" y="310667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051810"/>
            <a:ext cx="102870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3106674"/>
            <a:ext cx="1028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6454F"/>
                </a:solidFill>
                <a:latin typeface="Consola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1371600"/>
            <a:ext cx="4594860" cy="3291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0540" y="1474470"/>
            <a:ext cx="42519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The geometric reason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540" y="1851660"/>
            <a:ext cx="4251960" cy="1851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Plot the 4 points on (x₁, x₂):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y=0 points are at (0,0) and (1,1)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y=1 points are at (0,1) and (1,0)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The y=1 points are in opposite corners.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No straight line separates them from y=0.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0540" y="3771900"/>
            <a:ext cx="4251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1C7293"/>
                </a:solidFill>
                <a:latin typeface="Calibri"/>
              </a:rPr>
              <a:t>An MLP with 1 hidden layer learns XOR perfectly.</a:t>
            </a:r>
          </a:p>
          <a:p>
            <a:pPr algn="l"/>
            <a:r>
              <a:rPr sz="975" b="1">
                <a:solidFill>
                  <a:srgbClr val="1C7293"/>
                </a:solidFill>
                <a:latin typeface="Calibri"/>
              </a:rPr>
              <a:t>The hidden layer warps the input space.</a:t>
            </a:r>
          </a:p>
        </p:txBody>
      </p:sp>
      <p:pic>
        <p:nvPicPr>
          <p:cNvPr id="41" name="Picture 4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onsolas"/>
              </a:rPr>
              <a:t>Open: 02_perceptron_to_mlp.ipynb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See the XOR demo — single perceptron fails, MLP succeeds.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Train sklearn's MLPClassifier on Sarah's session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Sweep architecture (1 layer vs 4 layers) — see diminishing returns.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Gradient Descent — The Mountain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Walk downhill on the loss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1234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4018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E8F1F5"/>
                </a:solidFill>
                <a:latin typeface="Calibri"/>
              </a:rPr>
              <a:t>The mountain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81737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"You're blindfolded on a mountain. You can't see the valley, but you can feel the slope under your feet.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At each step, walk in the steepest downhill direction. Repeat until the ground feels flat."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4320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The mapping to neural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15468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Mountain (terrain)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540" y="3154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→  Loss function (function of all parameters)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46329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Your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540" y="346329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→  Current values of all the model's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377190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Slope under your feet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540" y="37719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→  Gradient (partial derivatives of loss w.r.t. each weight)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4080509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Step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540" y="4080509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→  Learning rate (lr) — the most important hyperparameter</a:t>
            </a:r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Gradient Descent Update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One line. Everything else is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829818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7145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50" b="1">
                <a:solidFill>
                  <a:srgbClr val="F9E795"/>
                </a:solidFill>
                <a:latin typeface="Consolas"/>
              </a:rPr>
              <a:t>weights_new  =  weights_old  −  learning_rate × gradient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08610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The learning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349758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6167"/>
                </a:solidFill>
                <a:latin typeface="Calibri"/>
              </a:rPr>
              <a:t>Too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0300" y="34975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Overshoot the minimum, oscillate, diverge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80619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6167"/>
                </a:solidFill>
                <a:latin typeface="Calibri"/>
              </a:rPr>
              <a:t>Too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380619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Tiny steps, slow convergence, may never finish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411480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1C39A"/>
                </a:solidFill>
                <a:latin typeface="Calibri"/>
              </a:rPr>
              <a:t>Just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0300" y="41148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Smooth, fast convergence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Backpropagation — The Algorithm Behind Gradients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chain rule, walking backwards through the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1165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4018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What backprop computes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8308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>"For every weight in the network, what's the partial derivative of the loss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>with respect to that weight?" — applied via the chain rule from the output back to the inputs.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640330"/>
            <a:ext cx="8298180" cy="1645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30" y="2777490"/>
            <a:ext cx="80238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# Forward pass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predictions = model(inputs)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loss = criterion(predictions, targets)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# Backward pass — ONE LINE.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loss.backward()    # ← PyTorch computes all gradients via backprop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# Update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optimizer.step()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onsolas"/>
              </a:rPr>
              <a:t>Open: 03_gradient_descent.ipynb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Visualise gradient descent on a 1D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Use PyTorch autograd to compute gradients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Train your first PyTorch model with a manual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PyTorch — Four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Tensor · nn.Module · DataLoader · Optimizer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2057400" cy="7543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54305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Tensor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3170" y="1337310"/>
            <a:ext cx="6206490" cy="7543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4620" y="1440180"/>
            <a:ext cx="593217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Multi-dim array with autograd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620" y="1748790"/>
            <a:ext cx="59321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Replaces NumPy during training; tracks gradients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94560"/>
            <a:ext cx="2057400" cy="7543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930" y="240030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nn.Module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3170" y="2194560"/>
            <a:ext cx="6206490" cy="7543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4620" y="2297430"/>
            <a:ext cx="593217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The base class for any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4620" y="2606040"/>
            <a:ext cx="59321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You subclass it, define layers + forward()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51810"/>
            <a:ext cx="2057400" cy="7543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325755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DataLoader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3170" y="3051810"/>
            <a:ext cx="6206490" cy="7543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4620" y="3154680"/>
            <a:ext cx="593217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Wraps data for batched iteration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4620" y="3463290"/>
            <a:ext cx="59321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Used with TensorDataset for the typical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909060"/>
            <a:ext cx="2057400" cy="7543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930" y="411480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Optimizer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03170" y="3909060"/>
            <a:ext cx="6206490" cy="7543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4620" y="4011930"/>
            <a:ext cx="593217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Updates parameters from gradients</a:t>
            </a:r>
          </a:p>
        </p:txBody>
      </p:sp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Training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Memorise these 5 lines — used everywhere in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05889"/>
            <a:ext cx="802386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E8F1F5"/>
                </a:solidFill>
                <a:latin typeface="Consolas"/>
              </a:rPr>
              <a:t>for epoch in range(n_epochs):</a:t>
            </a:r>
          </a:p>
          <a:p>
            <a:pPr algn="l"/>
            <a:r>
              <a:rPr sz="1125" b="0">
                <a:solidFill>
                  <a:srgbClr val="E8F1F5"/>
                </a:solidFill>
                <a:latin typeface="Consolas"/>
              </a:rPr>
              <a:t>    for X_batch, y_batch in train_loader:        # iterate over mini-batches</a:t>
            </a:r>
          </a:p>
          <a:p>
            <a:pPr algn="l"/>
            <a:r>
              <a:rPr sz="1125" b="0">
                <a:solidFill>
                  <a:srgbClr val="E8F1F5"/>
                </a:solidFill>
                <a:latin typeface="Consolas"/>
              </a:rPr>
              <a:t>        optimizer.zero_grad()                     # 1. clear old gradients</a:t>
            </a:r>
          </a:p>
          <a:p>
            <a:pPr algn="l"/>
            <a:r>
              <a:rPr sz="1125" b="0">
                <a:solidFill>
                  <a:srgbClr val="E8F1F5"/>
                </a:solidFill>
                <a:latin typeface="Consolas"/>
              </a:rPr>
              <a:t>        predictions = model(X_batch)              # 2. forward pass</a:t>
            </a:r>
          </a:p>
          <a:p>
            <a:pPr algn="l"/>
            <a:r>
              <a:rPr sz="1125" b="0">
                <a:solidFill>
                  <a:srgbClr val="E8F1F5"/>
                </a:solidFill>
                <a:latin typeface="Consolas"/>
              </a:rPr>
              <a:t>        loss = criterion(predictions, y_batch)    # 3. compute loss</a:t>
            </a:r>
          </a:p>
          <a:p>
            <a:pPr algn="l"/>
            <a:r>
              <a:rPr sz="1125" b="0">
                <a:solidFill>
                  <a:srgbClr val="E8F1F5"/>
                </a:solidFill>
                <a:latin typeface="Consolas"/>
              </a:rPr>
              <a:t>        loss.backward()                           # 4. backward pass (autograd)</a:t>
            </a:r>
          </a:p>
          <a:p>
            <a:pPr algn="l"/>
            <a:r>
              <a:rPr sz="1125" b="0">
                <a:solidFill>
                  <a:srgbClr val="E8F1F5"/>
                </a:solidFill>
                <a:latin typeface="Consolas"/>
              </a:rPr>
              <a:t>        optimizer.step()                          # 5. update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634740"/>
            <a:ext cx="829818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373761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The pattern transfers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404622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L08 (CNNs on images): same 5 lines, different model.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L09 (NLP): same 5 lines, different model.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L10 (transformers): same 5 lines, different model.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onsolas"/>
              </a:rPr>
              <a:t>Open: 04_pytorch_training_loop.ipynb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Build Dataset + DataLoader for mini-batched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Train with Adam optimiser + early stopping.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Compare PyTorch MLP to logistic regression, gradient boosting, sklearn MLP.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MLP vs Gradient Boosting — When To Use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On Sarah's tabular task: they're tied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4114800" cy="3429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MLP shines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516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✓  Image / text / audio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✓  Very large datasets (&gt;10M rows)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374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✓  Need to ensemble with other neural nets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✓  Sparse high-dim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232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✓  When transfer learning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97730" y="1337310"/>
            <a:ext cx="3977640" cy="3429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3470" y="14401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Gradient Boosting shines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6340" y="18516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✓  Tabular data of moderate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6340" y="21945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✓  Need feature importance for interpretability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6340" y="25374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✓  Limited training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6340" y="28803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✓  Fast training preferred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6340" y="32232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✓  Few hyperparameters to tune</a:t>
            </a:r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Friday — Sarah's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lands on Marcus's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400300" cy="85725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57734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AUC ~0.76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6070" y="1371600"/>
            <a:ext cx="5863590" cy="8572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5623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Most interpretable; ship if explainability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31720"/>
            <a:ext cx="2400300" cy="857250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930" y="25374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Gradient 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" y="2880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AUC ~0.77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6070" y="2331720"/>
            <a:ext cx="5863590" cy="8572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606040"/>
            <a:ext cx="5623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Best AUC on this tabular task → SHIP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91840"/>
            <a:ext cx="2400300" cy="85725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349758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PyTorch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930" y="3840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AUC ~0.76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6070" y="3291840"/>
            <a:ext cx="5863590" cy="8572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3566160"/>
            <a:ext cx="5623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Foundation for L08-L10; not the production choice here</a:t>
            </a:r>
          </a:p>
        </p:txBody>
      </p:sp>
      <p:pic>
        <p:nvPicPr>
          <p:cNvPr id="23" name="Picture 2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8F1F5"/>
                </a:solidFill>
                <a:latin typeface="Calibri"/>
              </a:rPr>
              <a:t>Bridge to Lesson 8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749540" cy="17830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" y="13716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after the Friday presentation: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" y="1714500"/>
            <a:ext cx="7338060" cy="1165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"Great. Now — we're launching an Instagram product feed.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Can you automatically tag product PHOTOS so they categorise as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'dress', 'jeans', 'jacket', 'shoes', 'accessories', etc.?"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2326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Lesson 8 — Computer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45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E8F1F5"/>
                </a:solidFill>
                <a:latin typeface="Calibri"/>
              </a:rPr>
              <a:t>CNN architecture · transfer learning · data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1193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alibri"/>
              </a:rPr>
              <a:t>Same PyTorch training loop. New model architecture. Real images.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Two PyTorch exercises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4114800" cy="3429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Part A — Loan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8595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Binary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10,000 synthetic loan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0317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9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11779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Build the MLP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2039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Train with Adam + early stopping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Report test 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7730" y="1337310"/>
            <a:ext cx="3977640" cy="3429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3470" y="14401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Part B — Housing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6340" y="188595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Regression (not classification)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6340" y="21945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8,000 synthetic housing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6340" y="250317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MSELoss instead of BCE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6340" y="2811779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Same training loop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6340" y="312039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Report test MAE in $100k units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Q&amp;A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Common questions + the path to L08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4114800" cy="3429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💬  Common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859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How do I choose hidden layer sizes?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288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When should I use Adam vs SGD?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717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Why don't trees use backpropagation?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146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Should I always GPU train?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575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How big can my MLP get?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97730" y="1337310"/>
            <a:ext cx="3977640" cy="3429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3470" y="14401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📚  Going deeper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3470" y="18859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Optional notebook covers: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470" y="22288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NumPy-from-scratch neural 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3470" y="25717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Weight initialisation 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470" y="29146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SGD vs Adam vs AdamW vs RMSprop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3470" y="325755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Dropout + batch normalisation</a:t>
            </a:r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Beyond the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7447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Neural networks are FUNCTIONS, not magic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1737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They map inputs to outputs through stacked weighted sums + non-linear activations. Training is gradient descent on the loss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7175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The PyTorch training loop is THE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1465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5 lines that work for every deep-learning model you'll meet: zero_grad, forward, loss, backward, step. Memorise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6903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For tabular data, gradient boosting often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1193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Neural networks shine on data with rich hierarchical structure (images, text). On tabular, they're competitive but rarely transformative.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238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FFFFFF"/>
                </a:solidFill>
                <a:latin typeface="Trebuchet MS"/>
              </a:rPr>
              <a:t>L07 —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9E795"/>
                </a:solidFill>
                <a:latin typeface="Calibri"/>
              </a:rPr>
              <a:t>Sarah's journey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516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020" y="18516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Pre-trained sentiment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18516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'how sure are we?'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3020" y="21945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CIs + A/B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1945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'train your own?'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374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" y="25374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Logistic regression +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25374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'make it better?'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3020" y="28803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Random Forest + Gradient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28803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'cluster customers?'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232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3020" y="32232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PCA + K-Means + 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2232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'forecast revenue?'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661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020" y="35661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STL + ETS + ML-with-lags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5661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'sequential behaviour?'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090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E795"/>
                </a:solidFill>
                <a:latin typeface="Trebuchet MS"/>
              </a:rPr>
              <a:t>L07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3020" y="39090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alibri"/>
              </a:rPr>
              <a:t>MLP + PyTorch training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39090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E795"/>
                </a:solidFill>
                <a:latin typeface="Calibri"/>
              </a:rPr>
              <a:t>→ 'tag product photos?'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5196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3020" y="425196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Computer 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425196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Coming next</a:t>
            </a:r>
          </a:p>
        </p:txBody>
      </p:sp>
      <p:pic>
        <p:nvPicPr>
          <p:cNvPr id="29" name="Picture 28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When To Reach For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Quick reference for the L01-L07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3429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3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Weakness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4879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3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Linear binary 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Interpretable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Linear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25979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" y="2208275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Gradient Boosting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0300" y="2208275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Tabular structured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208275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SOTA on tabular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208275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Slow on huge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50317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" y="258546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0300" y="258546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Tabular 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58546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Universal approximator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8546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Many hyperparams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88036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296265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PyTorch (L07-L10)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0300" y="296265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Any custom neural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96265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Total flexibility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96265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More code than sklearn</a:t>
            </a:r>
          </a:p>
        </p:txBody>
      </p:sp>
      <p:pic>
        <p:nvPicPr>
          <p:cNvPr id="31" name="Picture 3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What the Numbers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L07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27432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90" y="1337310"/>
            <a:ext cx="802386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" y="1440180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Logistic regression (NB 01 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401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AUC 0.76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9540" y="1440180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alibri"/>
              </a:rPr>
              <a:t>NB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17370"/>
            <a:ext cx="27432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90" y="1817370"/>
            <a:ext cx="802386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" y="1920240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XOR — single perceptron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92024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Accuracy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9540" y="1920240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96167"/>
                </a:solidFill>
                <a:latin typeface="Calibri"/>
              </a:rPr>
              <a:t>NB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97429"/>
            <a:ext cx="274320" cy="411480"/>
          </a:xfrm>
          <a:prstGeom prst="rect">
            <a:avLst/>
          </a:prstGeom>
          <a:solidFill>
            <a:srgbClr val="21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90" y="2297429"/>
            <a:ext cx="802386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" y="2400299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XOR — MLP with 1 hidden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00299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Accuracy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9540" y="2400299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21C39A"/>
                </a:solidFill>
                <a:latin typeface="Calibri"/>
              </a:rPr>
              <a:t>NB 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77490"/>
            <a:ext cx="27432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090" y="2777490"/>
            <a:ext cx="802386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" y="2880360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MLPClassifier on session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88036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AUC 0.76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9540" y="2880360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NB 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57550"/>
            <a:ext cx="27432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0090" y="3257550"/>
            <a:ext cx="802386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" y="3360420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PyTorch MLP — manual training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36042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AUC 0.74-0.76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9540" y="3360420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NB 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737610"/>
            <a:ext cx="27432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0090" y="3737610"/>
            <a:ext cx="802386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" y="3840480"/>
            <a:ext cx="4457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PyTorch MLP — Adam + DataLoader + 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84048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AUC 0.76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9540" y="3840480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NB 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217669"/>
            <a:ext cx="274320" cy="411480"/>
          </a:xfrm>
          <a:prstGeom prst="rect">
            <a:avLst/>
          </a:prstGeom>
          <a:solidFill>
            <a:srgbClr val="F9E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0090" y="4217669"/>
            <a:ext cx="802386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Quick Reference — PyTorch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Keep this open while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53896"/>
            <a:ext cx="80238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1.  Set torch.manual_seed(42) for reproducibility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96796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879092"/>
            <a:ext cx="80238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2.  Wrap data in TensorDataset + DataLoader(batch_size=64, shuffle=True)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21992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2304288"/>
            <a:ext cx="80238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3.  Subclass nn.Module: __init__ defines layers, forward() defines computation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47188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729484"/>
            <a:ext cx="80238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4.  Adam + lr=1e-3 is a safe default optimiser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3154680"/>
            <a:ext cx="80238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5.  Always: zero_grad → forward → loss → backward →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9758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3579876"/>
            <a:ext cx="80238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6.  Use BCEWithLogitsLoss (binary) or CrossEntropyLoss (multiclass) — not raw BCE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22776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4005072"/>
            <a:ext cx="80238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7.  Early stopping with patience=5-10 epochs prevents overfitting</a:t>
            </a:r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5 mistakes everyone makes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205740" cy="51435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" y="1337310"/>
            <a:ext cx="809244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670" y="1405890"/>
            <a:ext cx="774954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Forgetting optimizer.zero_grad()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670" y="1645920"/>
            <a:ext cx="7749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Gradients accumulate → training diverges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205740" cy="51435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" y="1920240"/>
            <a:ext cx="809244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670" y="1988820"/>
            <a:ext cx="774954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Wrong loss for the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670" y="2228850"/>
            <a:ext cx="7749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BCELoss expects probabilities, BCEWithLogitsLoss expects logits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503170"/>
            <a:ext cx="205740" cy="51435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" y="2503170"/>
            <a:ext cx="809244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670" y="2571750"/>
            <a:ext cx="774954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Forgetting .train() / .eval()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70" y="2811780"/>
            <a:ext cx="7749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Dropout + BatchNorm behave differently in each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86100"/>
            <a:ext cx="205740" cy="51435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" y="3086100"/>
            <a:ext cx="809244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670" y="3154680"/>
            <a:ext cx="774954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Not setting random_state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670" y="3394710"/>
            <a:ext cx="7749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Results aren't reproducible across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669030"/>
            <a:ext cx="205740" cy="51435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" y="3669030"/>
            <a:ext cx="809244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670" y="3737610"/>
            <a:ext cx="774954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CPU vs GPU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670" y="3977640"/>
            <a:ext cx="774954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Tensors and model must be on same device</a:t>
            </a:r>
          </a:p>
        </p:txBody>
      </p:sp>
      <p:pic>
        <p:nvPicPr>
          <p:cNvPr id="26" name="Picture 2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MLP Architecture Cheatsheet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How many layers, how many neurons?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05889"/>
            <a:ext cx="2400300" cy="51435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54304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Tabular, ~10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6070" y="1405889"/>
            <a:ext cx="586359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74469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1-2 hidden layers, 16-64 neurons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80209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Sarah's session data falls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88820"/>
            <a:ext cx="2400300" cy="51435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930" y="21259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Tabular, 100+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6070" y="1988820"/>
            <a:ext cx="586359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057400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2-3 hidden layers, 64-256 neurons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63140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Bigger but still modest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571750"/>
            <a:ext cx="2400300" cy="51435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270891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Images (will become CNNs)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46070" y="2571750"/>
            <a:ext cx="586359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640330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Not MLP — use CNN (L08)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846070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Convolutional inductive 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154680"/>
            <a:ext cx="2400300" cy="51435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930" y="3291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Text (will become transformers)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46070" y="3154680"/>
            <a:ext cx="586359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223260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Not MLP — use transformer (L10)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429000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Attention is the right 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37609"/>
            <a:ext cx="2400300" cy="51435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930" y="3874769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Sparse / very-high-dim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6070" y="3737609"/>
            <a:ext cx="5863590" cy="51435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806189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Wide + shallow (1 layer, many neurons)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011929"/>
            <a:ext cx="5623559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36454F"/>
                </a:solidFill>
                <a:latin typeface="Calibri"/>
              </a:rPr>
              <a:t>Embeddings + 1 hidden layer</a:t>
            </a:r>
          </a:p>
        </p:txBody>
      </p:sp>
      <p:pic>
        <p:nvPicPr>
          <p:cNvPr id="31" name="Picture 3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What's Coming — L08-L10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Specialising neural networks to specific data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10287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7340"/>
            <a:ext cx="10287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L08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4470" y="1371600"/>
            <a:ext cx="240030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543050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8595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CNN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9060" y="1371600"/>
            <a:ext cx="480060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0510" y="1543050"/>
            <a:ext cx="452628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Convolutional layers exploit spatial structure in images.</a:t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Transfer learning from pre-trained models (ImageNet, CLIP).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434590"/>
            <a:ext cx="10287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40330"/>
            <a:ext cx="10287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L09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4470" y="2434590"/>
            <a:ext cx="240030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606040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489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Word embeddings + CNN/RNN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09060" y="2434590"/>
            <a:ext cx="480060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0510" y="2606040"/>
            <a:ext cx="452628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Token sequences. Word2Vec, GloVe, simple RNN classifiers.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97580"/>
            <a:ext cx="10287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703320"/>
            <a:ext cx="10287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rebuchet MS"/>
              </a:rPr>
              <a:t>L10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74470" y="3497580"/>
            <a:ext cx="240030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669030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Transformers + GenAI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01193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Attention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09060" y="3497580"/>
            <a:ext cx="480060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80510" y="3669030"/>
            <a:ext cx="452628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The architecture behind BERT, GPT, ChatGPT, Claude.</a:t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Fine-tuning + practical GenAI.</a:t>
            </a:r>
          </a:p>
        </p:txBody>
      </p:sp>
      <p:pic>
        <p:nvPicPr>
          <p:cNvPr id="27" name="Picture 2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50" b="1">
                <a:solidFill>
                  <a:srgbClr val="FFFFFF"/>
                </a:solidFill>
                <a:latin typeface="Trebuchet MS"/>
              </a:rPr>
              <a:t>See You in L08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E8F1F5"/>
                </a:solidFill>
                <a:latin typeface="Calibri"/>
              </a:rPr>
              <a:t>Computer Vision — CNNs, transfer learning, data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861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alibri"/>
              </a:rPr>
              <a:t>Before then: finish the L07 assignment (loan default + housing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Or dig deeper with NumPy-from-scratch + weight init + Adam variants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IA_1920x1080_1" id="{AE813658-6506-A745-B494-E9623D69A84F}" vid="{98D95D8B-1F05-BF49-9671-2CF52C7BA5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