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L07 — Neural Networks &amp; Deep Learning. The bridge from classical ML to the three domain-specific deep-learning lessons (L08-L10). The goal today is INTUITION, not production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recap. End of L06 Marcus asked about predicting checkout completion from sequential customer behaviour. This week Sarah trains her first neural network — the foundation for L08-L10.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define a neural network. A function (forward pass). A loss (how wrong we are). A learning algorithm (gradient descent + backprop).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perceptron is one neuron. It takes inputs, multiplies each by a weight, sums them, adds a bias, applies an activation. With sigmoid, it's logistic regression. That's the simplest neural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Stacking perceptrons in layers + adding non-linear activations gives you a Multi-Layer Perceptron (MLP). The non-linearity is what unlocks expressive power. Without it, stacked layers are still linear.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XOR problem proves the multi-layer + non-linearity point. No single line separates the XOR pattern. A multi-layer network learns it easily.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02_perceptron_to_mlp.ipynb: 30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Gradient descent is the algorithm. The mountain analogy: blindfolded on a mountain, you feel the slope and take a small step downhill. Repeat. Eventually you reach a valley.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update rule. One line. Subtract a small fraction of the gradient. That's it. The fraction is the learning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Backpropagation is HOW we compute the gradient. Apply the chain rule, walking backwards through the network. PyTorch does this automatically — you don't derive it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03_gradient_descent.ipynb: 30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PyTorch has four objects you need to know: Tensor, nn.Module, DataLoader, Optimizer. Together they give you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PyTorch training loop. Memorise this. The same 5 lines drive training for an MLP, CNN, transformer — any deep learning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04_pytorch_training_loop.ipynb: 30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to reach for neural networks vs gradient boosting. Tabular data of moderate size? Usually GB wins. Images, text, audio? Neural networks dominate.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Friday — Sarah's deliverable. Three models compared. Gradient boosting wins this tabular task. The MLP is the foundation for next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Marcus's new question — 'tag product photos' — moves from tabular data to IMAGES. Same PyTorch training loop, new architecture: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assignment parts. Part A: loan default classification. Part B: housing-price regression. Same training loop, different loss +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Wrap-up +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big lessons from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Sarah's journey to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Numerical results across the L07 in-class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reference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PyTorch pitfalls. Avoid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quick reference. How big should my MLP be?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L08-L10 specialise this toolkit to images, text, and transformers.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L08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Trebuchet MS"/>
              </a:rPr>
              <a:t>L07 —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8F1F5"/>
                </a:solidFill>
                <a:latin typeface="Calibri"/>
              </a:rPr>
              <a:t>Sarah's week of building her first neural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8F1F5"/>
                </a:solidFill>
                <a:latin typeface="Calibri"/>
              </a:rPr>
              <a:t>Perceptron → MLP · Gradient descent + backprop · PyTorch training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Format: ~90 min slides · ~90 min hands-on (3 notebooks)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Where We Left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From time series to sequential behaviour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14630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Marcus, end of L06: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Trebuchet MS"/>
              </a:rPr>
              <a:t>"If we had DETAILED CUSTOMER BEHAVIOUR data — every click, every page view, every cart event —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Trebuchet MS"/>
              </a:rPr>
              <a:t>could you predict whether they'd complete checkout WHILE they're shopping?"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What's different 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6454F"/>
                </a:solidFill>
                <a:latin typeface="Trebuchet MS"/>
              </a:rP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114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Neural networks for the first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1148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MLP with hidden layers + non-linear activations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177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6454F"/>
                </a:solidFill>
                <a:latin typeface="Trebuchet MS"/>
              </a:rPr>
              <a:t>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617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PyTorch as the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61772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The 5-line training loop you'll use forever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6454F"/>
                </a:solidFill>
                <a:latin typeface="Trebuchet MS"/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120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Goal is INTUITION, not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12064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L08-L10 are where deep learning beats classical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6454F"/>
                </a:solidFill>
                <a:latin typeface="Trebuchet MS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623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Same compare-to-baselines mindset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6235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MLP vs LR vs gradient boosting on the same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L07 — Slide 2/28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What IS a Neural Network?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Three things, then we're done with the mystique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731520" cy="13258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78308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87452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A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33172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A flexible, non-linear function from inputs to outputs.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Learned automatically — you specify the architecture, not the function.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88920"/>
            <a:ext cx="9784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▸ Forward pass: input →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46120"/>
            <a:ext cx="731520" cy="13258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324612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33756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A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79476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A measure of how wrong the function is on training data.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For classification: cross-entropy. For regression: MSE.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251960"/>
            <a:ext cx="9784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▸ Loss tells gradient descent which way to walk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09160"/>
            <a:ext cx="731520" cy="13258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98348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17320" y="470916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480060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A LEARNING ALGORITHM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25780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Gradient descent + backpropagation.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Walk downhill on the loss surface, one small step at a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715000"/>
            <a:ext cx="9784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alibri"/>
              </a:rPr>
              <a:t>▸ Updates: weights -= lr × gradient_of_loss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L07 — Slide 3/28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The Perceptron — One Neuron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The 1958 building block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13716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9E795"/>
                </a:solidFill>
                <a:latin typeface="Consolas"/>
              </a:rPr>
              <a:t>output = activation(w₁·x₁ + w₂·x₂ + … + wₙ·xₙ + 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Activation function determines the model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onsolas"/>
              </a:rPr>
              <a:t>▸ Linear (no activation)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4023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= Linear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onsolas"/>
              </a:rPr>
              <a:t>▸ Threshold (step function)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526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= 1958 perceptron, binary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onsolas"/>
              </a:rPr>
              <a:t>▸ Sigmoid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5029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= Logistic regression (binary classification)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32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onsolas"/>
              </a:rPr>
              <a:t>▸ Softmax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5532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= Multinomial logistic regression (multiclass)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080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⚠ A single perceptron can only learn LINEARLY SEPARABLE patterns. Fails on XOR.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L07 — Slide 4/28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Multi-Layer Perceptron (MLP)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Stack perceptrons + non-linear activations between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21945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An MLP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Input (9 features) → Linear → ReLU → Linear → ReLU → Linear → output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Each 'Linear' layer is a stack of perceptrons (the same weight × input + bias).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The 'ReLU' between layers is the non-linearity that makes the network EXPRESSIVE.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14800"/>
            <a:ext cx="11064240" cy="2194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The Universal Approximation Theorem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0916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Trebuchet MS"/>
              </a:rPr>
              <a:t>A single hidden layer with enough neurons + non-linear activations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Trebuchet MS"/>
              </a:rPr>
              <a:t>can approximate ANY continuous function arbitrarily well.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Trebuchet MS"/>
              </a:rPr>
              <a:t>In practice: 2-3 hidden layers (a 'deep' network) trains better than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Trebuchet MS"/>
              </a:rPr>
              <a:t>one very wide layer with the same total parameters.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L07 — Slide 5/28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XOR — The Case for Multi-Layer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Why a single perceptron isn't enough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XOR truth table: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23160"/>
            <a:ext cx="137160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963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x₁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2423160"/>
            <a:ext cx="137160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4963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x₂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423160"/>
            <a:ext cx="137160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4963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07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36454F"/>
                </a:solidFill>
                <a:latin typeface="Consolas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283464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2907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36454F"/>
                </a:solidFill>
                <a:latin typeface="Consolas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283464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2907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36454F"/>
                </a:solidFill>
                <a:latin typeface="Consolas"/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46120"/>
            <a:ext cx="1371600" cy="3657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192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36454F"/>
                </a:solidFill>
                <a:latin typeface="Consolas"/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3246120"/>
            <a:ext cx="1371600" cy="3657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33192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36454F"/>
                </a:solidFill>
                <a:latin typeface="Consolas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3246120"/>
            <a:ext cx="1371600" cy="3657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33192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36454F"/>
                </a:solidFill>
                <a:latin typeface="Consolas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65760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307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36454F"/>
                </a:solidFill>
                <a:latin typeface="Consolas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365760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37307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36454F"/>
                </a:solidFill>
                <a:latin typeface="Consolas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365760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7307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36454F"/>
                </a:solidFill>
                <a:latin typeface="Consolas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069080"/>
            <a:ext cx="1371600" cy="3657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1422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36454F"/>
                </a:solidFill>
                <a:latin typeface="Consolas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0240" y="4069080"/>
            <a:ext cx="1371600" cy="3657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41422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36454F"/>
                </a:solidFill>
                <a:latin typeface="Consolas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4069080"/>
            <a:ext cx="1371600" cy="3657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0" y="41422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36454F"/>
                </a:solidFill>
                <a:latin typeface="Consolas"/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1828800"/>
            <a:ext cx="6126480" cy="4389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196596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The geometric reason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2468880"/>
            <a:ext cx="56692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Plot the 4 points on (x₁, x₂):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• y=0 points are at (0,0) and (1,1)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• y=1 points are at (0,1) and (1,0)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The y=1 points are in opposite corners.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No straight line separates them from y=0.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5029200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An MLP with 1 hidden layer learns XOR perfectly.</a:t>
            </a:r>
          </a:p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The hidden layer warps the input space.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L07 — Slide 6/28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C39A"/>
                </a:solidFill>
                <a:latin typeface="Calibri"/>
              </a:rPr>
              <a:t>🟢  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onsolas"/>
              </a:rPr>
              <a:t>Open: 02_perceptron_to_mlp.ipynb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1.  See the XOR demo — single perceptron fails, MLP succeeds.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2.  Train sklearn's MLPClassifier on Sarah's session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3.  Sweep architecture (1 layer vs 4 layers) — see diminishing returns.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⏱  30 minutes  ·  Stop at the 🟡 Extension marker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Gradient Descent — The Mountain Analogy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Walk downhill on the loss surface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1645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8F1F5"/>
                </a:solidFill>
                <a:latin typeface="Calibri"/>
              </a:rPr>
              <a:t>The mountain 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"You're blindfolded on a mountain. You can't see the valley, but you can feel the slope under your feet.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At each step, walk in the steepest downhill direction. Repeat until the ground feels flat."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The mapping to neural networks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Mountain (terrain)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420624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→  Loss function (function of all parameters)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Your 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4617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→  Current values of all the model's weights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Slope under your feet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502920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→  Gradient (partial derivatives of loss w.r.t. each weight)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4067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Step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5440679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→  Learning rate (lr) — the most important hyperparameter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5215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Repeat until ground is flat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5852159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→  Train until gradient ≈ 0 (or you run out of patience)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L07 — Slide 8/28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The Gradient Descent Update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One line. Everything else is engineering.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18288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9E795"/>
                </a:solidFill>
                <a:latin typeface="Consolas"/>
              </a:rPr>
              <a:t>weights_new  =  weights_old  −  learning_rate × gradient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The learning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/>
              </a:rPr>
              <a:t>Too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66344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Overshoot the minimum, oscillate, diverge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/>
              </a:rPr>
              <a:t>Too 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07492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Tiny steps, slow convergence, may never finish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1C39A"/>
                </a:solidFill>
                <a:latin typeface="Calibri"/>
              </a:rPr>
              <a:t>Just right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48640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Smooth, fast convergence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Adam optimiser adapts lr per parameter — usually 1e-3 is fine without tuning.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L07 — Slide 9/28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Backpropagation — The Algorithm Behind Gradients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The chain rule, walking backwards through the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1554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What backprop computes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Trebuchet MS"/>
              </a:rPr>
              <a:t>"For every weight in the network, what's the partial derivative of the loss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Trebuchet MS"/>
              </a:rPr>
              <a:t>with respect to that weight?" — applied via the chain rule from the output back to the inputs.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20440"/>
            <a:ext cx="11064240" cy="21945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# Forward pass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predictions = model(inputs)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loss = criterion(predictions, targets)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# Backward pass — ONE LINE.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loss.backward()    # ← PyTorch computes all gradients via backprop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# Update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optimizer.step()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You don't derive backprop by hand. PyTorch (and TensorFlow, JAX, etc.) do it automatically via AUTOGRAD.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L07 — Slide 10/28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C39A"/>
                </a:solidFill>
                <a:latin typeface="Calibri"/>
              </a:rPr>
              <a:t>🟢  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onsolas"/>
              </a:rPr>
              <a:t>Open: 03_gradient_descent.ipynb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1.  Visualise gradient descent on a 1D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2.  Use PyTorch autograd to compute gradients automatically.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3.  Train your first PyTorch model with a manual loop.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⏱  30 minutes  ·  Stop at the 🟡 Extension marker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PyTorch — Four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Tensor · nn.Module · DataLoader · Optimizer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2743200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nsolas"/>
              </a:rPr>
              <a:t>Tensor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783080"/>
            <a:ext cx="8275320" cy="10058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20240"/>
            <a:ext cx="7909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Multi-dim array with autograd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331720"/>
            <a:ext cx="7909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Replaces NumPy during training; tracks gradients automatically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2743200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nsolas"/>
              </a:rPr>
              <a:t>nn.Module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926080"/>
            <a:ext cx="8275320" cy="10058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3063240"/>
            <a:ext cx="7909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The base class for any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474720"/>
            <a:ext cx="7909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You subclass it, define layers + forward()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69080"/>
            <a:ext cx="2743200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nsolas"/>
              </a:rPr>
              <a:t>DataLoader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4069080"/>
            <a:ext cx="8275320" cy="10058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4206240"/>
            <a:ext cx="7909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Wraps data for batched iteration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617720"/>
            <a:ext cx="7909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Used with TensorDataset for the typical workflow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12080"/>
            <a:ext cx="2743200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nsolas"/>
              </a:rPr>
              <a:t>Optimizer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5212080"/>
            <a:ext cx="8275320" cy="10058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5349240"/>
            <a:ext cx="7909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Updates parameters from gradients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760720"/>
            <a:ext cx="7909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torch.optim.Adam, SGD, etc. — separate from the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L07 — Slide 12/28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THE Training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Memorise these 5 lines — used everywhere in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29260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6984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8F1F5"/>
                </a:solidFill>
                <a:latin typeface="Consolas"/>
              </a:rPr>
              <a:t>for epoch in range(n_epochs):</a:t>
            </a:r>
          </a:p>
          <a:p>
            <a:pPr algn="l"/>
            <a:r>
              <a:rPr sz="1500" b="0">
                <a:solidFill>
                  <a:srgbClr val="E8F1F5"/>
                </a:solidFill>
                <a:latin typeface="Consolas"/>
              </a:rPr>
              <a:t>    for X_batch, y_batch in train_loader:        # iterate over mini-batches</a:t>
            </a:r>
          </a:p>
          <a:p>
            <a:pPr algn="l"/>
            <a:r>
              <a:rPr sz="1500" b="0">
                <a:solidFill>
                  <a:srgbClr val="E8F1F5"/>
                </a:solidFill>
                <a:latin typeface="Consolas"/>
              </a:rPr>
              <a:t>        optimizer.zero_grad()                     # 1. clear old gradients</a:t>
            </a:r>
          </a:p>
          <a:p>
            <a:pPr algn="l"/>
            <a:r>
              <a:rPr sz="1500" b="0">
                <a:solidFill>
                  <a:srgbClr val="E8F1F5"/>
                </a:solidFill>
                <a:latin typeface="Consolas"/>
              </a:rPr>
              <a:t>        predictions = model(X_batch)              # 2. forward pass</a:t>
            </a:r>
          </a:p>
          <a:p>
            <a:pPr algn="l"/>
            <a:r>
              <a:rPr sz="1500" b="0">
                <a:solidFill>
                  <a:srgbClr val="E8F1F5"/>
                </a:solidFill>
                <a:latin typeface="Consolas"/>
              </a:rPr>
              <a:t>        loss = criterion(predictions, y_batch)    # 3. compute loss</a:t>
            </a:r>
          </a:p>
          <a:p>
            <a:pPr algn="l"/>
            <a:r>
              <a:rPr sz="1500" b="0">
                <a:solidFill>
                  <a:srgbClr val="E8F1F5"/>
                </a:solidFill>
                <a:latin typeface="Consolas"/>
              </a:rPr>
              <a:t>        loss.backward()                           # 4. backward pass (autograd)</a:t>
            </a:r>
          </a:p>
          <a:p>
            <a:pPr algn="l"/>
            <a:r>
              <a:rPr sz="1500" b="0">
                <a:solidFill>
                  <a:srgbClr val="E8F1F5"/>
                </a:solidFill>
                <a:latin typeface="Consolas"/>
              </a:rPr>
              <a:t>        optimizer.step()                          # 5. update parameters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The pattern transfers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L08 (CNNs on images): same 5 lines, different model.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L09 (NLP): same 5 lines, different model.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L10 (transformers): same 5 lines, different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L07 — Slide 13/28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C39A"/>
                </a:solidFill>
                <a:latin typeface="Calibri"/>
              </a:rPr>
              <a:t>🟢  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onsolas"/>
              </a:rPr>
              <a:t>Open: 04_pytorch_training_loop.ipynb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1.  Build Dataset + DataLoader for mini-batched training.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2.  Train with Adam optimiser + early stopping.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3.  Compare PyTorch MLP to logistic regression, gradient boosting, sklearn MLP.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⏱  30 minutes  ·  Stop at the 🟡 Extension marker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MLP vs Gradient Boosting — When To Use Which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On Sarah's tabular task: they're tied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86400" cy="4572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MLP shines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✓  Image / text / audio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✓  Very large datasets (&gt;10M rows)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✓  Need to ensemble with other neural nets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✓  Sparse high-dim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✓  When transfer learning available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5303520" cy="4572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Gradient Boosting shines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68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✓  Tabular data of moderate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926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✓  Need feature importance for interpretability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383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✓  Limited training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✓  Fast training preferred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297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✓  Few hyperparameters to tune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L07 — Slide 15/28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Friday — Sarah's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What lands on Marcus's desk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200400" cy="1143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AUC ~0.76</a:t>
            </a:r>
          </a:p>
        </p:txBody>
      </p:sp>
      <p:sp>
        <p:nvSpPr>
          <p:cNvPr id="8" name="Rectangle 7"/>
          <p:cNvSpPr/>
          <p:nvPr/>
        </p:nvSpPr>
        <p:spPr>
          <a:xfrm>
            <a:off x="3794760" y="1828800"/>
            <a:ext cx="7818120" cy="1143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219456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Most interpretable; ship if explainability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3200400" cy="1143000"/>
          </a:xfrm>
          <a:prstGeom prst="rect">
            <a:avLst/>
          </a:prstGeom>
          <a:solidFill>
            <a:srgbClr val="21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Gradient Boosting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AUC ~0.77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3108960"/>
            <a:ext cx="7818120" cy="1143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347472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Best AUC on this tabular task → SHIP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89120"/>
            <a:ext cx="3200400" cy="1143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PyTorch MLP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20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AUC ~0.76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94760" y="4389120"/>
            <a:ext cx="7818120" cy="1143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475488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Foundation for L08-L10; not the production choice here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9E795"/>
                </a:solidFill>
                <a:latin typeface="Calibri"/>
              </a:rPr>
              <a:t>Marcus: 'Excellent. Next — automatically tag product PHOTOS as dress, jeans, jacket. Can you?'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L07 — Slide 16/28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8F1F5"/>
                </a:solidFill>
                <a:latin typeface="Calibri"/>
              </a:rPr>
              <a:t>Bridge to Lesson 8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32720" cy="23774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Marcus, after the Friday presentation: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97840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"Great. Now — we're launching an Instagram product feed.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Can you automatically tag product PHOTOS so they categorise as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'dress', 'jeans', 'jacket', 'shoes', 'accessories', etc.?"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Calibri"/>
              </a:rPr>
              <a:t>Lesson 8 — Computer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8F1F5"/>
                </a:solidFill>
                <a:latin typeface="Calibri"/>
              </a:rPr>
              <a:t>CNN architecture · transfer learning · data augmentation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alibri"/>
              </a:rPr>
              <a:t>Same PyTorch training loop. New model architecture. Real images.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Before L08 — finish the L07 assignment (loan default + housing regression).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Assignment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Two PyTorch exercises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86400" cy="4572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Part A — Loan Default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• Binary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• 10,000 synthetic loan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• 9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• Build the MLP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• Train with Adam + early stopping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• Report test 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303520" cy="4572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Part B — Housing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514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• Regression (not classification)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926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• 8,000 synthetic housing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337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• MSELoss instead of BCE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74903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• Same training loop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160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• Report test MAE in $100k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L07 — Slide 18/28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Q&amp;A and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Common questions + the path to L08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86400" cy="4572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💬  Common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• How do I choose hidden layer sizes?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• When should I use Adam vs SGD?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• Why don't trees use backpropagation?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• Should I always GPU train?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• How big can my MLP get?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5303520" cy="4572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📚  Going deeper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5146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Optional notebook covers: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9718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  · NumPy-from-scratch neural 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4290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  · Weight initialisation strategies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8862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  · SGD vs Adam vs AdamW vs RMSprop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3434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  · Dropout + batch normalisation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L07 — Slide 19/28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Three Things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Beyond the 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731520" cy="13258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78308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96596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Neural networks are FUNCTIONS, not magic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2316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They map inputs to outputs through stacked weighted sums + non-linear activations. Training is gradient descent on the loss surface.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731520" cy="13258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24612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42900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The PyTorch training loop is THE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88620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5 lines that work for every deep-learning model you'll meet: zero_grad, forward, loss, backward, step. Memorise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709160"/>
            <a:ext cx="731520" cy="13258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3776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470916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89204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For tabular data, gradient boosting often wins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34924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Neural networks shine on data with rich hierarchical structure (images, text). On tabular, they're competitive but rarely transformative.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L07 — Slide 20/28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Trebuchet MS"/>
              </a:rPr>
              <a:t>L07 —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9E795"/>
                </a:solidFill>
                <a:latin typeface="Calibri"/>
              </a:rPr>
              <a:t>Sarah's journey so far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Trebuchet MS"/>
              </a:rPr>
              <a:t>L01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4688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Pre-trained sentiment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4688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→ 'how sure are we?'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Trebuchet MS"/>
              </a:rPr>
              <a:t>L02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9260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CIs + A/B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9260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→ 'train your own?'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Trebuchet MS"/>
              </a:rPr>
              <a:t>L03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3832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Logistic regression +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3832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→ 'make it better?'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Trebuchet MS"/>
              </a:rPr>
              <a:t>L04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8404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Random Forest + Gradient 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8404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→ 'cluster customers?'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Trebuchet MS"/>
              </a:rPr>
              <a:t>L05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2976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PCA + K-Means + Isolation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2976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→ 'forecast revenue?'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Trebuchet MS"/>
              </a:rPr>
              <a:t>L06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7548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STL + ETS + ML-with-lags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7548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→ 'sequential behaviour?'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9E795"/>
                </a:solidFill>
                <a:latin typeface="Trebuchet MS"/>
              </a:rPr>
              <a:t>L07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2120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9E795"/>
                </a:solidFill>
                <a:latin typeface="Calibri"/>
              </a:rPr>
              <a:t>MLP + PyTorch training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2120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E795"/>
                </a:solidFill>
                <a:latin typeface="Calibri"/>
              </a:rPr>
              <a:t>→ 'tag product photos?'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692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Trebuchet MS"/>
              </a:rPr>
              <a:t>L08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6692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Computer Vision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6692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Coming next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When To Reach For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Quick reference for the L01-L07 toolkit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745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Best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Strength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8745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Weakness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414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414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Linear binary problems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414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Interpretable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4414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Linear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34639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94436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Gradient Boosting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94436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Tabular structured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4436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SOTA on tabular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94436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Slow on huge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3756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472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MLP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4472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Tabular foundation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472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Universal approximator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4472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Many hyperparams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9502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PyTorch (L07-L10)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9502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Any custom neural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9502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Total flexibility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9502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More code than sklearn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L07 — Slide 22/28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What the Numbers Look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L07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365760" cy="5486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1783080"/>
            <a:ext cx="1069848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Logistic regression (NB 01 baseline)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9202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AUC 0.76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192024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Calibri"/>
              </a:rPr>
              <a:t>NB 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365760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2423160"/>
            <a:ext cx="1069848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560320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XOR — single perceptron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56032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Accuracy 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56032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/>
              </a:rPr>
              <a:t>NB 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63239"/>
            <a:ext cx="365760" cy="548640"/>
          </a:xfrm>
          <a:prstGeom prst="rect">
            <a:avLst/>
          </a:prstGeom>
          <a:solidFill>
            <a:srgbClr val="21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3063239"/>
            <a:ext cx="1069848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200399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XOR — MLP with 1 hidden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200399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Accuracy 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200399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1C39A"/>
                </a:solidFill>
                <a:latin typeface="Calibri"/>
              </a:rPr>
              <a:t>NB 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03320"/>
            <a:ext cx="365760" cy="5486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3703320"/>
            <a:ext cx="1069848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3840480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MLPClassifier on session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84048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AUC 0.76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384048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Calibri"/>
              </a:rPr>
              <a:t>NB 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343400"/>
            <a:ext cx="365760" cy="5486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" y="4343400"/>
            <a:ext cx="1069848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PyTorch MLP — manual training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48056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AUC 0.74-0.76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448056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Calibri"/>
              </a:rPr>
              <a:t>NB 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983480"/>
            <a:ext cx="365760" cy="5486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0120" y="4983480"/>
            <a:ext cx="1069848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5120640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PyTorch MLP — Adam + DataLoader + 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1206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AUC 0.76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512064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Calibri"/>
              </a:rPr>
              <a:t>NB 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623559"/>
            <a:ext cx="365760" cy="548640"/>
          </a:xfrm>
          <a:prstGeom prst="rect">
            <a:avLst/>
          </a:prstGeom>
          <a:solidFill>
            <a:srgbClr val="F9E7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" y="5623559"/>
            <a:ext cx="1069848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" y="5760719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Gradient Boosting (L04 ref)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5760719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AUC 0.77 — winner on tabular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5760719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E795"/>
                </a:solidFill>
                <a:latin typeface="Calibri"/>
              </a:rPr>
              <a:t>NB 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L07 — Slide 23/28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Quick Reference — PyTorch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Keep this open while coding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1.  Set torch.manual_seed(42) for reproducibility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95728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2.  Wrap data in TensorDataset + DataLoader(batch_size=64, shuffle=True)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62656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072384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3.  Subclass nn.Module: __init__ defines layers, forward() defines computation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29584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39312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4.  Adam + lr=1e-3 is a safe default optimiser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96512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0624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5.  Always: zero_grad → forward → loss → backward → step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773168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6.  Use BCEWithLogitsLoss (binary) or CrossEntropyLoss (multiclass) — not raw BCE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30368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340096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7.  Early stopping with patience=5-10 epochs prevents overfitting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L07 — Slide 24/28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The 5 mistakes everyone makes once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274320" cy="6858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10789920" cy="685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2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Forgetting optimizer.zero_grad()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Gradients accumulate → training diverges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274320" cy="6858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560320"/>
            <a:ext cx="10789920" cy="685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5176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Wrong loss for the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7180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BCELoss expects probabilities, BCEWithLogitsLoss expects logits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37560"/>
            <a:ext cx="274320" cy="6858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337560"/>
            <a:ext cx="10789920" cy="685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42900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Forgetting .train() / .eval()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74904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Dropout + BatchNorm behave differently in each mode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274320" cy="6858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114800"/>
            <a:ext cx="10789920" cy="685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20624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Not setting random_state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52628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Results aren't reproducible across runs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92040"/>
            <a:ext cx="274320" cy="6858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892040"/>
            <a:ext cx="10789920" cy="685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98348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CPU vs GPU mix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3035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Tensors and model must be on same device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L07 — Slide 25/28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MLP Architecture Cheatsheet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How many layers, how many neurons?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3200400" cy="6858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399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F1F5"/>
                </a:solidFill>
                <a:latin typeface="Calibri"/>
              </a:rPr>
              <a:t>Tabular, ~10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794760" y="1874519"/>
            <a:ext cx="7818120" cy="685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1965959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1-2 hidden layers, 16-64 neurons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240279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Sarah's session data falls here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3200400" cy="6858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F1F5"/>
                </a:solidFill>
                <a:latin typeface="Calibri"/>
              </a:rPr>
              <a:t>Tabular, 100+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2651760"/>
            <a:ext cx="7818120" cy="685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2743200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2-3 hidden layers, 64-256 neurons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017520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Bigger but still modest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29000"/>
            <a:ext cx="3200400" cy="6858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118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F1F5"/>
                </a:solidFill>
                <a:latin typeface="Calibri"/>
              </a:rPr>
              <a:t>Images (will become CNNs)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60" y="3429000"/>
            <a:ext cx="7818120" cy="685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3520440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Not MLP — use CNN (L08)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794760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Convolutional inductive bias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06240"/>
            <a:ext cx="3200400" cy="6858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891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F1F5"/>
                </a:solidFill>
                <a:latin typeface="Calibri"/>
              </a:rPr>
              <a:t>Text (will become transformers)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94760" y="4206240"/>
            <a:ext cx="7818120" cy="685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0" y="4297680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Not MLP — use transformer (L10)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572000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Attention is the right tool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83479"/>
            <a:ext cx="3200400" cy="6858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166359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F1F5"/>
                </a:solidFill>
                <a:latin typeface="Calibri"/>
              </a:rPr>
              <a:t>Sparse / very-high-dim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4760" y="4983479"/>
            <a:ext cx="7818120" cy="685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5074919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Wide + shallow (1 layer, many neurons)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5349239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Embeddings + 1 hidden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L07 — Slide 26/28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What's Coming — L08-L10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Specialising neural networks to specific data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371600" cy="1280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rebuchet MS"/>
              </a:rPr>
              <a:t>L08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828800"/>
            <a:ext cx="3200400" cy="1280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20574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514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9E795"/>
                </a:solidFill>
                <a:latin typeface="Consolas"/>
              </a:rPr>
              <a:t>CNN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828800"/>
            <a:ext cx="640080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2057400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Convolutional layers exploit spatial structure in images.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Transfer learning from pre-trained models (ImageNet, CLIP).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46120"/>
            <a:ext cx="1371600" cy="1280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rebuchet MS"/>
              </a:rPr>
              <a:t>L09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960" y="3246120"/>
            <a:ext cx="3200400" cy="1280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3474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NLP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931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9E795"/>
                </a:solidFill>
                <a:latin typeface="Consolas"/>
              </a:rPr>
              <a:t>Word embeddings + CNN/RNN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3246120"/>
            <a:ext cx="640080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3474720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Token sequences. Word2Vec, GloVe, simple RNN classifiers.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663440"/>
            <a:ext cx="1371600" cy="1280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rebuchet MS"/>
              </a:rPr>
              <a:t>L10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5960" y="4663440"/>
            <a:ext cx="3200400" cy="1280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48920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Transformers + GenAI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349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9E795"/>
                </a:solidFill>
                <a:latin typeface="Consolas"/>
              </a:rPr>
              <a:t>Attention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0" y="4663440"/>
            <a:ext cx="640080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4892040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The architecture behind BERT, GPT, ChatGPT, Claude.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Fine-tuning + practical GenAI.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L07 — Slide 27/28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Trebuchet MS"/>
              </a:rPr>
              <a:t>See You in L08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8F1F5"/>
                </a:solidFill>
                <a:latin typeface="Calibri"/>
              </a:rPr>
              <a:t>Computer Vision — CNNs, transfer learning, data augmentation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alibri"/>
              </a:rPr>
              <a:t>Before then: finish the L07 assignment (loan default + housing regression)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Or dig deeper with NumPy-from-scratch + weight init + Adam variants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