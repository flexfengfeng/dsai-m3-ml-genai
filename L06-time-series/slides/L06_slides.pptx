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Lesson 6 — Time Series Forecasting. Marcus's question from L05 — 'forecast next quarter's revenue?' — is this week's brief. Three methods: STL decomposition, ETS, ML-with-lags. ~90 min slides + ~90 min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recap. End of L05, Marcus asked about forecasting. The new question: time-ordered data. This breaks every assumption from L01-L05.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time series is the sum of three components: trend, seasonality, and residual (noise). Different components have different shapes, scales, predictability. Separating them is step 0 of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NorthStar daily revenue data: 2 years (731 days), mean £9,700/day. Three patterns visible to the eye: upward trend, weekly cycle, Q4 holiday spike. Multi-seasonal.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STL — Seasonal-Trend decomposition using Loess. Robust to outliers, allows seasonal pattern to evolve slowly. Give it the data and the seasonal period; get back trend + seasonal + residual.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of time-series cross-validation: train always BEFORE test. TimeSeriesSplit gives 5 windows that roll forward through the data. K-fold is FORBIDDEN — it would leak future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02_decomposition.ipynb: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classical methods you should know. Naive is the baseline floor. Seasonal Naive captures one seasonality. ETS is the pragmatic adaptive baseline that handles trend + one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ETS — Error, Trend, Seasonality. Three flavours depending on which components are modelled. The three letters tell you what's modelled. Default for our NorthStar data: additive trend + additive weekly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standard forecast-error metrics. MAE is intuitive. RMSE penalises large errors more. MAPE is scale-free percentage. Report at least MAE + MAPE for business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03_classical_forecasting.ipynb: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modern industry default: turn the time series into a TABULAR REGRESSION PROBLEM by adding lag features. Then use gradient boosting — the same algorithm from L04.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the features + training the model — the code is short. Drop NaN rows (first 365 days because of lag_365), split by date, fit gradient boosting.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to forecast multi-step. Recursive: predict t+1, plug into lag for t+2, repeat. Errors compound. Direct: train separate models for each horizon. More work, more stable. Choose based on horizon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04_ml_forecasting.ipynb: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morning. Three deliverables for Marcus: the decomposition chart, the comparison table, and the 90-day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Marcus's new question — 'predict checkout completion from sequential customer behaviour?' — is the engine of L07. Neural networks. Different mental model: end-to-end learning from raw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assignment parts. Part A: UK electricity demand (strong multi-seasonality). Part B: coffee-shop daily customers (smaller, noisier).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big lessons from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comparison of all the forecasting tools we've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Time-series forecasting is everywhere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card you can keep open while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Numerical results learners will see across the in-class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forecasting arc beyond L06.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Permutation importance from the ML-with-lags forecaster — which features actually drive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L07 next —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Trebuchet MS"/>
              </a:rPr>
              <a:t>L06 — Time Series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F1F5"/>
                </a:solidFill>
                <a:latin typeface="Calibri"/>
              </a:rPr>
              <a:t>Sarah's week of forecasting NorthStar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F1F5"/>
                </a:solidFill>
                <a:latin typeface="Calibri"/>
              </a:rPr>
              <a:t>STL decomposition · ETS · ML-with-lags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Format: ~90 min slides · ~90 min hands-on (3 notebooks)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L05 → L06 — from cross-sectional to time-ordered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end of L05: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"Sales are SEASONAL. We need to know quarterly revenue 90 days ahead so ops can plan inventory.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Can you forecast?"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The fundamental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Data is TIME-ORDERED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Order matters. Today's value depends on yesterday's.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The future hasn't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61772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Never use data from after the prediction 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k-fold cross-val is FORBIDDEN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2064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Would leak the future into past training folds.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Trebuchet MS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23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New 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62356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Decomposition, ETS, lag features — time-aware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Time-Series Trinity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Every series = Trend + Seasonality + Residual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91440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Trebuchet MS"/>
              </a:rPr>
              <a:t>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783080"/>
            <a:ext cx="99669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Long-term direction.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Growth, decline, flat.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Smooth, slow-moving.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91440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Trebuchet MS"/>
              </a:rPr>
              <a:t>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3246120"/>
            <a:ext cx="99669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3832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Seasonality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Repeating cycles.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Annual, monthly, weekly, daily.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Predictable.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91440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>
                <a:solidFill>
                  <a:srgbClr val="FFFFFF"/>
                </a:solidFill>
                <a:latin typeface="Trebuchet MS"/>
              </a:rPr>
              <a:t>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709160"/>
            <a:ext cx="99669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8463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Residual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035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What's left — noise + unexplained.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Should look like random fluctuation.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NorthStar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731 days · multi-seasonal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51760" cy="1645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731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8F1F5"/>
                </a:solidFill>
                <a:latin typeface="Calibri"/>
              </a:rPr>
              <a:t>Two years of daily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651760" cy="1645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945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£9,700/day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8F1F5"/>
                </a:solidFill>
                <a:latin typeface="Calibri"/>
              </a:rPr>
              <a:t>Mean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828800"/>
            <a:ext cx="2651760" cy="1645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1945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£5.9k - £13.9k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8F1F5"/>
                </a:solidFill>
                <a:latin typeface="Calibri"/>
              </a:rPr>
              <a:t>Range across the period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399" y="1828800"/>
            <a:ext cx="2651760" cy="1645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399" y="21945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Multi-seasonal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8F1F5"/>
                </a:solidFill>
                <a:latin typeface="Calibri"/>
              </a:rPr>
              <a:t>Trend + weekly + annual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Three patterns visible in the data: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1.  Upward TREND across the 2 years (~£3/day growth, ~£1k/year)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2.  WEEKLY cycle — weekends ~£1,500 higher than weekdays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3.  ANNUAL cycle — November-December holiday spike, +£1,500 on top of weekly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STL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robust default — captures one seasonality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decomposition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9E795"/>
                </a:solidFill>
                <a:latin typeface="Consolas"/>
              </a:rPr>
              <a:t>y(t) = trend(t) + seasonal(t) + residual(t)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2377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from statsmodels.tsa.seasonal import STL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stl = STL(y, period=7, robust=True).fit()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stl.trend       # the slow-moving direction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stl.seasonal    # the 7-day repeating pattern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stl.resid       # what's left — should look like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STL handles ONE seasonality. For multi-seasonal data, use MSTL or capture other seasonalities via lag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Time-Series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TimeSeriesSplit — test is always LATER than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7293"/>
                </a:solidFill>
                <a:latin typeface="Consolas"/>
              </a:rPr>
              <a:t>TimeSeriesSplit(n_splits=5, test_size=60)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alibri"/>
              </a:rPr>
              <a:t>Fold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377440"/>
            <a:ext cx="182880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377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377440"/>
            <a:ext cx="13716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alibri"/>
              </a:rPr>
              <a:t>Fold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880360"/>
            <a:ext cx="32918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8803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880360"/>
            <a:ext cx="13716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880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alibri"/>
              </a:rPr>
              <a:t>Fold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383280"/>
            <a:ext cx="47548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3832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383280"/>
            <a:ext cx="13716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77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alibri"/>
              </a:rPr>
              <a:t>Fold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886200"/>
            <a:ext cx="621792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3886200"/>
            <a:ext cx="13716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886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alibri"/>
              </a:rPr>
              <a:t>Fold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389120"/>
            <a:ext cx="76809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3891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4389120"/>
            <a:ext cx="13716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43891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⚠  NEVER use random KFold on time-series data — it leaks future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nsolas"/>
              </a:rPr>
              <a:t>Open: 02_decomposition.ipynb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Run STL on the daily revenue with period=7.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Read the 4-panel decomposition — trend, seasonal, residual.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Set up TimeSeriesSplit + compute Seasonal Naive MAE/RMSE/MAPE.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Classical Forecasting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Three tools — increasing sophistication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Naive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Predict the LAST value for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▸ Useful only as the bar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73152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20040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Seasonal 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Predict the value from ONE SEASON AGO (e.g., same-day-last-week).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▸ Strong baseline when seasonality is stable, no trend.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20"/>
            <a:ext cx="73152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61772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Exponential Smoothing (ETS)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120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Adaptive weighted average + trend + seasonality.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77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▸ The pragmatic baseline every forecaster should know.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Exponential Smoothing (ETS)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Adaptive level + trend + seasonality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24688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from statsmodels.tsa.holtwinters import ExponentialSmoothing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model = ExponentialSmoothing(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y_train,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trend="add",            # additive trend (or "mul" or None)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seasonal="add",         # additive seasonality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    seasonal_periods=7,     # weekly cycle on daily data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).fit()</a:t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E8F1F5"/>
                </a:solidFill>
                <a:latin typeface="Consolas"/>
              </a:rPr>
              <a:t>forecast = model.forecast(steps=90)   # 90-day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Three ETS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SimpleExpSmoothing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Level only (no trend, no seasonality)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92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Flat or volatile-but-stationary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Holt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349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Level + trend (no seasonality)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492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Growing/declining series with no obvious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ExponentialSmoothing (Holt-Winters)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806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Level + trend + ONE seasonality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06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The workhorse — most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Forecast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Three standard ways to score a forecast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09728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783080"/>
            <a:ext cx="978408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9659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onsolas"/>
              </a:rPr>
              <a:t>mean(|y_true − y_pred|)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688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Same units as the target. Intuitive.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109728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3200400"/>
            <a:ext cx="978408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33832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onsolas"/>
              </a:rPr>
              <a:t>sqrt(mean((y_true − y_pred)²))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862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Penalises LARGE errors more than small 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109728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MAPE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4617720"/>
            <a:ext cx="978408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80060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onsolas"/>
              </a:rPr>
              <a:t>mean(|y_true − y_pred| / |y_true|) ×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0352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Percentage. Scale-free. Watch out near zero.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nsolas"/>
              </a:rPr>
              <a:t>Open: 03_classical_forecasting.ipynb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Build Naive + Seasonal Naive + ETS-weekly forecasts on the same train/test split.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Compute MAE / RMSE / MAPE for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Visualise all three forecasts against the actual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ML-with-Lags — The Modern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Time series → tabular regression with lag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The trick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"For each day, ADD COLUMNS for past values (lag_1, lag_7, lag_365).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Now it's a tabular dataset — train any regression model on it."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23774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Example feature table: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7490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4903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lag_1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74903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lag_7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7490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lag_365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dayofweek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4903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2024-01-10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160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8800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60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8500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60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2024-01-11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526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26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526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8600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526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2024-01-12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9700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8920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9400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8920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9500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8800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920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920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Each row predicts its target from features that include past values. Standard regression — same gradient boosting from L04.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ML-with-Lags —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Build features → split → 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# 1.  Build lag features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df["lag_1"]     = df["revenue"].shift(1)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df["lag_7"]     = df["revenue"].shift(7)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df["lag_365"]   = df["revenue"].shift(365)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df["dayofweek"] = df.index.dayofweek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df["month"]     = df.index.month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# 2.  Drop rows with NaN (first 365 days)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df = df.dropna()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# 3.  Train/test split — by DATE, not random!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X_train = df[df.index &lt; test_start].drop(columns="revenue")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y_train = df[df.index &lt; test_start]["revenue"]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X_test  = df[df.index &gt;= test_start].drop(columns="revenue")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y_test  = df[df.index &gt;= test_start]["revenue"]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# 4.  Train — same as any other regression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from sklearn.ensemble import HistGradientBoostingRegressor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model = HistGradientBoostingRegressor(max_iter=200, learning_rate=0.05)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onsolas"/>
              </a:rPr>
              <a:t>model.fit(X_train, y_train)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Recursive vs Direct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How to predict many steps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389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Recursive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1.  Predict day t+1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2.  Plug prediction into lag_1 for day t+2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3.  Predict day t+2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4.  Plug both predictions into lags for day t+3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5.  Repeat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Pros: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  • Simple — one model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  • Works for arbitrary horizons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Cons: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  • Errors compound over horizon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83080"/>
            <a:ext cx="5486400" cy="4389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Train a SEPARATE model for each horizon: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Model 1 — 1-day-ahead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Model 7 — 7-day-ahead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Model 30 — 30-day-ahead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Pros: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  • Errors don't compound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  • Often better at long horizons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Cons: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  • Many models to train + maintain</a:t>
            </a:r>
          </a:p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  • Each model uses less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nsolas"/>
              </a:rPr>
              <a:t>Open: 04_ml_forecasting.ipynb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Build lag features (lag_1 + lag_7 + lag_365 + calendar).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Train HistGradientBoostingRegressor.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Recursive forecast 60 days + compare against classical baselines.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Friday — Sarah's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lands on Marcus's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Decomposition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Trend (slow growth + annual cycle) + Weekly seasonality + Residual (noise)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Visible structure that summarises what's predictable vs random.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73152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0040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Method comparison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Naive · Seasonal Naive · ETS-weekly · ML-with-lags on the same test window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With MAE, RMSE, and MAPE per method.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73152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61772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7548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90-day forecast for Q1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120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From the chosen method (likely ML-with-lags retrained on full data).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With a 90% prediction interval.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Marcus: 'Excellent. Now — predict checkout completion from SEQUENTIAL CUSTOMER BEHAVIOUR?'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F1F5"/>
                </a:solidFill>
                <a:latin typeface="Calibri"/>
              </a:rPr>
              <a:t>Bridge to Lesson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after the Friday presentation: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784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"Great forecast. Now — if we collected DETAILED CUSTOMER BEHAVIOUR DATA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(every click, every page view, every cart event),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could you predict whether they'd complete checkout WHILE THEY'RE SHOPPING?"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Lesson 7 — Neural Networks &amp;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Perceptron → MLP · gradient descent · backpropagation · PyTorch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End-to-end learning from raw sequences. The path to deep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Before L07 — finish the L06 assignment (electricity demand + coffee shop).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Two domains · same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Part A — UK Electricity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2 years of daily demand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Strong annual + weekly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A1: STL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A2: ETS-weekly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A3: ML-with-lags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A4: which wins and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Part B — Coffee 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18 months of daily customer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63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Weekly seasonality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B1: Seasonal Naive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776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B2: pick any method to beat B1 by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• Smaller data, noisier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Q&amp;A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Common questions + the path to L07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💬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long a training history do I need?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What if my data has gaps (missing days)?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do I decide ETS-weekly vs ETS-annual?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When does Prophet beat ML-with-lags?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• How do I forecast confidence intervals?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303520" cy="4572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📚  Going deeper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Optional notebook covers: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63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Stationarity tests (ADF)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ACF and PACF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776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ARIMA + AutoARIMA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34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SARIMA — seasonal ARIMA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92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  · Prophet (Facebook's library)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practical wisdom beyond the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Time-series cross-validation is non-negotiable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Always use TimeSeriesSplit, never KFold. The future hasn't happened — training on it is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Lag features turn time series into tabular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862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Add lag_1, lag_7, lag_365, calendar columns. Train ANY regression model. Handles multi-seasonal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920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Evaluate on cross-validated windows, not a single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 single window can give misleading results (e.g., the holiday window). Average across windows.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When to use which forecasting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Naive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Bar floor; sanity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Trivially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41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Almost always beaten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98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Seasonal Naive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98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Stable seasonal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98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Captures seasonality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98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Misses trend; misses regime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seasonality + 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Adaptive; well-tested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55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Single-seasonality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033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ARIMA (Ext)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Stationary or differenced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Theoretical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Needs tuning; AutoARIMA helps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702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SARIMA (Ext)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Seasonal ARIMA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702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Bayesian, principled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2702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Same single-seasonality limit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177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727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ML-with-lags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27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Multi-seasonal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27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Same toolkit as L04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727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Recursive forecast errors compound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Prophet (Ext)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184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Multi-seasonal + holidays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84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Easy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184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Heavier dependency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Trebuchet MS"/>
              </a:rPr>
              <a:t>L06 —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E795"/>
                </a:solidFill>
                <a:latin typeface="Calibri"/>
              </a:rPr>
              <a:t>Sarah's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Pre-trained sentiment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'how sure are we?'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718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Confidence intervals + A/B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'train your own?'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74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Logistic regression +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74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'make it better?'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77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Random Forest + Gradient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'cluster customers?'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PCA + K-Means +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→ 'forecast revenue?'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Trebuchet MS"/>
              </a:rPr>
              <a:t>L06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834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alibri"/>
              </a:rPr>
              <a:t>STL + ETS + ML-with-lags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983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→ 'predict from sequential behaviour?'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Trebuchet MS"/>
              </a:rPr>
              <a:t>L07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86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Neural Networks &amp; Deep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486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Coming next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Time-Series Forecasting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Industry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📈 Retail / E-commerce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78308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9202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Revenue, demand, inventory planning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⚡ Energy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37744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5146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Electricity / gas demand, renewables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💸 Finance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97180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1089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Stock returns, FX, risk metrics, capital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🚛 Supply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56616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7033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Demand forecasting, inventory optimisation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🏥 Healthcare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416052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2976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ED admissions, ICU bed demand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🌐 Tech / SaaS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75488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8920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MAU/DAU, conversion rate trends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3200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F1F5"/>
                </a:solidFill>
                <a:latin typeface="Calibri"/>
              </a:rPr>
              <a:t>☁ Cloud / DevOps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5349240"/>
            <a:ext cx="7818120" cy="502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548640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Server load, traffic, capacity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5 rules of thumb for time-series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1.  Time-series cross-validation only — NEVER KFold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2.  ALWAYS start with at least one trivial baseline (Naive / Seasonal Naive)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3.  Match the seasonal period to your DOMINANT cycle (period=7 for daily, period=12 for monthly)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4340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4.  For multi-seasonal data → ML-with-lags or Prophet, not single-period ETS/ARIMA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5.  Report MAE + MAPE at minimum; report multiple test windows when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What the Numbers Will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L06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5760" cy="6217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783080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STL — period=7 captures 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4767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Residual std ~£380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947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NB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96312"/>
            <a:ext cx="365760" cy="6217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496312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6090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Seasonal Naive on holiday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6090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MAE £2,600 / MAPE 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66090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365760" cy="6217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209544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374136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ETS-weekly (trend+seasonal)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7413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MAE £2,050 / MAPE 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374136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22776"/>
            <a:ext cx="365760" cy="6217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922776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0873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ML-with-lags one-step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873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MAE £1,500 / MAPE 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08736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NB 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36008"/>
            <a:ext cx="365760" cy="621792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4636008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80060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ML-with-lags CV (TimeSeriesSplit)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8006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MAE ~£500-700 best in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8006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C39A"/>
                </a:solidFill>
                <a:latin typeface="Calibri"/>
              </a:rPr>
              <a:t>NB 04 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365760" cy="6217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5349240"/>
            <a:ext cx="10698480" cy="621792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51383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90-day Q1 2026 forecast (ETS-weekly)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5138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~£1,090,000 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5138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NB 03 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to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forecasting arc beyond 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74320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39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Hierarchical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5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Reconcile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74519"/>
            <a:ext cx="827532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48839"/>
            <a:ext cx="7909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Forecasts that ROLL UP — country → region → store. Reconciled across levels.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91839"/>
            <a:ext cx="27432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Probabilistic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Quantiles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291839"/>
            <a:ext cx="827532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59"/>
            <a:ext cx="7909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Predict the full DISTRIBUTION, not just the point. Useful for risk +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274320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Deep learning (L07+)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RNN / TCN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709160"/>
            <a:ext cx="827532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983480"/>
            <a:ext cx="7909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End-to-end neural nets — useful for very long, irregular, multivariate sequences.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Which Lags Matter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Permutation importance from the ML forecaster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28800"/>
            <a:ext cx="10698480" cy="7315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lag_7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onsolas"/>
              </a:rPr>
              <a:t>176.9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Same-day-last-week — weekly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36576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651760"/>
            <a:ext cx="10698480" cy="7315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dayofweek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24.0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Day-of-week calendar feature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36576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474720"/>
            <a:ext cx="10698480" cy="7315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lag_1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15.9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Yesterday — short-term momentum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365760" cy="7315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297680"/>
            <a:ext cx="10698480" cy="7315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80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lag_365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6167"/>
                </a:solidFill>
                <a:latin typeface="Consolas"/>
              </a:rPr>
              <a:t>13.7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Same-day-last-year — annual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365760" cy="73152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5120640"/>
            <a:ext cx="10698480" cy="7315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onsolas"/>
              </a:rPr>
              <a:t>lag_30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6454F"/>
                </a:solidFill>
                <a:latin typeface="Consolas"/>
              </a:rPr>
              <a:t>-2.3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30 days ago — basically noise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Higher number = bigger MAE jump when this feature is shuffled = more critical.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L06 — Slide 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Trebuchet MS"/>
              </a:rPr>
              <a:t>See You in 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Neural Networks &amp; Deep Learning — Perceptron → MLP → 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Before then: finish the L06 assignment (electricity demand + coffee shop)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1F5"/>
                </a:solidFill>
                <a:latin typeface="Calibri"/>
              </a:rPr>
              <a:t>Or dig deeper with ARIMA / SARIMA / Prophet in optional_extensions.ipynb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