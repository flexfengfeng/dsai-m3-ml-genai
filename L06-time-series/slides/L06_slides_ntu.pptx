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Lesson 6 — Time Series Forecasting. Marcus's question from L05 — 'forecast next quarter's revenue?' — is this week's brief. Three methods: STL decomposition, ETS, ML-with-lags. ~90 min slides + ~90 min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recap. End of L05, Marcus asked about forecasting. The new question: time-ordered data. This breaks every assumption from L01-L05.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time series is the sum of three components: trend, seasonality, and residual (noise). Different components have different shapes, scales, predictability. Separating them is step 0 of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NorthStar daily revenue data: 2 years (731 days), mean £9,700/day. Three patterns visible to the eye: upward trend, weekly cycle, Q4 holiday spike. Multi-seasonal.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STL — Seasonal-Trend decomposition using Loess. Robust to outliers, allows seasonal pattern to evolve slowly. Give it the data and the seasonal period; get back trend + seasonal + residual.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of time-series cross-validation: train always BEFORE test. TimeSeriesSplit gives 5 windows that roll forward through the data. K-fold is FORBIDDEN — it would leak future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02_decomposition.ipynb: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classical methods you should know. Naive is the baseline floor. Seasonal Naive captures one seasonality. ETS is the pragmatic adaptive baseline that handles trend + one seasonality.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ETS — Error, Trend, Seasonality. Three flavours depending on which components are modelled. The three letters tell you what's modelled. Default for our NorthStar data: additive trend + additive weekly seasonality.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standard forecast-error metrics. MAE is intuitive. RMSE penalises large errors more. MAPE is scale-free percentage. Report at least MAE + MAPE for business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03_classical_forecasting.ipynb: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modern industry default: turn the time series into a TABULAR REGRESSION PROBLEM by adding lag features. Then use gradient boosting — the same algorithm from L04.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the features + training the model — the code is short. Drop NaN rows (first 365 days because of lag_365), split by date, fit gradient boosting.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ways to forecast multi-step. Recursive: predict t+1, plug into lag for t+2, repeat. Errors compound. Direct: train separate models for each horizon. More work, more stable. Choose based on horizon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04_ml_forecasting.ipynb: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Friday morning. Three deliverables for Marcus: the decomposition chart, the comparison table, and the 90-day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Marcus's new question — 'predict checkout completion from sequential customer behaviour?' — is the engine of L07. Neural networks. Different mental model: end-to-end learning from raw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assignment parts. Part A: UK electricity demand (strong multi-seasonality). Part B: coffee-shop daily customers (smaller, noisier).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big lessons from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comparison of all the forecasting tools we've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Time-series forecasting is everywhere in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card you can keep open while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Numerical results learners will see across the in-class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forecasting arc beyond L06.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Permutation importance from the ML-with-lags forecaster — which features actually drive the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L07 next —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17320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L06 — Time Series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Sarah's week of forecasting NorthStar revenue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STL decomposition · ETS · ML-with-lags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L05 → L06 — from cross-sectional to time-ordered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end of L05: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"Sales are SEASONAL. We need to know quarterly revenue 90 days ahead so ops can plan inventory.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Can you forecast?"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The fundamental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08610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" y="308610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Data is TIME-ORDERED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086100"/>
            <a:ext cx="52806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Order matters. Today's value depends on yesterday's.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" y="346329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" y="346329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The future hasn't happened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463290"/>
            <a:ext cx="52806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Never use data from after the prediction date.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384048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" y="384048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k-fold cross-val is FORBIDDEN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840480"/>
            <a:ext cx="52806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Would leak the future into past training folds.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" y="421767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" y="421767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New 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217670"/>
            <a:ext cx="52806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Decomposition, ETS, lag features — time-aware methods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Time-Series Trinity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Every series = Trend + Seasonality + Residual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68580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163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0">
                <a:solidFill>
                  <a:srgbClr val="FFFFFF"/>
                </a:solidFill>
                <a:latin typeface="Trebuchet MS"/>
              </a:rPr>
              <a:t>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0150" y="1337310"/>
            <a:ext cx="74752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440180"/>
            <a:ext cx="7200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72009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Long-term direction.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Growth, decline, flat.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Smooth, slow-moving.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68580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0891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0">
                <a:solidFill>
                  <a:srgbClr val="FFFFFF"/>
                </a:solidFill>
                <a:latin typeface="Trebuchet MS"/>
              </a:rPr>
              <a:t>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" y="2434590"/>
            <a:ext cx="74752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537460"/>
            <a:ext cx="7200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Seasonality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80360"/>
            <a:ext cx="72009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Repeating cycles.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Annual, monthly, weekly, daily.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Predictable.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68580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80619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0">
                <a:solidFill>
                  <a:srgbClr val="FFFFFF"/>
                </a:solidFill>
                <a:latin typeface="Trebuchet MS"/>
              </a:rPr>
              <a:t>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" y="3531870"/>
            <a:ext cx="74752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634740"/>
            <a:ext cx="7200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Residual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77640"/>
            <a:ext cx="72009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What's left — noise + unexplained.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Should look like random fluctuation.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NorthStar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731 days · multi-seasonal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98882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198882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731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8F1F5"/>
                </a:solidFill>
                <a:latin typeface="Calibri"/>
              </a:rPr>
              <a:t>Two years of daily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3170" y="1371600"/>
            <a:ext cx="1988820" cy="1234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3170" y="1645920"/>
            <a:ext cx="198882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£9,700/day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3170" y="2194560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8F1F5"/>
                </a:solidFill>
                <a:latin typeface="Calibri"/>
              </a:rPr>
              <a:t>Mean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4859" y="1371600"/>
            <a:ext cx="198882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4859" y="1645920"/>
            <a:ext cx="198882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£5.9k - £13.9k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859" y="2194560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8F1F5"/>
                </a:solidFill>
                <a:latin typeface="Calibri"/>
              </a:rPr>
              <a:t>Range across the period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6549" y="1371600"/>
            <a:ext cx="1988820" cy="1234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6549" y="1645920"/>
            <a:ext cx="198882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Multi-seasonal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49" y="2194560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E8F1F5"/>
                </a:solidFill>
                <a:latin typeface="Calibri"/>
              </a:rPr>
              <a:t>Trend + weekly + annual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86100"/>
            <a:ext cx="8298180" cy="1645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" y="32232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Three patterns visible in the data: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1.  Upward TREND across the 2 years (~£3/day growth, ~£1k/year)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2.  WEEKLY cycle — weekends ~£1,500 higher than weekdays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3.  ANNUAL cycle — November-December holiday spike, +£1,500 on top of weekly</a:t>
            </a:r>
          </a:p>
        </p:txBody>
      </p:sp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STL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robust default — captures one seasonality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decomposition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9E795"/>
                </a:solidFill>
                <a:latin typeface="Consolas"/>
              </a:rPr>
              <a:t>y(t) = trend(t) + seasonal(t) + residual(t)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00300"/>
            <a:ext cx="8298180" cy="1783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2537460"/>
            <a:ext cx="80238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from statsmodels.tsa.seasonal import STL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stl = STL(y, period=7, robust=True).fit()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stl.trend       # the slow-moving direction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stl.seasonal    # the 7-day repeating pattern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stl.resid       # what's left — should look like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286250"/>
            <a:ext cx="8298180" cy="4800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Time-Series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TimeSeriesSplit — test is always LATER than 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C7293"/>
                </a:solidFill>
                <a:latin typeface="Consolas"/>
              </a:rPr>
              <a:t>TimeSeriesSplit(n_splits=5, test_size=60)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5166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alibri"/>
              </a:rPr>
              <a:t>Fold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5860" y="1783080"/>
            <a:ext cx="137160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5860" y="1783080"/>
            <a:ext cx="137160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1750" y="1783080"/>
            <a:ext cx="10287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1750" y="1783080"/>
            <a:ext cx="102870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2885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alibri"/>
              </a:rPr>
              <a:t>Fold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5860" y="2160270"/>
            <a:ext cx="24688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" y="2160270"/>
            <a:ext cx="246888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9030" y="2160270"/>
            <a:ext cx="10287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9030" y="2160270"/>
            <a:ext cx="102870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0604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alibri"/>
              </a:rPr>
              <a:t>Fold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5860" y="2537460"/>
            <a:ext cx="356616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5860" y="2537460"/>
            <a:ext cx="356616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6310" y="2537460"/>
            <a:ext cx="10287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6310" y="2537460"/>
            <a:ext cx="102870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98323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alibri"/>
              </a:rPr>
              <a:t>Fold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5860" y="2914650"/>
            <a:ext cx="466344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5860" y="2914650"/>
            <a:ext cx="466344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63590" y="2914650"/>
            <a:ext cx="10287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3590" y="2914650"/>
            <a:ext cx="102870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36042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65A82"/>
                </a:solidFill>
                <a:latin typeface="Calibri"/>
              </a:rPr>
              <a:t>Fold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65860" y="3291840"/>
            <a:ext cx="576072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" y="3291840"/>
            <a:ext cx="576072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0">
                <a:solidFill>
                  <a:srgbClr val="36454F"/>
                </a:solidFill>
                <a:latin typeface="Calibri"/>
              </a:rPr>
              <a:t>TRAIN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60870" y="3291840"/>
            <a:ext cx="1028700" cy="3086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0870" y="3291840"/>
            <a:ext cx="1028700" cy="308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251960"/>
            <a:ext cx="8298180" cy="4800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nsolas"/>
              </a:rPr>
              <a:t>Open: 02_decomposition.ipynb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Run STL on the daily revenue with period=7.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Read the 4-panel decomposition — trend, seasonal, residual.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Set up TimeSeriesSplit + compute Seasonal Naive MAE/RMSE/MAPE.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Classical Forecasting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Three tools — increasing sophistication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Naive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Predict the LAST value for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574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▸ Useful only as the bar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00300"/>
            <a:ext cx="54864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2990" y="240030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50317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Seasonal 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4607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Predict the value from ONE SEASON AGO (e.g., same-day-last-week).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2039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C7293"/>
                </a:solidFill>
                <a:latin typeface="Calibri"/>
              </a:rPr>
              <a:t>▸ Strong baseline when seasonality is stable, no trend.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63290"/>
            <a:ext cx="54864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6903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2990" y="346329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56616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Exponential Smoothing (ETS)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0906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Adaptive weighted average + trend + seasonality.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833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▸ The pragmatic baseline every forecaster should know.</a:t>
            </a:r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Exponential Smoothing (ETS)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Adaptive level + trend + seasonality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98180" cy="18516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05889"/>
            <a:ext cx="802386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from statsmodels.tsa.holtwinters import ExponentialSmoothing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model = ExponentialSmoothing(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y_train,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trend="add",            # additive trend (or "mul" or None)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seasonal="add",         # additive seasonality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seasonal_periods=7,     # weekly cycle on daily data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).fit()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forecast = model.forecast(steps=90)   # 90-day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5755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Three ETS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" y="366903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SimpleExpSmoothing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66903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Level only (no trend, no seasonality)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0" y="366903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Flat or volatile-but-stationary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401193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Holt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01193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Level + trend (no seasonality)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300" y="401193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Growing/declining series with no obvious cycles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Forecast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Three standard ways to score a forecast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296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1630"/>
            <a:ext cx="8229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MAE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7310" y="1337310"/>
            <a:ext cx="733806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474470"/>
            <a:ext cx="7063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onsolas"/>
              </a:rPr>
              <a:t>mean(|y_true − y_pred|)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51660"/>
            <a:ext cx="7063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Same units as the target. Intuitive.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00300"/>
            <a:ext cx="82296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74620"/>
            <a:ext cx="8229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7310" y="2400300"/>
            <a:ext cx="733806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537460"/>
            <a:ext cx="7063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onsolas"/>
              </a:rPr>
              <a:t>sqrt(mean((y_true − y_pred)²))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14650"/>
            <a:ext cx="7063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Penalises LARGE errors more than small 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63290"/>
            <a:ext cx="82296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37610"/>
            <a:ext cx="8229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MAPE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7310" y="3463290"/>
            <a:ext cx="733806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600450"/>
            <a:ext cx="7063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onsolas"/>
              </a:rPr>
              <a:t>mean(|y_true − y_pred| / |y_true|) ×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77640"/>
            <a:ext cx="7063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Percentage. Scale-free. Watch out near zero.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nsolas"/>
              </a:rPr>
              <a:t>Open: 03_classical_forecasting.ipynb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Build Naive + Seasonal Naive + ETS-weekly forecasts on the same train/test split.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Compute MAE / RMSE / MAPE for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Visualise all three forecasts against the actual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ML-with-Lags — The Modern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Time series → tabular regression with lag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trick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"For each day, ADD COLUMNS for past values (lag_1, lag_7, lag_365).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Now it's a tabular dataset — train any regression model on it."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00300"/>
            <a:ext cx="8298180" cy="1783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25031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Example feature table: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811779"/>
            <a:ext cx="9601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11779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811779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lag_1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3260" y="2811779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lag_7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811779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lag_365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811779"/>
            <a:ext cx="891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dayofweek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0" y="2811779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11779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onsolas"/>
              </a:rPr>
              <a:t>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" y="3120390"/>
            <a:ext cx="9601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2024-01-10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120390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12039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8800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3260" y="312039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120390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8500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120390"/>
            <a:ext cx="891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9300" y="312039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" y="3394710"/>
            <a:ext cx="9601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2024-01-11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394710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39471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3260" y="339471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3394710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8600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394710"/>
            <a:ext cx="891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9300" y="339471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" y="3669030"/>
            <a:ext cx="9601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2024-01-12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669030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9700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66903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9400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3260" y="366903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9500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3669030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8800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669030"/>
            <a:ext cx="891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29300" y="3669030"/>
            <a:ext cx="6172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286250"/>
            <a:ext cx="8298180" cy="4800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ML-with-Lags —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Build features → split → 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98180" cy="3429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05889"/>
            <a:ext cx="8023860" cy="322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# 1.  Build lag features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df["lag_1"]     = df["revenue"].shift(1)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df["lag_7"]     = df["revenue"].shift(7)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df["lag_365"]   = df["revenue"].shift(365)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df["dayofweek"] = df.index.dayofweek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df["month"]     = df.index.month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# 2.  Drop rows with NaN (first 365 days)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df = df.dropna()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# 3.  Train/test split — by DATE, not random!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X_train = df[df.index &lt; test_start].drop(columns="revenue")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y_train = df[df.index &lt; test_start]["revenue"]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X_test  = df[df.index &gt;= test_start].drop(columns="revenue")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y_test  = df[df.index &gt;= test_start]["revenue"]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# 4.  Train — same as any other regression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from sklearn.ensemble import HistGradientBoostingRegressor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model = HistGradientBoostingRegressor(max_iter=200, learning_rate=0.05)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onsolas"/>
              </a:rPr>
              <a:t>model.fit(X_train, y_train)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Recursive vs Direct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How to predict many steps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291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Recursive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17370"/>
            <a:ext cx="37719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1.  Predict day t+1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2.  Plug prediction into lag_1 for day t+2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3.  Predict day t+2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4.  Plug both predictions into lags for day t+3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5.  Repeat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" y="3429000"/>
            <a:ext cx="377190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Pros: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  • Simple — one model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  • Works for arbitrary horizons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Cons: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  • Errors compound over horizon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29150" y="1337310"/>
            <a:ext cx="4114800" cy="3291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17370"/>
            <a:ext cx="37719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Train a SEPARATE model for each horizon: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Model 1 — 1-day-ahead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Model 7 — 7-day-ahead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Model 30 — 30-day-ahead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429000"/>
            <a:ext cx="377190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Pros: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  • Errors don't compound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  • Often better at long horizons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Cons: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  • Many models to train + maintain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  • Each model uses less data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nsolas"/>
              </a:rPr>
              <a:t>Open: 04_ml_forecasting.ipynb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Build lag features (lag_1 + lag_7 + lag_365 + calendar).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Train HistGradientBoostingRegressor.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Recursive forecast 60 days + compare against classical baselines.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Friday — Sarah's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lands on Marcus's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Decomposition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Trend (slow growth + annual cycle) + Weekly seasonality + Residual (noise)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Visible structure that summarises what's predictable vs random.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00300"/>
            <a:ext cx="54864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0030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0317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Method comparison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4607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Naive · Seasonal Naive · ETS-weekly · ML-with-lags on the same test window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With MAE, RMSE, and MAPE per method.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63290"/>
            <a:ext cx="54864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66903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46329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56616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90-day forecast for Q1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0906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From the chosen method (likely ML-with-lags retrained on full data).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With a 90% prediction interval.</a:t>
            </a:r>
          </a:p>
        </p:txBody>
      </p:sp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8F1F5"/>
                </a:solidFill>
                <a:latin typeface="Calibri"/>
              </a:rPr>
              <a:t>Bridge to Lesson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749540" cy="1783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" y="13716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after the Friday presentation: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" y="1714500"/>
            <a:ext cx="733806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"Great forecast. Now — if we collected DETAILED CUSTOMER BEHAVIOUR DATA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(every click, every page view, every cart event),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could you predict whether they'd complete checkout WHILE THEY'RE SHOPPING?"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2326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Lesson 7 — Neural Networks &amp;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45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8F1F5"/>
                </a:solidFill>
                <a:latin typeface="Calibri"/>
              </a:rPr>
              <a:t>Perceptron → MLP · gradient descent · backpropagation · PyTorch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1193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End-to-end learning from raw sequences. The path to deep learning.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Two domains · same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429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Part A — UK Electricity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5453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2 years of daily demand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9743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Strong annual + weekly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4033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A1: STL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83229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A2: ETS-weekly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2613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A3: ML-with-lags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6903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A4: which wins and 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7730" y="1337310"/>
            <a:ext cx="3977640" cy="3429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3470" y="14401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Part B — Coffee 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6340" y="195453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18 months of daily customer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6340" y="229743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Weekly seasonality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6340" y="264033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B1: Seasonal Naive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6340" y="298322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B2: pick any method to beat B1 by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6340" y="332613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6340" y="366903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Smaller data, noisier signal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Q&amp;A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Common questions + the path to L07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429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💬  Common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545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How long a training history do I need?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974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What if my data has gaps (missing days)?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403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How do I decide ETS-weekly vs ETS-annual?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83229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When does Prophet beat ML-with-lags?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261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How do I forecast confidence intervals?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7730" y="1337310"/>
            <a:ext cx="3977640" cy="3429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3470" y="14401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📚  Going deeper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3470" y="19545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Optional notebook covers: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470" y="22974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Stationarity tests (ADF)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3470" y="26403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ACF and PACF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470" y="2983229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ARIMA + AutoARIMA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3470" y="33261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SARIMA — seasonal ARIMA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3470" y="36690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Prophet (Facebook's library)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practical wisdom beyond the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7447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Time-series cross-validation is non-negotiable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1737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Always use TimeSeriesSplit, never KFold. The future hasn't happened — training on it is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7175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Lag features turn time series into tabular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1465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Add lag_1, lag_7, lag_365, calendar columns. Train ANY regression model. Handles multi-seasonal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6903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Evaluate on cross-validated windows, not a single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1193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 single window can give misleading results (e.g., the holiday window). Average across windows.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When to use which forecasting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3429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3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Pros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Cons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48790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Naive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3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Bar floor; sanity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Trivially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Almost always beaten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091690"/>
            <a:ext cx="8298180" cy="308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" y="21739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Seasonal Naive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0300" y="21739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Stable seasonal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739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Captures seasonality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1739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Misses trend; misses regime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34590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" y="25168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0300" y="25168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One seasonality + 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5168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Adaptive; well-tested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168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Single-seasonality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777490"/>
            <a:ext cx="8298180" cy="308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28597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ARIMA (Ext)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0300" y="28597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Stationary or differenced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8597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Theoretical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8597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Needs tuning; AutoARIMA helps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120390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" y="32026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SARIMA (Ext)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00300" y="32026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Seasonal ARIMA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2026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Bayesian, principled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2026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Same single-seasonality limit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463290"/>
            <a:ext cx="8298180" cy="308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" y="35455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ML-with-lags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00300" y="35455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Multi-seasonal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5455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Same toolkit as L04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455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Recursive forecast errors compound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806190"/>
            <a:ext cx="8298180" cy="3086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" y="38884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Prophet (Ext)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00300" y="38884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Multi-seasonal + holidays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38884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Easy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8884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Heavier dependency</a:t>
            </a:r>
          </a:p>
        </p:txBody>
      </p:sp>
      <p:pic>
        <p:nvPicPr>
          <p:cNvPr id="46" name="Picture 4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238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FFFFFF"/>
                </a:solidFill>
                <a:latin typeface="Trebuchet MS"/>
              </a:rPr>
              <a:t>L06 —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9E795"/>
                </a:solidFill>
                <a:latin typeface="Calibri"/>
              </a:rPr>
              <a:t>Sarah's journey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16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020" y="18516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Pre-trained sentiment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18516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'how sure are we?'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2885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3020" y="222885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Confidence intervals + A/B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22885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'train your own?'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" y="260604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Logistic regression +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60604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'make it better?'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8323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3020" y="298323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Random Forest + Gradient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98323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'cluster customers?'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6042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3020" y="336042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PCA + K-Means +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36042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'forecast revenue?'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3761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Trebuchet MS"/>
              </a:rPr>
              <a:t>L06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020" y="373761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alibri"/>
              </a:rPr>
              <a:t>STL + ETS + ML-with-lags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73761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E795"/>
                </a:solidFill>
                <a:latin typeface="Calibri"/>
              </a:rPr>
              <a:t>→ 'predict from sequential behaviour?'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3020" y="411480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Neural Networks &amp; Deep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411480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Coming next</a:t>
            </a:r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Time-Series Forecasting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Industry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📈 Retail / E-commerce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6070" y="133731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4018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Revenue, demand, inventory planning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88595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⚡ Energy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6070" y="178308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88595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Electricity / gas demand, renewables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2885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233172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💸 Finance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6070" y="222885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33172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Stock returns, FX, risk metrics, capital planning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7462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77749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🚛 Supply 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46070" y="267462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77749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Demand forecasting, inventory optimisation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2039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930" y="322326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🏥 Healthcare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6070" y="312039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22326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ED admissions, ICU bed demand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56616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930" y="366903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🌐 Tech / SaaS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6070" y="356616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66903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MAU/DAU, conversion rate trends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1193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930" y="411480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☁ Cloud / DevOps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6070" y="401193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11480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Server load, traffic, capacity planning</a:t>
            </a:r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5 rules of thumb for time-series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64592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1.  Time-series cross-validation only — NEVER KFold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9169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222885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2.  ALWAYS start with at least one trivial baseline (Naive / Seasonal Naive)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7462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281178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3.  Match the seasonal period to your DOMINANT cycle (period=7 for daily, period=12 for monthly)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5755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339471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4.  For multi-seasonal data → ML-with-lags or Prophet, not single-period ETS/ARIMA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4048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397764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5.  Report MAE + MAPE at minimum; report multiple test windows when possible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What the Numbers Will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L06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74320" cy="46634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90" y="1337310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" y="1460754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STL — period=7 captures 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6075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Residual std ~£380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9540" y="1460754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alibri"/>
              </a:rPr>
              <a:t>NB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2234"/>
            <a:ext cx="274320" cy="46634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90" y="1872234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" y="1995678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Seasonal Naive on holiday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995678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MAE £2,600 / MAPE 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9540" y="1995678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NB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07158"/>
            <a:ext cx="274320" cy="46634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90" y="2407158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" y="2530602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ETS-weekly (trend+seasonal)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530602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MAE £2,050 / MAPE 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9540" y="2530602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942082"/>
            <a:ext cx="274320" cy="46634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090" y="2942082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" y="3065526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ML-with-lags one-step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06552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MAE £1,500 / MAPE 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9540" y="3065526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96167"/>
                </a:solidFill>
                <a:latin typeface="Calibri"/>
              </a:rPr>
              <a:t>NB 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77006"/>
            <a:ext cx="274320" cy="466344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0090" y="3477006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" y="3600450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ML-with-lags CV (TimeSeriesSplit)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60045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MAE ~£500-700 best in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9540" y="3600450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21C39A"/>
                </a:solidFill>
                <a:latin typeface="Calibri"/>
              </a:rPr>
              <a:t>NB 04 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011930"/>
            <a:ext cx="274320" cy="46634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0090" y="4011930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" y="4135374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90-day Q1 2026 forecast (ETS-weekly)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13537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~£1,090,000 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9540" y="4135374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alibri"/>
              </a:rPr>
              <a:t>NB 03 Ext</a:t>
            </a:r>
          </a:p>
        </p:txBody>
      </p:sp>
      <p:pic>
        <p:nvPicPr>
          <p:cNvPr id="36" name="Picture 3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to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forecasting arc beyond L06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05889"/>
            <a:ext cx="20574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54304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Hierarchical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85949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Reconcile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3170" y="1405889"/>
            <a:ext cx="620649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4620" y="1611629"/>
            <a:ext cx="593217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Forecasts that ROLL UP — country → region → store. Reconciled across levels.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68879"/>
            <a:ext cx="205740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26060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Probabilistic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" y="2948939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Quantiles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3170" y="2468879"/>
            <a:ext cx="620649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4620" y="2674619"/>
            <a:ext cx="593217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Predict the full DISTRIBUTION, not just the point. Useful for risk + capacity.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205740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366903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Deep learning (L07+)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930" y="401193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RNN / TCN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03170" y="3531870"/>
            <a:ext cx="620649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4620" y="3737610"/>
            <a:ext cx="593217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End-to-end neural nets — useful for very long, irregular, multivariate sequences.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Which Lags Matter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Permutation importance from the ML forecaster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7432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90" y="1371600"/>
            <a:ext cx="802386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" y="15087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onsolas"/>
              </a:rPr>
              <a:t>lag_7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6100" y="1508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onsolas"/>
              </a:rPr>
              <a:t>176.9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50876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Same-day-last-week — weekly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88820"/>
            <a:ext cx="27432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90" y="1988820"/>
            <a:ext cx="802386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" y="21259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onsolas"/>
              </a:rPr>
              <a:t>dayofweek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6100" y="21259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onsolas"/>
              </a:rPr>
              <a:t>24.0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12598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Day-of-week calendar feature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27432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90" y="2606040"/>
            <a:ext cx="802386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" y="27432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onsolas"/>
              </a:rPr>
              <a:t>lag_1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6100" y="2743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onsolas"/>
              </a:rPr>
              <a:t>15.9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4320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Yesterday — short-term momentum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23260"/>
            <a:ext cx="27432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090" y="3223260"/>
            <a:ext cx="802386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" y="33604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onsolas"/>
              </a:rPr>
              <a:t>lag_365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86100" y="33604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96167"/>
                </a:solidFill>
                <a:latin typeface="Consolas"/>
              </a:rPr>
              <a:t>13.7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36042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Same-day-last-year — annual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40480"/>
            <a:ext cx="274320" cy="54864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0090" y="3840480"/>
            <a:ext cx="802386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" y="39776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onsolas"/>
              </a:rPr>
              <a:t>lag_30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86100" y="3977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36454F"/>
                </a:solidFill>
                <a:latin typeface="Consolas"/>
              </a:rPr>
              <a:t>-2.3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97764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30 days ago — basically noise</a:t>
            </a:r>
          </a:p>
        </p:txBody>
      </p:sp>
      <p:pic>
        <p:nvPicPr>
          <p:cNvPr id="33" name="Picture 3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50" b="1">
                <a:solidFill>
                  <a:srgbClr val="FFFFFF"/>
                </a:solidFill>
                <a:latin typeface="Trebuchet MS"/>
              </a:rPr>
              <a:t>See You in L07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E8F1F5"/>
                </a:solidFill>
                <a:latin typeface="Calibri"/>
              </a:rPr>
              <a:t>Neural Networks &amp; Deep Learning — Perceptron → MLP → 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861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Before then: finish the L06 assignment (electricity demand + coffee shop)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Or dig deeper with ARIMA / SARIMA / Prophet in optional_extensions.ipynb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IA_1920x1080_1" id="{AE813658-6506-A745-B494-E9623D69A84F}" vid="{98D95D8B-1F05-BF49-9671-2CF52C7BA5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