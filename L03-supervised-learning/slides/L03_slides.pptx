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Lesson 3 — Supervised Learning Foundations. This is the most production-relevant lesson in the course. Today: preprocessing, training, evaluation, and the business-aware threshold choice. Same 3-hour structure as L01 and L02 — ~90 min slides + ~90 min hands-on with three slim notebooks.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End of L02, Marcus asked Sarah: 'can you train your own model on NorthStar data?' That brief is this week's work. Sarah received a new dataset: 10,000 customers, 11 features, target = churned. By Friday: a working classifier + honest metrics + a recommendation on how to use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dataset. 12 columns. Note the L01 callback: avg_review_polarity is the sentiment score from Sarah's L01 model. The story connects — the work on reviews becomes a feature for the next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beginners think the model is the hard part. It isn't. Across any real project, the time and risk are in three places: preprocessing, honest evaluation, and threshold choice. Each of our three in-class notebooks is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real-world problems that show up in every tabular dataset and break models before training starts. Missing values, mixed scales, and text-as-categories. Sklearn has standard tools for each.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scaling — StandardScaler is the default. Subtract the mean, divide by the std. Each feature becomes mean 0, std 1. Why does it matter? Because logistic regression's optimizer needs comparably-sized inputs to converge sensibly.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honest options for missing values. Drop only if missing is rare. Impute with a summary statistic is the standard. Add a 'was-missing' flag if the missingness itself is informative.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Categorical encoding — text becomes numeric. Two choices: label encoding (one number per category) or one-hot (one column per category). One-hot is the safe default — it avoids teaching the model fake ordering between categories.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preprocessing flow is ONE sklearn object. ColumnTransformer applies the right mini-pipeline to the right columns. Pipeline chains it with the model. Call fit() once; preprocessing AND training happen. Call predict() once; preprocessing AND prediction happen. No leakage, no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that beginners get wrong: split FIRST. Fit preprocessing on the training data only. If you fit the scaler on the full dataset, the test rows leak into the training process and your test score is optimistic — and the model performs WORSE in production than your notebook suggested.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02_preprocessing.ipynb. Open the notebook, work the Core section, stop at the 🟡 marker. Extension is for self-study.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 despite the name, it's a CLASSIFICATION algorithm. The output is a probability between 0 and 1. Coefficients are interpretable: sign = direction, magnitude = strength.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training, each feature has a coefficient. Positive = pushes toward CHURN. Negative = pushes toward STAY. Magnitudes are comparable BECAUSE we scaled the features first. Sarah can now answer 'why' for each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Train/test split — hold out 20% as the test set BEFORE training. The model never sees this data during fitting. The score on it is your honest estimate of how it'll do on new customers.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80/20 split gives one number. Was it lucky or unlucky? k-fold cross-validation re-runs the experiment k=5 times on different folds. The mean ± std is a much more stable estimate.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03_train_validate.ipynb. Open the notebook, work the Core section, stop at the 🟡 marker. Extension is for self-study.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The model scored 88% accuracy. Sounds great. But the baseline — guessing 'stayed' for everyone — is ALSO 88% because 88% of customers stayed. The model is barely doing anything. Accuracy hides this on imbalanced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confusion matrix groups every prediction into four bins. TP, FP, FN, TN. Four bins reveal what accuracy alone hides. Let's look at Sarah's model at the default threshold of 0.5.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metrics derive from the confusion matrix. Precision answers 'of everyone we flagged, what fraction were right?'. Recall answers 'of all actual positives, what fraction did we catch?'. They trade off.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is the harmonic mean of precision and recall. Use it when you want a single number that balances both kinds of error. Most useful for imbalanced datasets — accuracy lies, F1 doesn't.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outputs a probability. To get a label, you pick a threshold. The default is 0.5 but it's rarely the right business choice. The threshold IS the operational decision — capacity vs recall vs precision.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threshold-vs-metric chart visualises the tradeoff. As threshold falls, recall climbs (model flags more) and precision falls (more false alarms). F1 has a peak — that's the 'balanced' choice. But the right threshold depends on your constraint, not on a single metric.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04_metrics_threshold.ipynb. Open the notebook, work the Core section, stop at the 🟡 marker. Extension is for self-study.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Friday morning. Sarah walks into Marcus's office with one slide. The Pipeline, the cross-validated accuracy (with the disclaimer that it's misleading), the threshold she recommends, and the trade-off she's accepted.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Marcus's new question — 'can you make it better?' — is the engine of L04. Decision trees, random forests, gradient boosting. Same pipeline you built today, just a different last step.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preview of the assignment. Tom Bradley at Lakeside Bank has a similar churn problem — different domain. Apply the SAME pipeline. Three tiers of practice followed by three independent exercises in a hospital readmissions scenario.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wrap-up and Q&amp;A. Common questions plus floor time. The assignment is due before L04.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closing slide. The full Sarah journey so far: L01 used ML; L02 measured uncertainty; L03 built her first model. L04 starts the path to advanced supervised learning and the Kaggle competition.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91695" cy="914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097280"/>
          </a:xfrm>
          <a:prstGeom prst="rect">
            <a:avLst/>
          </a:prstGeom>
          <a:noFill/>
        </p:spPr>
        <p:txBody>
          <a:bodyPr wrap="square" lIns="0" rIns="0" tIns="0" bIns="0" anchor="t">
            <a:spAutoFit/>
          </a:bodyPr>
          <a:lstStyle/>
          <a:p>
            <a:pPr algn="l"/>
            <a:r>
              <a:rPr sz="4800" b="1">
                <a:solidFill>
                  <a:srgbClr val="FFFFFF"/>
                </a:solidFill>
                <a:latin typeface="Trebuchet MS"/>
              </a:rPr>
              <a:t>L03 — Supervised Learning Foundations</a:t>
            </a:r>
          </a:p>
        </p:txBody>
      </p:sp>
      <p:sp>
        <p:nvSpPr>
          <p:cNvPr id="5" name="TextBox 4"/>
          <p:cNvSpPr txBox="1"/>
          <p:nvPr/>
        </p:nvSpPr>
        <p:spPr>
          <a:xfrm>
            <a:off x="731520" y="3017520"/>
            <a:ext cx="10515600" cy="640080"/>
          </a:xfrm>
          <a:prstGeom prst="rect">
            <a:avLst/>
          </a:prstGeom>
          <a:noFill/>
        </p:spPr>
        <p:txBody>
          <a:bodyPr wrap="square" lIns="0" rIns="0" tIns="0" bIns="0" anchor="t">
            <a:spAutoFit/>
          </a:bodyPr>
          <a:lstStyle/>
          <a:p>
            <a:pPr algn="l"/>
            <a:r>
              <a:rPr sz="2200" b="0">
                <a:solidFill>
                  <a:srgbClr val="E8F1F5"/>
                </a:solidFill>
                <a:latin typeface="Calibri"/>
              </a:rPr>
              <a:t>Sarah trains her first model on NorthStar's own data</a:t>
            </a:r>
          </a:p>
        </p:txBody>
      </p:sp>
      <p:sp>
        <p:nvSpPr>
          <p:cNvPr id="6" name="TextBox 5"/>
          <p:cNvSpPr txBox="1"/>
          <p:nvPr/>
        </p:nvSpPr>
        <p:spPr>
          <a:xfrm>
            <a:off x="731520" y="3840480"/>
            <a:ext cx="10515600" cy="457200"/>
          </a:xfrm>
          <a:prstGeom prst="rect">
            <a:avLst/>
          </a:prstGeom>
          <a:noFill/>
        </p:spPr>
        <p:txBody>
          <a:bodyPr wrap="square" lIns="0" rIns="0" tIns="0" bIns="0" anchor="t">
            <a:spAutoFit/>
          </a:bodyPr>
          <a:lstStyle/>
          <a:p>
            <a:pPr algn="l"/>
            <a:r>
              <a:rPr sz="1600" b="0">
                <a:solidFill>
                  <a:srgbClr val="E8F1F5"/>
                </a:solidFill>
                <a:latin typeface="Calibri"/>
              </a:rPr>
              <a:t>Preprocessing · Training &amp; cross-validation · Metrics &amp; threshold choice</a:t>
            </a:r>
          </a:p>
        </p:txBody>
      </p:sp>
      <p:sp>
        <p:nvSpPr>
          <p:cNvPr id="7" name="TextBox 6"/>
          <p:cNvSpPr txBox="1"/>
          <p:nvPr/>
        </p:nvSpPr>
        <p:spPr>
          <a:xfrm>
            <a:off x="731520" y="6126480"/>
            <a:ext cx="10515600" cy="457200"/>
          </a:xfrm>
          <a:prstGeom prst="rect">
            <a:avLst/>
          </a:prstGeom>
          <a:noFill/>
        </p:spPr>
        <p:txBody>
          <a:bodyPr wrap="square" lIns="0" rIns="0" tIns="0" bIns="0" anchor="t">
            <a:spAutoFit/>
          </a:bodyPr>
          <a:lstStyle/>
          <a:p>
            <a:pPr algn="l"/>
            <a:r>
              <a:rPr sz="1400" b="0">
                <a:solidFill>
                  <a:srgbClr val="FFFFFF"/>
                </a:solidFill>
                <a:latin typeface="Calibri"/>
              </a:rPr>
              <a:t>Format: ~90 min slides · ~90 min hands-on (3 notebooks)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Where We Left Off</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Marcus's question from Friday becomes Sarah's whole week</a:t>
            </a:r>
          </a:p>
        </p:txBody>
      </p:sp>
      <p:sp>
        <p:nvSpPr>
          <p:cNvPr id="5" name="Rectangle 4"/>
          <p:cNvSpPr/>
          <p:nvPr/>
        </p:nvSpPr>
        <p:spPr>
          <a:xfrm>
            <a:off x="548640" y="1737360"/>
            <a:ext cx="11064240" cy="14630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365760"/>
          </a:xfrm>
          <a:prstGeom prst="rect">
            <a:avLst/>
          </a:prstGeom>
          <a:noFill/>
        </p:spPr>
        <p:txBody>
          <a:bodyPr wrap="square" lIns="0" rIns="0" tIns="0" bIns="0" anchor="t">
            <a:spAutoFit/>
          </a:bodyPr>
          <a:lstStyle/>
          <a:p>
            <a:pPr algn="l"/>
            <a:r>
              <a:rPr sz="1400" b="0">
                <a:solidFill>
                  <a:srgbClr val="E8F1F5"/>
                </a:solidFill>
                <a:latin typeface="Calibri"/>
              </a:rPr>
              <a:t>Marcus, end of last Friday:</a:t>
            </a:r>
          </a:p>
        </p:txBody>
      </p:sp>
      <p:sp>
        <p:nvSpPr>
          <p:cNvPr id="7" name="TextBox 6"/>
          <p:cNvSpPr txBox="1"/>
          <p:nvPr/>
        </p:nvSpPr>
        <p:spPr>
          <a:xfrm>
            <a:off x="822960" y="2286000"/>
            <a:ext cx="10515600" cy="914400"/>
          </a:xfrm>
          <a:prstGeom prst="rect">
            <a:avLst/>
          </a:prstGeom>
          <a:noFill/>
        </p:spPr>
        <p:txBody>
          <a:bodyPr wrap="square" lIns="0" rIns="0" tIns="0" bIns="0" anchor="t">
            <a:spAutoFit/>
          </a:bodyPr>
          <a:lstStyle/>
          <a:p>
            <a:pPr algn="l"/>
            <a:r>
              <a:rPr sz="1800" b="0">
                <a:solidFill>
                  <a:srgbClr val="FFFFFF"/>
                </a:solidFill>
                <a:latin typeface="Trebuchet MS"/>
              </a:rPr>
              <a:t>"Can you build us a model that predicts churn from our OWN customer data?</a:t>
            </a:r>
          </a:p>
          <a:p>
            <a:pPr algn="l"/>
            <a:r>
              <a:rPr sz="1800" b="0">
                <a:solidFill>
                  <a:srgbClr val="FFFFFF"/>
                </a:solidFill>
                <a:latin typeface="Trebuchet MS"/>
              </a:rPr>
              <a:t>Something trained on NorthStar behaviour, not on some generic internet corpus?"</a:t>
            </a:r>
          </a:p>
        </p:txBody>
      </p:sp>
      <p:sp>
        <p:nvSpPr>
          <p:cNvPr id="8" name="TextBox 7"/>
          <p:cNvSpPr txBox="1"/>
          <p:nvPr/>
        </p:nvSpPr>
        <p:spPr>
          <a:xfrm>
            <a:off x="548640" y="3566160"/>
            <a:ext cx="11064240" cy="457200"/>
          </a:xfrm>
          <a:prstGeom prst="rect">
            <a:avLst/>
          </a:prstGeom>
          <a:noFill/>
        </p:spPr>
        <p:txBody>
          <a:bodyPr wrap="square" lIns="0" rIns="0" tIns="0" bIns="0" anchor="t">
            <a:spAutoFit/>
          </a:bodyPr>
          <a:lstStyle/>
          <a:p>
            <a:pPr algn="l"/>
            <a:r>
              <a:rPr sz="1500" b="1">
                <a:solidFill>
                  <a:srgbClr val="1C7293"/>
                </a:solidFill>
                <a:latin typeface="Calibri"/>
              </a:rPr>
              <a:t>What Sarah has now</a:t>
            </a:r>
          </a:p>
        </p:txBody>
      </p:sp>
      <p:sp>
        <p:nvSpPr>
          <p:cNvPr id="9" name="TextBox 8"/>
          <p:cNvSpPr txBox="1"/>
          <p:nvPr/>
        </p:nvSpPr>
        <p:spPr>
          <a:xfrm>
            <a:off x="640080" y="4114800"/>
            <a:ext cx="548640" cy="548640"/>
          </a:xfrm>
          <a:prstGeom prst="rect">
            <a:avLst/>
          </a:prstGeom>
          <a:noFill/>
        </p:spPr>
        <p:txBody>
          <a:bodyPr wrap="square" lIns="0" rIns="0" tIns="0" bIns="0" anchor="t">
            <a:spAutoFit/>
          </a:bodyPr>
          <a:lstStyle/>
          <a:p>
            <a:pPr algn="l"/>
            <a:r>
              <a:rPr sz="2200" b="0">
                <a:solidFill>
                  <a:srgbClr val="36454F"/>
                </a:solidFill>
                <a:latin typeface="Trebuchet MS"/>
              </a:rPr>
              <a:t>📂</a:t>
            </a:r>
          </a:p>
        </p:txBody>
      </p:sp>
      <p:sp>
        <p:nvSpPr>
          <p:cNvPr id="10" name="TextBox 9"/>
          <p:cNvSpPr txBox="1"/>
          <p:nvPr/>
        </p:nvSpPr>
        <p:spPr>
          <a:xfrm>
            <a:off x="1188720" y="4114800"/>
            <a:ext cx="3200400" cy="365760"/>
          </a:xfrm>
          <a:prstGeom prst="rect">
            <a:avLst/>
          </a:prstGeom>
          <a:noFill/>
        </p:spPr>
        <p:txBody>
          <a:bodyPr wrap="square" lIns="0" rIns="0" tIns="0" bIns="0" anchor="t">
            <a:spAutoFit/>
          </a:bodyPr>
          <a:lstStyle/>
          <a:p>
            <a:pPr algn="l"/>
            <a:r>
              <a:rPr sz="1400" b="1">
                <a:solidFill>
                  <a:srgbClr val="065A82"/>
                </a:solidFill>
                <a:latin typeface="Calibri"/>
              </a:rPr>
              <a:t>northstar_churn.csv</a:t>
            </a:r>
          </a:p>
        </p:txBody>
      </p:sp>
      <p:sp>
        <p:nvSpPr>
          <p:cNvPr id="11" name="TextBox 10"/>
          <p:cNvSpPr txBox="1"/>
          <p:nvPr/>
        </p:nvSpPr>
        <p:spPr>
          <a:xfrm>
            <a:off x="4572000" y="4114800"/>
            <a:ext cx="7040880" cy="365760"/>
          </a:xfrm>
          <a:prstGeom prst="rect">
            <a:avLst/>
          </a:prstGeom>
          <a:noFill/>
        </p:spPr>
        <p:txBody>
          <a:bodyPr wrap="square" lIns="0" rIns="0" tIns="0" bIns="0" anchor="t">
            <a:spAutoFit/>
          </a:bodyPr>
          <a:lstStyle/>
          <a:p>
            <a:pPr algn="l"/>
            <a:r>
              <a:rPr sz="1300" b="0">
                <a:solidFill>
                  <a:srgbClr val="36454F"/>
                </a:solidFill>
                <a:latin typeface="Calibri"/>
              </a:rPr>
              <a:t>10,000 customers · 11 features · target column 'churned'</a:t>
            </a:r>
          </a:p>
        </p:txBody>
      </p:sp>
      <p:sp>
        <p:nvSpPr>
          <p:cNvPr id="12" name="TextBox 11"/>
          <p:cNvSpPr txBox="1"/>
          <p:nvPr/>
        </p:nvSpPr>
        <p:spPr>
          <a:xfrm>
            <a:off x="640080" y="4800600"/>
            <a:ext cx="548640" cy="548640"/>
          </a:xfrm>
          <a:prstGeom prst="rect">
            <a:avLst/>
          </a:prstGeom>
          <a:noFill/>
        </p:spPr>
        <p:txBody>
          <a:bodyPr wrap="square" lIns="0" rIns="0" tIns="0" bIns="0" anchor="t">
            <a:spAutoFit/>
          </a:bodyPr>
          <a:lstStyle/>
          <a:p>
            <a:pPr algn="l"/>
            <a:r>
              <a:rPr sz="2200" b="0">
                <a:solidFill>
                  <a:srgbClr val="36454F"/>
                </a:solidFill>
                <a:latin typeface="Trebuchet MS"/>
              </a:rPr>
              <a:t>🎯</a:t>
            </a:r>
          </a:p>
        </p:txBody>
      </p:sp>
      <p:sp>
        <p:nvSpPr>
          <p:cNvPr id="13" name="TextBox 12"/>
          <p:cNvSpPr txBox="1"/>
          <p:nvPr/>
        </p:nvSpPr>
        <p:spPr>
          <a:xfrm>
            <a:off x="1188720" y="4800600"/>
            <a:ext cx="3200400" cy="365760"/>
          </a:xfrm>
          <a:prstGeom prst="rect">
            <a:avLst/>
          </a:prstGeom>
          <a:noFill/>
        </p:spPr>
        <p:txBody>
          <a:bodyPr wrap="square" lIns="0" rIns="0" tIns="0" bIns="0" anchor="t">
            <a:spAutoFit/>
          </a:bodyPr>
          <a:lstStyle/>
          <a:p>
            <a:pPr algn="l"/>
            <a:r>
              <a:rPr sz="1400" b="1">
                <a:solidFill>
                  <a:srgbClr val="065A82"/>
                </a:solidFill>
                <a:latin typeface="Calibri"/>
              </a:rPr>
              <a:t>Imbalanced classes</a:t>
            </a:r>
          </a:p>
        </p:txBody>
      </p:sp>
      <p:sp>
        <p:nvSpPr>
          <p:cNvPr id="14" name="TextBox 13"/>
          <p:cNvSpPr txBox="1"/>
          <p:nvPr/>
        </p:nvSpPr>
        <p:spPr>
          <a:xfrm>
            <a:off x="4572000" y="4800600"/>
            <a:ext cx="7040880" cy="365760"/>
          </a:xfrm>
          <a:prstGeom prst="rect">
            <a:avLst/>
          </a:prstGeom>
          <a:noFill/>
        </p:spPr>
        <p:txBody>
          <a:bodyPr wrap="square" lIns="0" rIns="0" tIns="0" bIns="0" anchor="t">
            <a:spAutoFit/>
          </a:bodyPr>
          <a:lstStyle/>
          <a:p>
            <a:pPr algn="l"/>
            <a:r>
              <a:rPr sz="1300" b="0">
                <a:solidFill>
                  <a:srgbClr val="36454F"/>
                </a:solidFill>
                <a:latin typeface="Calibri"/>
              </a:rPr>
              <a:t>~12% churn rate — accuracy alone will be misleading</a:t>
            </a:r>
          </a:p>
        </p:txBody>
      </p:sp>
      <p:sp>
        <p:nvSpPr>
          <p:cNvPr id="15" name="TextBox 14"/>
          <p:cNvSpPr txBox="1"/>
          <p:nvPr/>
        </p:nvSpPr>
        <p:spPr>
          <a:xfrm>
            <a:off x="640080" y="5486400"/>
            <a:ext cx="548640" cy="548640"/>
          </a:xfrm>
          <a:prstGeom prst="rect">
            <a:avLst/>
          </a:prstGeom>
          <a:noFill/>
        </p:spPr>
        <p:txBody>
          <a:bodyPr wrap="square" lIns="0" rIns="0" tIns="0" bIns="0" anchor="t">
            <a:spAutoFit/>
          </a:bodyPr>
          <a:lstStyle/>
          <a:p>
            <a:pPr algn="l"/>
            <a:r>
              <a:rPr sz="2200" b="0">
                <a:solidFill>
                  <a:srgbClr val="36454F"/>
                </a:solidFill>
                <a:latin typeface="Trebuchet MS"/>
              </a:rPr>
              <a:t>⏱</a:t>
            </a:r>
          </a:p>
        </p:txBody>
      </p:sp>
      <p:sp>
        <p:nvSpPr>
          <p:cNvPr id="16" name="TextBox 15"/>
          <p:cNvSpPr txBox="1"/>
          <p:nvPr/>
        </p:nvSpPr>
        <p:spPr>
          <a:xfrm>
            <a:off x="1188720" y="5486400"/>
            <a:ext cx="3200400" cy="365760"/>
          </a:xfrm>
          <a:prstGeom prst="rect">
            <a:avLst/>
          </a:prstGeom>
          <a:noFill/>
        </p:spPr>
        <p:txBody>
          <a:bodyPr wrap="square" lIns="0" rIns="0" tIns="0" bIns="0" anchor="t">
            <a:spAutoFit/>
          </a:bodyPr>
          <a:lstStyle/>
          <a:p>
            <a:pPr algn="l"/>
            <a:r>
              <a:rPr sz="1400" b="1">
                <a:solidFill>
                  <a:srgbClr val="065A82"/>
                </a:solidFill>
                <a:latin typeface="Calibri"/>
              </a:rPr>
              <a:t>5 working days</a:t>
            </a:r>
          </a:p>
        </p:txBody>
      </p:sp>
      <p:sp>
        <p:nvSpPr>
          <p:cNvPr id="17" name="TextBox 16"/>
          <p:cNvSpPr txBox="1"/>
          <p:nvPr/>
        </p:nvSpPr>
        <p:spPr>
          <a:xfrm>
            <a:off x="4572000" y="5486400"/>
            <a:ext cx="7040880" cy="365760"/>
          </a:xfrm>
          <a:prstGeom prst="rect">
            <a:avLst/>
          </a:prstGeom>
          <a:noFill/>
        </p:spPr>
        <p:txBody>
          <a:bodyPr wrap="square" lIns="0" rIns="0" tIns="0" bIns="0" anchor="t">
            <a:spAutoFit/>
          </a:bodyPr>
          <a:lstStyle/>
          <a:p>
            <a:pPr algn="l"/>
            <a:r>
              <a:rPr sz="1300" b="0">
                <a:solidFill>
                  <a:srgbClr val="36454F"/>
                </a:solidFill>
                <a:latin typeface="Calibri"/>
              </a:rPr>
              <a:t>Mon: explore · Tue: preprocess · Wed: train · Thu: evaluate · Fri: present</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2/28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NorthStar Churn Dataset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10,000 customers — 11 features + 1 target</a:t>
            </a:r>
          </a:p>
        </p:txBody>
      </p:sp>
      <p:sp>
        <p:nvSpPr>
          <p:cNvPr id="5" name="Rectangle 4"/>
          <p:cNvSpPr/>
          <p:nvPr/>
        </p:nvSpPr>
        <p:spPr>
          <a:xfrm>
            <a:off x="548640" y="173736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5029200" cy="457200"/>
          </a:xfrm>
          <a:prstGeom prst="rect">
            <a:avLst/>
          </a:prstGeom>
          <a:noFill/>
        </p:spPr>
        <p:txBody>
          <a:bodyPr wrap="square" lIns="0" rIns="0" tIns="0" bIns="0" anchor="t">
            <a:spAutoFit/>
          </a:bodyPr>
          <a:lstStyle/>
          <a:p>
            <a:pPr algn="l"/>
            <a:r>
              <a:rPr sz="1500" b="1">
                <a:solidFill>
                  <a:srgbClr val="065A82"/>
                </a:solidFill>
                <a:latin typeface="Calibri"/>
              </a:rPr>
              <a:t>Numerical features</a:t>
            </a:r>
          </a:p>
        </p:txBody>
      </p:sp>
      <p:sp>
        <p:nvSpPr>
          <p:cNvPr id="7" name="TextBox 6"/>
          <p:cNvSpPr txBox="1"/>
          <p:nvPr/>
        </p:nvSpPr>
        <p:spPr>
          <a:xfrm>
            <a:off x="868680" y="2377440"/>
            <a:ext cx="5029200" cy="365760"/>
          </a:xfrm>
          <a:prstGeom prst="rect">
            <a:avLst/>
          </a:prstGeom>
          <a:noFill/>
        </p:spPr>
        <p:txBody>
          <a:bodyPr wrap="square" lIns="0" rIns="0" tIns="0" bIns="0" anchor="t">
            <a:spAutoFit/>
          </a:bodyPr>
          <a:lstStyle/>
          <a:p>
            <a:pPr algn="l"/>
            <a:r>
              <a:rPr sz="1100" b="0">
                <a:solidFill>
                  <a:srgbClr val="36454F"/>
                </a:solidFill>
                <a:latin typeface="Consolas"/>
              </a:rPr>
              <a:t>• age              · 18–80</a:t>
            </a:r>
          </a:p>
        </p:txBody>
      </p:sp>
      <p:sp>
        <p:nvSpPr>
          <p:cNvPr id="8" name="TextBox 7"/>
          <p:cNvSpPr txBox="1"/>
          <p:nvPr/>
        </p:nvSpPr>
        <p:spPr>
          <a:xfrm>
            <a:off x="868680" y="2743200"/>
            <a:ext cx="5029200" cy="365760"/>
          </a:xfrm>
          <a:prstGeom prst="rect">
            <a:avLst/>
          </a:prstGeom>
          <a:noFill/>
        </p:spPr>
        <p:txBody>
          <a:bodyPr wrap="square" lIns="0" rIns="0" tIns="0" bIns="0" anchor="t">
            <a:spAutoFit/>
          </a:bodyPr>
          <a:lstStyle/>
          <a:p>
            <a:pPr algn="l"/>
            <a:r>
              <a:rPr sz="1100" b="0">
                <a:solidFill>
                  <a:srgbClr val="36454F"/>
                </a:solidFill>
                <a:latin typeface="Consolas"/>
              </a:rPr>
              <a:t>• tenure_months    · 0–72</a:t>
            </a:r>
          </a:p>
        </p:txBody>
      </p:sp>
      <p:sp>
        <p:nvSpPr>
          <p:cNvPr id="9" name="TextBox 8"/>
          <p:cNvSpPr txBox="1"/>
          <p:nvPr/>
        </p:nvSpPr>
        <p:spPr>
          <a:xfrm>
            <a:off x="868680" y="3108960"/>
            <a:ext cx="5029200" cy="365760"/>
          </a:xfrm>
          <a:prstGeom prst="rect">
            <a:avLst/>
          </a:prstGeom>
          <a:noFill/>
        </p:spPr>
        <p:txBody>
          <a:bodyPr wrap="square" lIns="0" rIns="0" tIns="0" bIns="0" anchor="t">
            <a:spAutoFit/>
          </a:bodyPr>
          <a:lstStyle/>
          <a:p>
            <a:pPr algn="l"/>
            <a:r>
              <a:rPr sz="1100" b="0">
                <a:solidFill>
                  <a:srgbClr val="36454F"/>
                </a:solidFill>
                <a:latin typeface="Consolas"/>
              </a:rPr>
              <a:t>• num_purchases_quarter · 0–50</a:t>
            </a:r>
          </a:p>
        </p:txBody>
      </p:sp>
      <p:sp>
        <p:nvSpPr>
          <p:cNvPr id="10" name="TextBox 9"/>
          <p:cNvSpPr txBox="1"/>
          <p:nvPr/>
        </p:nvSpPr>
        <p:spPr>
          <a:xfrm>
            <a:off x="868680" y="3474720"/>
            <a:ext cx="5029200" cy="365760"/>
          </a:xfrm>
          <a:prstGeom prst="rect">
            <a:avLst/>
          </a:prstGeom>
          <a:noFill/>
        </p:spPr>
        <p:txBody>
          <a:bodyPr wrap="square" lIns="0" rIns="0" tIns="0" bIns="0" anchor="t">
            <a:spAutoFit/>
          </a:bodyPr>
          <a:lstStyle/>
          <a:p>
            <a:pPr algn="l"/>
            <a:r>
              <a:rPr sz="1100" b="0">
                <a:solidFill>
                  <a:srgbClr val="36454F"/>
                </a:solidFill>
                <a:latin typeface="Consolas"/>
              </a:rPr>
              <a:t>• avg_monthly_spend_gbp · 0–500 (skewed)</a:t>
            </a:r>
          </a:p>
        </p:txBody>
      </p:sp>
      <p:sp>
        <p:nvSpPr>
          <p:cNvPr id="11" name="TextBox 10"/>
          <p:cNvSpPr txBox="1"/>
          <p:nvPr/>
        </p:nvSpPr>
        <p:spPr>
          <a:xfrm>
            <a:off x="868680" y="3840480"/>
            <a:ext cx="5029200" cy="365760"/>
          </a:xfrm>
          <a:prstGeom prst="rect">
            <a:avLst/>
          </a:prstGeom>
          <a:noFill/>
        </p:spPr>
        <p:txBody>
          <a:bodyPr wrap="square" lIns="0" rIns="0" tIns="0" bIns="0" anchor="t">
            <a:spAutoFit/>
          </a:bodyPr>
          <a:lstStyle/>
          <a:p>
            <a:pPr algn="l"/>
            <a:r>
              <a:rPr sz="1100" b="0">
                <a:solidFill>
                  <a:srgbClr val="36454F"/>
                </a:solidFill>
                <a:latin typeface="Consolas"/>
              </a:rPr>
              <a:t>• returns_per_purchase  · 0.00–0.50</a:t>
            </a:r>
          </a:p>
        </p:txBody>
      </p:sp>
      <p:sp>
        <p:nvSpPr>
          <p:cNvPr id="12" name="TextBox 11"/>
          <p:cNvSpPr txBox="1"/>
          <p:nvPr/>
        </p:nvSpPr>
        <p:spPr>
          <a:xfrm>
            <a:off x="868680" y="4206240"/>
            <a:ext cx="5029200" cy="365760"/>
          </a:xfrm>
          <a:prstGeom prst="rect">
            <a:avLst/>
          </a:prstGeom>
          <a:noFill/>
        </p:spPr>
        <p:txBody>
          <a:bodyPr wrap="square" lIns="0" rIns="0" tIns="0" bIns="0" anchor="t">
            <a:spAutoFit/>
          </a:bodyPr>
          <a:lstStyle/>
          <a:p>
            <a:pPr algn="l"/>
            <a:r>
              <a:rPr sz="1100" b="0">
                <a:solidFill>
                  <a:srgbClr val="36454F"/>
                </a:solidFill>
                <a:latin typeface="Consolas"/>
              </a:rPr>
              <a:t>• last_login_days_ago   · 0–365 (8% missing)</a:t>
            </a:r>
          </a:p>
        </p:txBody>
      </p:sp>
      <p:sp>
        <p:nvSpPr>
          <p:cNvPr id="13" name="TextBox 12"/>
          <p:cNvSpPr txBox="1"/>
          <p:nvPr/>
        </p:nvSpPr>
        <p:spPr>
          <a:xfrm>
            <a:off x="868680" y="4572000"/>
            <a:ext cx="5029200" cy="365760"/>
          </a:xfrm>
          <a:prstGeom prst="rect">
            <a:avLst/>
          </a:prstGeom>
          <a:noFill/>
        </p:spPr>
        <p:txBody>
          <a:bodyPr wrap="square" lIns="0" rIns="0" tIns="0" bIns="0" anchor="t">
            <a:spAutoFit/>
          </a:bodyPr>
          <a:lstStyle/>
          <a:p>
            <a:pPr algn="l"/>
            <a:r>
              <a:rPr sz="1100" b="0">
                <a:solidFill>
                  <a:srgbClr val="36454F"/>
                </a:solidFill>
                <a:latin typeface="Consolas"/>
              </a:rPr>
              <a:t>• avg_review_polarity   · −1.0–+1.0 (30% missing)  ← from L01!</a:t>
            </a:r>
          </a:p>
        </p:txBody>
      </p:sp>
      <p:sp>
        <p:nvSpPr>
          <p:cNvPr id="14" name="TextBox 13"/>
          <p:cNvSpPr txBox="1"/>
          <p:nvPr/>
        </p:nvSpPr>
        <p:spPr>
          <a:xfrm>
            <a:off x="868680" y="4937760"/>
            <a:ext cx="5029200" cy="365760"/>
          </a:xfrm>
          <a:prstGeom prst="rect">
            <a:avLst/>
          </a:prstGeom>
          <a:noFill/>
        </p:spPr>
        <p:txBody>
          <a:bodyPr wrap="square" lIns="0" rIns="0" tIns="0" bIns="0" anchor="t">
            <a:spAutoFit/>
          </a:bodyPr>
          <a:lstStyle/>
          <a:p>
            <a:pPr algn="l"/>
            <a:r>
              <a:rPr sz="1100" b="0">
                <a:solidFill>
                  <a:srgbClr val="36454F"/>
                </a:solidFill>
                <a:latin typeface="Consolas"/>
              </a:rPr>
              <a:t>• support_tickets_quarter · 0–10</a:t>
            </a:r>
          </a:p>
        </p:txBody>
      </p:sp>
      <p:sp>
        <p:nvSpPr>
          <p:cNvPr id="15" name="Rectangle 14"/>
          <p:cNvSpPr/>
          <p:nvPr/>
        </p:nvSpPr>
        <p:spPr>
          <a:xfrm>
            <a:off x="6263640" y="1737360"/>
            <a:ext cx="5303520" cy="2194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874519"/>
            <a:ext cx="4937760" cy="457200"/>
          </a:xfrm>
          <a:prstGeom prst="rect">
            <a:avLst/>
          </a:prstGeom>
          <a:noFill/>
        </p:spPr>
        <p:txBody>
          <a:bodyPr wrap="square" lIns="0" rIns="0" tIns="0" bIns="0" anchor="t">
            <a:spAutoFit/>
          </a:bodyPr>
          <a:lstStyle/>
          <a:p>
            <a:pPr algn="l"/>
            <a:r>
              <a:rPr sz="1500" b="1">
                <a:solidFill>
                  <a:srgbClr val="FFFFFF"/>
                </a:solidFill>
                <a:latin typeface="Calibri"/>
              </a:rPr>
              <a:t>Categorical features</a:t>
            </a:r>
          </a:p>
        </p:txBody>
      </p:sp>
      <p:sp>
        <p:nvSpPr>
          <p:cNvPr id="17" name="TextBox 16"/>
          <p:cNvSpPr txBox="1"/>
          <p:nvPr/>
        </p:nvSpPr>
        <p:spPr>
          <a:xfrm>
            <a:off x="6583680" y="2377440"/>
            <a:ext cx="4937760" cy="365760"/>
          </a:xfrm>
          <a:prstGeom prst="rect">
            <a:avLst/>
          </a:prstGeom>
          <a:noFill/>
        </p:spPr>
        <p:txBody>
          <a:bodyPr wrap="square" lIns="0" rIns="0" tIns="0" bIns="0" anchor="t">
            <a:spAutoFit/>
          </a:bodyPr>
          <a:lstStyle/>
          <a:p>
            <a:pPr algn="l"/>
            <a:r>
              <a:rPr sz="1200" b="0">
                <a:solidFill>
                  <a:srgbClr val="E8F1F5"/>
                </a:solidFill>
                <a:latin typeface="Consolas"/>
              </a:rPr>
              <a:t>• region            · London, North, South, …</a:t>
            </a:r>
          </a:p>
        </p:txBody>
      </p:sp>
      <p:sp>
        <p:nvSpPr>
          <p:cNvPr id="18" name="TextBox 17"/>
          <p:cNvSpPr txBox="1"/>
          <p:nvPr/>
        </p:nvSpPr>
        <p:spPr>
          <a:xfrm>
            <a:off x="6583680" y="2743200"/>
            <a:ext cx="4937760" cy="365760"/>
          </a:xfrm>
          <a:prstGeom prst="rect">
            <a:avLst/>
          </a:prstGeom>
          <a:noFill/>
        </p:spPr>
        <p:txBody>
          <a:bodyPr wrap="square" lIns="0" rIns="0" tIns="0" bIns="0" anchor="t">
            <a:spAutoFit/>
          </a:bodyPr>
          <a:lstStyle/>
          <a:p>
            <a:pPr algn="l"/>
            <a:r>
              <a:rPr sz="1200" b="0">
                <a:solidFill>
                  <a:srgbClr val="E8F1F5"/>
                </a:solidFill>
                <a:latin typeface="Consolas"/>
              </a:rPr>
              <a:t>• subscription_tier · free, basic, premium</a:t>
            </a:r>
          </a:p>
        </p:txBody>
      </p:sp>
      <p:sp>
        <p:nvSpPr>
          <p:cNvPr id="19" name="Rectangle 18"/>
          <p:cNvSpPr/>
          <p:nvPr/>
        </p:nvSpPr>
        <p:spPr>
          <a:xfrm>
            <a:off x="6263640" y="4114800"/>
            <a:ext cx="5303520" cy="21945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251960"/>
            <a:ext cx="4937760" cy="457200"/>
          </a:xfrm>
          <a:prstGeom prst="rect">
            <a:avLst/>
          </a:prstGeom>
          <a:noFill/>
        </p:spPr>
        <p:txBody>
          <a:bodyPr wrap="square" lIns="0" rIns="0" tIns="0" bIns="0" anchor="t">
            <a:spAutoFit/>
          </a:bodyPr>
          <a:lstStyle/>
          <a:p>
            <a:pPr algn="l"/>
            <a:r>
              <a:rPr sz="1500" b="1">
                <a:solidFill>
                  <a:srgbClr val="FFFFFF"/>
                </a:solidFill>
                <a:latin typeface="Calibri"/>
              </a:rPr>
              <a:t>Target</a:t>
            </a:r>
          </a:p>
        </p:txBody>
      </p:sp>
      <p:sp>
        <p:nvSpPr>
          <p:cNvPr id="21" name="TextBox 20"/>
          <p:cNvSpPr txBox="1"/>
          <p:nvPr/>
        </p:nvSpPr>
        <p:spPr>
          <a:xfrm>
            <a:off x="6583680" y="4754880"/>
            <a:ext cx="4937760" cy="365760"/>
          </a:xfrm>
          <a:prstGeom prst="rect">
            <a:avLst/>
          </a:prstGeom>
          <a:noFill/>
        </p:spPr>
        <p:txBody>
          <a:bodyPr wrap="square" lIns="0" rIns="0" tIns="0" bIns="0" anchor="t">
            <a:spAutoFit/>
          </a:bodyPr>
          <a:lstStyle/>
          <a:p>
            <a:pPr algn="l"/>
            <a:r>
              <a:rPr sz="1200" b="0">
                <a:solidFill>
                  <a:srgbClr val="E8F1F5"/>
                </a:solidFill>
                <a:latin typeface="Consolas"/>
              </a:rPr>
              <a:t>churned · 0 = stayed · 1 = cancelled within 30 days</a:t>
            </a:r>
          </a:p>
        </p:txBody>
      </p:sp>
      <p:sp>
        <p:nvSpPr>
          <p:cNvPr id="22" name="TextBox 21"/>
          <p:cNvSpPr txBox="1"/>
          <p:nvPr/>
        </p:nvSpPr>
        <p:spPr>
          <a:xfrm>
            <a:off x="6583680" y="5212080"/>
            <a:ext cx="4937760" cy="365760"/>
          </a:xfrm>
          <a:prstGeom prst="rect">
            <a:avLst/>
          </a:prstGeom>
          <a:noFill/>
        </p:spPr>
        <p:txBody>
          <a:bodyPr wrap="square" lIns="0" rIns="0" tIns="0" bIns="0" anchor="t">
            <a:spAutoFit/>
          </a:bodyPr>
          <a:lstStyle/>
          <a:p>
            <a:pPr algn="l"/>
            <a:r>
              <a:rPr sz="1300" b="1">
                <a:solidFill>
                  <a:srgbClr val="F9E795"/>
                </a:solidFill>
                <a:latin typeface="Calibri"/>
              </a:rPr>
              <a:t>Class balance: ~88% / ~12%</a:t>
            </a:r>
          </a:p>
        </p:txBody>
      </p:sp>
      <p:sp>
        <p:nvSpPr>
          <p:cNvPr id="23" name="TextBox 22"/>
          <p:cNvSpPr txBox="1"/>
          <p:nvPr/>
        </p:nvSpPr>
        <p:spPr>
          <a:xfrm>
            <a:off x="6583680" y="5623560"/>
            <a:ext cx="4937760" cy="365760"/>
          </a:xfrm>
          <a:prstGeom prst="rect">
            <a:avLst/>
          </a:prstGeom>
          <a:noFill/>
        </p:spPr>
        <p:txBody>
          <a:bodyPr wrap="square" lIns="0" rIns="0" tIns="0" bIns="0" anchor="t">
            <a:spAutoFit/>
          </a:bodyPr>
          <a:lstStyle/>
          <a:p>
            <a:pPr algn="l"/>
            <a:r>
              <a:rPr sz="1200" b="0">
                <a:solidFill>
                  <a:srgbClr val="FFFFFF"/>
                </a:solidFill>
                <a:latin typeface="Calibri"/>
              </a:rPr>
              <a:t>→ Accuracy will mislead. We need precision/recall.</a:t>
            </a:r>
          </a:p>
        </p:txBody>
      </p:sp>
      <p:sp>
        <p:nvSpPr>
          <p:cNvPr id="24" name="TextBox 2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3/28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Three Things This Week Is About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Forget the model — these are the actual risks</a:t>
            </a:r>
          </a:p>
        </p:txBody>
      </p:sp>
      <p:sp>
        <p:nvSpPr>
          <p:cNvPr id="5" name="Rectangle 4"/>
          <p:cNvSpPr/>
          <p:nvPr/>
        </p:nvSpPr>
        <p:spPr>
          <a:xfrm>
            <a:off x="548640" y="1737360"/>
            <a:ext cx="731520" cy="1417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731520" cy="822960"/>
          </a:xfrm>
          <a:prstGeom prst="rect">
            <a:avLst/>
          </a:prstGeom>
          <a:noFill/>
        </p:spPr>
        <p:txBody>
          <a:bodyPr wrap="square" lIns="0" rIns="0" tIns="0" bIns="0" anchor="t">
            <a:spAutoFit/>
          </a:bodyPr>
          <a:lstStyle/>
          <a:p>
            <a:pPr algn="ctr"/>
            <a:r>
              <a:rPr sz="4200" b="1">
                <a:solidFill>
                  <a:srgbClr val="FFFFFF"/>
                </a:solidFill>
                <a:latin typeface="Trebuchet MS"/>
              </a:rPr>
              <a:t>1</a:t>
            </a:r>
          </a:p>
        </p:txBody>
      </p:sp>
      <p:sp>
        <p:nvSpPr>
          <p:cNvPr id="7" name="Rectangle 6"/>
          <p:cNvSpPr/>
          <p:nvPr/>
        </p:nvSpPr>
        <p:spPr>
          <a:xfrm>
            <a:off x="1417320" y="1737360"/>
            <a:ext cx="10149840" cy="1417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874520"/>
            <a:ext cx="7315200" cy="457200"/>
          </a:xfrm>
          <a:prstGeom prst="rect">
            <a:avLst/>
          </a:prstGeom>
          <a:noFill/>
        </p:spPr>
        <p:txBody>
          <a:bodyPr wrap="square" lIns="0" rIns="0" tIns="0" bIns="0" anchor="t">
            <a:spAutoFit/>
          </a:bodyPr>
          <a:lstStyle/>
          <a:p>
            <a:pPr algn="l"/>
            <a:r>
              <a:rPr sz="1800" b="1">
                <a:solidFill>
                  <a:srgbClr val="065A82"/>
                </a:solidFill>
                <a:latin typeface="Calibri"/>
              </a:rPr>
              <a:t>Preprocessing</a:t>
            </a:r>
          </a:p>
        </p:txBody>
      </p:sp>
      <p:sp>
        <p:nvSpPr>
          <p:cNvPr id="9" name="TextBox 8"/>
          <p:cNvSpPr txBox="1"/>
          <p:nvPr/>
        </p:nvSpPr>
        <p:spPr>
          <a:xfrm>
            <a:off x="9601200" y="1874520"/>
            <a:ext cx="1828800" cy="457200"/>
          </a:xfrm>
          <a:prstGeom prst="rect">
            <a:avLst/>
          </a:prstGeom>
          <a:noFill/>
        </p:spPr>
        <p:txBody>
          <a:bodyPr wrap="square" lIns="0" rIns="0" tIns="0" bIns="0" anchor="t">
            <a:spAutoFit/>
          </a:bodyPr>
          <a:lstStyle/>
          <a:p>
            <a:pPr algn="r"/>
            <a:r>
              <a:rPr sz="1200" b="1">
                <a:solidFill>
                  <a:srgbClr val="1C7293"/>
                </a:solidFill>
                <a:latin typeface="Calibri"/>
              </a:rPr>
              <a:t>Notebook 02</a:t>
            </a:r>
          </a:p>
        </p:txBody>
      </p:sp>
      <p:sp>
        <p:nvSpPr>
          <p:cNvPr id="10" name="TextBox 9"/>
          <p:cNvSpPr txBox="1"/>
          <p:nvPr/>
        </p:nvSpPr>
        <p:spPr>
          <a:xfrm>
            <a:off x="1645920" y="2331720"/>
            <a:ext cx="9784080" cy="411480"/>
          </a:xfrm>
          <a:prstGeom prst="rect">
            <a:avLst/>
          </a:prstGeom>
          <a:noFill/>
        </p:spPr>
        <p:txBody>
          <a:bodyPr wrap="square" lIns="0" rIns="0" tIns="0" bIns="0" anchor="t">
            <a:spAutoFit/>
          </a:bodyPr>
          <a:lstStyle/>
          <a:p>
            <a:pPr algn="l"/>
            <a:r>
              <a:rPr sz="1300" b="0">
                <a:solidFill>
                  <a:srgbClr val="36454F"/>
                </a:solidFill>
                <a:latin typeface="Calibri"/>
              </a:rPr>
              <a:t>Cleaning the messy CSV into something a model can train on.</a:t>
            </a:r>
          </a:p>
        </p:txBody>
      </p:sp>
      <p:sp>
        <p:nvSpPr>
          <p:cNvPr id="11" name="TextBox 10"/>
          <p:cNvSpPr txBox="1"/>
          <p:nvPr/>
        </p:nvSpPr>
        <p:spPr>
          <a:xfrm>
            <a:off x="1645920" y="2724912"/>
            <a:ext cx="9784080" cy="365760"/>
          </a:xfrm>
          <a:prstGeom prst="rect">
            <a:avLst/>
          </a:prstGeom>
          <a:noFill/>
        </p:spPr>
        <p:txBody>
          <a:bodyPr wrap="square" lIns="0" rIns="0" tIns="0" bIns="0" anchor="t">
            <a:spAutoFit/>
          </a:bodyPr>
          <a:lstStyle/>
          <a:p>
            <a:pPr algn="l"/>
            <a:r>
              <a:rPr sz="1200" b="1">
                <a:solidFill>
                  <a:srgbClr val="F96167"/>
                </a:solidFill>
                <a:latin typeface="Calibri"/>
              </a:rPr>
              <a:t>▸ 60-70% of any real ML project lives here.</a:t>
            </a:r>
          </a:p>
        </p:txBody>
      </p:sp>
      <p:sp>
        <p:nvSpPr>
          <p:cNvPr id="12" name="Rectangle 11"/>
          <p:cNvSpPr/>
          <p:nvPr/>
        </p:nvSpPr>
        <p:spPr>
          <a:xfrm>
            <a:off x="548640" y="3291839"/>
            <a:ext cx="731520" cy="1417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66159"/>
            <a:ext cx="731520" cy="822960"/>
          </a:xfrm>
          <a:prstGeom prst="rect">
            <a:avLst/>
          </a:prstGeom>
          <a:noFill/>
        </p:spPr>
        <p:txBody>
          <a:bodyPr wrap="square" lIns="0" rIns="0" tIns="0" bIns="0" anchor="t">
            <a:spAutoFit/>
          </a:bodyPr>
          <a:lstStyle/>
          <a:p>
            <a:pPr algn="ctr"/>
            <a:r>
              <a:rPr sz="4200" b="1">
                <a:solidFill>
                  <a:srgbClr val="FFFFFF"/>
                </a:solidFill>
                <a:latin typeface="Trebuchet MS"/>
              </a:rPr>
              <a:t>2</a:t>
            </a:r>
          </a:p>
        </p:txBody>
      </p:sp>
      <p:sp>
        <p:nvSpPr>
          <p:cNvPr id="14" name="Rectangle 13"/>
          <p:cNvSpPr/>
          <p:nvPr/>
        </p:nvSpPr>
        <p:spPr>
          <a:xfrm>
            <a:off x="1417320" y="3291839"/>
            <a:ext cx="10149840" cy="1417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5920" y="3428999"/>
            <a:ext cx="7315200" cy="457200"/>
          </a:xfrm>
          <a:prstGeom prst="rect">
            <a:avLst/>
          </a:prstGeom>
          <a:noFill/>
        </p:spPr>
        <p:txBody>
          <a:bodyPr wrap="square" lIns="0" rIns="0" tIns="0" bIns="0" anchor="t">
            <a:spAutoFit/>
          </a:bodyPr>
          <a:lstStyle/>
          <a:p>
            <a:pPr algn="l"/>
            <a:r>
              <a:rPr sz="1800" b="1">
                <a:solidFill>
                  <a:srgbClr val="065A82"/>
                </a:solidFill>
                <a:latin typeface="Calibri"/>
              </a:rPr>
              <a:t>Honest evaluation</a:t>
            </a:r>
          </a:p>
        </p:txBody>
      </p:sp>
      <p:sp>
        <p:nvSpPr>
          <p:cNvPr id="16" name="TextBox 15"/>
          <p:cNvSpPr txBox="1"/>
          <p:nvPr/>
        </p:nvSpPr>
        <p:spPr>
          <a:xfrm>
            <a:off x="9601200" y="3428999"/>
            <a:ext cx="1828800" cy="457200"/>
          </a:xfrm>
          <a:prstGeom prst="rect">
            <a:avLst/>
          </a:prstGeom>
          <a:noFill/>
        </p:spPr>
        <p:txBody>
          <a:bodyPr wrap="square" lIns="0" rIns="0" tIns="0" bIns="0" anchor="t">
            <a:spAutoFit/>
          </a:bodyPr>
          <a:lstStyle/>
          <a:p>
            <a:pPr algn="r"/>
            <a:r>
              <a:rPr sz="1200" b="1">
                <a:solidFill>
                  <a:srgbClr val="1C7293"/>
                </a:solidFill>
                <a:latin typeface="Calibri"/>
              </a:rPr>
              <a:t>Notebook 03</a:t>
            </a:r>
          </a:p>
        </p:txBody>
      </p:sp>
      <p:sp>
        <p:nvSpPr>
          <p:cNvPr id="17" name="TextBox 16"/>
          <p:cNvSpPr txBox="1"/>
          <p:nvPr/>
        </p:nvSpPr>
        <p:spPr>
          <a:xfrm>
            <a:off x="1645920" y="3886199"/>
            <a:ext cx="9784080" cy="411480"/>
          </a:xfrm>
          <a:prstGeom prst="rect">
            <a:avLst/>
          </a:prstGeom>
          <a:noFill/>
        </p:spPr>
        <p:txBody>
          <a:bodyPr wrap="square" lIns="0" rIns="0" tIns="0" bIns="0" anchor="t">
            <a:spAutoFit/>
          </a:bodyPr>
          <a:lstStyle/>
          <a:p>
            <a:pPr algn="l"/>
            <a:r>
              <a:rPr sz="1300" b="0">
                <a:solidFill>
                  <a:srgbClr val="36454F"/>
                </a:solidFill>
                <a:latin typeface="Calibri"/>
              </a:rPr>
              <a:t>Measuring the model on data it has never seen.</a:t>
            </a:r>
          </a:p>
        </p:txBody>
      </p:sp>
      <p:sp>
        <p:nvSpPr>
          <p:cNvPr id="18" name="TextBox 17"/>
          <p:cNvSpPr txBox="1"/>
          <p:nvPr/>
        </p:nvSpPr>
        <p:spPr>
          <a:xfrm>
            <a:off x="1645920" y="4279391"/>
            <a:ext cx="9784080" cy="365760"/>
          </a:xfrm>
          <a:prstGeom prst="rect">
            <a:avLst/>
          </a:prstGeom>
          <a:noFill/>
        </p:spPr>
        <p:txBody>
          <a:bodyPr wrap="square" lIns="0" rIns="0" tIns="0" bIns="0" anchor="t">
            <a:spAutoFit/>
          </a:bodyPr>
          <a:lstStyle/>
          <a:p>
            <a:pPr algn="l"/>
            <a:r>
              <a:rPr sz="1200" b="1">
                <a:solidFill>
                  <a:srgbClr val="F96167"/>
                </a:solidFill>
                <a:latin typeface="Calibri"/>
              </a:rPr>
              <a:t>▸ It's easy to fool yourself. Discipline is required.</a:t>
            </a:r>
          </a:p>
        </p:txBody>
      </p:sp>
      <p:sp>
        <p:nvSpPr>
          <p:cNvPr id="19" name="Rectangle 18"/>
          <p:cNvSpPr/>
          <p:nvPr/>
        </p:nvSpPr>
        <p:spPr>
          <a:xfrm>
            <a:off x="548640" y="4846320"/>
            <a:ext cx="731520" cy="1417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120640"/>
            <a:ext cx="731520" cy="822960"/>
          </a:xfrm>
          <a:prstGeom prst="rect">
            <a:avLst/>
          </a:prstGeom>
          <a:noFill/>
        </p:spPr>
        <p:txBody>
          <a:bodyPr wrap="square" lIns="0" rIns="0" tIns="0" bIns="0" anchor="t">
            <a:spAutoFit/>
          </a:bodyPr>
          <a:lstStyle/>
          <a:p>
            <a:pPr algn="ctr"/>
            <a:r>
              <a:rPr sz="4200" b="1">
                <a:solidFill>
                  <a:srgbClr val="FFFFFF"/>
                </a:solidFill>
                <a:latin typeface="Trebuchet MS"/>
              </a:rPr>
              <a:t>3</a:t>
            </a:r>
          </a:p>
        </p:txBody>
      </p:sp>
      <p:sp>
        <p:nvSpPr>
          <p:cNvPr id="21" name="Rectangle 20"/>
          <p:cNvSpPr/>
          <p:nvPr/>
        </p:nvSpPr>
        <p:spPr>
          <a:xfrm>
            <a:off x="1417320" y="4846320"/>
            <a:ext cx="10149840" cy="1417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4983480"/>
            <a:ext cx="7315200" cy="457200"/>
          </a:xfrm>
          <a:prstGeom prst="rect">
            <a:avLst/>
          </a:prstGeom>
          <a:noFill/>
        </p:spPr>
        <p:txBody>
          <a:bodyPr wrap="square" lIns="0" rIns="0" tIns="0" bIns="0" anchor="t">
            <a:spAutoFit/>
          </a:bodyPr>
          <a:lstStyle/>
          <a:p>
            <a:pPr algn="l"/>
            <a:r>
              <a:rPr sz="1800" b="1">
                <a:solidFill>
                  <a:srgbClr val="065A82"/>
                </a:solidFill>
                <a:latin typeface="Calibri"/>
              </a:rPr>
              <a:t>Threshold choice</a:t>
            </a:r>
          </a:p>
        </p:txBody>
      </p:sp>
      <p:sp>
        <p:nvSpPr>
          <p:cNvPr id="23" name="TextBox 22"/>
          <p:cNvSpPr txBox="1"/>
          <p:nvPr/>
        </p:nvSpPr>
        <p:spPr>
          <a:xfrm>
            <a:off x="9601200" y="4983480"/>
            <a:ext cx="1828800" cy="457200"/>
          </a:xfrm>
          <a:prstGeom prst="rect">
            <a:avLst/>
          </a:prstGeom>
          <a:noFill/>
        </p:spPr>
        <p:txBody>
          <a:bodyPr wrap="square" lIns="0" rIns="0" tIns="0" bIns="0" anchor="t">
            <a:spAutoFit/>
          </a:bodyPr>
          <a:lstStyle/>
          <a:p>
            <a:pPr algn="r"/>
            <a:r>
              <a:rPr sz="1200" b="1">
                <a:solidFill>
                  <a:srgbClr val="1C7293"/>
                </a:solidFill>
                <a:latin typeface="Calibri"/>
              </a:rPr>
              <a:t>Notebook 04</a:t>
            </a:r>
          </a:p>
        </p:txBody>
      </p:sp>
      <p:sp>
        <p:nvSpPr>
          <p:cNvPr id="24" name="TextBox 23"/>
          <p:cNvSpPr txBox="1"/>
          <p:nvPr/>
        </p:nvSpPr>
        <p:spPr>
          <a:xfrm>
            <a:off x="1645920" y="5440680"/>
            <a:ext cx="9784080" cy="411480"/>
          </a:xfrm>
          <a:prstGeom prst="rect">
            <a:avLst/>
          </a:prstGeom>
          <a:noFill/>
        </p:spPr>
        <p:txBody>
          <a:bodyPr wrap="square" lIns="0" rIns="0" tIns="0" bIns="0" anchor="t">
            <a:spAutoFit/>
          </a:bodyPr>
          <a:lstStyle/>
          <a:p>
            <a:pPr algn="l"/>
            <a:r>
              <a:rPr sz="1300" b="0">
                <a:solidFill>
                  <a:srgbClr val="36454F"/>
                </a:solidFill>
                <a:latin typeface="Calibri"/>
              </a:rPr>
              <a:t>A classifier outputs a PROBABILITY, not a label. Where you put the threshold IS the business decision.</a:t>
            </a:r>
          </a:p>
        </p:txBody>
      </p:sp>
      <p:sp>
        <p:nvSpPr>
          <p:cNvPr id="25" name="TextBox 24"/>
          <p:cNvSpPr txBox="1"/>
          <p:nvPr/>
        </p:nvSpPr>
        <p:spPr>
          <a:xfrm>
            <a:off x="1645920" y="5833872"/>
            <a:ext cx="9784080" cy="365760"/>
          </a:xfrm>
          <a:prstGeom prst="rect">
            <a:avLst/>
          </a:prstGeom>
          <a:noFill/>
        </p:spPr>
        <p:txBody>
          <a:bodyPr wrap="square" lIns="0" rIns="0" tIns="0" bIns="0" anchor="t">
            <a:spAutoFit/>
          </a:bodyPr>
          <a:lstStyle/>
          <a:p>
            <a:pPr algn="l"/>
            <a:r>
              <a:rPr sz="1200" b="1">
                <a:solidFill>
                  <a:srgbClr val="F96167"/>
                </a:solidFill>
                <a:latin typeface="Calibri"/>
              </a:rPr>
              <a:t>▸ Not a technical decision. An operational one.</a:t>
            </a:r>
          </a:p>
        </p:txBody>
      </p:sp>
      <p:sp>
        <p:nvSpPr>
          <p:cNvPr id="26" name="TextBox 25"/>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4/28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Preprocessing — Three Problems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Why raw CSV files crash models</a:t>
            </a:r>
          </a:p>
        </p:txBody>
      </p:sp>
      <p:sp>
        <p:nvSpPr>
          <p:cNvPr id="5" name="Rectangle 4"/>
          <p:cNvSpPr/>
          <p:nvPr/>
        </p:nvSpPr>
        <p:spPr>
          <a:xfrm>
            <a:off x="548640" y="1737360"/>
            <a:ext cx="731520" cy="1417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731520" cy="822960"/>
          </a:xfrm>
          <a:prstGeom prst="rect">
            <a:avLst/>
          </a:prstGeom>
          <a:noFill/>
        </p:spPr>
        <p:txBody>
          <a:bodyPr wrap="square" lIns="0" rIns="0" tIns="0" bIns="0" anchor="t">
            <a:spAutoFit/>
          </a:bodyPr>
          <a:lstStyle/>
          <a:p>
            <a:pPr algn="ctr"/>
            <a:r>
              <a:rPr sz="3600" b="0">
                <a:solidFill>
                  <a:srgbClr val="FFFFFF"/>
                </a:solidFill>
                <a:latin typeface="Trebuchet MS"/>
              </a:rPr>
              <a:t>🕳</a:t>
            </a:r>
          </a:p>
        </p:txBody>
      </p:sp>
      <p:sp>
        <p:nvSpPr>
          <p:cNvPr id="7" name="Rectangle 6"/>
          <p:cNvSpPr/>
          <p:nvPr/>
        </p:nvSpPr>
        <p:spPr>
          <a:xfrm>
            <a:off x="1417320" y="1737360"/>
            <a:ext cx="10149840" cy="1417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874520"/>
            <a:ext cx="9784080" cy="365760"/>
          </a:xfrm>
          <a:prstGeom prst="rect">
            <a:avLst/>
          </a:prstGeom>
          <a:noFill/>
        </p:spPr>
        <p:txBody>
          <a:bodyPr wrap="square" lIns="0" rIns="0" tIns="0" bIns="0" anchor="t">
            <a:spAutoFit/>
          </a:bodyPr>
          <a:lstStyle/>
          <a:p>
            <a:pPr algn="l"/>
            <a:r>
              <a:rPr sz="1800" b="1">
                <a:solidFill>
                  <a:srgbClr val="065A82"/>
                </a:solidFill>
                <a:latin typeface="Calibri"/>
              </a:rPr>
              <a:t>Missing values</a:t>
            </a:r>
          </a:p>
        </p:txBody>
      </p:sp>
      <p:sp>
        <p:nvSpPr>
          <p:cNvPr id="9" name="TextBox 8"/>
          <p:cNvSpPr txBox="1"/>
          <p:nvPr/>
        </p:nvSpPr>
        <p:spPr>
          <a:xfrm>
            <a:off x="1645920" y="2286000"/>
            <a:ext cx="9784080" cy="411480"/>
          </a:xfrm>
          <a:prstGeom prst="rect">
            <a:avLst/>
          </a:prstGeom>
          <a:noFill/>
        </p:spPr>
        <p:txBody>
          <a:bodyPr wrap="square" lIns="0" rIns="0" tIns="0" bIns="0" anchor="t">
            <a:spAutoFit/>
          </a:bodyPr>
          <a:lstStyle/>
          <a:p>
            <a:pPr algn="l"/>
            <a:r>
              <a:rPr sz="1400" b="0">
                <a:solidFill>
                  <a:srgbClr val="36454F"/>
                </a:solidFill>
                <a:latin typeface="Calibri"/>
              </a:rPr>
              <a:t>Some cells are empty. A logistic regression can't multiply by NaN.</a:t>
            </a:r>
          </a:p>
        </p:txBody>
      </p:sp>
      <p:sp>
        <p:nvSpPr>
          <p:cNvPr id="10" name="TextBox 9"/>
          <p:cNvSpPr txBox="1"/>
          <p:nvPr/>
        </p:nvSpPr>
        <p:spPr>
          <a:xfrm>
            <a:off x="1645920" y="2743200"/>
            <a:ext cx="9784080" cy="365760"/>
          </a:xfrm>
          <a:prstGeom prst="rect">
            <a:avLst/>
          </a:prstGeom>
          <a:noFill/>
        </p:spPr>
        <p:txBody>
          <a:bodyPr wrap="square" lIns="0" rIns="0" tIns="0" bIns="0" anchor="t">
            <a:spAutoFit/>
          </a:bodyPr>
          <a:lstStyle/>
          <a:p>
            <a:pPr algn="l"/>
            <a:r>
              <a:rPr sz="1200" b="1">
                <a:solidFill>
                  <a:srgbClr val="1C7293"/>
                </a:solidFill>
                <a:latin typeface="Calibri"/>
              </a:rPr>
              <a:t>▸ 8% of last_login_days_ago · 30% of avg_review_polarity</a:t>
            </a:r>
          </a:p>
        </p:txBody>
      </p:sp>
      <p:sp>
        <p:nvSpPr>
          <p:cNvPr id="11" name="Rectangle 10"/>
          <p:cNvSpPr/>
          <p:nvPr/>
        </p:nvSpPr>
        <p:spPr>
          <a:xfrm>
            <a:off x="548640" y="3291839"/>
            <a:ext cx="731520" cy="1417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566159"/>
            <a:ext cx="731520" cy="822960"/>
          </a:xfrm>
          <a:prstGeom prst="rect">
            <a:avLst/>
          </a:prstGeom>
          <a:noFill/>
        </p:spPr>
        <p:txBody>
          <a:bodyPr wrap="square" lIns="0" rIns="0" tIns="0" bIns="0" anchor="t">
            <a:spAutoFit/>
          </a:bodyPr>
          <a:lstStyle/>
          <a:p>
            <a:pPr algn="ctr"/>
            <a:r>
              <a:rPr sz="3600" b="0">
                <a:solidFill>
                  <a:srgbClr val="FFFFFF"/>
                </a:solidFill>
                <a:latin typeface="Trebuchet MS"/>
              </a:rPr>
              <a:t>📏</a:t>
            </a:r>
          </a:p>
        </p:txBody>
      </p:sp>
      <p:sp>
        <p:nvSpPr>
          <p:cNvPr id="13" name="Rectangle 12"/>
          <p:cNvSpPr/>
          <p:nvPr/>
        </p:nvSpPr>
        <p:spPr>
          <a:xfrm>
            <a:off x="1417320" y="3291839"/>
            <a:ext cx="10149840" cy="1417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3428999"/>
            <a:ext cx="9784080" cy="365760"/>
          </a:xfrm>
          <a:prstGeom prst="rect">
            <a:avLst/>
          </a:prstGeom>
          <a:noFill/>
        </p:spPr>
        <p:txBody>
          <a:bodyPr wrap="square" lIns="0" rIns="0" tIns="0" bIns="0" anchor="t">
            <a:spAutoFit/>
          </a:bodyPr>
          <a:lstStyle/>
          <a:p>
            <a:pPr algn="l"/>
            <a:r>
              <a:rPr sz="1800" b="1">
                <a:solidFill>
                  <a:srgbClr val="065A82"/>
                </a:solidFill>
                <a:latin typeface="Calibri"/>
              </a:rPr>
              <a:t>Different scales</a:t>
            </a:r>
          </a:p>
        </p:txBody>
      </p:sp>
      <p:sp>
        <p:nvSpPr>
          <p:cNvPr id="15" name="TextBox 14"/>
          <p:cNvSpPr txBox="1"/>
          <p:nvPr/>
        </p:nvSpPr>
        <p:spPr>
          <a:xfrm>
            <a:off x="1645920" y="3840479"/>
            <a:ext cx="9784080" cy="411480"/>
          </a:xfrm>
          <a:prstGeom prst="rect">
            <a:avLst/>
          </a:prstGeom>
          <a:noFill/>
        </p:spPr>
        <p:txBody>
          <a:bodyPr wrap="square" lIns="0" rIns="0" tIns="0" bIns="0" anchor="t">
            <a:spAutoFit/>
          </a:bodyPr>
          <a:lstStyle/>
          <a:p>
            <a:pPr algn="l"/>
            <a:r>
              <a:rPr sz="1400" b="0">
                <a:solidFill>
                  <a:srgbClr val="36454F"/>
                </a:solidFill>
                <a:latin typeface="Calibri"/>
              </a:rPr>
              <a:t>age is 18–80; avg_monthly_spend_gbp is 0–500. Large-scale features dominate.</a:t>
            </a:r>
          </a:p>
        </p:txBody>
      </p:sp>
      <p:sp>
        <p:nvSpPr>
          <p:cNvPr id="16" name="TextBox 15"/>
          <p:cNvSpPr txBox="1"/>
          <p:nvPr/>
        </p:nvSpPr>
        <p:spPr>
          <a:xfrm>
            <a:off x="1645920" y="4297679"/>
            <a:ext cx="9784080" cy="365760"/>
          </a:xfrm>
          <a:prstGeom prst="rect">
            <a:avLst/>
          </a:prstGeom>
          <a:noFill/>
        </p:spPr>
        <p:txBody>
          <a:bodyPr wrap="square" lIns="0" rIns="0" tIns="0" bIns="0" anchor="t">
            <a:spAutoFit/>
          </a:bodyPr>
          <a:lstStyle/>
          <a:p>
            <a:pPr algn="l"/>
            <a:r>
              <a:rPr sz="1200" b="1">
                <a:solidFill>
                  <a:srgbClr val="1C7293"/>
                </a:solidFill>
                <a:latin typeface="Calibri"/>
              </a:rPr>
              <a:t>▸ Distance- and gradient-based models get confused</a:t>
            </a:r>
          </a:p>
        </p:txBody>
      </p:sp>
      <p:sp>
        <p:nvSpPr>
          <p:cNvPr id="17" name="Rectangle 16"/>
          <p:cNvSpPr/>
          <p:nvPr/>
        </p:nvSpPr>
        <p:spPr>
          <a:xfrm>
            <a:off x="548640" y="4846320"/>
            <a:ext cx="731520" cy="1417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31520" cy="822960"/>
          </a:xfrm>
          <a:prstGeom prst="rect">
            <a:avLst/>
          </a:prstGeom>
          <a:noFill/>
        </p:spPr>
        <p:txBody>
          <a:bodyPr wrap="square" lIns="0" rIns="0" tIns="0" bIns="0" anchor="t">
            <a:spAutoFit/>
          </a:bodyPr>
          <a:lstStyle/>
          <a:p>
            <a:pPr algn="ctr"/>
            <a:r>
              <a:rPr sz="3600" b="0">
                <a:solidFill>
                  <a:srgbClr val="FFFFFF"/>
                </a:solidFill>
                <a:latin typeface="Trebuchet MS"/>
              </a:rPr>
              <a:t>🔤</a:t>
            </a:r>
          </a:p>
        </p:txBody>
      </p:sp>
      <p:sp>
        <p:nvSpPr>
          <p:cNvPr id="19" name="Rectangle 18"/>
          <p:cNvSpPr/>
          <p:nvPr/>
        </p:nvSpPr>
        <p:spPr>
          <a:xfrm>
            <a:off x="1417320" y="4846320"/>
            <a:ext cx="10149840" cy="1417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5920" y="4983480"/>
            <a:ext cx="9784080" cy="365760"/>
          </a:xfrm>
          <a:prstGeom prst="rect">
            <a:avLst/>
          </a:prstGeom>
          <a:noFill/>
        </p:spPr>
        <p:txBody>
          <a:bodyPr wrap="square" lIns="0" rIns="0" tIns="0" bIns="0" anchor="t">
            <a:spAutoFit/>
          </a:bodyPr>
          <a:lstStyle/>
          <a:p>
            <a:pPr algn="l"/>
            <a:r>
              <a:rPr sz="1800" b="1">
                <a:solidFill>
                  <a:srgbClr val="065A82"/>
                </a:solidFill>
                <a:latin typeface="Calibri"/>
              </a:rPr>
              <a:t>Text categories</a:t>
            </a:r>
          </a:p>
        </p:txBody>
      </p:sp>
      <p:sp>
        <p:nvSpPr>
          <p:cNvPr id="21" name="TextBox 20"/>
          <p:cNvSpPr txBox="1"/>
          <p:nvPr/>
        </p:nvSpPr>
        <p:spPr>
          <a:xfrm>
            <a:off x="1645920" y="5394960"/>
            <a:ext cx="9784080" cy="411480"/>
          </a:xfrm>
          <a:prstGeom prst="rect">
            <a:avLst/>
          </a:prstGeom>
          <a:noFill/>
        </p:spPr>
        <p:txBody>
          <a:bodyPr wrap="square" lIns="0" rIns="0" tIns="0" bIns="0" anchor="t">
            <a:spAutoFit/>
          </a:bodyPr>
          <a:lstStyle/>
          <a:p>
            <a:pPr algn="l"/>
            <a:r>
              <a:rPr sz="1400" b="0">
                <a:solidFill>
                  <a:srgbClr val="36454F"/>
                </a:solidFill>
                <a:latin typeface="Calibri"/>
              </a:rPr>
              <a:t>Models compute on numbers. 'London', 'North' must become numeric.</a:t>
            </a:r>
          </a:p>
        </p:txBody>
      </p:sp>
      <p:sp>
        <p:nvSpPr>
          <p:cNvPr id="22" name="TextBox 21"/>
          <p:cNvSpPr txBox="1"/>
          <p:nvPr/>
        </p:nvSpPr>
        <p:spPr>
          <a:xfrm>
            <a:off x="1645920" y="5852160"/>
            <a:ext cx="9784080" cy="365760"/>
          </a:xfrm>
          <a:prstGeom prst="rect">
            <a:avLst/>
          </a:prstGeom>
          <a:noFill/>
        </p:spPr>
        <p:txBody>
          <a:bodyPr wrap="square" lIns="0" rIns="0" tIns="0" bIns="0" anchor="t">
            <a:spAutoFit/>
          </a:bodyPr>
          <a:lstStyle/>
          <a:p>
            <a:pPr algn="l"/>
            <a:r>
              <a:rPr sz="1200" b="1">
                <a:solidFill>
                  <a:srgbClr val="1C7293"/>
                </a:solidFill>
                <a:latin typeface="Calibri"/>
              </a:rPr>
              <a:t>▸ Choose carefully — wrong encoding teaches the model fake ordering</a:t>
            </a:r>
          </a:p>
        </p:txBody>
      </p:sp>
      <p:sp>
        <p:nvSpPr>
          <p:cNvPr id="23" name="TextBox 22"/>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5/28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Numerical Scaling</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Standard scaling = (x − mean) / std</a:t>
            </a:r>
          </a:p>
        </p:txBody>
      </p:sp>
      <p:sp>
        <p:nvSpPr>
          <p:cNvPr id="5" name="Rectangle 4"/>
          <p:cNvSpPr/>
          <p:nvPr/>
        </p:nvSpPr>
        <p:spPr>
          <a:xfrm>
            <a:off x="548640" y="1737360"/>
            <a:ext cx="11064240" cy="11887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365760"/>
          </a:xfrm>
          <a:prstGeom prst="rect">
            <a:avLst/>
          </a:prstGeom>
          <a:noFill/>
        </p:spPr>
        <p:txBody>
          <a:bodyPr wrap="square" lIns="0" rIns="0" tIns="0" bIns="0" anchor="t">
            <a:spAutoFit/>
          </a:bodyPr>
          <a:lstStyle/>
          <a:p>
            <a:pPr algn="l"/>
            <a:r>
              <a:rPr sz="1400" b="0">
                <a:solidFill>
                  <a:srgbClr val="E8F1F5"/>
                </a:solidFill>
                <a:latin typeface="Calibri"/>
              </a:rPr>
              <a:t>Formula</a:t>
            </a:r>
          </a:p>
        </p:txBody>
      </p:sp>
      <p:sp>
        <p:nvSpPr>
          <p:cNvPr id="7" name="TextBox 6"/>
          <p:cNvSpPr txBox="1"/>
          <p:nvPr/>
        </p:nvSpPr>
        <p:spPr>
          <a:xfrm>
            <a:off x="822960" y="2240280"/>
            <a:ext cx="10515600" cy="731520"/>
          </a:xfrm>
          <a:prstGeom prst="rect">
            <a:avLst/>
          </a:prstGeom>
          <a:noFill/>
        </p:spPr>
        <p:txBody>
          <a:bodyPr wrap="square" lIns="0" rIns="0" tIns="0" bIns="0" anchor="t">
            <a:spAutoFit/>
          </a:bodyPr>
          <a:lstStyle/>
          <a:p>
            <a:pPr algn="ctr"/>
            <a:r>
              <a:rPr sz="2800" b="1">
                <a:solidFill>
                  <a:srgbClr val="F9E795"/>
                </a:solidFill>
                <a:latin typeface="Consolas"/>
              </a:rPr>
              <a:t>scaled = (value − mean) / std</a:t>
            </a:r>
          </a:p>
        </p:txBody>
      </p:sp>
      <p:sp>
        <p:nvSpPr>
          <p:cNvPr id="8" name="Rectangle 7"/>
          <p:cNvSpPr/>
          <p:nvPr/>
        </p:nvSpPr>
        <p:spPr>
          <a:xfrm>
            <a:off x="548640" y="3108960"/>
            <a:ext cx="11064240" cy="3108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246120"/>
            <a:ext cx="10515600" cy="457200"/>
          </a:xfrm>
          <a:prstGeom prst="rect">
            <a:avLst/>
          </a:prstGeom>
          <a:noFill/>
        </p:spPr>
        <p:txBody>
          <a:bodyPr wrap="square" lIns="0" rIns="0" tIns="0" bIns="0" anchor="t">
            <a:spAutoFit/>
          </a:bodyPr>
          <a:lstStyle/>
          <a:p>
            <a:pPr algn="l"/>
            <a:r>
              <a:rPr sz="1500" b="1">
                <a:solidFill>
                  <a:srgbClr val="065A82"/>
                </a:solidFill>
                <a:latin typeface="Calibri"/>
              </a:rPr>
              <a:t>Worked example — avg_monthly_spend_gbp</a:t>
            </a:r>
          </a:p>
        </p:txBody>
      </p:sp>
      <p:sp>
        <p:nvSpPr>
          <p:cNvPr id="10" name="TextBox 9"/>
          <p:cNvSpPr txBox="1"/>
          <p:nvPr/>
        </p:nvSpPr>
        <p:spPr>
          <a:xfrm>
            <a:off x="822960" y="3749039"/>
            <a:ext cx="5212080" cy="365760"/>
          </a:xfrm>
          <a:prstGeom prst="rect">
            <a:avLst/>
          </a:prstGeom>
          <a:noFill/>
        </p:spPr>
        <p:txBody>
          <a:bodyPr wrap="square" lIns="0" rIns="0" tIns="0" bIns="0" anchor="t">
            <a:spAutoFit/>
          </a:bodyPr>
          <a:lstStyle/>
          <a:p>
            <a:pPr algn="l"/>
            <a:r>
              <a:rPr sz="1300" b="1">
                <a:solidFill>
                  <a:srgbClr val="36454F"/>
                </a:solidFill>
                <a:latin typeface="Calibri"/>
              </a:rPr>
              <a:t>Before scaling</a:t>
            </a:r>
          </a:p>
        </p:txBody>
      </p:sp>
      <p:sp>
        <p:nvSpPr>
          <p:cNvPr id="11" name="TextBox 10"/>
          <p:cNvSpPr txBox="1"/>
          <p:nvPr/>
        </p:nvSpPr>
        <p:spPr>
          <a:xfrm>
            <a:off x="822960" y="4114800"/>
            <a:ext cx="5212080" cy="365760"/>
          </a:xfrm>
          <a:prstGeom prst="rect">
            <a:avLst/>
          </a:prstGeom>
          <a:noFill/>
        </p:spPr>
        <p:txBody>
          <a:bodyPr wrap="square" lIns="0" rIns="0" tIns="0" bIns="0" anchor="t">
            <a:spAutoFit/>
          </a:bodyPr>
          <a:lstStyle/>
          <a:p>
            <a:pPr algn="l"/>
            <a:r>
              <a:rPr sz="1400" b="0">
                <a:solidFill>
                  <a:srgbClr val="36454F"/>
                </a:solidFill>
                <a:latin typeface="Consolas"/>
              </a:rPr>
              <a:t>mean: £69.88</a:t>
            </a:r>
          </a:p>
        </p:txBody>
      </p:sp>
      <p:sp>
        <p:nvSpPr>
          <p:cNvPr id="12" name="TextBox 11"/>
          <p:cNvSpPr txBox="1"/>
          <p:nvPr/>
        </p:nvSpPr>
        <p:spPr>
          <a:xfrm>
            <a:off x="822960" y="4434840"/>
            <a:ext cx="5212080" cy="365760"/>
          </a:xfrm>
          <a:prstGeom prst="rect">
            <a:avLst/>
          </a:prstGeom>
          <a:noFill/>
        </p:spPr>
        <p:txBody>
          <a:bodyPr wrap="square" lIns="0" rIns="0" tIns="0" bIns="0" anchor="t">
            <a:spAutoFit/>
          </a:bodyPr>
          <a:lstStyle/>
          <a:p>
            <a:pPr algn="l"/>
            <a:r>
              <a:rPr sz="1400" b="0">
                <a:solidFill>
                  <a:srgbClr val="36454F"/>
                </a:solidFill>
                <a:latin typeface="Consolas"/>
              </a:rPr>
              <a:t>std:  £55.73</a:t>
            </a:r>
          </a:p>
        </p:txBody>
      </p:sp>
      <p:sp>
        <p:nvSpPr>
          <p:cNvPr id="13" name="TextBox 12"/>
          <p:cNvSpPr txBox="1"/>
          <p:nvPr/>
        </p:nvSpPr>
        <p:spPr>
          <a:xfrm>
            <a:off x="822960" y="4754880"/>
            <a:ext cx="5212080" cy="365760"/>
          </a:xfrm>
          <a:prstGeom prst="rect">
            <a:avLst/>
          </a:prstGeom>
          <a:noFill/>
        </p:spPr>
        <p:txBody>
          <a:bodyPr wrap="square" lIns="0" rIns="0" tIns="0" bIns="0" anchor="t">
            <a:spAutoFit/>
          </a:bodyPr>
          <a:lstStyle/>
          <a:p>
            <a:pPr algn="l"/>
            <a:r>
              <a:rPr sz="1400" b="0">
                <a:solidFill>
                  <a:srgbClr val="36454F"/>
                </a:solidFill>
                <a:latin typeface="Consolas"/>
              </a:rPr>
              <a:t>range: £4.66 to £500</a:t>
            </a:r>
          </a:p>
        </p:txBody>
      </p:sp>
      <p:sp>
        <p:nvSpPr>
          <p:cNvPr id="14" name="TextBox 13"/>
          <p:cNvSpPr txBox="1"/>
          <p:nvPr/>
        </p:nvSpPr>
        <p:spPr>
          <a:xfrm>
            <a:off x="6217920" y="3749039"/>
            <a:ext cx="5212080" cy="365760"/>
          </a:xfrm>
          <a:prstGeom prst="rect">
            <a:avLst/>
          </a:prstGeom>
          <a:noFill/>
        </p:spPr>
        <p:txBody>
          <a:bodyPr wrap="square" lIns="0" rIns="0" tIns="0" bIns="0" anchor="t">
            <a:spAutoFit/>
          </a:bodyPr>
          <a:lstStyle/>
          <a:p>
            <a:pPr algn="l"/>
            <a:r>
              <a:rPr sz="1300" b="1">
                <a:solidFill>
                  <a:srgbClr val="065A82"/>
                </a:solidFill>
                <a:latin typeface="Calibri"/>
              </a:rPr>
              <a:t>After scaling</a:t>
            </a:r>
          </a:p>
        </p:txBody>
      </p:sp>
      <p:sp>
        <p:nvSpPr>
          <p:cNvPr id="15" name="TextBox 14"/>
          <p:cNvSpPr txBox="1"/>
          <p:nvPr/>
        </p:nvSpPr>
        <p:spPr>
          <a:xfrm>
            <a:off x="6217920" y="4114800"/>
            <a:ext cx="5212080" cy="365760"/>
          </a:xfrm>
          <a:prstGeom prst="rect">
            <a:avLst/>
          </a:prstGeom>
          <a:noFill/>
        </p:spPr>
        <p:txBody>
          <a:bodyPr wrap="square" lIns="0" rIns="0" tIns="0" bIns="0" anchor="t">
            <a:spAutoFit/>
          </a:bodyPr>
          <a:lstStyle/>
          <a:p>
            <a:pPr algn="l"/>
            <a:r>
              <a:rPr sz="1400" b="0">
                <a:solidFill>
                  <a:srgbClr val="065A82"/>
                </a:solidFill>
                <a:latin typeface="Consolas"/>
              </a:rPr>
              <a:t>mean: 0.00</a:t>
            </a:r>
          </a:p>
        </p:txBody>
      </p:sp>
      <p:sp>
        <p:nvSpPr>
          <p:cNvPr id="16" name="TextBox 15"/>
          <p:cNvSpPr txBox="1"/>
          <p:nvPr/>
        </p:nvSpPr>
        <p:spPr>
          <a:xfrm>
            <a:off x="6217920" y="4434840"/>
            <a:ext cx="5212080" cy="365760"/>
          </a:xfrm>
          <a:prstGeom prst="rect">
            <a:avLst/>
          </a:prstGeom>
          <a:noFill/>
        </p:spPr>
        <p:txBody>
          <a:bodyPr wrap="square" lIns="0" rIns="0" tIns="0" bIns="0" anchor="t">
            <a:spAutoFit/>
          </a:bodyPr>
          <a:lstStyle/>
          <a:p>
            <a:pPr algn="l"/>
            <a:r>
              <a:rPr sz="1400" b="0">
                <a:solidFill>
                  <a:srgbClr val="065A82"/>
                </a:solidFill>
                <a:latin typeface="Consolas"/>
              </a:rPr>
              <a:t>std:  1.00</a:t>
            </a:r>
          </a:p>
        </p:txBody>
      </p:sp>
      <p:sp>
        <p:nvSpPr>
          <p:cNvPr id="17" name="TextBox 16"/>
          <p:cNvSpPr txBox="1"/>
          <p:nvPr/>
        </p:nvSpPr>
        <p:spPr>
          <a:xfrm>
            <a:off x="6217920" y="4754880"/>
            <a:ext cx="5212080" cy="365760"/>
          </a:xfrm>
          <a:prstGeom prst="rect">
            <a:avLst/>
          </a:prstGeom>
          <a:noFill/>
        </p:spPr>
        <p:txBody>
          <a:bodyPr wrap="square" lIns="0" rIns="0" tIns="0" bIns="0" anchor="t">
            <a:spAutoFit/>
          </a:bodyPr>
          <a:lstStyle/>
          <a:p>
            <a:pPr algn="l"/>
            <a:r>
              <a:rPr sz="1400" b="0">
                <a:solidFill>
                  <a:srgbClr val="065A82"/>
                </a:solidFill>
                <a:latin typeface="Consolas"/>
              </a:rPr>
              <a:t>range: −1.17 to +7.72</a:t>
            </a:r>
          </a:p>
        </p:txBody>
      </p:sp>
      <p:sp>
        <p:nvSpPr>
          <p:cNvPr id="18" name="TextBox 17"/>
          <p:cNvSpPr txBox="1"/>
          <p:nvPr/>
        </p:nvSpPr>
        <p:spPr>
          <a:xfrm>
            <a:off x="822960" y="5486400"/>
            <a:ext cx="10515600" cy="365760"/>
          </a:xfrm>
          <a:prstGeom prst="rect">
            <a:avLst/>
          </a:prstGeom>
          <a:noFill/>
        </p:spPr>
        <p:txBody>
          <a:bodyPr wrap="square" lIns="0" rIns="0" tIns="0" bIns="0" anchor="t">
            <a:spAutoFit/>
          </a:bodyPr>
          <a:lstStyle/>
          <a:p>
            <a:pPr algn="l"/>
            <a:r>
              <a:rPr sz="1300" b="1">
                <a:solidFill>
                  <a:srgbClr val="1C7293"/>
                </a:solidFill>
                <a:latin typeface="Calibri"/>
              </a:rPr>
              <a:t>Same distribution shape, different scale. Now comparable with age, tenure, and other features.</a:t>
            </a:r>
          </a:p>
        </p:txBody>
      </p:sp>
      <p:sp>
        <p:nvSpPr>
          <p:cNvPr id="19" name="TextBox 18"/>
          <p:cNvSpPr txBox="1"/>
          <p:nvPr/>
        </p:nvSpPr>
        <p:spPr>
          <a:xfrm>
            <a:off x="822960" y="5852160"/>
            <a:ext cx="10515600" cy="365760"/>
          </a:xfrm>
          <a:prstGeom prst="rect">
            <a:avLst/>
          </a:prstGeom>
          <a:noFill/>
        </p:spPr>
        <p:txBody>
          <a:bodyPr wrap="square" lIns="0" rIns="0" tIns="0" bIns="0" anchor="t">
            <a:spAutoFit/>
          </a:bodyPr>
          <a:lstStyle/>
          <a:p>
            <a:pPr algn="l"/>
            <a:r>
              <a:rPr sz="1200" b="0">
                <a:solidFill>
                  <a:srgbClr val="36454F"/>
                </a:solidFill>
                <a:latin typeface="Calibri"/>
              </a:rPr>
              <a:t>Tree-based models don't need scaling — they split on thresholds, not distances.</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6/28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Missing Values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Three strategies — pick based on the why</a:t>
            </a:r>
          </a:p>
        </p:txBody>
      </p:sp>
      <p:sp>
        <p:nvSpPr>
          <p:cNvPr id="5" name="Rectangle 4"/>
          <p:cNvSpPr/>
          <p:nvPr/>
        </p:nvSpPr>
        <p:spPr>
          <a:xfrm>
            <a:off x="548640" y="1737360"/>
            <a:ext cx="274320" cy="13258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737360"/>
            <a:ext cx="10789920" cy="13258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74520"/>
            <a:ext cx="10332720" cy="365760"/>
          </a:xfrm>
          <a:prstGeom prst="rect">
            <a:avLst/>
          </a:prstGeom>
          <a:noFill/>
        </p:spPr>
        <p:txBody>
          <a:bodyPr wrap="square" lIns="0" rIns="0" tIns="0" bIns="0" anchor="t">
            <a:spAutoFit/>
          </a:bodyPr>
          <a:lstStyle/>
          <a:p>
            <a:pPr algn="l"/>
            <a:r>
              <a:rPr sz="1600" b="1">
                <a:solidFill>
                  <a:srgbClr val="F96167"/>
                </a:solidFill>
                <a:latin typeface="Calibri"/>
              </a:rPr>
              <a:t>Drop rows</a:t>
            </a:r>
          </a:p>
        </p:txBody>
      </p:sp>
      <p:sp>
        <p:nvSpPr>
          <p:cNvPr id="8" name="TextBox 7"/>
          <p:cNvSpPr txBox="1"/>
          <p:nvPr/>
        </p:nvSpPr>
        <p:spPr>
          <a:xfrm>
            <a:off x="1051560" y="2286000"/>
            <a:ext cx="10332720" cy="365760"/>
          </a:xfrm>
          <a:prstGeom prst="rect">
            <a:avLst/>
          </a:prstGeom>
          <a:noFill/>
        </p:spPr>
        <p:txBody>
          <a:bodyPr wrap="square" lIns="0" rIns="0" tIns="0" bIns="0" anchor="t">
            <a:spAutoFit/>
          </a:bodyPr>
          <a:lstStyle/>
          <a:p>
            <a:pPr algn="l"/>
            <a:r>
              <a:rPr sz="1300" b="0">
                <a:solidFill>
                  <a:srgbClr val="36454F"/>
                </a:solidFill>
                <a:latin typeface="Calibri"/>
              </a:rPr>
              <a:t>If &lt;5% missing AND missing-at-random</a:t>
            </a:r>
          </a:p>
        </p:txBody>
      </p:sp>
      <p:sp>
        <p:nvSpPr>
          <p:cNvPr id="9" name="TextBox 8"/>
          <p:cNvSpPr txBox="1"/>
          <p:nvPr/>
        </p:nvSpPr>
        <p:spPr>
          <a:xfrm>
            <a:off x="1051560" y="2651760"/>
            <a:ext cx="10332720" cy="365760"/>
          </a:xfrm>
          <a:prstGeom prst="rect">
            <a:avLst/>
          </a:prstGeom>
          <a:noFill/>
        </p:spPr>
        <p:txBody>
          <a:bodyPr wrap="square" lIns="0" rIns="0" tIns="0" bIns="0" anchor="t">
            <a:spAutoFit/>
          </a:bodyPr>
          <a:lstStyle/>
          <a:p>
            <a:pPr algn="l"/>
            <a:r>
              <a:rPr sz="1200" b="1">
                <a:solidFill>
                  <a:srgbClr val="F96167"/>
                </a:solidFill>
                <a:latin typeface="Calibri"/>
              </a:rPr>
              <a:t>✗ Loses data. Risky if missingness is informative.</a:t>
            </a:r>
          </a:p>
        </p:txBody>
      </p:sp>
      <p:sp>
        <p:nvSpPr>
          <p:cNvPr id="10" name="Rectangle 9"/>
          <p:cNvSpPr/>
          <p:nvPr/>
        </p:nvSpPr>
        <p:spPr>
          <a:xfrm>
            <a:off x="548640" y="3200400"/>
            <a:ext cx="274320" cy="13258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200400"/>
            <a:ext cx="10789920" cy="13258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337560"/>
            <a:ext cx="10332720" cy="365760"/>
          </a:xfrm>
          <a:prstGeom prst="rect">
            <a:avLst/>
          </a:prstGeom>
          <a:noFill/>
        </p:spPr>
        <p:txBody>
          <a:bodyPr wrap="square" lIns="0" rIns="0" tIns="0" bIns="0" anchor="t">
            <a:spAutoFit/>
          </a:bodyPr>
          <a:lstStyle/>
          <a:p>
            <a:pPr algn="l"/>
            <a:r>
              <a:rPr sz="1600" b="1">
                <a:solidFill>
                  <a:srgbClr val="065A82"/>
                </a:solidFill>
                <a:latin typeface="Calibri"/>
              </a:rPr>
              <a:t>Impute with summary statistic</a:t>
            </a:r>
          </a:p>
        </p:txBody>
      </p:sp>
      <p:sp>
        <p:nvSpPr>
          <p:cNvPr id="13" name="TextBox 12"/>
          <p:cNvSpPr txBox="1"/>
          <p:nvPr/>
        </p:nvSpPr>
        <p:spPr>
          <a:xfrm>
            <a:off x="1051560" y="3749040"/>
            <a:ext cx="10332720" cy="365760"/>
          </a:xfrm>
          <a:prstGeom prst="rect">
            <a:avLst/>
          </a:prstGeom>
          <a:noFill/>
        </p:spPr>
        <p:txBody>
          <a:bodyPr wrap="square" lIns="0" rIns="0" tIns="0" bIns="0" anchor="t">
            <a:spAutoFit/>
          </a:bodyPr>
          <a:lstStyle/>
          <a:p>
            <a:pPr algn="l"/>
            <a:r>
              <a:rPr sz="1300" b="0">
                <a:solidFill>
                  <a:srgbClr val="36454F"/>
                </a:solidFill>
                <a:latin typeface="Calibri"/>
              </a:rPr>
              <a:t>Median (numeric) or mode (categorical)</a:t>
            </a:r>
          </a:p>
        </p:txBody>
      </p:sp>
      <p:sp>
        <p:nvSpPr>
          <p:cNvPr id="14" name="TextBox 13"/>
          <p:cNvSpPr txBox="1"/>
          <p:nvPr/>
        </p:nvSpPr>
        <p:spPr>
          <a:xfrm>
            <a:off x="1051560" y="4114800"/>
            <a:ext cx="10332720" cy="365760"/>
          </a:xfrm>
          <a:prstGeom prst="rect">
            <a:avLst/>
          </a:prstGeom>
          <a:noFill/>
        </p:spPr>
        <p:txBody>
          <a:bodyPr wrap="square" lIns="0" rIns="0" tIns="0" bIns="0" anchor="t">
            <a:spAutoFit/>
          </a:bodyPr>
          <a:lstStyle/>
          <a:p>
            <a:pPr algn="l"/>
            <a:r>
              <a:rPr sz="1200" b="1">
                <a:solidFill>
                  <a:srgbClr val="065A82"/>
                </a:solidFill>
                <a:latin typeface="Calibri"/>
              </a:rPr>
              <a:t>✓ Default choice. Preserves dataset size. Reduces variance slightly.</a:t>
            </a:r>
          </a:p>
        </p:txBody>
      </p:sp>
      <p:sp>
        <p:nvSpPr>
          <p:cNvPr id="15" name="Rectangle 14"/>
          <p:cNvSpPr/>
          <p:nvPr/>
        </p:nvSpPr>
        <p:spPr>
          <a:xfrm>
            <a:off x="548640" y="4663440"/>
            <a:ext cx="274320" cy="13258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663440"/>
            <a:ext cx="10789920" cy="13258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800600"/>
            <a:ext cx="10332720" cy="365760"/>
          </a:xfrm>
          <a:prstGeom prst="rect">
            <a:avLst/>
          </a:prstGeom>
          <a:noFill/>
        </p:spPr>
        <p:txBody>
          <a:bodyPr wrap="square" lIns="0" rIns="0" tIns="0" bIns="0" anchor="t">
            <a:spAutoFit/>
          </a:bodyPr>
          <a:lstStyle/>
          <a:p>
            <a:pPr algn="l"/>
            <a:r>
              <a:rPr sz="1600" b="1">
                <a:solidFill>
                  <a:srgbClr val="065A82"/>
                </a:solidFill>
                <a:latin typeface="Calibri"/>
              </a:rPr>
              <a:t>Impute + 'was-missing' flag</a:t>
            </a:r>
          </a:p>
        </p:txBody>
      </p:sp>
      <p:sp>
        <p:nvSpPr>
          <p:cNvPr id="18" name="TextBox 17"/>
          <p:cNvSpPr txBox="1"/>
          <p:nvPr/>
        </p:nvSpPr>
        <p:spPr>
          <a:xfrm>
            <a:off x="1051560" y="5212080"/>
            <a:ext cx="10332720" cy="365760"/>
          </a:xfrm>
          <a:prstGeom prst="rect">
            <a:avLst/>
          </a:prstGeom>
          <a:noFill/>
        </p:spPr>
        <p:txBody>
          <a:bodyPr wrap="square" lIns="0" rIns="0" tIns="0" bIns="0" anchor="t">
            <a:spAutoFit/>
          </a:bodyPr>
          <a:lstStyle/>
          <a:p>
            <a:pPr algn="l"/>
            <a:r>
              <a:rPr sz="1300" b="0">
                <a:solidFill>
                  <a:srgbClr val="36454F"/>
                </a:solidFill>
                <a:latin typeface="Calibri"/>
              </a:rPr>
              <a:t>Add a binary column = 1 if originally missing</a:t>
            </a:r>
          </a:p>
        </p:txBody>
      </p:sp>
      <p:sp>
        <p:nvSpPr>
          <p:cNvPr id="19" name="TextBox 18"/>
          <p:cNvSpPr txBox="1"/>
          <p:nvPr/>
        </p:nvSpPr>
        <p:spPr>
          <a:xfrm>
            <a:off x="1051560" y="5577840"/>
            <a:ext cx="10332720" cy="365760"/>
          </a:xfrm>
          <a:prstGeom prst="rect">
            <a:avLst/>
          </a:prstGeom>
          <a:noFill/>
        </p:spPr>
        <p:txBody>
          <a:bodyPr wrap="square" lIns="0" rIns="0" tIns="0" bIns="0" anchor="t">
            <a:spAutoFit/>
          </a:bodyPr>
          <a:lstStyle/>
          <a:p>
            <a:pPr algn="l"/>
            <a:r>
              <a:rPr sz="1200" b="1">
                <a:solidFill>
                  <a:srgbClr val="065A82"/>
                </a:solidFill>
                <a:latin typeface="Calibri"/>
              </a:rPr>
              <a:t>✓ Best when missingness is informative.  ▸ For our data, 30% missing review_polarity is INFORMATIVE — customers who don't review behave differently.</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7/28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Categorical Encoding</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Label vs One-Hot — when to use which</a:t>
            </a:r>
          </a:p>
        </p:txBody>
      </p:sp>
      <p:sp>
        <p:nvSpPr>
          <p:cNvPr id="5" name="Rectangle 4"/>
          <p:cNvSpPr/>
          <p:nvPr/>
        </p:nvSpPr>
        <p:spPr>
          <a:xfrm>
            <a:off x="548640" y="173736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5029200" cy="457200"/>
          </a:xfrm>
          <a:prstGeom prst="rect">
            <a:avLst/>
          </a:prstGeom>
          <a:noFill/>
        </p:spPr>
        <p:txBody>
          <a:bodyPr wrap="square" lIns="0" rIns="0" tIns="0" bIns="0" anchor="t">
            <a:spAutoFit/>
          </a:bodyPr>
          <a:lstStyle/>
          <a:p>
            <a:pPr algn="l"/>
            <a:r>
              <a:rPr sz="1600" b="1">
                <a:solidFill>
                  <a:srgbClr val="36454F"/>
                </a:solidFill>
                <a:latin typeface="Calibri"/>
              </a:rPr>
              <a:t>Label encoding</a:t>
            </a:r>
          </a:p>
        </p:txBody>
      </p:sp>
      <p:sp>
        <p:nvSpPr>
          <p:cNvPr id="7" name="TextBox 6"/>
          <p:cNvSpPr txBox="1"/>
          <p:nvPr/>
        </p:nvSpPr>
        <p:spPr>
          <a:xfrm>
            <a:off x="777240" y="2331720"/>
            <a:ext cx="5029200" cy="457200"/>
          </a:xfrm>
          <a:prstGeom prst="rect">
            <a:avLst/>
          </a:prstGeom>
          <a:noFill/>
        </p:spPr>
        <p:txBody>
          <a:bodyPr wrap="square" lIns="0" rIns="0" tIns="0" bIns="0" anchor="t">
            <a:spAutoFit/>
          </a:bodyPr>
          <a:lstStyle/>
          <a:p>
            <a:pPr algn="l"/>
            <a:r>
              <a:rPr sz="1200" b="0">
                <a:solidFill>
                  <a:srgbClr val="36454F"/>
                </a:solidFill>
                <a:latin typeface="Calibri"/>
              </a:rPr>
              <a:t>One integer per category</a:t>
            </a:r>
          </a:p>
        </p:txBody>
      </p:sp>
      <p:sp>
        <p:nvSpPr>
          <p:cNvPr id="8" name="TextBox 7"/>
          <p:cNvSpPr txBox="1"/>
          <p:nvPr/>
        </p:nvSpPr>
        <p:spPr>
          <a:xfrm>
            <a:off x="777240" y="2926080"/>
            <a:ext cx="5029200" cy="1828800"/>
          </a:xfrm>
          <a:prstGeom prst="rect">
            <a:avLst/>
          </a:prstGeom>
          <a:noFill/>
        </p:spPr>
        <p:txBody>
          <a:bodyPr wrap="square" lIns="0" rIns="0" tIns="0" bIns="0" anchor="t">
            <a:spAutoFit/>
          </a:bodyPr>
          <a:lstStyle/>
          <a:p>
            <a:pPr algn="l"/>
            <a:r>
              <a:rPr sz="1300" b="0">
                <a:solidFill>
                  <a:srgbClr val="36454F"/>
                </a:solidFill>
                <a:latin typeface="Consolas"/>
              </a:rPr>
              <a:t>London → 0</a:t>
            </a:r>
          </a:p>
          <a:p>
            <a:pPr algn="l"/>
            <a:r>
              <a:rPr sz="1300" b="0">
                <a:solidFill>
                  <a:srgbClr val="36454F"/>
                </a:solidFill>
                <a:latin typeface="Consolas"/>
              </a:rPr>
              <a:t>North → 1</a:t>
            </a:r>
          </a:p>
          <a:p>
            <a:pPr algn="l"/>
            <a:r>
              <a:rPr sz="1300" b="0">
                <a:solidFill>
                  <a:srgbClr val="36454F"/>
                </a:solidFill>
                <a:latin typeface="Consolas"/>
              </a:rPr>
              <a:t>South → 2</a:t>
            </a:r>
          </a:p>
          <a:p>
            <a:pPr algn="l"/>
            <a:r>
              <a:rPr sz="1300" b="0">
                <a:solidFill>
                  <a:srgbClr val="36454F"/>
                </a:solidFill>
                <a:latin typeface="Consolas"/>
              </a:rPr>
              <a:t>Scotland → 3</a:t>
            </a:r>
          </a:p>
          <a:p>
            <a:pPr algn="l"/>
            <a:r>
              <a:rPr sz="1300" b="0">
                <a:solidFill>
                  <a:srgbClr val="36454F"/>
                </a:solidFill>
                <a:latin typeface="Consolas"/>
              </a:rPr>
              <a:t>Wales → 4</a:t>
            </a:r>
          </a:p>
          <a:p>
            <a:pPr algn="l"/>
            <a:r>
              <a:rPr sz="1300" b="0">
                <a:solidFill>
                  <a:srgbClr val="36454F"/>
                </a:solidFill>
                <a:latin typeface="Consolas"/>
              </a:rPr>
              <a:t>Ireland → 5</a:t>
            </a:r>
          </a:p>
        </p:txBody>
      </p:sp>
      <p:sp>
        <p:nvSpPr>
          <p:cNvPr id="9" name="TextBox 8"/>
          <p:cNvSpPr txBox="1"/>
          <p:nvPr/>
        </p:nvSpPr>
        <p:spPr>
          <a:xfrm>
            <a:off x="777240" y="5029200"/>
            <a:ext cx="5029200" cy="365760"/>
          </a:xfrm>
          <a:prstGeom prst="rect">
            <a:avLst/>
          </a:prstGeom>
          <a:noFill/>
        </p:spPr>
        <p:txBody>
          <a:bodyPr wrap="square" lIns="0" rIns="0" tIns="0" bIns="0" anchor="t">
            <a:spAutoFit/>
          </a:bodyPr>
          <a:lstStyle/>
          <a:p>
            <a:pPr algn="l"/>
            <a:r>
              <a:rPr sz="1200" b="1">
                <a:solidFill>
                  <a:srgbClr val="F96167"/>
                </a:solidFill>
                <a:latin typeface="Calibri"/>
              </a:rPr>
              <a:t>⚠ The model now assumes Ireland &gt; London</a:t>
            </a:r>
          </a:p>
        </p:txBody>
      </p:sp>
      <p:sp>
        <p:nvSpPr>
          <p:cNvPr id="10" name="TextBox 9"/>
          <p:cNvSpPr txBox="1"/>
          <p:nvPr/>
        </p:nvSpPr>
        <p:spPr>
          <a:xfrm>
            <a:off x="777240" y="5486400"/>
            <a:ext cx="5029200" cy="365760"/>
          </a:xfrm>
          <a:prstGeom prst="rect">
            <a:avLst/>
          </a:prstGeom>
          <a:noFill/>
        </p:spPr>
        <p:txBody>
          <a:bodyPr wrap="square" lIns="0" rIns="0" tIns="0" bIns="0" anchor="t">
            <a:spAutoFit/>
          </a:bodyPr>
          <a:lstStyle/>
          <a:p>
            <a:pPr algn="l"/>
            <a:r>
              <a:rPr sz="1200" b="0">
                <a:solidFill>
                  <a:srgbClr val="36454F"/>
                </a:solidFill>
                <a:latin typeface="Calibri"/>
              </a:rPr>
              <a:t>Use ONLY if: truly ordinal (free &lt; basic &lt; premium)</a:t>
            </a:r>
          </a:p>
        </p:txBody>
      </p:sp>
      <p:sp>
        <p:nvSpPr>
          <p:cNvPr id="11" name="TextBox 10"/>
          <p:cNvSpPr txBox="1"/>
          <p:nvPr/>
        </p:nvSpPr>
        <p:spPr>
          <a:xfrm>
            <a:off x="777240" y="5852160"/>
            <a:ext cx="5029200" cy="365760"/>
          </a:xfrm>
          <a:prstGeom prst="rect">
            <a:avLst/>
          </a:prstGeom>
          <a:noFill/>
        </p:spPr>
        <p:txBody>
          <a:bodyPr wrap="square" lIns="0" rIns="0" tIns="0" bIns="0" anchor="t">
            <a:spAutoFit/>
          </a:bodyPr>
          <a:lstStyle/>
          <a:p>
            <a:pPr algn="l"/>
            <a:r>
              <a:rPr sz="1200" b="0">
                <a:solidFill>
                  <a:srgbClr val="36454F"/>
                </a:solidFill>
                <a:latin typeface="Calibri"/>
              </a:rPr>
              <a:t>  or tree-based model (doesn't assume ordering)</a:t>
            </a:r>
          </a:p>
        </p:txBody>
      </p:sp>
      <p:sp>
        <p:nvSpPr>
          <p:cNvPr id="12" name="Rectangle 11"/>
          <p:cNvSpPr/>
          <p:nvPr/>
        </p:nvSpPr>
        <p:spPr>
          <a:xfrm>
            <a:off x="6172200" y="1737360"/>
            <a:ext cx="548640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19"/>
            <a:ext cx="5029200" cy="457200"/>
          </a:xfrm>
          <a:prstGeom prst="rect">
            <a:avLst/>
          </a:prstGeom>
          <a:noFill/>
        </p:spPr>
        <p:txBody>
          <a:bodyPr wrap="square" lIns="0" rIns="0" tIns="0" bIns="0" anchor="t">
            <a:spAutoFit/>
          </a:bodyPr>
          <a:lstStyle/>
          <a:p>
            <a:pPr algn="l"/>
            <a:r>
              <a:rPr sz="1600" b="1">
                <a:solidFill>
                  <a:srgbClr val="FFFFFF"/>
                </a:solidFill>
                <a:latin typeface="Calibri"/>
              </a:rPr>
              <a:t>One-hot encoding</a:t>
            </a:r>
          </a:p>
        </p:txBody>
      </p:sp>
      <p:sp>
        <p:nvSpPr>
          <p:cNvPr id="14" name="TextBox 13"/>
          <p:cNvSpPr txBox="1"/>
          <p:nvPr/>
        </p:nvSpPr>
        <p:spPr>
          <a:xfrm>
            <a:off x="6400800" y="2331720"/>
            <a:ext cx="5029200" cy="457200"/>
          </a:xfrm>
          <a:prstGeom prst="rect">
            <a:avLst/>
          </a:prstGeom>
          <a:noFill/>
        </p:spPr>
        <p:txBody>
          <a:bodyPr wrap="square" lIns="0" rIns="0" tIns="0" bIns="0" anchor="t">
            <a:spAutoFit/>
          </a:bodyPr>
          <a:lstStyle/>
          <a:p>
            <a:pPr algn="l"/>
            <a:r>
              <a:rPr sz="1200" b="0">
                <a:solidFill>
                  <a:srgbClr val="E8F1F5"/>
                </a:solidFill>
                <a:latin typeface="Calibri"/>
              </a:rPr>
              <a:t>One binary column per category</a:t>
            </a:r>
          </a:p>
        </p:txBody>
      </p:sp>
      <p:sp>
        <p:nvSpPr>
          <p:cNvPr id="15" name="TextBox 14"/>
          <p:cNvSpPr txBox="1"/>
          <p:nvPr/>
        </p:nvSpPr>
        <p:spPr>
          <a:xfrm>
            <a:off x="6400800" y="2926080"/>
            <a:ext cx="5029200" cy="1828800"/>
          </a:xfrm>
          <a:prstGeom prst="rect">
            <a:avLst/>
          </a:prstGeom>
          <a:noFill/>
        </p:spPr>
        <p:txBody>
          <a:bodyPr wrap="square" lIns="0" rIns="0" tIns="0" bIns="0" anchor="t">
            <a:spAutoFit/>
          </a:bodyPr>
          <a:lstStyle/>
          <a:p>
            <a:pPr algn="l"/>
            <a:r>
              <a:rPr sz="1100" b="0">
                <a:solidFill>
                  <a:srgbClr val="E8F1F5"/>
                </a:solidFill>
                <a:latin typeface="Consolas"/>
              </a:rPr>
              <a:t>       London  North  South  ...</a:t>
            </a:r>
          </a:p>
          <a:p>
            <a:pPr algn="l"/>
            <a:r>
              <a:rPr sz="1100" b="0">
                <a:solidFill>
                  <a:srgbClr val="E8F1F5"/>
                </a:solidFill>
                <a:latin typeface="Consolas"/>
              </a:rPr>
              <a:t>row1 [   1      0      0    ]</a:t>
            </a:r>
          </a:p>
          <a:p>
            <a:pPr algn="l"/>
            <a:r>
              <a:rPr sz="1100" b="0">
                <a:solidFill>
                  <a:srgbClr val="E8F1F5"/>
                </a:solidFill>
                <a:latin typeface="Consolas"/>
              </a:rPr>
              <a:t>row2 [   0      1      0    ]</a:t>
            </a:r>
          </a:p>
          <a:p>
            <a:pPr algn="l"/>
            <a:r>
              <a:rPr sz="1100" b="0">
                <a:solidFill>
                  <a:srgbClr val="E8F1F5"/>
                </a:solidFill>
                <a:latin typeface="Consolas"/>
              </a:rPr>
              <a:t>row3 [   0      0      1    ]</a:t>
            </a:r>
          </a:p>
        </p:txBody>
      </p:sp>
      <p:sp>
        <p:nvSpPr>
          <p:cNvPr id="16" name="TextBox 15"/>
          <p:cNvSpPr txBox="1"/>
          <p:nvPr/>
        </p:nvSpPr>
        <p:spPr>
          <a:xfrm>
            <a:off x="6400800" y="5029200"/>
            <a:ext cx="5029200" cy="365760"/>
          </a:xfrm>
          <a:prstGeom prst="rect">
            <a:avLst/>
          </a:prstGeom>
          <a:noFill/>
        </p:spPr>
        <p:txBody>
          <a:bodyPr wrap="square" lIns="0" rIns="0" tIns="0" bIns="0" anchor="t">
            <a:spAutoFit/>
          </a:bodyPr>
          <a:lstStyle/>
          <a:p>
            <a:pPr algn="l"/>
            <a:r>
              <a:rPr sz="1200" b="1">
                <a:solidFill>
                  <a:srgbClr val="F9E795"/>
                </a:solidFill>
                <a:latin typeface="Calibri"/>
              </a:rPr>
              <a:t>✓ No fake ordering</a:t>
            </a:r>
          </a:p>
        </p:txBody>
      </p:sp>
      <p:sp>
        <p:nvSpPr>
          <p:cNvPr id="17" name="TextBox 16"/>
          <p:cNvSpPr txBox="1"/>
          <p:nvPr/>
        </p:nvSpPr>
        <p:spPr>
          <a:xfrm>
            <a:off x="6400800" y="5486400"/>
            <a:ext cx="5029200" cy="365760"/>
          </a:xfrm>
          <a:prstGeom prst="rect">
            <a:avLst/>
          </a:prstGeom>
          <a:noFill/>
        </p:spPr>
        <p:txBody>
          <a:bodyPr wrap="square" lIns="0" rIns="0" tIns="0" bIns="0" anchor="t">
            <a:spAutoFit/>
          </a:bodyPr>
          <a:lstStyle/>
          <a:p>
            <a:pPr algn="l"/>
            <a:r>
              <a:rPr sz="1200" b="0">
                <a:solidFill>
                  <a:srgbClr val="E8F1F5"/>
                </a:solidFill>
                <a:latin typeface="Calibri"/>
              </a:rPr>
              <a:t>Default choice for most algorithms</a:t>
            </a:r>
          </a:p>
        </p:txBody>
      </p:sp>
      <p:sp>
        <p:nvSpPr>
          <p:cNvPr id="18" name="TextBox 17"/>
          <p:cNvSpPr txBox="1"/>
          <p:nvPr/>
        </p:nvSpPr>
        <p:spPr>
          <a:xfrm>
            <a:off x="6400800" y="5852160"/>
            <a:ext cx="5029200" cy="365760"/>
          </a:xfrm>
          <a:prstGeom prst="rect">
            <a:avLst/>
          </a:prstGeom>
          <a:noFill/>
        </p:spPr>
        <p:txBody>
          <a:bodyPr wrap="square" lIns="0" rIns="0" tIns="0" bIns="0" anchor="t">
            <a:spAutoFit/>
          </a:bodyPr>
          <a:lstStyle/>
          <a:p>
            <a:pPr algn="l"/>
            <a:r>
              <a:rPr sz="1200" b="0">
                <a:solidFill>
                  <a:srgbClr val="E8F1F5"/>
                </a:solidFill>
                <a:latin typeface="Calibri"/>
              </a:rPr>
              <a:t>Adds columns — usually acceptable</a:t>
            </a:r>
          </a:p>
        </p:txBody>
      </p:sp>
      <p:sp>
        <p:nvSpPr>
          <p:cNvPr id="19" name="TextBox 18"/>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8/28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sklearn Pipeline + ColumnTransformer</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ONE object handles everything</a:t>
            </a:r>
          </a:p>
        </p:txBody>
      </p:sp>
      <p:sp>
        <p:nvSpPr>
          <p:cNvPr id="5" name="Rectangle 4"/>
          <p:cNvSpPr/>
          <p:nvPr/>
        </p:nvSpPr>
        <p:spPr>
          <a:xfrm>
            <a:off x="548640" y="1691640"/>
            <a:ext cx="11064240" cy="42062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10698480" cy="4023360"/>
          </a:xfrm>
          <a:prstGeom prst="rect">
            <a:avLst/>
          </a:prstGeom>
          <a:noFill/>
        </p:spPr>
        <p:txBody>
          <a:bodyPr wrap="square" lIns="0" rIns="0" tIns="0" bIns="0" anchor="t">
            <a:spAutoFit/>
          </a:bodyPr>
          <a:lstStyle/>
          <a:p>
            <a:pPr algn="l"/>
            <a:r>
              <a:rPr sz="1400" b="0">
                <a:solidFill>
                  <a:srgbClr val="E8F1F5"/>
                </a:solidFill>
                <a:latin typeface="Consolas"/>
              </a:rPr>
              <a:t>preprocessor = ColumnTransformer([</a:t>
            </a:r>
          </a:p>
          <a:p>
            <a:pPr algn="l"/>
            <a:r>
              <a:rPr sz="1400" b="0">
                <a:solidFill>
                  <a:srgbClr val="E8F1F5"/>
                </a:solidFill>
                <a:latin typeface="Consolas"/>
              </a:rPr>
              <a:t>    ("num", Pipeline([</a:t>
            </a:r>
          </a:p>
          <a:p>
            <a:pPr algn="l"/>
            <a:r>
              <a:rPr sz="1400" b="0">
                <a:solidFill>
                  <a:srgbClr val="E8F1F5"/>
                </a:solidFill>
                <a:latin typeface="Consolas"/>
              </a:rPr>
              <a:t>        ("imp", SimpleImputer(strategy="median")),</a:t>
            </a:r>
          </a:p>
          <a:p>
            <a:pPr algn="l"/>
            <a:r>
              <a:rPr sz="1400" b="0">
                <a:solidFill>
                  <a:srgbClr val="E8F1F5"/>
                </a:solidFill>
                <a:latin typeface="Consolas"/>
              </a:rPr>
              <a:t>        ("scl", StandardScaler()),</a:t>
            </a:r>
          </a:p>
          <a:p>
            <a:pPr algn="l"/>
            <a:r>
              <a:rPr sz="1400" b="0">
                <a:solidFill>
                  <a:srgbClr val="E8F1F5"/>
                </a:solidFill>
                <a:latin typeface="Consolas"/>
              </a:rPr>
              <a:t>    ]), numeric_features),</a:t>
            </a:r>
          </a:p>
          <a:p>
            <a:pPr algn="l"/>
            <a:r>
              <a:rPr sz="1400" b="0">
                <a:solidFill>
                  <a:srgbClr val="E8F1F5"/>
                </a:solidFill>
                <a:latin typeface="Consolas"/>
              </a:rPr>
              <a:t/>
            </a:r>
          </a:p>
          <a:p>
            <a:pPr algn="l"/>
            <a:r>
              <a:rPr sz="1400" b="0">
                <a:solidFill>
                  <a:srgbClr val="E8F1F5"/>
                </a:solidFill>
                <a:latin typeface="Consolas"/>
              </a:rPr>
              <a:t>    ("cat", Pipeline([</a:t>
            </a:r>
          </a:p>
          <a:p>
            <a:pPr algn="l"/>
            <a:r>
              <a:rPr sz="1400" b="0">
                <a:solidFill>
                  <a:srgbClr val="E8F1F5"/>
                </a:solidFill>
                <a:latin typeface="Consolas"/>
              </a:rPr>
              <a:t>        ("imp", SimpleImputer(strategy="most_frequent")),</a:t>
            </a:r>
          </a:p>
          <a:p>
            <a:pPr algn="l"/>
            <a:r>
              <a:rPr sz="1400" b="0">
                <a:solidFill>
                  <a:srgbClr val="E8F1F5"/>
                </a:solidFill>
                <a:latin typeface="Consolas"/>
              </a:rPr>
              <a:t>        ("enc", OneHotEncoder(handle_unknown="ignore")),</a:t>
            </a:r>
          </a:p>
          <a:p>
            <a:pPr algn="l"/>
            <a:r>
              <a:rPr sz="1400" b="0">
                <a:solidFill>
                  <a:srgbClr val="E8F1F5"/>
                </a:solidFill>
                <a:latin typeface="Consolas"/>
              </a:rPr>
              <a:t>    ]), categorical_features),</a:t>
            </a:r>
          </a:p>
          <a:p>
            <a:pPr algn="l"/>
            <a:r>
              <a:rPr sz="1400" b="0">
                <a:solidFill>
                  <a:srgbClr val="E8F1F5"/>
                </a:solidFill>
                <a:latin typeface="Consolas"/>
              </a:rPr>
              <a:t>])</a:t>
            </a:r>
          </a:p>
          <a:p>
            <a:pPr algn="l"/>
            <a:r>
              <a:rPr sz="1400" b="0">
                <a:solidFill>
                  <a:srgbClr val="E8F1F5"/>
                </a:solidFill>
                <a:latin typeface="Consolas"/>
              </a:rPr>
              <a:t/>
            </a:r>
          </a:p>
          <a:p>
            <a:pPr algn="l"/>
            <a:r>
              <a:rPr sz="1400" b="0">
                <a:solidFill>
                  <a:srgbClr val="E8F1F5"/>
                </a:solidFill>
                <a:latin typeface="Consolas"/>
              </a:rPr>
              <a:t>full_pipeline = Pipeline([</a:t>
            </a:r>
          </a:p>
          <a:p>
            <a:pPr algn="l"/>
            <a:r>
              <a:rPr sz="1400" b="0">
                <a:solidFill>
                  <a:srgbClr val="E8F1F5"/>
                </a:solidFill>
                <a:latin typeface="Consolas"/>
              </a:rPr>
              <a:t>    ("prep",  preprocessor),</a:t>
            </a:r>
          </a:p>
          <a:p>
            <a:pPr algn="l"/>
            <a:r>
              <a:rPr sz="1400" b="0">
                <a:solidFill>
                  <a:srgbClr val="E8F1F5"/>
                </a:solidFill>
                <a:latin typeface="Consolas"/>
              </a:rPr>
              <a:t>    ("model", LogisticRegression(max_iter=1000)),</a:t>
            </a:r>
          </a:p>
          <a:p>
            <a:pPr algn="l"/>
            <a:r>
              <a:rPr sz="1400" b="0">
                <a:solidFill>
                  <a:srgbClr val="E8F1F5"/>
                </a:solidFill>
                <a:latin typeface="Consolas"/>
              </a:rPr>
              <a:t>])</a:t>
            </a:r>
          </a:p>
          <a:p>
            <a:pPr algn="l"/>
            <a:r>
              <a:rPr sz="1400" b="0">
                <a:solidFill>
                  <a:srgbClr val="E8F1F5"/>
                </a:solidFill>
                <a:latin typeface="Consolas"/>
              </a:rPr>
              <a:t/>
            </a:r>
          </a:p>
          <a:p>
            <a:pPr algn="l"/>
            <a:r>
              <a:rPr sz="1400" b="0">
                <a:solidFill>
                  <a:srgbClr val="E8F1F5"/>
                </a:solidFill>
                <a:latin typeface="Consolas"/>
              </a:rPr>
              <a:t>full_pipeline.fit(X_train, y_train)</a:t>
            </a:r>
          </a:p>
          <a:p>
            <a:pPr algn="l"/>
            <a:r>
              <a:rPr sz="1400" b="0">
                <a:solidFill>
                  <a:srgbClr val="E8F1F5"/>
                </a:solidFill>
                <a:latin typeface="Consolas"/>
              </a:rPr>
              <a:t>predictions = full_pipeline.predict(X_test)</a:t>
            </a:r>
          </a:p>
        </p:txBody>
      </p:sp>
      <p:sp>
        <p:nvSpPr>
          <p:cNvPr id="7" name="Rectangle 6"/>
          <p:cNvSpPr/>
          <p:nvPr/>
        </p:nvSpPr>
        <p:spPr>
          <a:xfrm>
            <a:off x="548640" y="6035040"/>
            <a:ext cx="1106424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080760"/>
            <a:ext cx="10515600" cy="365760"/>
          </a:xfrm>
          <a:prstGeom prst="rect">
            <a:avLst/>
          </a:prstGeom>
          <a:noFill/>
        </p:spPr>
        <p:txBody>
          <a:bodyPr wrap="square" lIns="0" rIns="0" tIns="0" bIns="0" anchor="t">
            <a:spAutoFit/>
          </a:bodyPr>
          <a:lstStyle/>
          <a:p>
            <a:pPr algn="l"/>
            <a:r>
              <a:rPr sz="1300" b="1">
                <a:solidFill>
                  <a:srgbClr val="FFFFFF"/>
                </a:solidFill>
                <a:latin typeface="Calibri"/>
              </a:rPr>
              <a:t>Same code path during training AND prediction. Beginners almost always leak without this.</a:t>
            </a:r>
          </a:p>
        </p:txBody>
      </p:sp>
      <p:sp>
        <p:nvSpPr>
          <p:cNvPr id="9" name="TextBox 8"/>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9/28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#1 Rule of Preprocessing</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Split BEFORE fitting any transformer</a:t>
            </a:r>
          </a:p>
        </p:txBody>
      </p:sp>
      <p:sp>
        <p:nvSpPr>
          <p:cNvPr id="5" name="Rectangle 4"/>
          <p:cNvSpPr/>
          <p:nvPr/>
        </p:nvSpPr>
        <p:spPr>
          <a:xfrm>
            <a:off x="548640" y="1737360"/>
            <a:ext cx="1106424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515600" cy="365760"/>
          </a:xfrm>
          <a:prstGeom prst="rect">
            <a:avLst/>
          </a:prstGeom>
          <a:noFill/>
        </p:spPr>
        <p:txBody>
          <a:bodyPr wrap="square" lIns="0" rIns="0" tIns="0" bIns="0" anchor="t">
            <a:spAutoFit/>
          </a:bodyPr>
          <a:lstStyle/>
          <a:p>
            <a:pPr algn="l"/>
            <a:r>
              <a:rPr sz="1400" b="0">
                <a:solidFill>
                  <a:srgbClr val="E8F1F5"/>
                </a:solidFill>
                <a:latin typeface="Calibri"/>
              </a:rPr>
              <a:t>The Rule</a:t>
            </a:r>
          </a:p>
        </p:txBody>
      </p:sp>
      <p:sp>
        <p:nvSpPr>
          <p:cNvPr id="7" name="TextBox 6"/>
          <p:cNvSpPr txBox="1"/>
          <p:nvPr/>
        </p:nvSpPr>
        <p:spPr>
          <a:xfrm>
            <a:off x="822960" y="2194560"/>
            <a:ext cx="10515600" cy="914400"/>
          </a:xfrm>
          <a:prstGeom prst="rect">
            <a:avLst/>
          </a:prstGeom>
          <a:noFill/>
        </p:spPr>
        <p:txBody>
          <a:bodyPr wrap="square" lIns="0" rIns="0" tIns="0" bIns="0" anchor="t">
            <a:spAutoFit/>
          </a:bodyPr>
          <a:lstStyle/>
          <a:p>
            <a:pPr algn="l"/>
            <a:r>
              <a:rPr sz="1800" b="1">
                <a:solidFill>
                  <a:srgbClr val="FFFFFF"/>
                </a:solidFill>
                <a:latin typeface="Trebuchet MS"/>
              </a:rPr>
              <a:t>Split the data into train/test FIRST. Then fit preprocessing on the training data ONLY.</a:t>
            </a:r>
          </a:p>
        </p:txBody>
      </p:sp>
      <p:sp>
        <p:nvSpPr>
          <p:cNvPr id="8" name="Rectangle 7"/>
          <p:cNvSpPr/>
          <p:nvPr/>
        </p:nvSpPr>
        <p:spPr>
          <a:xfrm>
            <a:off x="548640" y="3291840"/>
            <a:ext cx="5486400" cy="29260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5029200" cy="365760"/>
          </a:xfrm>
          <a:prstGeom prst="rect">
            <a:avLst/>
          </a:prstGeom>
          <a:noFill/>
        </p:spPr>
        <p:txBody>
          <a:bodyPr wrap="square" lIns="0" rIns="0" tIns="0" bIns="0" anchor="t">
            <a:spAutoFit/>
          </a:bodyPr>
          <a:lstStyle/>
          <a:p>
            <a:pPr algn="l"/>
            <a:r>
              <a:rPr sz="1500" b="1">
                <a:solidFill>
                  <a:srgbClr val="F96167"/>
                </a:solidFill>
                <a:latin typeface="Calibri"/>
              </a:rPr>
              <a:t>❌  WRONG</a:t>
            </a:r>
          </a:p>
        </p:txBody>
      </p:sp>
      <p:sp>
        <p:nvSpPr>
          <p:cNvPr id="10" name="TextBox 9"/>
          <p:cNvSpPr txBox="1"/>
          <p:nvPr/>
        </p:nvSpPr>
        <p:spPr>
          <a:xfrm>
            <a:off x="777240" y="3840480"/>
            <a:ext cx="5212080" cy="2286000"/>
          </a:xfrm>
          <a:prstGeom prst="rect">
            <a:avLst/>
          </a:prstGeom>
          <a:noFill/>
        </p:spPr>
        <p:txBody>
          <a:bodyPr wrap="square" lIns="0" rIns="0" tIns="0" bIns="0" anchor="t">
            <a:spAutoFit/>
          </a:bodyPr>
          <a:lstStyle/>
          <a:p>
            <a:pPr algn="l"/>
            <a:r>
              <a:rPr sz="1200" b="0">
                <a:solidFill>
                  <a:srgbClr val="36454F"/>
                </a:solidFill>
                <a:latin typeface="Consolas"/>
              </a:rPr>
              <a:t>scaler = StandardScaler()</a:t>
            </a:r>
          </a:p>
          <a:p>
            <a:pPr algn="l"/>
            <a:r>
              <a:rPr sz="1200" b="0">
                <a:solidFill>
                  <a:srgbClr val="36454F"/>
                </a:solidFill>
                <a:latin typeface="Consolas"/>
              </a:rPr>
              <a:t>X_scaled = scaler.fit_transform(X)</a:t>
            </a:r>
          </a:p>
          <a:p>
            <a:pPr algn="l"/>
            <a:r>
              <a:rPr sz="1200" b="0">
                <a:solidFill>
                  <a:srgbClr val="36454F"/>
                </a:solidFill>
                <a:latin typeface="Consolas"/>
              </a:rPr>
              <a:t>X_train, X_test, ... = split(X_scaled, y)</a:t>
            </a:r>
          </a:p>
          <a:p>
            <a:pPr algn="l"/>
            <a:r>
              <a:rPr sz="1200" b="0">
                <a:solidFill>
                  <a:srgbClr val="36454F"/>
                </a:solidFill>
                <a:latin typeface="Consolas"/>
              </a:rPr>
              <a:t/>
            </a:r>
          </a:p>
          <a:p>
            <a:pPr algn="l"/>
            <a:r>
              <a:rPr sz="1200" b="0">
                <a:solidFill>
                  <a:srgbClr val="36454F"/>
                </a:solidFill>
                <a:latin typeface="Consolas"/>
              </a:rPr>
              <a:t>→ Scaler saw the test rows!</a:t>
            </a:r>
          </a:p>
          <a:p>
            <a:pPr algn="l"/>
            <a:r>
              <a:rPr sz="1200" b="0">
                <a:solidFill>
                  <a:srgbClr val="36454F"/>
                </a:solidFill>
                <a:latin typeface="Consolas"/>
              </a:rPr>
              <a:t>→ Leakage. Test score is too optimistic.</a:t>
            </a:r>
          </a:p>
        </p:txBody>
      </p:sp>
      <p:sp>
        <p:nvSpPr>
          <p:cNvPr id="11" name="Rectangle 10"/>
          <p:cNvSpPr/>
          <p:nvPr/>
        </p:nvSpPr>
        <p:spPr>
          <a:xfrm>
            <a:off x="6172200" y="3291840"/>
            <a:ext cx="5486400" cy="2926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429000"/>
            <a:ext cx="5029200" cy="365760"/>
          </a:xfrm>
          <a:prstGeom prst="rect">
            <a:avLst/>
          </a:prstGeom>
          <a:noFill/>
        </p:spPr>
        <p:txBody>
          <a:bodyPr wrap="square" lIns="0" rIns="0" tIns="0" bIns="0" anchor="t">
            <a:spAutoFit/>
          </a:bodyPr>
          <a:lstStyle/>
          <a:p>
            <a:pPr algn="l"/>
            <a:r>
              <a:rPr sz="1500" b="1">
                <a:solidFill>
                  <a:srgbClr val="F9E795"/>
                </a:solidFill>
                <a:latin typeface="Calibri"/>
              </a:rPr>
              <a:t>✓  RIGHT</a:t>
            </a:r>
          </a:p>
        </p:txBody>
      </p:sp>
      <p:sp>
        <p:nvSpPr>
          <p:cNvPr id="13" name="TextBox 12"/>
          <p:cNvSpPr txBox="1"/>
          <p:nvPr/>
        </p:nvSpPr>
        <p:spPr>
          <a:xfrm>
            <a:off x="6400800" y="3840480"/>
            <a:ext cx="5212080" cy="2286000"/>
          </a:xfrm>
          <a:prstGeom prst="rect">
            <a:avLst/>
          </a:prstGeom>
          <a:noFill/>
        </p:spPr>
        <p:txBody>
          <a:bodyPr wrap="square" lIns="0" rIns="0" tIns="0" bIns="0" anchor="t">
            <a:spAutoFit/>
          </a:bodyPr>
          <a:lstStyle/>
          <a:p>
            <a:pPr algn="l"/>
            <a:r>
              <a:rPr sz="1200" b="0">
                <a:solidFill>
                  <a:srgbClr val="FFFFFF"/>
                </a:solidFill>
                <a:latin typeface="Consolas"/>
              </a:rPr>
              <a:t>X_train, X_test, ... = split(X, y)</a:t>
            </a:r>
          </a:p>
          <a:p>
            <a:pPr algn="l"/>
            <a:r>
              <a:rPr sz="1200" b="0">
                <a:solidFill>
                  <a:srgbClr val="FFFFFF"/>
                </a:solidFill>
                <a:latin typeface="Consolas"/>
              </a:rPr>
              <a:t>scaler.fit(X_train)</a:t>
            </a:r>
          </a:p>
          <a:p>
            <a:pPr algn="l"/>
            <a:r>
              <a:rPr sz="1200" b="0">
                <a:solidFill>
                  <a:srgbClr val="FFFFFF"/>
                </a:solidFill>
                <a:latin typeface="Consolas"/>
              </a:rPr>
              <a:t>X_train_s = scaler.transform(X_train)</a:t>
            </a:r>
          </a:p>
          <a:p>
            <a:pPr algn="l"/>
            <a:r>
              <a:rPr sz="1200" b="0">
                <a:solidFill>
                  <a:srgbClr val="FFFFFF"/>
                </a:solidFill>
                <a:latin typeface="Consolas"/>
              </a:rPr>
              <a:t>X_test_s  = scaler.transform(X_test)</a:t>
            </a:r>
          </a:p>
          <a:p>
            <a:pPr algn="l"/>
            <a:r>
              <a:rPr sz="1200" b="0">
                <a:solidFill>
                  <a:srgbClr val="FFFFFF"/>
                </a:solidFill>
                <a:latin typeface="Consolas"/>
              </a:rPr>
              <a:t/>
            </a:r>
          </a:p>
          <a:p>
            <a:pPr algn="l"/>
            <a:r>
              <a:rPr sz="1200" b="0">
                <a:solidFill>
                  <a:srgbClr val="FFFFFF"/>
                </a:solidFill>
                <a:latin typeface="Consolas"/>
              </a:rPr>
              <a:t>→ Or just use a Pipeline (next slide).</a:t>
            </a:r>
          </a:p>
        </p:txBody>
      </p:sp>
      <p:sp>
        <p:nvSpPr>
          <p:cNvPr id="14" name="TextBox 1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10/28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200" b="1">
                <a:solidFill>
                  <a:srgbClr val="FFFFFF"/>
                </a:solidFill>
                <a:latin typeface="Consolas"/>
              </a:rPr>
              <a:t>Open: 02_preprocessing.ipynb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Split before preprocessing — using stratify=y to preserve class balance.</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Build a ColumnTransformer for the 8 numeric + 2 categorical columns.</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Apply the preprocessor and inspect the result (10 columns → 17 columns).</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Logistic Regression</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right baseline for classification</a:t>
            </a:r>
          </a:p>
        </p:txBody>
      </p:sp>
      <p:sp>
        <p:nvSpPr>
          <p:cNvPr id="5" name="Rectangle 4"/>
          <p:cNvSpPr/>
          <p:nvPr/>
        </p:nvSpPr>
        <p:spPr>
          <a:xfrm>
            <a:off x="548640" y="1737360"/>
            <a:ext cx="11064240" cy="21945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457200"/>
          </a:xfrm>
          <a:prstGeom prst="rect">
            <a:avLst/>
          </a:prstGeom>
          <a:noFill/>
        </p:spPr>
        <p:txBody>
          <a:bodyPr wrap="square" lIns="0" rIns="0" tIns="0" bIns="0" anchor="t">
            <a:spAutoFit/>
          </a:bodyPr>
          <a:lstStyle/>
          <a:p>
            <a:pPr algn="l"/>
            <a:r>
              <a:rPr sz="1400" b="0">
                <a:solidFill>
                  <a:srgbClr val="E8F1F5"/>
                </a:solidFill>
                <a:latin typeface="Calibri"/>
              </a:rPr>
              <a:t>The math</a:t>
            </a:r>
          </a:p>
        </p:txBody>
      </p:sp>
      <p:sp>
        <p:nvSpPr>
          <p:cNvPr id="7" name="TextBox 6"/>
          <p:cNvSpPr txBox="1"/>
          <p:nvPr/>
        </p:nvSpPr>
        <p:spPr>
          <a:xfrm>
            <a:off x="822960" y="2286000"/>
            <a:ext cx="10515600" cy="548640"/>
          </a:xfrm>
          <a:prstGeom prst="rect">
            <a:avLst/>
          </a:prstGeom>
          <a:noFill/>
        </p:spPr>
        <p:txBody>
          <a:bodyPr wrap="square" lIns="0" rIns="0" tIns="0" bIns="0" anchor="t">
            <a:spAutoFit/>
          </a:bodyPr>
          <a:lstStyle/>
          <a:p>
            <a:pPr algn="l"/>
            <a:r>
              <a:rPr sz="2000" b="1">
                <a:solidFill>
                  <a:srgbClr val="F9E795"/>
                </a:solidFill>
                <a:latin typeface="Consolas"/>
              </a:rPr>
              <a:t>z      =  β₀ + β₁·x₁ + β₂·x₂ + … + βₙ·xₙ</a:t>
            </a:r>
          </a:p>
        </p:txBody>
      </p:sp>
      <p:sp>
        <p:nvSpPr>
          <p:cNvPr id="8" name="TextBox 7"/>
          <p:cNvSpPr txBox="1"/>
          <p:nvPr/>
        </p:nvSpPr>
        <p:spPr>
          <a:xfrm>
            <a:off x="822960" y="2834640"/>
            <a:ext cx="10515600" cy="548640"/>
          </a:xfrm>
          <a:prstGeom prst="rect">
            <a:avLst/>
          </a:prstGeom>
          <a:noFill/>
        </p:spPr>
        <p:txBody>
          <a:bodyPr wrap="square" lIns="0" rIns="0" tIns="0" bIns="0" anchor="t">
            <a:spAutoFit/>
          </a:bodyPr>
          <a:lstStyle/>
          <a:p>
            <a:pPr algn="l"/>
            <a:r>
              <a:rPr sz="2000" b="1">
                <a:solidFill>
                  <a:srgbClr val="F9E795"/>
                </a:solidFill>
                <a:latin typeface="Consolas"/>
              </a:rPr>
              <a:t>prob   =  1 / (1 + e⁻ᶻ)         (sigmoid → squashes to [0, 1])</a:t>
            </a:r>
          </a:p>
        </p:txBody>
      </p:sp>
      <p:sp>
        <p:nvSpPr>
          <p:cNvPr id="9" name="TextBox 8"/>
          <p:cNvSpPr txBox="1"/>
          <p:nvPr/>
        </p:nvSpPr>
        <p:spPr>
          <a:xfrm>
            <a:off x="822960" y="3383280"/>
            <a:ext cx="10515600" cy="457200"/>
          </a:xfrm>
          <a:prstGeom prst="rect">
            <a:avLst/>
          </a:prstGeom>
          <a:noFill/>
        </p:spPr>
        <p:txBody>
          <a:bodyPr wrap="square" lIns="0" rIns="0" tIns="0" bIns="0" anchor="t">
            <a:spAutoFit/>
          </a:bodyPr>
          <a:lstStyle/>
          <a:p>
            <a:pPr algn="l"/>
            <a:r>
              <a:rPr sz="1800" b="0">
                <a:solidFill>
                  <a:srgbClr val="E8F1F5"/>
                </a:solidFill>
                <a:latin typeface="Consolas"/>
              </a:rPr>
              <a:t>label  =  1 if prob ≥ threshold else 0</a:t>
            </a:r>
          </a:p>
        </p:txBody>
      </p:sp>
      <p:sp>
        <p:nvSpPr>
          <p:cNvPr id="10" name="Rectangle 9"/>
          <p:cNvSpPr/>
          <p:nvPr/>
        </p:nvSpPr>
        <p:spPr>
          <a:xfrm>
            <a:off x="548640" y="4114800"/>
            <a:ext cx="11064240" cy="2103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251960"/>
            <a:ext cx="10515600" cy="365760"/>
          </a:xfrm>
          <a:prstGeom prst="rect">
            <a:avLst/>
          </a:prstGeom>
          <a:noFill/>
        </p:spPr>
        <p:txBody>
          <a:bodyPr wrap="square" lIns="0" rIns="0" tIns="0" bIns="0" anchor="t">
            <a:spAutoFit/>
          </a:bodyPr>
          <a:lstStyle/>
          <a:p>
            <a:pPr algn="l"/>
            <a:r>
              <a:rPr sz="1500" b="1">
                <a:solidFill>
                  <a:srgbClr val="065A82"/>
                </a:solidFill>
                <a:latin typeface="Calibri"/>
              </a:rPr>
              <a:t>Why we start here</a:t>
            </a:r>
          </a:p>
        </p:txBody>
      </p:sp>
      <p:sp>
        <p:nvSpPr>
          <p:cNvPr id="12" name="TextBox 11"/>
          <p:cNvSpPr txBox="1"/>
          <p:nvPr/>
        </p:nvSpPr>
        <p:spPr>
          <a:xfrm>
            <a:off x="914400" y="4709160"/>
            <a:ext cx="10515600" cy="365760"/>
          </a:xfrm>
          <a:prstGeom prst="rect">
            <a:avLst/>
          </a:prstGeom>
          <a:noFill/>
        </p:spPr>
        <p:txBody>
          <a:bodyPr wrap="square" lIns="0" rIns="0" tIns="0" bIns="0" anchor="t">
            <a:spAutoFit/>
          </a:bodyPr>
          <a:lstStyle/>
          <a:p>
            <a:pPr algn="l"/>
            <a:r>
              <a:rPr sz="1300" b="0">
                <a:solidFill>
                  <a:srgbClr val="36454F"/>
                </a:solidFill>
                <a:latin typeface="Calibri"/>
              </a:rPr>
              <a:t>✓  Output is a PROBABILITY — enables business-aware threshold choice (notebook 04)</a:t>
            </a:r>
          </a:p>
        </p:txBody>
      </p:sp>
      <p:sp>
        <p:nvSpPr>
          <p:cNvPr id="13" name="TextBox 12"/>
          <p:cNvSpPr txBox="1"/>
          <p:nvPr/>
        </p:nvSpPr>
        <p:spPr>
          <a:xfrm>
            <a:off x="914400" y="5074920"/>
            <a:ext cx="10515600" cy="365760"/>
          </a:xfrm>
          <a:prstGeom prst="rect">
            <a:avLst/>
          </a:prstGeom>
          <a:noFill/>
        </p:spPr>
        <p:txBody>
          <a:bodyPr wrap="square" lIns="0" rIns="0" tIns="0" bIns="0" anchor="t">
            <a:spAutoFit/>
          </a:bodyPr>
          <a:lstStyle/>
          <a:p>
            <a:pPr algn="l"/>
            <a:r>
              <a:rPr sz="1300" b="0">
                <a:solidFill>
                  <a:srgbClr val="36454F"/>
                </a:solidFill>
                <a:latin typeface="Calibri"/>
              </a:rPr>
              <a:t>✓  Coefficients are INTERPRETABLE — explain why the model predicts what it predicts</a:t>
            </a:r>
          </a:p>
        </p:txBody>
      </p:sp>
      <p:sp>
        <p:nvSpPr>
          <p:cNvPr id="14" name="TextBox 13"/>
          <p:cNvSpPr txBox="1"/>
          <p:nvPr/>
        </p:nvSpPr>
        <p:spPr>
          <a:xfrm>
            <a:off x="914400" y="5440680"/>
            <a:ext cx="10515600" cy="365760"/>
          </a:xfrm>
          <a:prstGeom prst="rect">
            <a:avLst/>
          </a:prstGeom>
          <a:noFill/>
        </p:spPr>
        <p:txBody>
          <a:bodyPr wrap="square" lIns="0" rIns="0" tIns="0" bIns="0" anchor="t">
            <a:spAutoFit/>
          </a:bodyPr>
          <a:lstStyle/>
          <a:p>
            <a:pPr algn="l"/>
            <a:r>
              <a:rPr sz="1300" b="0">
                <a:solidFill>
                  <a:srgbClr val="36454F"/>
                </a:solidFill>
                <a:latin typeface="Calibri"/>
              </a:rPr>
              <a:t>✓  Fast to train — minutes, not hours, on millions of rows</a:t>
            </a:r>
          </a:p>
        </p:txBody>
      </p:sp>
      <p:sp>
        <p:nvSpPr>
          <p:cNvPr id="15" name="TextBox 14"/>
          <p:cNvSpPr txBox="1"/>
          <p:nvPr/>
        </p:nvSpPr>
        <p:spPr>
          <a:xfrm>
            <a:off x="914400" y="5806440"/>
            <a:ext cx="10515600" cy="365760"/>
          </a:xfrm>
          <a:prstGeom prst="rect">
            <a:avLst/>
          </a:prstGeom>
          <a:noFill/>
        </p:spPr>
        <p:txBody>
          <a:bodyPr wrap="square" lIns="0" rIns="0" tIns="0" bIns="0" anchor="t">
            <a:spAutoFit/>
          </a:bodyPr>
          <a:lstStyle/>
          <a:p>
            <a:pPr algn="l"/>
            <a:r>
              <a:rPr sz="1300" b="0">
                <a:solidFill>
                  <a:srgbClr val="36454F"/>
                </a:solidFill>
                <a:latin typeface="Calibri"/>
              </a:rPr>
              <a:t>✓  Widely used in industry — every data scientist understands it</a:t>
            </a:r>
          </a:p>
        </p:txBody>
      </p:sp>
      <p:sp>
        <p:nvSpPr>
          <p:cNvPr id="16" name="TextBox 15"/>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12/28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Reading the Coefficients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Why the model predicts what it predicts</a:t>
            </a:r>
          </a:p>
        </p:txBody>
      </p:sp>
      <p:sp>
        <p:nvSpPr>
          <p:cNvPr id="5" name="TextBox 4"/>
          <p:cNvSpPr txBox="1"/>
          <p:nvPr/>
        </p:nvSpPr>
        <p:spPr>
          <a:xfrm>
            <a:off x="548640" y="1737360"/>
            <a:ext cx="11064240" cy="457200"/>
          </a:xfrm>
          <a:prstGeom prst="rect">
            <a:avLst/>
          </a:prstGeom>
          <a:noFill/>
        </p:spPr>
        <p:txBody>
          <a:bodyPr wrap="square" lIns="0" rIns="0" tIns="0" bIns="0" anchor="t">
            <a:spAutoFit/>
          </a:bodyPr>
          <a:lstStyle/>
          <a:p>
            <a:pPr algn="l"/>
            <a:r>
              <a:rPr sz="1400" b="1">
                <a:solidFill>
                  <a:srgbClr val="1C7293"/>
                </a:solidFill>
                <a:latin typeface="Calibri"/>
              </a:rPr>
              <a:t>Top features ranked by absolute coefficient size</a:t>
            </a:r>
          </a:p>
        </p:txBody>
      </p:sp>
      <p:sp>
        <p:nvSpPr>
          <p:cNvPr id="6" name="TextBox 5"/>
          <p:cNvSpPr txBox="1"/>
          <p:nvPr/>
        </p:nvSpPr>
        <p:spPr>
          <a:xfrm>
            <a:off x="548640" y="2423160"/>
            <a:ext cx="4114800" cy="365760"/>
          </a:xfrm>
          <a:prstGeom prst="rect">
            <a:avLst/>
          </a:prstGeom>
          <a:noFill/>
        </p:spPr>
        <p:txBody>
          <a:bodyPr wrap="square" lIns="0" rIns="0" tIns="0" bIns="0" anchor="t">
            <a:spAutoFit/>
          </a:bodyPr>
          <a:lstStyle/>
          <a:p>
            <a:pPr algn="l"/>
            <a:r>
              <a:rPr sz="1200" b="0">
                <a:solidFill>
                  <a:srgbClr val="36454F"/>
                </a:solidFill>
                <a:latin typeface="Consolas"/>
              </a:rPr>
              <a:t>returns_per_purchase</a:t>
            </a:r>
          </a:p>
        </p:txBody>
      </p:sp>
      <p:sp>
        <p:nvSpPr>
          <p:cNvPr id="7" name="Rectangle 6"/>
          <p:cNvSpPr/>
          <p:nvPr/>
        </p:nvSpPr>
        <p:spPr>
          <a:xfrm>
            <a:off x="5029200" y="2331720"/>
            <a:ext cx="1911096" cy="3657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31736" y="2423160"/>
            <a:ext cx="731520" cy="274320"/>
          </a:xfrm>
          <a:prstGeom prst="rect">
            <a:avLst/>
          </a:prstGeom>
          <a:noFill/>
        </p:spPr>
        <p:txBody>
          <a:bodyPr wrap="square" lIns="0" rIns="0" tIns="0" bIns="0" anchor="t">
            <a:spAutoFit/>
          </a:bodyPr>
          <a:lstStyle/>
          <a:p>
            <a:pPr algn="l"/>
            <a:r>
              <a:rPr sz="1100" b="1">
                <a:solidFill>
                  <a:srgbClr val="F96167"/>
                </a:solidFill>
                <a:latin typeface="Calibri"/>
              </a:rPr>
              <a:t>+0.57</a:t>
            </a:r>
          </a:p>
        </p:txBody>
      </p:sp>
      <p:sp>
        <p:nvSpPr>
          <p:cNvPr id="9" name="TextBox 8"/>
          <p:cNvSpPr txBox="1"/>
          <p:nvPr/>
        </p:nvSpPr>
        <p:spPr>
          <a:xfrm>
            <a:off x="548640" y="2926079"/>
            <a:ext cx="4114800" cy="365760"/>
          </a:xfrm>
          <a:prstGeom prst="rect">
            <a:avLst/>
          </a:prstGeom>
          <a:noFill/>
        </p:spPr>
        <p:txBody>
          <a:bodyPr wrap="square" lIns="0" rIns="0" tIns="0" bIns="0" anchor="t">
            <a:spAutoFit/>
          </a:bodyPr>
          <a:lstStyle/>
          <a:p>
            <a:pPr algn="l"/>
            <a:r>
              <a:rPr sz="1200" b="0">
                <a:solidFill>
                  <a:srgbClr val="36454F"/>
                </a:solidFill>
                <a:latin typeface="Consolas"/>
              </a:rPr>
              <a:t>tenure_months</a:t>
            </a:r>
          </a:p>
        </p:txBody>
      </p:sp>
      <p:sp>
        <p:nvSpPr>
          <p:cNvPr id="10" name="Rectangle 9"/>
          <p:cNvSpPr/>
          <p:nvPr/>
        </p:nvSpPr>
        <p:spPr>
          <a:xfrm>
            <a:off x="3252216" y="2834639"/>
            <a:ext cx="1776984"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12136" y="2926079"/>
            <a:ext cx="548640" cy="274320"/>
          </a:xfrm>
          <a:prstGeom prst="rect">
            <a:avLst/>
          </a:prstGeom>
          <a:noFill/>
        </p:spPr>
        <p:txBody>
          <a:bodyPr wrap="square" lIns="0" rIns="0" tIns="0" bIns="0" anchor="t">
            <a:spAutoFit/>
          </a:bodyPr>
          <a:lstStyle/>
          <a:p>
            <a:pPr algn="r"/>
            <a:r>
              <a:rPr sz="1100" b="1">
                <a:solidFill>
                  <a:srgbClr val="065A82"/>
                </a:solidFill>
                <a:latin typeface="Calibri"/>
              </a:rPr>
              <a:t>-0.53</a:t>
            </a:r>
          </a:p>
        </p:txBody>
      </p:sp>
      <p:sp>
        <p:nvSpPr>
          <p:cNvPr id="12" name="TextBox 11"/>
          <p:cNvSpPr txBox="1"/>
          <p:nvPr/>
        </p:nvSpPr>
        <p:spPr>
          <a:xfrm>
            <a:off x="548640" y="3429000"/>
            <a:ext cx="4114800" cy="365760"/>
          </a:xfrm>
          <a:prstGeom prst="rect">
            <a:avLst/>
          </a:prstGeom>
          <a:noFill/>
        </p:spPr>
        <p:txBody>
          <a:bodyPr wrap="square" lIns="0" rIns="0" tIns="0" bIns="0" anchor="t">
            <a:spAutoFit/>
          </a:bodyPr>
          <a:lstStyle/>
          <a:p>
            <a:pPr algn="l"/>
            <a:r>
              <a:rPr sz="1200" b="0">
                <a:solidFill>
                  <a:srgbClr val="36454F"/>
                </a:solidFill>
                <a:latin typeface="Consolas"/>
              </a:rPr>
              <a:t>avg_review_polarity</a:t>
            </a:r>
          </a:p>
        </p:txBody>
      </p:sp>
      <p:sp>
        <p:nvSpPr>
          <p:cNvPr id="13" name="Rectangle 12"/>
          <p:cNvSpPr/>
          <p:nvPr/>
        </p:nvSpPr>
        <p:spPr>
          <a:xfrm>
            <a:off x="3855720" y="3337560"/>
            <a:ext cx="11734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15640" y="3429000"/>
            <a:ext cx="548640" cy="274320"/>
          </a:xfrm>
          <a:prstGeom prst="rect">
            <a:avLst/>
          </a:prstGeom>
          <a:noFill/>
        </p:spPr>
        <p:txBody>
          <a:bodyPr wrap="square" lIns="0" rIns="0" tIns="0" bIns="0" anchor="t">
            <a:spAutoFit/>
          </a:bodyPr>
          <a:lstStyle/>
          <a:p>
            <a:pPr algn="r"/>
            <a:r>
              <a:rPr sz="1100" b="1">
                <a:solidFill>
                  <a:srgbClr val="065A82"/>
                </a:solidFill>
                <a:latin typeface="Calibri"/>
              </a:rPr>
              <a:t>-0.35</a:t>
            </a:r>
          </a:p>
        </p:txBody>
      </p:sp>
      <p:sp>
        <p:nvSpPr>
          <p:cNvPr id="15" name="TextBox 14"/>
          <p:cNvSpPr txBox="1"/>
          <p:nvPr/>
        </p:nvSpPr>
        <p:spPr>
          <a:xfrm>
            <a:off x="548640" y="3931920"/>
            <a:ext cx="4114800" cy="365760"/>
          </a:xfrm>
          <a:prstGeom prst="rect">
            <a:avLst/>
          </a:prstGeom>
          <a:noFill/>
        </p:spPr>
        <p:txBody>
          <a:bodyPr wrap="square" lIns="0" rIns="0" tIns="0" bIns="0" anchor="t">
            <a:spAutoFit/>
          </a:bodyPr>
          <a:lstStyle/>
          <a:p>
            <a:pPr algn="l"/>
            <a:r>
              <a:rPr sz="1200" b="0">
                <a:solidFill>
                  <a:srgbClr val="36454F"/>
                </a:solidFill>
                <a:latin typeface="Consolas"/>
              </a:rPr>
              <a:t>subscription_tier_premium</a:t>
            </a:r>
          </a:p>
        </p:txBody>
      </p:sp>
      <p:sp>
        <p:nvSpPr>
          <p:cNvPr id="16" name="Rectangle 15"/>
          <p:cNvSpPr/>
          <p:nvPr/>
        </p:nvSpPr>
        <p:spPr>
          <a:xfrm>
            <a:off x="4056888" y="3840480"/>
            <a:ext cx="972312"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6808" y="3931920"/>
            <a:ext cx="548640" cy="274320"/>
          </a:xfrm>
          <a:prstGeom prst="rect">
            <a:avLst/>
          </a:prstGeom>
          <a:noFill/>
        </p:spPr>
        <p:txBody>
          <a:bodyPr wrap="square" lIns="0" rIns="0" tIns="0" bIns="0" anchor="t">
            <a:spAutoFit/>
          </a:bodyPr>
          <a:lstStyle/>
          <a:p>
            <a:pPr algn="r"/>
            <a:r>
              <a:rPr sz="1100" b="1">
                <a:solidFill>
                  <a:srgbClr val="065A82"/>
                </a:solidFill>
                <a:latin typeface="Calibri"/>
              </a:rPr>
              <a:t>-0.29</a:t>
            </a:r>
          </a:p>
        </p:txBody>
      </p:sp>
      <p:sp>
        <p:nvSpPr>
          <p:cNvPr id="18" name="TextBox 17"/>
          <p:cNvSpPr txBox="1"/>
          <p:nvPr/>
        </p:nvSpPr>
        <p:spPr>
          <a:xfrm>
            <a:off x="548640" y="4434840"/>
            <a:ext cx="4114800" cy="365760"/>
          </a:xfrm>
          <a:prstGeom prst="rect">
            <a:avLst/>
          </a:prstGeom>
          <a:noFill/>
        </p:spPr>
        <p:txBody>
          <a:bodyPr wrap="square" lIns="0" rIns="0" tIns="0" bIns="0" anchor="t">
            <a:spAutoFit/>
          </a:bodyPr>
          <a:lstStyle/>
          <a:p>
            <a:pPr algn="l"/>
            <a:r>
              <a:rPr sz="1200" b="0">
                <a:solidFill>
                  <a:srgbClr val="36454F"/>
                </a:solidFill>
                <a:latin typeface="Consolas"/>
              </a:rPr>
              <a:t>last_login_days_ago</a:t>
            </a:r>
          </a:p>
        </p:txBody>
      </p:sp>
      <p:sp>
        <p:nvSpPr>
          <p:cNvPr id="19" name="Rectangle 18"/>
          <p:cNvSpPr/>
          <p:nvPr/>
        </p:nvSpPr>
        <p:spPr>
          <a:xfrm>
            <a:off x="5029200" y="4343400"/>
            <a:ext cx="704088" cy="3657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4434840"/>
            <a:ext cx="731520" cy="274320"/>
          </a:xfrm>
          <a:prstGeom prst="rect">
            <a:avLst/>
          </a:prstGeom>
          <a:noFill/>
        </p:spPr>
        <p:txBody>
          <a:bodyPr wrap="square" lIns="0" rIns="0" tIns="0" bIns="0" anchor="t">
            <a:spAutoFit/>
          </a:bodyPr>
          <a:lstStyle/>
          <a:p>
            <a:pPr algn="l"/>
            <a:r>
              <a:rPr sz="1100" b="1">
                <a:solidFill>
                  <a:srgbClr val="F96167"/>
                </a:solidFill>
                <a:latin typeface="Calibri"/>
              </a:rPr>
              <a:t>+0.21</a:t>
            </a:r>
          </a:p>
        </p:txBody>
      </p:sp>
      <p:sp>
        <p:nvSpPr>
          <p:cNvPr id="21" name="TextBox 20"/>
          <p:cNvSpPr txBox="1"/>
          <p:nvPr/>
        </p:nvSpPr>
        <p:spPr>
          <a:xfrm>
            <a:off x="548640" y="4937760"/>
            <a:ext cx="4114800" cy="365760"/>
          </a:xfrm>
          <a:prstGeom prst="rect">
            <a:avLst/>
          </a:prstGeom>
          <a:noFill/>
        </p:spPr>
        <p:txBody>
          <a:bodyPr wrap="square" lIns="0" rIns="0" tIns="0" bIns="0" anchor="t">
            <a:spAutoFit/>
          </a:bodyPr>
          <a:lstStyle/>
          <a:p>
            <a:pPr algn="l"/>
            <a:r>
              <a:rPr sz="1200" b="0">
                <a:solidFill>
                  <a:srgbClr val="36454F"/>
                </a:solidFill>
                <a:latin typeface="Consolas"/>
              </a:rPr>
              <a:t>subscription_tier_free</a:t>
            </a:r>
          </a:p>
        </p:txBody>
      </p:sp>
      <p:sp>
        <p:nvSpPr>
          <p:cNvPr id="22" name="Rectangle 21"/>
          <p:cNvSpPr/>
          <p:nvPr/>
        </p:nvSpPr>
        <p:spPr>
          <a:xfrm>
            <a:off x="5029200" y="4846320"/>
            <a:ext cx="603504" cy="3657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24144" y="4937760"/>
            <a:ext cx="731520" cy="274320"/>
          </a:xfrm>
          <a:prstGeom prst="rect">
            <a:avLst/>
          </a:prstGeom>
          <a:noFill/>
        </p:spPr>
        <p:txBody>
          <a:bodyPr wrap="square" lIns="0" rIns="0" tIns="0" bIns="0" anchor="t">
            <a:spAutoFit/>
          </a:bodyPr>
          <a:lstStyle/>
          <a:p>
            <a:pPr algn="l"/>
            <a:r>
              <a:rPr sz="1100" b="1">
                <a:solidFill>
                  <a:srgbClr val="F96167"/>
                </a:solidFill>
                <a:latin typeface="Calibri"/>
              </a:rPr>
              <a:t>+0.18</a:t>
            </a:r>
          </a:p>
        </p:txBody>
      </p:sp>
      <p:sp>
        <p:nvSpPr>
          <p:cNvPr id="24" name="TextBox 23"/>
          <p:cNvSpPr txBox="1"/>
          <p:nvPr/>
        </p:nvSpPr>
        <p:spPr>
          <a:xfrm>
            <a:off x="548640" y="5440680"/>
            <a:ext cx="4114800" cy="365760"/>
          </a:xfrm>
          <a:prstGeom prst="rect">
            <a:avLst/>
          </a:prstGeom>
          <a:noFill/>
        </p:spPr>
        <p:txBody>
          <a:bodyPr wrap="square" lIns="0" rIns="0" tIns="0" bIns="0" anchor="t">
            <a:spAutoFit/>
          </a:bodyPr>
          <a:lstStyle/>
          <a:p>
            <a:pPr algn="l"/>
            <a:r>
              <a:rPr sz="1200" b="0">
                <a:solidFill>
                  <a:srgbClr val="36454F"/>
                </a:solidFill>
                <a:latin typeface="Consolas"/>
              </a:rPr>
              <a:t>support_tickets_quarter</a:t>
            </a:r>
          </a:p>
        </p:txBody>
      </p:sp>
      <p:sp>
        <p:nvSpPr>
          <p:cNvPr id="25" name="Rectangle 24"/>
          <p:cNvSpPr/>
          <p:nvPr/>
        </p:nvSpPr>
        <p:spPr>
          <a:xfrm>
            <a:off x="5029200" y="5349240"/>
            <a:ext cx="603504" cy="3657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24144" y="5440680"/>
            <a:ext cx="731520" cy="274320"/>
          </a:xfrm>
          <a:prstGeom prst="rect">
            <a:avLst/>
          </a:prstGeom>
          <a:noFill/>
        </p:spPr>
        <p:txBody>
          <a:bodyPr wrap="square" lIns="0" rIns="0" tIns="0" bIns="0" anchor="t">
            <a:spAutoFit/>
          </a:bodyPr>
          <a:lstStyle/>
          <a:p>
            <a:pPr algn="l"/>
            <a:r>
              <a:rPr sz="1100" b="1">
                <a:solidFill>
                  <a:srgbClr val="F96167"/>
                </a:solidFill>
                <a:latin typeface="Calibri"/>
              </a:rPr>
              <a:t>+0.18</a:t>
            </a:r>
          </a:p>
        </p:txBody>
      </p:sp>
      <p:sp>
        <p:nvSpPr>
          <p:cNvPr id="27" name="Rectangle 26"/>
          <p:cNvSpPr/>
          <p:nvPr/>
        </p:nvSpPr>
        <p:spPr>
          <a:xfrm>
            <a:off x="5029200" y="2286000"/>
            <a:ext cx="18288" cy="36576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5989320"/>
            <a:ext cx="731520" cy="274320"/>
          </a:xfrm>
          <a:prstGeom prst="rect">
            <a:avLst/>
          </a:prstGeom>
          <a:noFill/>
        </p:spPr>
        <p:txBody>
          <a:bodyPr wrap="square" lIns="0" rIns="0" tIns="0" bIns="0" anchor="t">
            <a:spAutoFit/>
          </a:bodyPr>
          <a:lstStyle/>
          <a:p>
            <a:pPr algn="l"/>
            <a:r>
              <a:rPr sz="1000" b="0">
                <a:solidFill>
                  <a:srgbClr val="36454F"/>
                </a:solidFill>
                <a:latin typeface="Calibri"/>
              </a:rPr>
              <a:t>0</a:t>
            </a:r>
          </a:p>
        </p:txBody>
      </p:sp>
      <p:sp>
        <p:nvSpPr>
          <p:cNvPr id="29" name="TextBox 28"/>
          <p:cNvSpPr txBox="1"/>
          <p:nvPr/>
        </p:nvSpPr>
        <p:spPr>
          <a:xfrm>
            <a:off x="548640" y="6263640"/>
            <a:ext cx="11064240" cy="274320"/>
          </a:xfrm>
          <a:prstGeom prst="rect">
            <a:avLst/>
          </a:prstGeom>
          <a:noFill/>
        </p:spPr>
        <p:txBody>
          <a:bodyPr wrap="square" lIns="0" rIns="0" tIns="0" bIns="0" anchor="t">
            <a:spAutoFit/>
          </a:bodyPr>
          <a:lstStyle/>
          <a:p>
            <a:pPr algn="ctr"/>
            <a:r>
              <a:rPr sz="1100" b="0">
                <a:solidFill>
                  <a:srgbClr val="36454F"/>
                </a:solidFill>
                <a:latin typeface="Calibri"/>
              </a:rPr>
              <a:t>← lowers churn probability       •       raises churn probability →</a:t>
            </a:r>
          </a:p>
        </p:txBody>
      </p:sp>
      <p:sp>
        <p:nvSpPr>
          <p:cNvPr id="30" name="TextBox 2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13/28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Train/Test Split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Holding back 20% as the honest evaluator</a:t>
            </a:r>
          </a:p>
        </p:txBody>
      </p:sp>
      <p:sp>
        <p:nvSpPr>
          <p:cNvPr id="5" name="Rectangle 4"/>
          <p:cNvSpPr/>
          <p:nvPr/>
        </p:nvSpPr>
        <p:spPr>
          <a:xfrm>
            <a:off x="548640" y="1828800"/>
            <a:ext cx="11064240" cy="10972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10515600" cy="365760"/>
          </a:xfrm>
          <a:prstGeom prst="rect">
            <a:avLst/>
          </a:prstGeom>
          <a:noFill/>
        </p:spPr>
        <p:txBody>
          <a:bodyPr wrap="square" lIns="0" rIns="0" tIns="0" bIns="0" anchor="t">
            <a:spAutoFit/>
          </a:bodyPr>
          <a:lstStyle/>
          <a:p>
            <a:pPr algn="l"/>
            <a:r>
              <a:rPr sz="1400" b="1">
                <a:solidFill>
                  <a:srgbClr val="065A82"/>
                </a:solidFill>
                <a:latin typeface="Calibri"/>
              </a:rPr>
              <a:t>Full dataset (10,000 customers)</a:t>
            </a:r>
          </a:p>
        </p:txBody>
      </p:sp>
      <p:sp>
        <p:nvSpPr>
          <p:cNvPr id="7" name="Rectangle 6"/>
          <p:cNvSpPr/>
          <p:nvPr/>
        </p:nvSpPr>
        <p:spPr>
          <a:xfrm>
            <a:off x="822960" y="2286000"/>
            <a:ext cx="859536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86000"/>
            <a:ext cx="8595360" cy="502920"/>
          </a:xfrm>
          <a:prstGeom prst="rect">
            <a:avLst/>
          </a:prstGeom>
          <a:noFill/>
        </p:spPr>
        <p:txBody>
          <a:bodyPr wrap="square" lIns="0" rIns="0" tIns="0" bIns="0" anchor="ctr">
            <a:spAutoFit/>
          </a:bodyPr>
          <a:lstStyle/>
          <a:p>
            <a:pPr algn="ctr"/>
            <a:r>
              <a:rPr sz="1200" b="1">
                <a:solidFill>
                  <a:srgbClr val="FFFFFF"/>
                </a:solidFill>
                <a:latin typeface="Calibri"/>
              </a:rPr>
              <a:t>TRAINING SET — 80% (8,000 customers)</a:t>
            </a:r>
          </a:p>
        </p:txBody>
      </p:sp>
      <p:sp>
        <p:nvSpPr>
          <p:cNvPr id="9" name="Rectangle 8"/>
          <p:cNvSpPr/>
          <p:nvPr/>
        </p:nvSpPr>
        <p:spPr>
          <a:xfrm>
            <a:off x="9509760" y="2286000"/>
            <a:ext cx="2103120" cy="502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0" y="2286000"/>
            <a:ext cx="2103120" cy="502920"/>
          </a:xfrm>
          <a:prstGeom prst="rect">
            <a:avLst/>
          </a:prstGeom>
          <a:noFill/>
        </p:spPr>
        <p:txBody>
          <a:bodyPr wrap="square" lIns="0" rIns="0" tIns="0" bIns="0" anchor="ctr">
            <a:spAutoFit/>
          </a:bodyPr>
          <a:lstStyle/>
          <a:p>
            <a:pPr algn="ctr"/>
            <a:r>
              <a:rPr sz="1200" b="1">
                <a:solidFill>
                  <a:srgbClr val="FFFFFF"/>
                </a:solidFill>
                <a:latin typeface="Calibri"/>
              </a:rPr>
              <a:t>TEST 20%</a:t>
            </a:r>
          </a:p>
        </p:txBody>
      </p:sp>
      <p:sp>
        <p:nvSpPr>
          <p:cNvPr id="11" name="TextBox 10"/>
          <p:cNvSpPr txBox="1"/>
          <p:nvPr/>
        </p:nvSpPr>
        <p:spPr>
          <a:xfrm>
            <a:off x="548640" y="3291840"/>
            <a:ext cx="11064240" cy="457200"/>
          </a:xfrm>
          <a:prstGeom prst="rect">
            <a:avLst/>
          </a:prstGeom>
          <a:noFill/>
        </p:spPr>
        <p:txBody>
          <a:bodyPr wrap="square" lIns="0" rIns="0" tIns="0" bIns="0" anchor="t">
            <a:spAutoFit/>
          </a:bodyPr>
          <a:lstStyle/>
          <a:p>
            <a:pPr algn="l"/>
            <a:r>
              <a:rPr sz="1500" b="1">
                <a:solidFill>
                  <a:srgbClr val="1C7293"/>
                </a:solidFill>
                <a:latin typeface="Calibri"/>
              </a:rPr>
              <a:t>The discipline</a:t>
            </a:r>
          </a:p>
        </p:txBody>
      </p:sp>
      <p:sp>
        <p:nvSpPr>
          <p:cNvPr id="12" name="TextBox 11"/>
          <p:cNvSpPr txBox="1"/>
          <p:nvPr/>
        </p:nvSpPr>
        <p:spPr>
          <a:xfrm>
            <a:off x="640080" y="3840480"/>
            <a:ext cx="10972800" cy="365760"/>
          </a:xfrm>
          <a:prstGeom prst="rect">
            <a:avLst/>
          </a:prstGeom>
          <a:noFill/>
        </p:spPr>
        <p:txBody>
          <a:bodyPr wrap="square" lIns="0" rIns="0" tIns="0" bIns="0" anchor="t">
            <a:spAutoFit/>
          </a:bodyPr>
          <a:lstStyle/>
          <a:p>
            <a:pPr algn="l"/>
            <a:r>
              <a:rPr sz="1400" b="0">
                <a:solidFill>
                  <a:srgbClr val="36454F"/>
                </a:solidFill>
                <a:latin typeface="Calibri"/>
              </a:rPr>
              <a:t>1.  Split using train_test_split(X, y, test_size=0.20, stratify=y, random_state=42)</a:t>
            </a:r>
          </a:p>
        </p:txBody>
      </p:sp>
      <p:sp>
        <p:nvSpPr>
          <p:cNvPr id="13" name="TextBox 12"/>
          <p:cNvSpPr txBox="1"/>
          <p:nvPr/>
        </p:nvSpPr>
        <p:spPr>
          <a:xfrm>
            <a:off x="640080" y="4251960"/>
            <a:ext cx="10972800" cy="365760"/>
          </a:xfrm>
          <a:prstGeom prst="rect">
            <a:avLst/>
          </a:prstGeom>
          <a:noFill/>
        </p:spPr>
        <p:txBody>
          <a:bodyPr wrap="square" lIns="0" rIns="0" tIns="0" bIns="0" anchor="t">
            <a:spAutoFit/>
          </a:bodyPr>
          <a:lstStyle/>
          <a:p>
            <a:pPr algn="l"/>
            <a:r>
              <a:rPr sz="1400" b="0">
                <a:solidFill>
                  <a:srgbClr val="36454F"/>
                </a:solidFill>
                <a:latin typeface="Calibri"/>
              </a:rPr>
              <a:t>2.  Fit the preprocessor AND model on X_train, y_train ONLY</a:t>
            </a:r>
          </a:p>
        </p:txBody>
      </p:sp>
      <p:sp>
        <p:nvSpPr>
          <p:cNvPr id="14" name="TextBox 13"/>
          <p:cNvSpPr txBox="1"/>
          <p:nvPr/>
        </p:nvSpPr>
        <p:spPr>
          <a:xfrm>
            <a:off x="640080" y="4663440"/>
            <a:ext cx="10972800" cy="365760"/>
          </a:xfrm>
          <a:prstGeom prst="rect">
            <a:avLst/>
          </a:prstGeom>
          <a:noFill/>
        </p:spPr>
        <p:txBody>
          <a:bodyPr wrap="square" lIns="0" rIns="0" tIns="0" bIns="0" anchor="t">
            <a:spAutoFit/>
          </a:bodyPr>
          <a:lstStyle/>
          <a:p>
            <a:pPr algn="l"/>
            <a:r>
              <a:rPr sz="1400" b="0">
                <a:solidFill>
                  <a:srgbClr val="36454F"/>
                </a:solidFill>
                <a:latin typeface="Calibri"/>
              </a:rPr>
              <a:t>3.  Touch X_test only for the final score — once.</a:t>
            </a:r>
          </a:p>
        </p:txBody>
      </p:sp>
      <p:sp>
        <p:nvSpPr>
          <p:cNvPr id="15" name="TextBox 14"/>
          <p:cNvSpPr txBox="1"/>
          <p:nvPr/>
        </p:nvSpPr>
        <p:spPr>
          <a:xfrm>
            <a:off x="640080" y="5074920"/>
            <a:ext cx="10972800" cy="365760"/>
          </a:xfrm>
          <a:prstGeom prst="rect">
            <a:avLst/>
          </a:prstGeom>
          <a:noFill/>
        </p:spPr>
        <p:txBody>
          <a:bodyPr wrap="square" lIns="0" rIns="0" tIns="0" bIns="0" anchor="t">
            <a:spAutoFit/>
          </a:bodyPr>
          <a:lstStyle/>
          <a:p>
            <a:pPr algn="l"/>
            <a:r>
              <a:rPr sz="1400" b="0">
                <a:solidFill>
                  <a:srgbClr val="36454F"/>
                </a:solidFill>
                <a:latin typeface="Calibri"/>
              </a:rPr>
              <a:t>4.  Never refit anything based on what you see on the test set</a:t>
            </a:r>
          </a:p>
        </p:txBody>
      </p:sp>
      <p:sp>
        <p:nvSpPr>
          <p:cNvPr id="16" name="Rectangle 15"/>
          <p:cNvSpPr/>
          <p:nvPr/>
        </p:nvSpPr>
        <p:spPr>
          <a:xfrm>
            <a:off x="548640" y="5760720"/>
            <a:ext cx="11064240" cy="6400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852160"/>
            <a:ext cx="10515600" cy="457200"/>
          </a:xfrm>
          <a:prstGeom prst="rect">
            <a:avLst/>
          </a:prstGeom>
          <a:noFill/>
        </p:spPr>
        <p:txBody>
          <a:bodyPr wrap="square" lIns="0" rIns="0" tIns="0" bIns="0" anchor="t">
            <a:spAutoFit/>
          </a:bodyPr>
          <a:lstStyle/>
          <a:p>
            <a:pPr algn="l"/>
            <a:r>
              <a:rPr sz="1300" b="1">
                <a:solidFill>
                  <a:srgbClr val="F9E795"/>
                </a:solidFill>
                <a:latin typeface="Calibri"/>
              </a:rPr>
              <a:t>stratify=y preserves the 88/12 class balance in both splits — critical when imbalanced.</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14/28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k-Fold Cross-Validation</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One split = one number. k splits = a distribution.</a:t>
            </a:r>
          </a:p>
        </p:txBody>
      </p:sp>
      <p:sp>
        <p:nvSpPr>
          <p:cNvPr id="5" name="TextBox 4"/>
          <p:cNvSpPr txBox="1"/>
          <p:nvPr/>
        </p:nvSpPr>
        <p:spPr>
          <a:xfrm>
            <a:off x="548640" y="1828800"/>
            <a:ext cx="11064240" cy="365760"/>
          </a:xfrm>
          <a:prstGeom prst="rect">
            <a:avLst/>
          </a:prstGeom>
          <a:noFill/>
        </p:spPr>
        <p:txBody>
          <a:bodyPr wrap="square" lIns="0" rIns="0" tIns="0" bIns="0" anchor="t">
            <a:spAutoFit/>
          </a:bodyPr>
          <a:lstStyle/>
          <a:p>
            <a:pPr algn="l"/>
            <a:r>
              <a:rPr sz="1400" b="1">
                <a:solidFill>
                  <a:srgbClr val="1C7293"/>
                </a:solidFill>
                <a:latin typeface="Calibri"/>
              </a:rPr>
              <a:t>5-fold cross-validation on the TRAINING set</a:t>
            </a:r>
          </a:p>
        </p:txBody>
      </p:sp>
      <p:sp>
        <p:nvSpPr>
          <p:cNvPr id="6" name="TextBox 5"/>
          <p:cNvSpPr txBox="1"/>
          <p:nvPr/>
        </p:nvSpPr>
        <p:spPr>
          <a:xfrm>
            <a:off x="548640" y="2468880"/>
            <a:ext cx="914400" cy="274320"/>
          </a:xfrm>
          <a:prstGeom prst="rect">
            <a:avLst/>
          </a:prstGeom>
          <a:noFill/>
        </p:spPr>
        <p:txBody>
          <a:bodyPr wrap="square" lIns="0" rIns="0" tIns="0" bIns="0" anchor="t">
            <a:spAutoFit/>
          </a:bodyPr>
          <a:lstStyle/>
          <a:p>
            <a:pPr algn="l"/>
            <a:r>
              <a:rPr sz="1200" b="0">
                <a:solidFill>
                  <a:srgbClr val="065A82"/>
                </a:solidFill>
                <a:latin typeface="Calibri"/>
              </a:rPr>
              <a:t>Fold 1</a:t>
            </a:r>
          </a:p>
        </p:txBody>
      </p:sp>
      <p:sp>
        <p:nvSpPr>
          <p:cNvPr id="7" name="Rectangle 6"/>
          <p:cNvSpPr/>
          <p:nvPr/>
        </p:nvSpPr>
        <p:spPr>
          <a:xfrm>
            <a:off x="1554480" y="2377440"/>
            <a:ext cx="1691640" cy="4114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2377440"/>
            <a:ext cx="1691640" cy="411480"/>
          </a:xfrm>
          <a:prstGeom prst="rect">
            <a:avLst/>
          </a:prstGeom>
          <a:noFill/>
        </p:spPr>
        <p:txBody>
          <a:bodyPr wrap="square" lIns="0" rIns="0" tIns="0" bIns="0" anchor="ctr">
            <a:spAutoFit/>
          </a:bodyPr>
          <a:lstStyle/>
          <a:p>
            <a:pPr algn="ctr"/>
            <a:r>
              <a:rPr sz="1100" b="1">
                <a:solidFill>
                  <a:srgbClr val="FFFFFF"/>
                </a:solidFill>
                <a:latin typeface="Calibri"/>
              </a:rPr>
              <a:t>VALIDATE</a:t>
            </a:r>
          </a:p>
        </p:txBody>
      </p:sp>
      <p:sp>
        <p:nvSpPr>
          <p:cNvPr id="9" name="Rectangle 8"/>
          <p:cNvSpPr/>
          <p:nvPr/>
        </p:nvSpPr>
        <p:spPr>
          <a:xfrm>
            <a:off x="3337560" y="237744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237744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11" name="Rectangle 10"/>
          <p:cNvSpPr/>
          <p:nvPr/>
        </p:nvSpPr>
        <p:spPr>
          <a:xfrm>
            <a:off x="5120640" y="237744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237744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13" name="Rectangle 12"/>
          <p:cNvSpPr/>
          <p:nvPr/>
        </p:nvSpPr>
        <p:spPr>
          <a:xfrm>
            <a:off x="6903720" y="237744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237744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15" name="Rectangle 14"/>
          <p:cNvSpPr/>
          <p:nvPr/>
        </p:nvSpPr>
        <p:spPr>
          <a:xfrm>
            <a:off x="8686800" y="237744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237744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17" name="TextBox 16"/>
          <p:cNvSpPr txBox="1"/>
          <p:nvPr/>
        </p:nvSpPr>
        <p:spPr>
          <a:xfrm>
            <a:off x="548640" y="2971800"/>
            <a:ext cx="914400" cy="274320"/>
          </a:xfrm>
          <a:prstGeom prst="rect">
            <a:avLst/>
          </a:prstGeom>
          <a:noFill/>
        </p:spPr>
        <p:txBody>
          <a:bodyPr wrap="square" lIns="0" rIns="0" tIns="0" bIns="0" anchor="t">
            <a:spAutoFit/>
          </a:bodyPr>
          <a:lstStyle/>
          <a:p>
            <a:pPr algn="l"/>
            <a:r>
              <a:rPr sz="1200" b="0">
                <a:solidFill>
                  <a:srgbClr val="065A82"/>
                </a:solidFill>
                <a:latin typeface="Calibri"/>
              </a:rPr>
              <a:t>Fold 2</a:t>
            </a:r>
          </a:p>
        </p:txBody>
      </p:sp>
      <p:sp>
        <p:nvSpPr>
          <p:cNvPr id="18" name="Rectangle 17"/>
          <p:cNvSpPr/>
          <p:nvPr/>
        </p:nvSpPr>
        <p:spPr>
          <a:xfrm>
            <a:off x="1554480" y="288036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54480" y="288036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20" name="Rectangle 19"/>
          <p:cNvSpPr/>
          <p:nvPr/>
        </p:nvSpPr>
        <p:spPr>
          <a:xfrm>
            <a:off x="3337560" y="2880360"/>
            <a:ext cx="1691640" cy="4114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37560" y="2880360"/>
            <a:ext cx="1691640" cy="411480"/>
          </a:xfrm>
          <a:prstGeom prst="rect">
            <a:avLst/>
          </a:prstGeom>
          <a:noFill/>
        </p:spPr>
        <p:txBody>
          <a:bodyPr wrap="square" lIns="0" rIns="0" tIns="0" bIns="0" anchor="ctr">
            <a:spAutoFit/>
          </a:bodyPr>
          <a:lstStyle/>
          <a:p>
            <a:pPr algn="ctr"/>
            <a:r>
              <a:rPr sz="1100" b="1">
                <a:solidFill>
                  <a:srgbClr val="FFFFFF"/>
                </a:solidFill>
                <a:latin typeface="Calibri"/>
              </a:rPr>
              <a:t>VALIDATE</a:t>
            </a:r>
          </a:p>
        </p:txBody>
      </p:sp>
      <p:sp>
        <p:nvSpPr>
          <p:cNvPr id="22" name="Rectangle 21"/>
          <p:cNvSpPr/>
          <p:nvPr/>
        </p:nvSpPr>
        <p:spPr>
          <a:xfrm>
            <a:off x="5120640" y="288036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0" y="288036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24" name="Rectangle 23"/>
          <p:cNvSpPr/>
          <p:nvPr/>
        </p:nvSpPr>
        <p:spPr>
          <a:xfrm>
            <a:off x="6903720" y="288036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288036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26" name="Rectangle 25"/>
          <p:cNvSpPr/>
          <p:nvPr/>
        </p:nvSpPr>
        <p:spPr>
          <a:xfrm>
            <a:off x="8686800" y="288036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288036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28" name="TextBox 27"/>
          <p:cNvSpPr txBox="1"/>
          <p:nvPr/>
        </p:nvSpPr>
        <p:spPr>
          <a:xfrm>
            <a:off x="548640" y="3474720"/>
            <a:ext cx="914400" cy="274320"/>
          </a:xfrm>
          <a:prstGeom prst="rect">
            <a:avLst/>
          </a:prstGeom>
          <a:noFill/>
        </p:spPr>
        <p:txBody>
          <a:bodyPr wrap="square" lIns="0" rIns="0" tIns="0" bIns="0" anchor="t">
            <a:spAutoFit/>
          </a:bodyPr>
          <a:lstStyle/>
          <a:p>
            <a:pPr algn="l"/>
            <a:r>
              <a:rPr sz="1200" b="0">
                <a:solidFill>
                  <a:srgbClr val="065A82"/>
                </a:solidFill>
                <a:latin typeface="Calibri"/>
              </a:rPr>
              <a:t>Fold 3</a:t>
            </a:r>
          </a:p>
        </p:txBody>
      </p:sp>
      <p:sp>
        <p:nvSpPr>
          <p:cNvPr id="29" name="Rectangle 28"/>
          <p:cNvSpPr/>
          <p:nvPr/>
        </p:nvSpPr>
        <p:spPr>
          <a:xfrm>
            <a:off x="1554480" y="338328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54480" y="338328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31" name="Rectangle 30"/>
          <p:cNvSpPr/>
          <p:nvPr/>
        </p:nvSpPr>
        <p:spPr>
          <a:xfrm>
            <a:off x="3337560" y="338328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7560" y="338328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33" name="Rectangle 32"/>
          <p:cNvSpPr/>
          <p:nvPr/>
        </p:nvSpPr>
        <p:spPr>
          <a:xfrm>
            <a:off x="5120640" y="3383280"/>
            <a:ext cx="1691640" cy="4114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3383280"/>
            <a:ext cx="1691640" cy="411480"/>
          </a:xfrm>
          <a:prstGeom prst="rect">
            <a:avLst/>
          </a:prstGeom>
          <a:noFill/>
        </p:spPr>
        <p:txBody>
          <a:bodyPr wrap="square" lIns="0" rIns="0" tIns="0" bIns="0" anchor="ctr">
            <a:spAutoFit/>
          </a:bodyPr>
          <a:lstStyle/>
          <a:p>
            <a:pPr algn="ctr"/>
            <a:r>
              <a:rPr sz="1100" b="1">
                <a:solidFill>
                  <a:srgbClr val="FFFFFF"/>
                </a:solidFill>
                <a:latin typeface="Calibri"/>
              </a:rPr>
              <a:t>VALIDATE</a:t>
            </a:r>
          </a:p>
        </p:txBody>
      </p:sp>
      <p:sp>
        <p:nvSpPr>
          <p:cNvPr id="35" name="Rectangle 34"/>
          <p:cNvSpPr/>
          <p:nvPr/>
        </p:nvSpPr>
        <p:spPr>
          <a:xfrm>
            <a:off x="6903720" y="338328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03720" y="338328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37" name="Rectangle 36"/>
          <p:cNvSpPr/>
          <p:nvPr/>
        </p:nvSpPr>
        <p:spPr>
          <a:xfrm>
            <a:off x="8686800" y="338328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0" y="338328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39" name="TextBox 38"/>
          <p:cNvSpPr txBox="1"/>
          <p:nvPr/>
        </p:nvSpPr>
        <p:spPr>
          <a:xfrm>
            <a:off x="548640" y="3977640"/>
            <a:ext cx="914400" cy="274320"/>
          </a:xfrm>
          <a:prstGeom prst="rect">
            <a:avLst/>
          </a:prstGeom>
          <a:noFill/>
        </p:spPr>
        <p:txBody>
          <a:bodyPr wrap="square" lIns="0" rIns="0" tIns="0" bIns="0" anchor="t">
            <a:spAutoFit/>
          </a:bodyPr>
          <a:lstStyle/>
          <a:p>
            <a:pPr algn="l"/>
            <a:r>
              <a:rPr sz="1200" b="0">
                <a:solidFill>
                  <a:srgbClr val="065A82"/>
                </a:solidFill>
                <a:latin typeface="Calibri"/>
              </a:rPr>
              <a:t>Fold 4</a:t>
            </a:r>
          </a:p>
        </p:txBody>
      </p:sp>
      <p:sp>
        <p:nvSpPr>
          <p:cNvPr id="40" name="Rectangle 39"/>
          <p:cNvSpPr/>
          <p:nvPr/>
        </p:nvSpPr>
        <p:spPr>
          <a:xfrm>
            <a:off x="1554480" y="388620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54480" y="388620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42" name="Rectangle 41"/>
          <p:cNvSpPr/>
          <p:nvPr/>
        </p:nvSpPr>
        <p:spPr>
          <a:xfrm>
            <a:off x="3337560" y="388620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37560" y="388620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44" name="Rectangle 43"/>
          <p:cNvSpPr/>
          <p:nvPr/>
        </p:nvSpPr>
        <p:spPr>
          <a:xfrm>
            <a:off x="5120640" y="388620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8620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46" name="Rectangle 45"/>
          <p:cNvSpPr/>
          <p:nvPr/>
        </p:nvSpPr>
        <p:spPr>
          <a:xfrm>
            <a:off x="6903720" y="3886200"/>
            <a:ext cx="1691640" cy="4114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03720" y="3886200"/>
            <a:ext cx="1691640" cy="411480"/>
          </a:xfrm>
          <a:prstGeom prst="rect">
            <a:avLst/>
          </a:prstGeom>
          <a:noFill/>
        </p:spPr>
        <p:txBody>
          <a:bodyPr wrap="square" lIns="0" rIns="0" tIns="0" bIns="0" anchor="ctr">
            <a:spAutoFit/>
          </a:bodyPr>
          <a:lstStyle/>
          <a:p>
            <a:pPr algn="ctr"/>
            <a:r>
              <a:rPr sz="1100" b="1">
                <a:solidFill>
                  <a:srgbClr val="FFFFFF"/>
                </a:solidFill>
                <a:latin typeface="Calibri"/>
              </a:rPr>
              <a:t>VALIDATE</a:t>
            </a:r>
          </a:p>
        </p:txBody>
      </p:sp>
      <p:sp>
        <p:nvSpPr>
          <p:cNvPr id="48" name="Rectangle 47"/>
          <p:cNvSpPr/>
          <p:nvPr/>
        </p:nvSpPr>
        <p:spPr>
          <a:xfrm>
            <a:off x="8686800" y="388620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0" y="388620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50" name="TextBox 49"/>
          <p:cNvSpPr txBox="1"/>
          <p:nvPr/>
        </p:nvSpPr>
        <p:spPr>
          <a:xfrm>
            <a:off x="548640" y="4480560"/>
            <a:ext cx="914400" cy="274320"/>
          </a:xfrm>
          <a:prstGeom prst="rect">
            <a:avLst/>
          </a:prstGeom>
          <a:noFill/>
        </p:spPr>
        <p:txBody>
          <a:bodyPr wrap="square" lIns="0" rIns="0" tIns="0" bIns="0" anchor="t">
            <a:spAutoFit/>
          </a:bodyPr>
          <a:lstStyle/>
          <a:p>
            <a:pPr algn="l"/>
            <a:r>
              <a:rPr sz="1200" b="0">
                <a:solidFill>
                  <a:srgbClr val="065A82"/>
                </a:solidFill>
                <a:latin typeface="Calibri"/>
              </a:rPr>
              <a:t>Fold 5</a:t>
            </a:r>
          </a:p>
        </p:txBody>
      </p:sp>
      <p:sp>
        <p:nvSpPr>
          <p:cNvPr id="51" name="Rectangle 50"/>
          <p:cNvSpPr/>
          <p:nvPr/>
        </p:nvSpPr>
        <p:spPr>
          <a:xfrm>
            <a:off x="1554480" y="438912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54480" y="438912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53" name="Rectangle 52"/>
          <p:cNvSpPr/>
          <p:nvPr/>
        </p:nvSpPr>
        <p:spPr>
          <a:xfrm>
            <a:off x="3337560" y="438912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37560" y="438912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55" name="Rectangle 54"/>
          <p:cNvSpPr/>
          <p:nvPr/>
        </p:nvSpPr>
        <p:spPr>
          <a:xfrm>
            <a:off x="5120640" y="438912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20640" y="438912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57" name="Rectangle 56"/>
          <p:cNvSpPr/>
          <p:nvPr/>
        </p:nvSpPr>
        <p:spPr>
          <a:xfrm>
            <a:off x="6903720" y="4389120"/>
            <a:ext cx="169164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903720" y="4389120"/>
            <a:ext cx="1691640" cy="411480"/>
          </a:xfrm>
          <a:prstGeom prst="rect">
            <a:avLst/>
          </a:prstGeom>
          <a:noFill/>
        </p:spPr>
        <p:txBody>
          <a:bodyPr wrap="square" lIns="0" rIns="0" tIns="0" bIns="0" anchor="ctr">
            <a:spAutoFit/>
          </a:bodyPr>
          <a:lstStyle/>
          <a:p>
            <a:pPr algn="ctr"/>
            <a:r>
              <a:rPr sz="1100" b="0">
                <a:solidFill>
                  <a:srgbClr val="36454F"/>
                </a:solidFill>
                <a:latin typeface="Calibri"/>
              </a:rPr>
              <a:t>TRAIN</a:t>
            </a:r>
          </a:p>
        </p:txBody>
      </p:sp>
      <p:sp>
        <p:nvSpPr>
          <p:cNvPr id="59" name="Rectangle 58"/>
          <p:cNvSpPr/>
          <p:nvPr/>
        </p:nvSpPr>
        <p:spPr>
          <a:xfrm>
            <a:off x="8686800" y="4389120"/>
            <a:ext cx="1691640" cy="4114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686800" y="4389120"/>
            <a:ext cx="1691640" cy="411480"/>
          </a:xfrm>
          <a:prstGeom prst="rect">
            <a:avLst/>
          </a:prstGeom>
          <a:noFill/>
        </p:spPr>
        <p:txBody>
          <a:bodyPr wrap="square" lIns="0" rIns="0" tIns="0" bIns="0" anchor="ctr">
            <a:spAutoFit/>
          </a:bodyPr>
          <a:lstStyle/>
          <a:p>
            <a:pPr algn="ctr"/>
            <a:r>
              <a:rPr sz="1100" b="1">
                <a:solidFill>
                  <a:srgbClr val="FFFFFF"/>
                </a:solidFill>
                <a:latin typeface="Calibri"/>
              </a:rPr>
              <a:t>VALIDATE</a:t>
            </a:r>
          </a:p>
        </p:txBody>
      </p:sp>
      <p:sp>
        <p:nvSpPr>
          <p:cNvPr id="61" name="Rectangle 60"/>
          <p:cNvSpPr/>
          <p:nvPr/>
        </p:nvSpPr>
        <p:spPr>
          <a:xfrm>
            <a:off x="548640" y="5212080"/>
            <a:ext cx="11064240"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 y="5349240"/>
            <a:ext cx="10515600" cy="365760"/>
          </a:xfrm>
          <a:prstGeom prst="rect">
            <a:avLst/>
          </a:prstGeom>
          <a:noFill/>
        </p:spPr>
        <p:txBody>
          <a:bodyPr wrap="square" lIns="0" rIns="0" tIns="0" bIns="0" anchor="t">
            <a:spAutoFit/>
          </a:bodyPr>
          <a:lstStyle/>
          <a:p>
            <a:pPr algn="l"/>
            <a:r>
              <a:rPr sz="1400" b="0">
                <a:solidFill>
                  <a:srgbClr val="E8F1F5"/>
                </a:solidFill>
                <a:latin typeface="Calibri"/>
              </a:rPr>
              <a:t>Sarah's 5-fold CV result:</a:t>
            </a:r>
          </a:p>
        </p:txBody>
      </p:sp>
      <p:sp>
        <p:nvSpPr>
          <p:cNvPr id="63" name="TextBox 62"/>
          <p:cNvSpPr txBox="1"/>
          <p:nvPr/>
        </p:nvSpPr>
        <p:spPr>
          <a:xfrm>
            <a:off x="822960" y="5760720"/>
            <a:ext cx="10515600" cy="457200"/>
          </a:xfrm>
          <a:prstGeom prst="rect">
            <a:avLst/>
          </a:prstGeom>
          <a:noFill/>
        </p:spPr>
        <p:txBody>
          <a:bodyPr wrap="square" lIns="0" rIns="0" tIns="0" bIns="0" anchor="t">
            <a:spAutoFit/>
          </a:bodyPr>
          <a:lstStyle/>
          <a:p>
            <a:pPr algn="l"/>
            <a:r>
              <a:rPr sz="1800" b="1">
                <a:solidFill>
                  <a:srgbClr val="F9E795"/>
                </a:solidFill>
                <a:latin typeface="Consolas"/>
              </a:rPr>
              <a:t>[0.882, 0.884, 0.882, 0.881, 0.886]  →  Mean: 0.883 ± 0.002</a:t>
            </a:r>
          </a:p>
        </p:txBody>
      </p:sp>
      <p:sp>
        <p:nvSpPr>
          <p:cNvPr id="64" name="TextBox 6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15/28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200" b="1">
                <a:solidFill>
                  <a:srgbClr val="FFFFFF"/>
                </a:solidFill>
                <a:latin typeface="Consolas"/>
              </a:rPr>
              <a:t>Open: 03_train_validate.ipynb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Build the full pipeline (preprocessor + LogisticRegression) and fit on the training data.</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Inspect coefficients — returns_per_purchase highest +, tenure_months highest −.</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Run 5-fold cross-validation to get a stable accuracy estimate.</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Accuracy Is a Lie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On imbalanced data, accuracy ≈ majority-class rate</a:t>
            </a:r>
          </a:p>
        </p:txBody>
      </p:sp>
      <p:sp>
        <p:nvSpPr>
          <p:cNvPr id="5" name="Rectangle 4"/>
          <p:cNvSpPr/>
          <p:nvPr/>
        </p:nvSpPr>
        <p:spPr>
          <a:xfrm>
            <a:off x="548640" y="1828800"/>
            <a:ext cx="5486400" cy="2560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5029200" cy="457200"/>
          </a:xfrm>
          <a:prstGeom prst="rect">
            <a:avLst/>
          </a:prstGeom>
          <a:noFill/>
        </p:spPr>
        <p:txBody>
          <a:bodyPr wrap="square" lIns="0" rIns="0" tIns="0" bIns="0" anchor="t">
            <a:spAutoFit/>
          </a:bodyPr>
          <a:lstStyle/>
          <a:p>
            <a:pPr algn="l"/>
            <a:r>
              <a:rPr sz="1500" b="1">
                <a:solidFill>
                  <a:srgbClr val="065A82"/>
                </a:solidFill>
                <a:latin typeface="Calibri"/>
              </a:rPr>
              <a:t>Our trained model</a:t>
            </a:r>
          </a:p>
        </p:txBody>
      </p:sp>
      <p:sp>
        <p:nvSpPr>
          <p:cNvPr id="7" name="TextBox 6"/>
          <p:cNvSpPr txBox="1"/>
          <p:nvPr/>
        </p:nvSpPr>
        <p:spPr>
          <a:xfrm>
            <a:off x="777240" y="2651760"/>
            <a:ext cx="5029200" cy="914400"/>
          </a:xfrm>
          <a:prstGeom prst="rect">
            <a:avLst/>
          </a:prstGeom>
          <a:noFill/>
        </p:spPr>
        <p:txBody>
          <a:bodyPr wrap="square" lIns="0" rIns="0" tIns="0" bIns="0" anchor="t">
            <a:spAutoFit/>
          </a:bodyPr>
          <a:lstStyle/>
          <a:p>
            <a:pPr algn="ctr"/>
            <a:r>
              <a:rPr sz="6000" b="1">
                <a:solidFill>
                  <a:srgbClr val="065A82"/>
                </a:solidFill>
                <a:latin typeface="Trebuchet MS"/>
              </a:rPr>
              <a:t>0.883</a:t>
            </a:r>
          </a:p>
        </p:txBody>
      </p:sp>
      <p:sp>
        <p:nvSpPr>
          <p:cNvPr id="8" name="TextBox 7"/>
          <p:cNvSpPr txBox="1"/>
          <p:nvPr/>
        </p:nvSpPr>
        <p:spPr>
          <a:xfrm>
            <a:off x="777240" y="3840480"/>
            <a:ext cx="5029200" cy="365760"/>
          </a:xfrm>
          <a:prstGeom prst="rect">
            <a:avLst/>
          </a:prstGeom>
          <a:noFill/>
        </p:spPr>
        <p:txBody>
          <a:bodyPr wrap="square" lIns="0" rIns="0" tIns="0" bIns="0" anchor="t">
            <a:spAutoFit/>
          </a:bodyPr>
          <a:lstStyle/>
          <a:p>
            <a:pPr algn="ctr"/>
            <a:r>
              <a:rPr sz="1300" b="0">
                <a:solidFill>
                  <a:srgbClr val="36454F"/>
                </a:solidFill>
                <a:latin typeface="Calibri"/>
              </a:rPr>
              <a:t>CV accuracy</a:t>
            </a:r>
          </a:p>
        </p:txBody>
      </p:sp>
      <p:sp>
        <p:nvSpPr>
          <p:cNvPr id="9" name="Rectangle 8"/>
          <p:cNvSpPr/>
          <p:nvPr/>
        </p:nvSpPr>
        <p:spPr>
          <a:xfrm>
            <a:off x="6172200" y="1828800"/>
            <a:ext cx="5486400" cy="2560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5029200" cy="457200"/>
          </a:xfrm>
          <a:prstGeom prst="rect">
            <a:avLst/>
          </a:prstGeom>
          <a:noFill/>
        </p:spPr>
        <p:txBody>
          <a:bodyPr wrap="square" lIns="0" rIns="0" tIns="0" bIns="0" anchor="t">
            <a:spAutoFit/>
          </a:bodyPr>
          <a:lstStyle/>
          <a:p>
            <a:pPr algn="l"/>
            <a:r>
              <a:rPr sz="1500" b="1">
                <a:solidFill>
                  <a:srgbClr val="FFFFFF"/>
                </a:solidFill>
                <a:latin typeface="Calibri"/>
              </a:rPr>
              <a:t>Dummy classifier (always 'stayed')</a:t>
            </a:r>
          </a:p>
        </p:txBody>
      </p:sp>
      <p:sp>
        <p:nvSpPr>
          <p:cNvPr id="11" name="TextBox 10"/>
          <p:cNvSpPr txBox="1"/>
          <p:nvPr/>
        </p:nvSpPr>
        <p:spPr>
          <a:xfrm>
            <a:off x="6400800" y="2651760"/>
            <a:ext cx="5029200" cy="914400"/>
          </a:xfrm>
          <a:prstGeom prst="rect">
            <a:avLst/>
          </a:prstGeom>
          <a:noFill/>
        </p:spPr>
        <p:txBody>
          <a:bodyPr wrap="square" lIns="0" rIns="0" tIns="0" bIns="0" anchor="t">
            <a:spAutoFit/>
          </a:bodyPr>
          <a:lstStyle/>
          <a:p>
            <a:pPr algn="ctr"/>
            <a:r>
              <a:rPr sz="6000" b="1">
                <a:solidFill>
                  <a:srgbClr val="F9E795"/>
                </a:solidFill>
                <a:latin typeface="Trebuchet MS"/>
              </a:rPr>
              <a:t>0.880</a:t>
            </a:r>
          </a:p>
        </p:txBody>
      </p:sp>
      <p:sp>
        <p:nvSpPr>
          <p:cNvPr id="12" name="TextBox 11"/>
          <p:cNvSpPr txBox="1"/>
          <p:nvPr/>
        </p:nvSpPr>
        <p:spPr>
          <a:xfrm>
            <a:off x="6400800" y="3840480"/>
            <a:ext cx="5029200" cy="365760"/>
          </a:xfrm>
          <a:prstGeom prst="rect">
            <a:avLst/>
          </a:prstGeom>
          <a:noFill/>
        </p:spPr>
        <p:txBody>
          <a:bodyPr wrap="square" lIns="0" rIns="0" tIns="0" bIns="0" anchor="t">
            <a:spAutoFit/>
          </a:bodyPr>
          <a:lstStyle/>
          <a:p>
            <a:pPr algn="ctr"/>
            <a:r>
              <a:rPr sz="1300" b="0">
                <a:solidFill>
                  <a:srgbClr val="E8F1F5"/>
                </a:solidFill>
                <a:latin typeface="Calibri"/>
              </a:rPr>
              <a:t>Same data, no model</a:t>
            </a:r>
          </a:p>
        </p:txBody>
      </p:sp>
      <p:sp>
        <p:nvSpPr>
          <p:cNvPr id="13" name="Rectangle 12"/>
          <p:cNvSpPr/>
          <p:nvPr/>
        </p:nvSpPr>
        <p:spPr>
          <a:xfrm>
            <a:off x="548640" y="4663440"/>
            <a:ext cx="11064240" cy="15544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800600"/>
            <a:ext cx="10515600" cy="457200"/>
          </a:xfrm>
          <a:prstGeom prst="rect">
            <a:avLst/>
          </a:prstGeom>
          <a:noFill/>
        </p:spPr>
        <p:txBody>
          <a:bodyPr wrap="square" lIns="0" rIns="0" tIns="0" bIns="0" anchor="t">
            <a:spAutoFit/>
          </a:bodyPr>
          <a:lstStyle/>
          <a:p>
            <a:pPr algn="l"/>
            <a:r>
              <a:rPr sz="1800" b="1">
                <a:solidFill>
                  <a:srgbClr val="FFFFFF"/>
                </a:solidFill>
                <a:latin typeface="Calibri"/>
              </a:rPr>
              <a:t>Lift from logistic regression: +0.003   (= 0.3 percentage points)</a:t>
            </a:r>
          </a:p>
        </p:txBody>
      </p:sp>
      <p:sp>
        <p:nvSpPr>
          <p:cNvPr id="15" name="TextBox 14"/>
          <p:cNvSpPr txBox="1"/>
          <p:nvPr/>
        </p:nvSpPr>
        <p:spPr>
          <a:xfrm>
            <a:off x="822960" y="5349240"/>
            <a:ext cx="10515600" cy="822960"/>
          </a:xfrm>
          <a:prstGeom prst="rect">
            <a:avLst/>
          </a:prstGeom>
          <a:noFill/>
        </p:spPr>
        <p:txBody>
          <a:bodyPr wrap="square" lIns="0" rIns="0" tIns="0" bIns="0" anchor="t">
            <a:spAutoFit/>
          </a:bodyPr>
          <a:lstStyle/>
          <a:p>
            <a:pPr algn="l"/>
            <a:r>
              <a:rPr sz="1500" b="0">
                <a:solidFill>
                  <a:srgbClr val="FFFFFF"/>
                </a:solidFill>
                <a:latin typeface="Trebuchet MS"/>
              </a:rPr>
              <a:t>Either the model is doing nothing — OR accuracy is hiding the truth.</a:t>
            </a:r>
          </a:p>
          <a:p>
            <a:pPr algn="l"/>
            <a:r>
              <a:rPr sz="1500" b="0">
                <a:solidFill>
                  <a:srgbClr val="FFFFFF"/>
                </a:solidFill>
                <a:latin typeface="Trebuchet MS"/>
              </a:rPr>
              <a:t>We need to look INSIDE the predictions. Confusion matrix.</a:t>
            </a:r>
          </a:p>
        </p:txBody>
      </p:sp>
      <p:sp>
        <p:nvSpPr>
          <p:cNvPr id="16" name="TextBox 15"/>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17/28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Confusion Matrix</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Four bins · the starting point for every classification metric</a:t>
            </a:r>
          </a:p>
        </p:txBody>
      </p:sp>
      <p:sp>
        <p:nvSpPr>
          <p:cNvPr id="5" name="TextBox 4"/>
          <p:cNvSpPr txBox="1"/>
          <p:nvPr/>
        </p:nvSpPr>
        <p:spPr>
          <a:xfrm>
            <a:off x="5760720" y="1554480"/>
            <a:ext cx="3200400" cy="365760"/>
          </a:xfrm>
          <a:prstGeom prst="rect">
            <a:avLst/>
          </a:prstGeom>
          <a:noFill/>
        </p:spPr>
        <p:txBody>
          <a:bodyPr wrap="square" lIns="0" rIns="0" tIns="0" bIns="0" anchor="t">
            <a:spAutoFit/>
          </a:bodyPr>
          <a:lstStyle/>
          <a:p>
            <a:pPr algn="ctr"/>
            <a:r>
              <a:rPr sz="1400" b="1">
                <a:solidFill>
                  <a:srgbClr val="065A82"/>
                </a:solidFill>
                <a:latin typeface="Calibri"/>
              </a:rPr>
              <a:t>Predicted STAYED</a:t>
            </a:r>
          </a:p>
        </p:txBody>
      </p:sp>
      <p:sp>
        <p:nvSpPr>
          <p:cNvPr id="6" name="TextBox 5"/>
          <p:cNvSpPr txBox="1"/>
          <p:nvPr/>
        </p:nvSpPr>
        <p:spPr>
          <a:xfrm>
            <a:off x="8961120" y="1554480"/>
            <a:ext cx="3200400" cy="365760"/>
          </a:xfrm>
          <a:prstGeom prst="rect">
            <a:avLst/>
          </a:prstGeom>
          <a:noFill/>
        </p:spPr>
        <p:txBody>
          <a:bodyPr wrap="square" lIns="0" rIns="0" tIns="0" bIns="0" anchor="t">
            <a:spAutoFit/>
          </a:bodyPr>
          <a:lstStyle/>
          <a:p>
            <a:pPr algn="ctr"/>
            <a:r>
              <a:rPr sz="1400" b="1">
                <a:solidFill>
                  <a:srgbClr val="065A82"/>
                </a:solidFill>
                <a:latin typeface="Calibri"/>
              </a:rPr>
              <a:t>Predicted CHURN</a:t>
            </a:r>
          </a:p>
        </p:txBody>
      </p:sp>
      <p:sp>
        <p:nvSpPr>
          <p:cNvPr id="7" name="TextBox 6"/>
          <p:cNvSpPr txBox="1"/>
          <p:nvPr/>
        </p:nvSpPr>
        <p:spPr>
          <a:xfrm>
            <a:off x="2377440" y="2651760"/>
            <a:ext cx="3200400" cy="365760"/>
          </a:xfrm>
          <a:prstGeom prst="rect">
            <a:avLst/>
          </a:prstGeom>
          <a:noFill/>
        </p:spPr>
        <p:txBody>
          <a:bodyPr wrap="square" lIns="0" rIns="0" tIns="0" bIns="0" anchor="t">
            <a:spAutoFit/>
          </a:bodyPr>
          <a:lstStyle/>
          <a:p>
            <a:pPr algn="r"/>
            <a:r>
              <a:rPr sz="1400" b="1">
                <a:solidFill>
                  <a:srgbClr val="065A82"/>
                </a:solidFill>
                <a:latin typeface="Calibri"/>
              </a:rPr>
              <a:t>Actually STAYED</a:t>
            </a:r>
          </a:p>
        </p:txBody>
      </p:sp>
      <p:sp>
        <p:nvSpPr>
          <p:cNvPr id="8" name="TextBox 7"/>
          <p:cNvSpPr txBox="1"/>
          <p:nvPr/>
        </p:nvSpPr>
        <p:spPr>
          <a:xfrm>
            <a:off x="2377440" y="4297680"/>
            <a:ext cx="3200400" cy="365760"/>
          </a:xfrm>
          <a:prstGeom prst="rect">
            <a:avLst/>
          </a:prstGeom>
          <a:noFill/>
        </p:spPr>
        <p:txBody>
          <a:bodyPr wrap="square" lIns="0" rIns="0" tIns="0" bIns="0" anchor="t">
            <a:spAutoFit/>
          </a:bodyPr>
          <a:lstStyle/>
          <a:p>
            <a:pPr algn="r"/>
            <a:r>
              <a:rPr sz="1400" b="1">
                <a:solidFill>
                  <a:srgbClr val="065A82"/>
                </a:solidFill>
                <a:latin typeface="Calibri"/>
              </a:rPr>
              <a:t>Actually CHURN</a:t>
            </a:r>
          </a:p>
        </p:txBody>
      </p:sp>
      <p:sp>
        <p:nvSpPr>
          <p:cNvPr id="9" name="Rectangle 8"/>
          <p:cNvSpPr/>
          <p:nvPr/>
        </p:nvSpPr>
        <p:spPr>
          <a:xfrm>
            <a:off x="5760720" y="2011680"/>
            <a:ext cx="3200400" cy="1645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0" y="2148840"/>
            <a:ext cx="3200400" cy="365760"/>
          </a:xfrm>
          <a:prstGeom prst="rect">
            <a:avLst/>
          </a:prstGeom>
          <a:noFill/>
        </p:spPr>
        <p:txBody>
          <a:bodyPr wrap="square" lIns="0" rIns="0" tIns="0" bIns="0" anchor="t">
            <a:spAutoFit/>
          </a:bodyPr>
          <a:lstStyle/>
          <a:p>
            <a:pPr algn="ctr"/>
            <a:r>
              <a:rPr sz="1200" b="1">
                <a:solidFill>
                  <a:srgbClr val="21C39A"/>
                </a:solidFill>
                <a:latin typeface="Calibri"/>
              </a:rPr>
              <a:t>TN</a:t>
            </a:r>
          </a:p>
        </p:txBody>
      </p:sp>
      <p:sp>
        <p:nvSpPr>
          <p:cNvPr id="11" name="TextBox 10"/>
          <p:cNvSpPr txBox="1"/>
          <p:nvPr/>
        </p:nvSpPr>
        <p:spPr>
          <a:xfrm>
            <a:off x="5760720" y="2514600"/>
            <a:ext cx="3200400" cy="640080"/>
          </a:xfrm>
          <a:prstGeom prst="rect">
            <a:avLst/>
          </a:prstGeom>
          <a:noFill/>
        </p:spPr>
        <p:txBody>
          <a:bodyPr wrap="square" lIns="0" rIns="0" tIns="0" bIns="0" anchor="t">
            <a:spAutoFit/>
          </a:bodyPr>
          <a:lstStyle/>
          <a:p>
            <a:pPr algn="ctr"/>
            <a:r>
              <a:rPr sz="3200" b="1">
                <a:solidFill>
                  <a:srgbClr val="21C39A"/>
                </a:solidFill>
                <a:latin typeface="Trebuchet MS"/>
              </a:rPr>
              <a:t>1749</a:t>
            </a:r>
          </a:p>
        </p:txBody>
      </p:sp>
      <p:sp>
        <p:nvSpPr>
          <p:cNvPr id="12" name="TextBox 11"/>
          <p:cNvSpPr txBox="1"/>
          <p:nvPr/>
        </p:nvSpPr>
        <p:spPr>
          <a:xfrm>
            <a:off x="5760720" y="3200400"/>
            <a:ext cx="3200400" cy="365760"/>
          </a:xfrm>
          <a:prstGeom prst="rect">
            <a:avLst/>
          </a:prstGeom>
          <a:noFill/>
        </p:spPr>
        <p:txBody>
          <a:bodyPr wrap="square" lIns="0" rIns="0" tIns="0" bIns="0" anchor="t">
            <a:spAutoFit/>
          </a:bodyPr>
          <a:lstStyle/>
          <a:p>
            <a:pPr algn="ctr"/>
            <a:r>
              <a:rPr sz="1100" b="0">
                <a:solidFill>
                  <a:srgbClr val="36454F"/>
                </a:solidFill>
                <a:latin typeface="Calibri"/>
              </a:rPr>
              <a:t>Correctly let stayer alone</a:t>
            </a:r>
          </a:p>
        </p:txBody>
      </p:sp>
      <p:sp>
        <p:nvSpPr>
          <p:cNvPr id="13" name="Rectangle 12"/>
          <p:cNvSpPr/>
          <p:nvPr/>
        </p:nvSpPr>
        <p:spPr>
          <a:xfrm>
            <a:off x="8961120" y="2011680"/>
            <a:ext cx="3200400" cy="1645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2148840"/>
            <a:ext cx="3200400" cy="365760"/>
          </a:xfrm>
          <a:prstGeom prst="rect">
            <a:avLst/>
          </a:prstGeom>
          <a:noFill/>
        </p:spPr>
        <p:txBody>
          <a:bodyPr wrap="square" lIns="0" rIns="0" tIns="0" bIns="0" anchor="t">
            <a:spAutoFit/>
          </a:bodyPr>
          <a:lstStyle/>
          <a:p>
            <a:pPr algn="ctr"/>
            <a:r>
              <a:rPr sz="1200" b="1">
                <a:solidFill>
                  <a:srgbClr val="F96167"/>
                </a:solidFill>
                <a:latin typeface="Calibri"/>
              </a:rPr>
              <a:t>FP</a:t>
            </a:r>
          </a:p>
        </p:txBody>
      </p:sp>
      <p:sp>
        <p:nvSpPr>
          <p:cNvPr id="15" name="TextBox 14"/>
          <p:cNvSpPr txBox="1"/>
          <p:nvPr/>
        </p:nvSpPr>
        <p:spPr>
          <a:xfrm>
            <a:off x="8961120" y="2514600"/>
            <a:ext cx="3200400" cy="640080"/>
          </a:xfrm>
          <a:prstGeom prst="rect">
            <a:avLst/>
          </a:prstGeom>
          <a:noFill/>
        </p:spPr>
        <p:txBody>
          <a:bodyPr wrap="square" lIns="0" rIns="0" tIns="0" bIns="0" anchor="t">
            <a:spAutoFit/>
          </a:bodyPr>
          <a:lstStyle/>
          <a:p>
            <a:pPr algn="ctr"/>
            <a:r>
              <a:rPr sz="3200" b="1">
                <a:solidFill>
                  <a:srgbClr val="F96167"/>
                </a:solidFill>
                <a:latin typeface="Trebuchet MS"/>
              </a:rPr>
              <a:t>12</a:t>
            </a:r>
          </a:p>
        </p:txBody>
      </p:sp>
      <p:sp>
        <p:nvSpPr>
          <p:cNvPr id="16" name="TextBox 15"/>
          <p:cNvSpPr txBox="1"/>
          <p:nvPr/>
        </p:nvSpPr>
        <p:spPr>
          <a:xfrm>
            <a:off x="8961120" y="3200400"/>
            <a:ext cx="3200400" cy="365760"/>
          </a:xfrm>
          <a:prstGeom prst="rect">
            <a:avLst/>
          </a:prstGeom>
          <a:noFill/>
        </p:spPr>
        <p:txBody>
          <a:bodyPr wrap="square" lIns="0" rIns="0" tIns="0" bIns="0" anchor="t">
            <a:spAutoFit/>
          </a:bodyPr>
          <a:lstStyle/>
          <a:p>
            <a:pPr algn="ctr"/>
            <a:r>
              <a:rPr sz="1100" b="0">
                <a:solidFill>
                  <a:srgbClr val="36454F"/>
                </a:solidFill>
                <a:latin typeface="Calibri"/>
              </a:rPr>
              <a:t>Wasted intervention</a:t>
            </a:r>
          </a:p>
        </p:txBody>
      </p:sp>
      <p:sp>
        <p:nvSpPr>
          <p:cNvPr id="17" name="Rectangle 16"/>
          <p:cNvSpPr/>
          <p:nvPr/>
        </p:nvSpPr>
        <p:spPr>
          <a:xfrm>
            <a:off x="5760720" y="3657600"/>
            <a:ext cx="3200400" cy="1645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0" y="3794760"/>
            <a:ext cx="3200400" cy="365760"/>
          </a:xfrm>
          <a:prstGeom prst="rect">
            <a:avLst/>
          </a:prstGeom>
          <a:noFill/>
        </p:spPr>
        <p:txBody>
          <a:bodyPr wrap="square" lIns="0" rIns="0" tIns="0" bIns="0" anchor="t">
            <a:spAutoFit/>
          </a:bodyPr>
          <a:lstStyle/>
          <a:p>
            <a:pPr algn="ctr"/>
            <a:r>
              <a:rPr sz="1200" b="1">
                <a:solidFill>
                  <a:srgbClr val="F96167"/>
                </a:solidFill>
                <a:latin typeface="Calibri"/>
              </a:rPr>
              <a:t>FN</a:t>
            </a:r>
          </a:p>
        </p:txBody>
      </p:sp>
      <p:sp>
        <p:nvSpPr>
          <p:cNvPr id="19" name="TextBox 18"/>
          <p:cNvSpPr txBox="1"/>
          <p:nvPr/>
        </p:nvSpPr>
        <p:spPr>
          <a:xfrm>
            <a:off x="5760720" y="4160520"/>
            <a:ext cx="3200400" cy="640080"/>
          </a:xfrm>
          <a:prstGeom prst="rect">
            <a:avLst/>
          </a:prstGeom>
          <a:noFill/>
        </p:spPr>
        <p:txBody>
          <a:bodyPr wrap="square" lIns="0" rIns="0" tIns="0" bIns="0" anchor="t">
            <a:spAutoFit/>
          </a:bodyPr>
          <a:lstStyle/>
          <a:p>
            <a:pPr algn="ctr"/>
            <a:r>
              <a:rPr sz="3200" b="1">
                <a:solidFill>
                  <a:srgbClr val="F96167"/>
                </a:solidFill>
                <a:latin typeface="Trebuchet MS"/>
              </a:rPr>
              <a:t>232</a:t>
            </a:r>
          </a:p>
        </p:txBody>
      </p:sp>
      <p:sp>
        <p:nvSpPr>
          <p:cNvPr id="20" name="TextBox 19"/>
          <p:cNvSpPr txBox="1"/>
          <p:nvPr/>
        </p:nvSpPr>
        <p:spPr>
          <a:xfrm>
            <a:off x="5760720" y="4846320"/>
            <a:ext cx="3200400" cy="365760"/>
          </a:xfrm>
          <a:prstGeom prst="rect">
            <a:avLst/>
          </a:prstGeom>
          <a:noFill/>
        </p:spPr>
        <p:txBody>
          <a:bodyPr wrap="square" lIns="0" rIns="0" tIns="0" bIns="0" anchor="t">
            <a:spAutoFit/>
          </a:bodyPr>
          <a:lstStyle/>
          <a:p>
            <a:pPr algn="ctr"/>
            <a:r>
              <a:rPr sz="1100" b="0">
                <a:solidFill>
                  <a:srgbClr val="36454F"/>
                </a:solidFill>
                <a:latin typeface="Calibri"/>
              </a:rPr>
              <a:t>MISSED a real churner</a:t>
            </a:r>
          </a:p>
        </p:txBody>
      </p:sp>
      <p:sp>
        <p:nvSpPr>
          <p:cNvPr id="21" name="Rectangle 20"/>
          <p:cNvSpPr/>
          <p:nvPr/>
        </p:nvSpPr>
        <p:spPr>
          <a:xfrm>
            <a:off x="8961120" y="3657600"/>
            <a:ext cx="3200400" cy="1645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0" y="3794760"/>
            <a:ext cx="3200400" cy="365760"/>
          </a:xfrm>
          <a:prstGeom prst="rect">
            <a:avLst/>
          </a:prstGeom>
          <a:noFill/>
        </p:spPr>
        <p:txBody>
          <a:bodyPr wrap="square" lIns="0" rIns="0" tIns="0" bIns="0" anchor="t">
            <a:spAutoFit/>
          </a:bodyPr>
          <a:lstStyle/>
          <a:p>
            <a:pPr algn="ctr"/>
            <a:r>
              <a:rPr sz="1200" b="1">
                <a:solidFill>
                  <a:srgbClr val="21C39A"/>
                </a:solidFill>
                <a:latin typeface="Calibri"/>
              </a:rPr>
              <a:t>TP</a:t>
            </a:r>
          </a:p>
        </p:txBody>
      </p:sp>
      <p:sp>
        <p:nvSpPr>
          <p:cNvPr id="23" name="TextBox 22"/>
          <p:cNvSpPr txBox="1"/>
          <p:nvPr/>
        </p:nvSpPr>
        <p:spPr>
          <a:xfrm>
            <a:off x="8961120" y="4160520"/>
            <a:ext cx="3200400" cy="640080"/>
          </a:xfrm>
          <a:prstGeom prst="rect">
            <a:avLst/>
          </a:prstGeom>
          <a:noFill/>
        </p:spPr>
        <p:txBody>
          <a:bodyPr wrap="square" lIns="0" rIns="0" tIns="0" bIns="0" anchor="t">
            <a:spAutoFit/>
          </a:bodyPr>
          <a:lstStyle/>
          <a:p>
            <a:pPr algn="ctr"/>
            <a:r>
              <a:rPr sz="3200" b="1">
                <a:solidFill>
                  <a:srgbClr val="21C39A"/>
                </a:solidFill>
                <a:latin typeface="Trebuchet MS"/>
              </a:rPr>
              <a:t>7</a:t>
            </a:r>
          </a:p>
        </p:txBody>
      </p:sp>
      <p:sp>
        <p:nvSpPr>
          <p:cNvPr id="24" name="TextBox 23"/>
          <p:cNvSpPr txBox="1"/>
          <p:nvPr/>
        </p:nvSpPr>
        <p:spPr>
          <a:xfrm>
            <a:off x="8961120" y="4846320"/>
            <a:ext cx="3200400" cy="365760"/>
          </a:xfrm>
          <a:prstGeom prst="rect">
            <a:avLst/>
          </a:prstGeom>
          <a:noFill/>
        </p:spPr>
        <p:txBody>
          <a:bodyPr wrap="square" lIns="0" rIns="0" tIns="0" bIns="0" anchor="t">
            <a:spAutoFit/>
          </a:bodyPr>
          <a:lstStyle/>
          <a:p>
            <a:pPr algn="ctr"/>
            <a:r>
              <a:rPr sz="1100" b="0">
                <a:solidFill>
                  <a:srgbClr val="36454F"/>
                </a:solidFill>
                <a:latin typeface="Calibri"/>
              </a:rPr>
              <a:t>Caught a real churner</a:t>
            </a:r>
          </a:p>
        </p:txBody>
      </p:sp>
      <p:sp>
        <p:nvSpPr>
          <p:cNvPr id="25" name="Rectangle 24"/>
          <p:cNvSpPr/>
          <p:nvPr/>
        </p:nvSpPr>
        <p:spPr>
          <a:xfrm>
            <a:off x="548640" y="5669280"/>
            <a:ext cx="11064240" cy="6400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760720"/>
            <a:ext cx="10515600" cy="457200"/>
          </a:xfrm>
          <a:prstGeom prst="rect">
            <a:avLst/>
          </a:prstGeom>
          <a:noFill/>
        </p:spPr>
        <p:txBody>
          <a:bodyPr wrap="square" lIns="0" rIns="0" tIns="0" bIns="0" anchor="t">
            <a:spAutoFit/>
          </a:bodyPr>
          <a:lstStyle/>
          <a:p>
            <a:pPr algn="l"/>
            <a:r>
              <a:rPr sz="1400" b="1">
                <a:solidFill>
                  <a:srgbClr val="FFFFFF"/>
                </a:solidFill>
                <a:latin typeface="Calibri"/>
              </a:rPr>
              <a:t>At threshold 0.5 the model only flagged 19 customers — and missed 232 real churners.</a:t>
            </a:r>
          </a:p>
        </p:txBody>
      </p:sp>
      <p:sp>
        <p:nvSpPr>
          <p:cNvPr id="27" name="TextBox 26"/>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18/28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Precision vs Recall</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Two questions, one tradeoff</a:t>
            </a:r>
          </a:p>
        </p:txBody>
      </p:sp>
      <p:sp>
        <p:nvSpPr>
          <p:cNvPr id="5" name="Rectangle 4"/>
          <p:cNvSpPr/>
          <p:nvPr/>
        </p:nvSpPr>
        <p:spPr>
          <a:xfrm>
            <a:off x="548640" y="1737360"/>
            <a:ext cx="5486400" cy="21945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5029200" cy="457200"/>
          </a:xfrm>
          <a:prstGeom prst="rect">
            <a:avLst/>
          </a:prstGeom>
          <a:noFill/>
        </p:spPr>
        <p:txBody>
          <a:bodyPr wrap="square" lIns="0" rIns="0" tIns="0" bIns="0" anchor="t">
            <a:spAutoFit/>
          </a:bodyPr>
          <a:lstStyle/>
          <a:p>
            <a:pPr algn="l"/>
            <a:r>
              <a:rPr sz="1800" b="1">
                <a:solidFill>
                  <a:srgbClr val="FFFFFF"/>
                </a:solidFill>
                <a:latin typeface="Calibri"/>
              </a:rPr>
              <a:t>Precision</a:t>
            </a:r>
          </a:p>
        </p:txBody>
      </p:sp>
      <p:sp>
        <p:nvSpPr>
          <p:cNvPr id="7" name="TextBox 6"/>
          <p:cNvSpPr txBox="1"/>
          <p:nvPr/>
        </p:nvSpPr>
        <p:spPr>
          <a:xfrm>
            <a:off x="777240" y="2377440"/>
            <a:ext cx="5029200" cy="548640"/>
          </a:xfrm>
          <a:prstGeom prst="rect">
            <a:avLst/>
          </a:prstGeom>
          <a:noFill/>
        </p:spPr>
        <p:txBody>
          <a:bodyPr wrap="square" lIns="0" rIns="0" tIns="0" bIns="0" anchor="t">
            <a:spAutoFit/>
          </a:bodyPr>
          <a:lstStyle/>
          <a:p>
            <a:pPr algn="l"/>
            <a:r>
              <a:rPr sz="2400" b="1">
                <a:solidFill>
                  <a:srgbClr val="F9E795"/>
                </a:solidFill>
                <a:latin typeface="Consolas"/>
              </a:rPr>
              <a:t>TP / (TP + FP)</a:t>
            </a:r>
          </a:p>
        </p:txBody>
      </p:sp>
      <p:sp>
        <p:nvSpPr>
          <p:cNvPr id="8" name="TextBox 7"/>
          <p:cNvSpPr txBox="1"/>
          <p:nvPr/>
        </p:nvSpPr>
        <p:spPr>
          <a:xfrm>
            <a:off x="777240" y="3017520"/>
            <a:ext cx="5029200" cy="731520"/>
          </a:xfrm>
          <a:prstGeom prst="rect">
            <a:avLst/>
          </a:prstGeom>
          <a:noFill/>
        </p:spPr>
        <p:txBody>
          <a:bodyPr wrap="square" lIns="0" rIns="0" tIns="0" bIns="0" anchor="t">
            <a:spAutoFit/>
          </a:bodyPr>
          <a:lstStyle/>
          <a:p>
            <a:pPr algn="l"/>
            <a:r>
              <a:rPr sz="1400" b="0">
                <a:solidFill>
                  <a:srgbClr val="E8F1F5"/>
                </a:solidFill>
                <a:latin typeface="Trebuchet MS"/>
              </a:rPr>
              <a:t>"Of everyone we flagged,</a:t>
            </a:r>
          </a:p>
          <a:p>
            <a:pPr algn="l"/>
            <a:r>
              <a:rPr sz="1400" b="0">
                <a:solidFill>
                  <a:srgbClr val="E8F1F5"/>
                </a:solidFill>
                <a:latin typeface="Trebuchet MS"/>
              </a:rPr>
              <a:t>what fraction were correct?"</a:t>
            </a:r>
          </a:p>
        </p:txBody>
      </p:sp>
      <p:sp>
        <p:nvSpPr>
          <p:cNvPr id="9" name="Rectangle 8"/>
          <p:cNvSpPr/>
          <p:nvPr/>
        </p:nvSpPr>
        <p:spPr>
          <a:xfrm>
            <a:off x="6172200" y="1737360"/>
            <a:ext cx="5486400" cy="2194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74519"/>
            <a:ext cx="5029200" cy="457200"/>
          </a:xfrm>
          <a:prstGeom prst="rect">
            <a:avLst/>
          </a:prstGeom>
          <a:noFill/>
        </p:spPr>
        <p:txBody>
          <a:bodyPr wrap="square" lIns="0" rIns="0" tIns="0" bIns="0" anchor="t">
            <a:spAutoFit/>
          </a:bodyPr>
          <a:lstStyle/>
          <a:p>
            <a:pPr algn="l"/>
            <a:r>
              <a:rPr sz="1800" b="1">
                <a:solidFill>
                  <a:srgbClr val="FFFFFF"/>
                </a:solidFill>
                <a:latin typeface="Calibri"/>
              </a:rPr>
              <a:t>Recall</a:t>
            </a:r>
          </a:p>
        </p:txBody>
      </p:sp>
      <p:sp>
        <p:nvSpPr>
          <p:cNvPr id="11" name="TextBox 10"/>
          <p:cNvSpPr txBox="1"/>
          <p:nvPr/>
        </p:nvSpPr>
        <p:spPr>
          <a:xfrm>
            <a:off x="6400800" y="2377440"/>
            <a:ext cx="5029200" cy="548640"/>
          </a:xfrm>
          <a:prstGeom prst="rect">
            <a:avLst/>
          </a:prstGeom>
          <a:noFill/>
        </p:spPr>
        <p:txBody>
          <a:bodyPr wrap="square" lIns="0" rIns="0" tIns="0" bIns="0" anchor="t">
            <a:spAutoFit/>
          </a:bodyPr>
          <a:lstStyle/>
          <a:p>
            <a:pPr algn="l"/>
            <a:r>
              <a:rPr sz="2400" b="1">
                <a:solidFill>
                  <a:srgbClr val="F9E795"/>
                </a:solidFill>
                <a:latin typeface="Consolas"/>
              </a:rPr>
              <a:t>TP / (TP + FN)</a:t>
            </a:r>
          </a:p>
        </p:txBody>
      </p:sp>
      <p:sp>
        <p:nvSpPr>
          <p:cNvPr id="12" name="TextBox 11"/>
          <p:cNvSpPr txBox="1"/>
          <p:nvPr/>
        </p:nvSpPr>
        <p:spPr>
          <a:xfrm>
            <a:off x="6400800" y="3017520"/>
            <a:ext cx="5029200" cy="731520"/>
          </a:xfrm>
          <a:prstGeom prst="rect">
            <a:avLst/>
          </a:prstGeom>
          <a:noFill/>
        </p:spPr>
        <p:txBody>
          <a:bodyPr wrap="square" lIns="0" rIns="0" tIns="0" bIns="0" anchor="t">
            <a:spAutoFit/>
          </a:bodyPr>
          <a:lstStyle/>
          <a:p>
            <a:pPr algn="l"/>
            <a:r>
              <a:rPr sz="1400" b="0">
                <a:solidFill>
                  <a:srgbClr val="E8F1F5"/>
                </a:solidFill>
                <a:latin typeface="Trebuchet MS"/>
              </a:rPr>
              <a:t>"Of all actual positives,</a:t>
            </a:r>
          </a:p>
          <a:p>
            <a:pPr algn="l"/>
            <a:r>
              <a:rPr sz="1400" b="0">
                <a:solidFill>
                  <a:srgbClr val="E8F1F5"/>
                </a:solidFill>
                <a:latin typeface="Trebuchet MS"/>
              </a:rPr>
              <a:t>what fraction did we catch?"</a:t>
            </a:r>
          </a:p>
        </p:txBody>
      </p:sp>
      <p:sp>
        <p:nvSpPr>
          <p:cNvPr id="13" name="TextBox 12"/>
          <p:cNvSpPr txBox="1"/>
          <p:nvPr/>
        </p:nvSpPr>
        <p:spPr>
          <a:xfrm>
            <a:off x="548640" y="4206240"/>
            <a:ext cx="11064240" cy="365760"/>
          </a:xfrm>
          <a:prstGeom prst="rect">
            <a:avLst/>
          </a:prstGeom>
          <a:noFill/>
        </p:spPr>
        <p:txBody>
          <a:bodyPr wrap="square" lIns="0" rIns="0" tIns="0" bIns="0" anchor="t">
            <a:spAutoFit/>
          </a:bodyPr>
          <a:lstStyle/>
          <a:p>
            <a:pPr algn="l"/>
            <a:r>
              <a:rPr sz="1500" b="1">
                <a:solidFill>
                  <a:srgbClr val="1C7293"/>
                </a:solidFill>
                <a:latin typeface="Calibri"/>
              </a:rPr>
              <a:t>When to prioritise what</a:t>
            </a:r>
          </a:p>
        </p:txBody>
      </p:sp>
      <p:sp>
        <p:nvSpPr>
          <p:cNvPr id="14" name="TextBox 13"/>
          <p:cNvSpPr txBox="1"/>
          <p:nvPr/>
        </p:nvSpPr>
        <p:spPr>
          <a:xfrm>
            <a:off x="640080" y="4754880"/>
            <a:ext cx="5029200" cy="365760"/>
          </a:xfrm>
          <a:prstGeom prst="rect">
            <a:avLst/>
          </a:prstGeom>
          <a:noFill/>
        </p:spPr>
        <p:txBody>
          <a:bodyPr wrap="square" lIns="0" rIns="0" tIns="0" bIns="0" anchor="t">
            <a:spAutoFit/>
          </a:bodyPr>
          <a:lstStyle/>
          <a:p>
            <a:pPr algn="l"/>
            <a:r>
              <a:rPr sz="1300" b="1">
                <a:solidFill>
                  <a:srgbClr val="065A82"/>
                </a:solidFill>
                <a:latin typeface="Calibri"/>
              </a:rPr>
              <a:t>▸ High recall (catch most positives)</a:t>
            </a:r>
          </a:p>
        </p:txBody>
      </p:sp>
      <p:sp>
        <p:nvSpPr>
          <p:cNvPr id="15" name="TextBox 14"/>
          <p:cNvSpPr txBox="1"/>
          <p:nvPr/>
        </p:nvSpPr>
        <p:spPr>
          <a:xfrm>
            <a:off x="5760720" y="4754880"/>
            <a:ext cx="5943600" cy="365760"/>
          </a:xfrm>
          <a:prstGeom prst="rect">
            <a:avLst/>
          </a:prstGeom>
          <a:noFill/>
        </p:spPr>
        <p:txBody>
          <a:bodyPr wrap="square" lIns="0" rIns="0" tIns="0" bIns="0" anchor="t">
            <a:spAutoFit/>
          </a:bodyPr>
          <a:lstStyle/>
          <a:p>
            <a:pPr algn="l"/>
            <a:r>
              <a:rPr sz="1200" b="0">
                <a:solidFill>
                  <a:srgbClr val="36454F"/>
                </a:solidFill>
                <a:latin typeface="Calibri"/>
              </a:rPr>
              <a:t>Cancer screening · fraud detection · security alerts</a:t>
            </a:r>
          </a:p>
        </p:txBody>
      </p:sp>
      <p:sp>
        <p:nvSpPr>
          <p:cNvPr id="16" name="TextBox 15"/>
          <p:cNvSpPr txBox="1"/>
          <p:nvPr/>
        </p:nvSpPr>
        <p:spPr>
          <a:xfrm>
            <a:off x="640080" y="5257800"/>
            <a:ext cx="5029200" cy="365760"/>
          </a:xfrm>
          <a:prstGeom prst="rect">
            <a:avLst/>
          </a:prstGeom>
          <a:noFill/>
        </p:spPr>
        <p:txBody>
          <a:bodyPr wrap="square" lIns="0" rIns="0" tIns="0" bIns="0" anchor="t">
            <a:spAutoFit/>
          </a:bodyPr>
          <a:lstStyle/>
          <a:p>
            <a:pPr algn="l"/>
            <a:r>
              <a:rPr sz="1300" b="1">
                <a:solidFill>
                  <a:srgbClr val="065A82"/>
                </a:solidFill>
                <a:latin typeface="Calibri"/>
              </a:rPr>
              <a:t>▸ High precision (don't bother people falsely)</a:t>
            </a:r>
          </a:p>
        </p:txBody>
      </p:sp>
      <p:sp>
        <p:nvSpPr>
          <p:cNvPr id="17" name="TextBox 16"/>
          <p:cNvSpPr txBox="1"/>
          <p:nvPr/>
        </p:nvSpPr>
        <p:spPr>
          <a:xfrm>
            <a:off x="5760720" y="5257800"/>
            <a:ext cx="5943600" cy="365760"/>
          </a:xfrm>
          <a:prstGeom prst="rect">
            <a:avLst/>
          </a:prstGeom>
          <a:noFill/>
        </p:spPr>
        <p:txBody>
          <a:bodyPr wrap="square" lIns="0" rIns="0" tIns="0" bIns="0" anchor="t">
            <a:spAutoFit/>
          </a:bodyPr>
          <a:lstStyle/>
          <a:p>
            <a:pPr algn="l"/>
            <a:r>
              <a:rPr sz="1200" b="0">
                <a:solidFill>
                  <a:srgbClr val="36454F"/>
                </a:solidFill>
                <a:latin typeface="Calibri"/>
              </a:rPr>
              <a:t>Spam filters · automated hiring · marketing emails</a:t>
            </a:r>
          </a:p>
        </p:txBody>
      </p:sp>
      <p:sp>
        <p:nvSpPr>
          <p:cNvPr id="18" name="TextBox 17"/>
          <p:cNvSpPr txBox="1"/>
          <p:nvPr/>
        </p:nvSpPr>
        <p:spPr>
          <a:xfrm>
            <a:off x="640080" y="5760720"/>
            <a:ext cx="5029200" cy="365760"/>
          </a:xfrm>
          <a:prstGeom prst="rect">
            <a:avLst/>
          </a:prstGeom>
          <a:noFill/>
        </p:spPr>
        <p:txBody>
          <a:bodyPr wrap="square" lIns="0" rIns="0" tIns="0" bIns="0" anchor="t">
            <a:spAutoFit/>
          </a:bodyPr>
          <a:lstStyle/>
          <a:p>
            <a:pPr algn="l"/>
            <a:r>
              <a:rPr sz="1300" b="1">
                <a:solidFill>
                  <a:srgbClr val="065A82"/>
                </a:solidFill>
                <a:latin typeface="Calibri"/>
              </a:rPr>
              <a:t>▸ Balanced — use F1</a:t>
            </a:r>
          </a:p>
        </p:txBody>
      </p:sp>
      <p:sp>
        <p:nvSpPr>
          <p:cNvPr id="19" name="TextBox 18"/>
          <p:cNvSpPr txBox="1"/>
          <p:nvPr/>
        </p:nvSpPr>
        <p:spPr>
          <a:xfrm>
            <a:off x="5760720" y="5760720"/>
            <a:ext cx="5943600" cy="365760"/>
          </a:xfrm>
          <a:prstGeom prst="rect">
            <a:avLst/>
          </a:prstGeom>
          <a:noFill/>
        </p:spPr>
        <p:txBody>
          <a:bodyPr wrap="square" lIns="0" rIns="0" tIns="0" bIns="0" anchor="t">
            <a:spAutoFit/>
          </a:bodyPr>
          <a:lstStyle/>
          <a:p>
            <a:pPr algn="l"/>
            <a:r>
              <a:rPr sz="1200" b="0">
                <a:solidFill>
                  <a:srgbClr val="36454F"/>
                </a:solidFill>
                <a:latin typeface="Calibri"/>
              </a:rPr>
              <a:t>When both kinds of error have meaningful cost</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19/28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F1 Score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A single number that balances precision and recall</a:t>
            </a:r>
          </a:p>
        </p:txBody>
      </p:sp>
      <p:sp>
        <p:nvSpPr>
          <p:cNvPr id="5" name="Rectangle 4"/>
          <p:cNvSpPr/>
          <p:nvPr/>
        </p:nvSpPr>
        <p:spPr>
          <a:xfrm>
            <a:off x="548640" y="1737360"/>
            <a:ext cx="11064240" cy="13716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365760"/>
          </a:xfrm>
          <a:prstGeom prst="rect">
            <a:avLst/>
          </a:prstGeom>
          <a:noFill/>
        </p:spPr>
        <p:txBody>
          <a:bodyPr wrap="square" lIns="0" rIns="0" tIns="0" bIns="0" anchor="t">
            <a:spAutoFit/>
          </a:bodyPr>
          <a:lstStyle/>
          <a:p>
            <a:pPr algn="l"/>
            <a:r>
              <a:rPr sz="1400" b="0">
                <a:solidFill>
                  <a:srgbClr val="E8F1F5"/>
                </a:solidFill>
                <a:latin typeface="Calibri"/>
              </a:rPr>
              <a:t>Formula</a:t>
            </a:r>
          </a:p>
        </p:txBody>
      </p:sp>
      <p:sp>
        <p:nvSpPr>
          <p:cNvPr id="7" name="TextBox 6"/>
          <p:cNvSpPr txBox="1"/>
          <p:nvPr/>
        </p:nvSpPr>
        <p:spPr>
          <a:xfrm>
            <a:off x="822960" y="2286000"/>
            <a:ext cx="10515600" cy="822960"/>
          </a:xfrm>
          <a:prstGeom prst="rect">
            <a:avLst/>
          </a:prstGeom>
          <a:noFill/>
        </p:spPr>
        <p:txBody>
          <a:bodyPr wrap="square" lIns="0" rIns="0" tIns="0" bIns="0" anchor="t">
            <a:spAutoFit/>
          </a:bodyPr>
          <a:lstStyle/>
          <a:p>
            <a:pPr algn="ctr"/>
            <a:r>
              <a:rPr sz="2200" b="1">
                <a:solidFill>
                  <a:srgbClr val="F9E795"/>
                </a:solidFill>
                <a:latin typeface="Consolas"/>
              </a:rPr>
              <a:t>F1 = 2 · (Precision · Recall) / (Precision + Recall)</a:t>
            </a:r>
          </a:p>
        </p:txBody>
      </p:sp>
      <p:sp>
        <p:nvSpPr>
          <p:cNvPr id="8" name="TextBox 7"/>
          <p:cNvSpPr txBox="1"/>
          <p:nvPr/>
        </p:nvSpPr>
        <p:spPr>
          <a:xfrm>
            <a:off x="548640" y="3383280"/>
            <a:ext cx="11064240" cy="457200"/>
          </a:xfrm>
          <a:prstGeom prst="rect">
            <a:avLst/>
          </a:prstGeom>
          <a:noFill/>
        </p:spPr>
        <p:txBody>
          <a:bodyPr wrap="square" lIns="0" rIns="0" tIns="0" bIns="0" anchor="t">
            <a:spAutoFit/>
          </a:bodyPr>
          <a:lstStyle/>
          <a:p>
            <a:pPr algn="l"/>
            <a:r>
              <a:rPr sz="1400" b="1">
                <a:solidFill>
                  <a:srgbClr val="1C7293"/>
                </a:solidFill>
                <a:latin typeface="Calibri"/>
              </a:rPr>
              <a:t>Sarah's numbers — at two thresholds:</a:t>
            </a:r>
          </a:p>
        </p:txBody>
      </p:sp>
      <p:sp>
        <p:nvSpPr>
          <p:cNvPr id="9" name="Rectangle 8"/>
          <p:cNvSpPr/>
          <p:nvPr/>
        </p:nvSpPr>
        <p:spPr>
          <a:xfrm>
            <a:off x="548640" y="3931920"/>
            <a:ext cx="110642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005072"/>
            <a:ext cx="3200400" cy="274320"/>
          </a:xfrm>
          <a:prstGeom prst="rect">
            <a:avLst/>
          </a:prstGeom>
          <a:noFill/>
        </p:spPr>
        <p:txBody>
          <a:bodyPr wrap="square" lIns="0" rIns="0" tIns="0" bIns="0" anchor="t">
            <a:spAutoFit/>
          </a:bodyPr>
          <a:lstStyle/>
          <a:p>
            <a:pPr algn="l"/>
            <a:r>
              <a:rPr sz="1300" b="1">
                <a:solidFill>
                  <a:srgbClr val="FFFFFF"/>
                </a:solidFill>
                <a:latin typeface="Calibri"/>
              </a:rPr>
              <a:t>Metric</a:t>
            </a:r>
          </a:p>
        </p:txBody>
      </p:sp>
      <p:sp>
        <p:nvSpPr>
          <p:cNvPr id="11" name="TextBox 10"/>
          <p:cNvSpPr txBox="1"/>
          <p:nvPr/>
        </p:nvSpPr>
        <p:spPr>
          <a:xfrm>
            <a:off x="4206240" y="4005072"/>
            <a:ext cx="2286000" cy="274320"/>
          </a:xfrm>
          <a:prstGeom prst="rect">
            <a:avLst/>
          </a:prstGeom>
          <a:noFill/>
        </p:spPr>
        <p:txBody>
          <a:bodyPr wrap="square" lIns="0" rIns="0" tIns="0" bIns="0" anchor="t">
            <a:spAutoFit/>
          </a:bodyPr>
          <a:lstStyle/>
          <a:p>
            <a:pPr algn="l"/>
            <a:r>
              <a:rPr sz="1300" b="1">
                <a:solidFill>
                  <a:srgbClr val="FFFFFF"/>
                </a:solidFill>
                <a:latin typeface="Consolas"/>
              </a:rPr>
              <a:t>@ T = 0.50</a:t>
            </a:r>
          </a:p>
        </p:txBody>
      </p:sp>
      <p:sp>
        <p:nvSpPr>
          <p:cNvPr id="12" name="TextBox 11"/>
          <p:cNvSpPr txBox="1"/>
          <p:nvPr/>
        </p:nvSpPr>
        <p:spPr>
          <a:xfrm>
            <a:off x="6949440" y="4005072"/>
            <a:ext cx="2286000" cy="274320"/>
          </a:xfrm>
          <a:prstGeom prst="rect">
            <a:avLst/>
          </a:prstGeom>
          <a:noFill/>
        </p:spPr>
        <p:txBody>
          <a:bodyPr wrap="square" lIns="0" rIns="0" tIns="0" bIns="0" anchor="t">
            <a:spAutoFit/>
          </a:bodyPr>
          <a:lstStyle/>
          <a:p>
            <a:pPr algn="l"/>
            <a:r>
              <a:rPr sz="1300" b="1">
                <a:solidFill>
                  <a:srgbClr val="FFFFFF"/>
                </a:solidFill>
                <a:latin typeface="Consolas"/>
              </a:rPr>
              <a:t>@ T = 0.25</a:t>
            </a:r>
          </a:p>
        </p:txBody>
      </p:sp>
      <p:sp>
        <p:nvSpPr>
          <p:cNvPr id="13" name="TextBox 12"/>
          <p:cNvSpPr txBox="1"/>
          <p:nvPr/>
        </p:nvSpPr>
        <p:spPr>
          <a:xfrm>
            <a:off x="9601200" y="4005072"/>
            <a:ext cx="1828800" cy="274320"/>
          </a:xfrm>
          <a:prstGeom prst="rect">
            <a:avLst/>
          </a:prstGeom>
          <a:noFill/>
        </p:spPr>
        <p:txBody>
          <a:bodyPr wrap="square" lIns="0" rIns="0" tIns="0" bIns="0" anchor="t">
            <a:spAutoFit/>
          </a:bodyPr>
          <a:lstStyle/>
          <a:p>
            <a:pPr algn="l"/>
            <a:r>
              <a:rPr sz="1400" b="1">
                <a:solidFill>
                  <a:srgbClr val="FFFFFF"/>
                </a:solidFill>
                <a:latin typeface="Calibri"/>
              </a:rPr>
              <a:t/>
            </a:r>
          </a:p>
        </p:txBody>
      </p:sp>
      <p:sp>
        <p:nvSpPr>
          <p:cNvPr id="14" name="Rectangle 13"/>
          <p:cNvSpPr/>
          <p:nvPr/>
        </p:nvSpPr>
        <p:spPr>
          <a:xfrm>
            <a:off x="548640" y="4297680"/>
            <a:ext cx="11064240" cy="3657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370832"/>
            <a:ext cx="3200400" cy="274320"/>
          </a:xfrm>
          <a:prstGeom prst="rect">
            <a:avLst/>
          </a:prstGeom>
          <a:noFill/>
        </p:spPr>
        <p:txBody>
          <a:bodyPr wrap="square" lIns="0" rIns="0" tIns="0" bIns="0" anchor="t">
            <a:spAutoFit/>
          </a:bodyPr>
          <a:lstStyle/>
          <a:p>
            <a:pPr algn="l"/>
            <a:r>
              <a:rPr sz="1300" b="0">
                <a:solidFill>
                  <a:srgbClr val="36454F"/>
                </a:solidFill>
                <a:latin typeface="Calibri"/>
              </a:rPr>
              <a:t>Accuracy</a:t>
            </a:r>
          </a:p>
        </p:txBody>
      </p:sp>
      <p:sp>
        <p:nvSpPr>
          <p:cNvPr id="16" name="TextBox 15"/>
          <p:cNvSpPr txBox="1"/>
          <p:nvPr/>
        </p:nvSpPr>
        <p:spPr>
          <a:xfrm>
            <a:off x="4206240" y="4370832"/>
            <a:ext cx="2286000" cy="274320"/>
          </a:xfrm>
          <a:prstGeom prst="rect">
            <a:avLst/>
          </a:prstGeom>
          <a:noFill/>
        </p:spPr>
        <p:txBody>
          <a:bodyPr wrap="square" lIns="0" rIns="0" tIns="0" bIns="0" anchor="t">
            <a:spAutoFit/>
          </a:bodyPr>
          <a:lstStyle/>
          <a:p>
            <a:pPr algn="l"/>
            <a:r>
              <a:rPr sz="1300" b="0">
                <a:solidFill>
                  <a:srgbClr val="36454F"/>
                </a:solidFill>
                <a:latin typeface="Consolas"/>
              </a:rPr>
              <a:t>0.878</a:t>
            </a:r>
          </a:p>
        </p:txBody>
      </p:sp>
      <p:sp>
        <p:nvSpPr>
          <p:cNvPr id="17" name="TextBox 16"/>
          <p:cNvSpPr txBox="1"/>
          <p:nvPr/>
        </p:nvSpPr>
        <p:spPr>
          <a:xfrm>
            <a:off x="6949440" y="4370832"/>
            <a:ext cx="2286000" cy="274320"/>
          </a:xfrm>
          <a:prstGeom prst="rect">
            <a:avLst/>
          </a:prstGeom>
          <a:noFill/>
        </p:spPr>
        <p:txBody>
          <a:bodyPr wrap="square" lIns="0" rIns="0" tIns="0" bIns="0" anchor="t">
            <a:spAutoFit/>
          </a:bodyPr>
          <a:lstStyle/>
          <a:p>
            <a:pPr algn="l"/>
            <a:r>
              <a:rPr sz="1300" b="0">
                <a:solidFill>
                  <a:srgbClr val="36454F"/>
                </a:solidFill>
                <a:latin typeface="Consolas"/>
              </a:rPr>
              <a:t>0.840</a:t>
            </a:r>
          </a:p>
        </p:txBody>
      </p:sp>
      <p:sp>
        <p:nvSpPr>
          <p:cNvPr id="18" name="TextBox 17"/>
          <p:cNvSpPr txBox="1"/>
          <p:nvPr/>
        </p:nvSpPr>
        <p:spPr>
          <a:xfrm>
            <a:off x="9601200" y="4370832"/>
            <a:ext cx="1828800" cy="274320"/>
          </a:xfrm>
          <a:prstGeom prst="rect">
            <a:avLst/>
          </a:prstGeom>
          <a:noFill/>
        </p:spPr>
        <p:txBody>
          <a:bodyPr wrap="square" lIns="0" rIns="0" tIns="0" bIns="0" anchor="t">
            <a:spAutoFit/>
          </a:bodyPr>
          <a:lstStyle/>
          <a:p>
            <a:pPr algn="l"/>
            <a:r>
              <a:rPr sz="1400" b="1">
                <a:solidFill>
                  <a:srgbClr val="F96167"/>
                </a:solidFill>
                <a:latin typeface="Calibri"/>
              </a:rPr>
              <a:t>↓</a:t>
            </a:r>
          </a:p>
        </p:txBody>
      </p:sp>
      <p:sp>
        <p:nvSpPr>
          <p:cNvPr id="19" name="Rectangle 18"/>
          <p:cNvSpPr/>
          <p:nvPr/>
        </p:nvSpPr>
        <p:spPr>
          <a:xfrm>
            <a:off x="548640" y="4663440"/>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736592"/>
            <a:ext cx="3200400" cy="274320"/>
          </a:xfrm>
          <a:prstGeom prst="rect">
            <a:avLst/>
          </a:prstGeom>
          <a:noFill/>
        </p:spPr>
        <p:txBody>
          <a:bodyPr wrap="square" lIns="0" rIns="0" tIns="0" bIns="0" anchor="t">
            <a:spAutoFit/>
          </a:bodyPr>
          <a:lstStyle/>
          <a:p>
            <a:pPr algn="l"/>
            <a:r>
              <a:rPr sz="1300" b="0">
                <a:solidFill>
                  <a:srgbClr val="36454F"/>
                </a:solidFill>
                <a:latin typeface="Calibri"/>
              </a:rPr>
              <a:t>Precision</a:t>
            </a:r>
          </a:p>
        </p:txBody>
      </p:sp>
      <p:sp>
        <p:nvSpPr>
          <p:cNvPr id="21" name="TextBox 20"/>
          <p:cNvSpPr txBox="1"/>
          <p:nvPr/>
        </p:nvSpPr>
        <p:spPr>
          <a:xfrm>
            <a:off x="4206240" y="4736592"/>
            <a:ext cx="2286000" cy="274320"/>
          </a:xfrm>
          <a:prstGeom prst="rect">
            <a:avLst/>
          </a:prstGeom>
          <a:noFill/>
        </p:spPr>
        <p:txBody>
          <a:bodyPr wrap="square" lIns="0" rIns="0" tIns="0" bIns="0" anchor="t">
            <a:spAutoFit/>
          </a:bodyPr>
          <a:lstStyle/>
          <a:p>
            <a:pPr algn="l"/>
            <a:r>
              <a:rPr sz="1300" b="0">
                <a:solidFill>
                  <a:srgbClr val="36454F"/>
                </a:solidFill>
                <a:latin typeface="Consolas"/>
              </a:rPr>
              <a:t>0.368</a:t>
            </a:r>
          </a:p>
        </p:txBody>
      </p:sp>
      <p:sp>
        <p:nvSpPr>
          <p:cNvPr id="22" name="TextBox 21"/>
          <p:cNvSpPr txBox="1"/>
          <p:nvPr/>
        </p:nvSpPr>
        <p:spPr>
          <a:xfrm>
            <a:off x="6949440" y="4736592"/>
            <a:ext cx="2286000" cy="274320"/>
          </a:xfrm>
          <a:prstGeom prst="rect">
            <a:avLst/>
          </a:prstGeom>
          <a:noFill/>
        </p:spPr>
        <p:txBody>
          <a:bodyPr wrap="square" lIns="0" rIns="0" tIns="0" bIns="0" anchor="t">
            <a:spAutoFit/>
          </a:bodyPr>
          <a:lstStyle/>
          <a:p>
            <a:pPr algn="l"/>
            <a:r>
              <a:rPr sz="1300" b="0">
                <a:solidFill>
                  <a:srgbClr val="36454F"/>
                </a:solidFill>
                <a:latin typeface="Consolas"/>
              </a:rPr>
              <a:t>0.303</a:t>
            </a:r>
          </a:p>
        </p:txBody>
      </p:sp>
      <p:sp>
        <p:nvSpPr>
          <p:cNvPr id="23" name="TextBox 22"/>
          <p:cNvSpPr txBox="1"/>
          <p:nvPr/>
        </p:nvSpPr>
        <p:spPr>
          <a:xfrm>
            <a:off x="9601200" y="4736592"/>
            <a:ext cx="1828800" cy="274320"/>
          </a:xfrm>
          <a:prstGeom prst="rect">
            <a:avLst/>
          </a:prstGeom>
          <a:noFill/>
        </p:spPr>
        <p:txBody>
          <a:bodyPr wrap="square" lIns="0" rIns="0" tIns="0" bIns="0" anchor="t">
            <a:spAutoFit/>
          </a:bodyPr>
          <a:lstStyle/>
          <a:p>
            <a:pPr algn="l"/>
            <a:r>
              <a:rPr sz="1400" b="1">
                <a:solidFill>
                  <a:srgbClr val="F96167"/>
                </a:solidFill>
                <a:latin typeface="Calibri"/>
              </a:rPr>
              <a:t>↓</a:t>
            </a:r>
          </a:p>
        </p:txBody>
      </p:sp>
      <p:sp>
        <p:nvSpPr>
          <p:cNvPr id="24" name="Rectangle 23"/>
          <p:cNvSpPr/>
          <p:nvPr/>
        </p:nvSpPr>
        <p:spPr>
          <a:xfrm>
            <a:off x="548640" y="5029200"/>
            <a:ext cx="11064240" cy="3657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02352"/>
            <a:ext cx="3200400" cy="274320"/>
          </a:xfrm>
          <a:prstGeom prst="rect">
            <a:avLst/>
          </a:prstGeom>
          <a:noFill/>
        </p:spPr>
        <p:txBody>
          <a:bodyPr wrap="square" lIns="0" rIns="0" tIns="0" bIns="0" anchor="t">
            <a:spAutoFit/>
          </a:bodyPr>
          <a:lstStyle/>
          <a:p>
            <a:pPr algn="l"/>
            <a:r>
              <a:rPr sz="1300" b="0">
                <a:solidFill>
                  <a:srgbClr val="36454F"/>
                </a:solidFill>
                <a:latin typeface="Calibri"/>
              </a:rPr>
              <a:t>Recall</a:t>
            </a:r>
          </a:p>
        </p:txBody>
      </p:sp>
      <p:sp>
        <p:nvSpPr>
          <p:cNvPr id="26" name="TextBox 25"/>
          <p:cNvSpPr txBox="1"/>
          <p:nvPr/>
        </p:nvSpPr>
        <p:spPr>
          <a:xfrm>
            <a:off x="4206240" y="5102352"/>
            <a:ext cx="2286000" cy="274320"/>
          </a:xfrm>
          <a:prstGeom prst="rect">
            <a:avLst/>
          </a:prstGeom>
          <a:noFill/>
        </p:spPr>
        <p:txBody>
          <a:bodyPr wrap="square" lIns="0" rIns="0" tIns="0" bIns="0" anchor="t">
            <a:spAutoFit/>
          </a:bodyPr>
          <a:lstStyle/>
          <a:p>
            <a:pPr algn="l"/>
            <a:r>
              <a:rPr sz="1300" b="0">
                <a:solidFill>
                  <a:srgbClr val="36454F"/>
                </a:solidFill>
                <a:latin typeface="Consolas"/>
              </a:rPr>
              <a:t>0.029</a:t>
            </a:r>
          </a:p>
        </p:txBody>
      </p:sp>
      <p:sp>
        <p:nvSpPr>
          <p:cNvPr id="27" name="TextBox 26"/>
          <p:cNvSpPr txBox="1"/>
          <p:nvPr/>
        </p:nvSpPr>
        <p:spPr>
          <a:xfrm>
            <a:off x="6949440" y="5102352"/>
            <a:ext cx="2286000" cy="274320"/>
          </a:xfrm>
          <a:prstGeom prst="rect">
            <a:avLst/>
          </a:prstGeom>
          <a:noFill/>
        </p:spPr>
        <p:txBody>
          <a:bodyPr wrap="square" lIns="0" rIns="0" tIns="0" bIns="0" anchor="t">
            <a:spAutoFit/>
          </a:bodyPr>
          <a:lstStyle/>
          <a:p>
            <a:pPr algn="l"/>
            <a:r>
              <a:rPr sz="1300" b="0">
                <a:solidFill>
                  <a:srgbClr val="36454F"/>
                </a:solidFill>
                <a:latin typeface="Consolas"/>
              </a:rPr>
              <a:t>0.264</a:t>
            </a:r>
          </a:p>
        </p:txBody>
      </p:sp>
      <p:sp>
        <p:nvSpPr>
          <p:cNvPr id="28" name="TextBox 27"/>
          <p:cNvSpPr txBox="1"/>
          <p:nvPr/>
        </p:nvSpPr>
        <p:spPr>
          <a:xfrm>
            <a:off x="9601200" y="5102352"/>
            <a:ext cx="1828800" cy="274320"/>
          </a:xfrm>
          <a:prstGeom prst="rect">
            <a:avLst/>
          </a:prstGeom>
          <a:noFill/>
        </p:spPr>
        <p:txBody>
          <a:bodyPr wrap="square" lIns="0" rIns="0" tIns="0" bIns="0" anchor="t">
            <a:spAutoFit/>
          </a:bodyPr>
          <a:lstStyle/>
          <a:p>
            <a:pPr algn="l"/>
            <a:r>
              <a:rPr sz="1400" b="1">
                <a:solidFill>
                  <a:srgbClr val="1C7293"/>
                </a:solidFill>
                <a:latin typeface="Calibri"/>
              </a:rPr>
              <a:t>↑↑</a:t>
            </a:r>
          </a:p>
        </p:txBody>
      </p:sp>
      <p:sp>
        <p:nvSpPr>
          <p:cNvPr id="29" name="Rectangle 28"/>
          <p:cNvSpPr/>
          <p:nvPr/>
        </p:nvSpPr>
        <p:spPr>
          <a:xfrm>
            <a:off x="548640" y="5394960"/>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68112"/>
            <a:ext cx="3200400" cy="274320"/>
          </a:xfrm>
          <a:prstGeom prst="rect">
            <a:avLst/>
          </a:prstGeom>
          <a:noFill/>
        </p:spPr>
        <p:txBody>
          <a:bodyPr wrap="square" lIns="0" rIns="0" tIns="0" bIns="0" anchor="t">
            <a:spAutoFit/>
          </a:bodyPr>
          <a:lstStyle/>
          <a:p>
            <a:pPr algn="l"/>
            <a:r>
              <a:rPr sz="1300" b="0">
                <a:solidFill>
                  <a:srgbClr val="36454F"/>
                </a:solidFill>
                <a:latin typeface="Calibri"/>
              </a:rPr>
              <a:t>F1</a:t>
            </a:r>
          </a:p>
        </p:txBody>
      </p:sp>
      <p:sp>
        <p:nvSpPr>
          <p:cNvPr id="31" name="TextBox 30"/>
          <p:cNvSpPr txBox="1"/>
          <p:nvPr/>
        </p:nvSpPr>
        <p:spPr>
          <a:xfrm>
            <a:off x="4206240" y="5468112"/>
            <a:ext cx="2286000" cy="274320"/>
          </a:xfrm>
          <a:prstGeom prst="rect">
            <a:avLst/>
          </a:prstGeom>
          <a:noFill/>
        </p:spPr>
        <p:txBody>
          <a:bodyPr wrap="square" lIns="0" rIns="0" tIns="0" bIns="0" anchor="t">
            <a:spAutoFit/>
          </a:bodyPr>
          <a:lstStyle/>
          <a:p>
            <a:pPr algn="l"/>
            <a:r>
              <a:rPr sz="1300" b="0">
                <a:solidFill>
                  <a:srgbClr val="36454F"/>
                </a:solidFill>
                <a:latin typeface="Consolas"/>
              </a:rPr>
              <a:t>0.054</a:t>
            </a:r>
          </a:p>
        </p:txBody>
      </p:sp>
      <p:sp>
        <p:nvSpPr>
          <p:cNvPr id="32" name="TextBox 31"/>
          <p:cNvSpPr txBox="1"/>
          <p:nvPr/>
        </p:nvSpPr>
        <p:spPr>
          <a:xfrm>
            <a:off x="6949440" y="5468112"/>
            <a:ext cx="2286000" cy="274320"/>
          </a:xfrm>
          <a:prstGeom prst="rect">
            <a:avLst/>
          </a:prstGeom>
          <a:noFill/>
        </p:spPr>
        <p:txBody>
          <a:bodyPr wrap="square" lIns="0" rIns="0" tIns="0" bIns="0" anchor="t">
            <a:spAutoFit/>
          </a:bodyPr>
          <a:lstStyle/>
          <a:p>
            <a:pPr algn="l"/>
            <a:r>
              <a:rPr sz="1300" b="0">
                <a:solidFill>
                  <a:srgbClr val="36454F"/>
                </a:solidFill>
                <a:latin typeface="Consolas"/>
              </a:rPr>
              <a:t>0.282</a:t>
            </a:r>
          </a:p>
        </p:txBody>
      </p:sp>
      <p:sp>
        <p:nvSpPr>
          <p:cNvPr id="33" name="TextBox 32"/>
          <p:cNvSpPr txBox="1"/>
          <p:nvPr/>
        </p:nvSpPr>
        <p:spPr>
          <a:xfrm>
            <a:off x="9601200" y="5468112"/>
            <a:ext cx="1828800" cy="274320"/>
          </a:xfrm>
          <a:prstGeom prst="rect">
            <a:avLst/>
          </a:prstGeom>
          <a:noFill/>
        </p:spPr>
        <p:txBody>
          <a:bodyPr wrap="square" lIns="0" rIns="0" tIns="0" bIns="0" anchor="t">
            <a:spAutoFit/>
          </a:bodyPr>
          <a:lstStyle/>
          <a:p>
            <a:pPr algn="l"/>
            <a:r>
              <a:rPr sz="1400" b="1">
                <a:solidFill>
                  <a:srgbClr val="1C7293"/>
                </a:solidFill>
                <a:latin typeface="Calibri"/>
              </a:rPr>
              <a:t>↑↑</a:t>
            </a:r>
          </a:p>
        </p:txBody>
      </p:sp>
      <p:sp>
        <p:nvSpPr>
          <p:cNvPr id="34" name="Rectangle 33"/>
          <p:cNvSpPr/>
          <p:nvPr/>
        </p:nvSpPr>
        <p:spPr>
          <a:xfrm>
            <a:off x="548640" y="5760720"/>
            <a:ext cx="11064240" cy="3657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833872"/>
            <a:ext cx="3200400" cy="274320"/>
          </a:xfrm>
          <a:prstGeom prst="rect">
            <a:avLst/>
          </a:prstGeom>
          <a:noFill/>
        </p:spPr>
        <p:txBody>
          <a:bodyPr wrap="square" lIns="0" rIns="0" tIns="0" bIns="0" anchor="t">
            <a:spAutoFit/>
          </a:bodyPr>
          <a:lstStyle/>
          <a:p>
            <a:pPr algn="l"/>
            <a:r>
              <a:rPr sz="1300" b="0">
                <a:solidFill>
                  <a:srgbClr val="36454F"/>
                </a:solidFill>
                <a:latin typeface="Calibri"/>
              </a:rPr>
              <a:t>n flagged</a:t>
            </a:r>
          </a:p>
        </p:txBody>
      </p:sp>
      <p:sp>
        <p:nvSpPr>
          <p:cNvPr id="36" name="TextBox 35"/>
          <p:cNvSpPr txBox="1"/>
          <p:nvPr/>
        </p:nvSpPr>
        <p:spPr>
          <a:xfrm>
            <a:off x="4206240" y="5833872"/>
            <a:ext cx="2286000" cy="274320"/>
          </a:xfrm>
          <a:prstGeom prst="rect">
            <a:avLst/>
          </a:prstGeom>
          <a:noFill/>
        </p:spPr>
        <p:txBody>
          <a:bodyPr wrap="square" lIns="0" rIns="0" tIns="0" bIns="0" anchor="t">
            <a:spAutoFit/>
          </a:bodyPr>
          <a:lstStyle/>
          <a:p>
            <a:pPr algn="l"/>
            <a:r>
              <a:rPr sz="1300" b="0">
                <a:solidFill>
                  <a:srgbClr val="36454F"/>
                </a:solidFill>
                <a:latin typeface="Consolas"/>
              </a:rPr>
              <a:t>19</a:t>
            </a:r>
          </a:p>
        </p:txBody>
      </p:sp>
      <p:sp>
        <p:nvSpPr>
          <p:cNvPr id="37" name="TextBox 36"/>
          <p:cNvSpPr txBox="1"/>
          <p:nvPr/>
        </p:nvSpPr>
        <p:spPr>
          <a:xfrm>
            <a:off x="6949440" y="5833872"/>
            <a:ext cx="2286000" cy="274320"/>
          </a:xfrm>
          <a:prstGeom prst="rect">
            <a:avLst/>
          </a:prstGeom>
          <a:noFill/>
        </p:spPr>
        <p:txBody>
          <a:bodyPr wrap="square" lIns="0" rIns="0" tIns="0" bIns="0" anchor="t">
            <a:spAutoFit/>
          </a:bodyPr>
          <a:lstStyle/>
          <a:p>
            <a:pPr algn="l"/>
            <a:r>
              <a:rPr sz="1300" b="0">
                <a:solidFill>
                  <a:srgbClr val="36454F"/>
                </a:solidFill>
                <a:latin typeface="Consolas"/>
              </a:rPr>
              <a:t>208</a:t>
            </a:r>
          </a:p>
        </p:txBody>
      </p:sp>
      <p:sp>
        <p:nvSpPr>
          <p:cNvPr id="38" name="TextBox 37"/>
          <p:cNvSpPr txBox="1"/>
          <p:nvPr/>
        </p:nvSpPr>
        <p:spPr>
          <a:xfrm>
            <a:off x="9601200" y="5833872"/>
            <a:ext cx="1828800" cy="274320"/>
          </a:xfrm>
          <a:prstGeom prst="rect">
            <a:avLst/>
          </a:prstGeom>
          <a:noFill/>
        </p:spPr>
        <p:txBody>
          <a:bodyPr wrap="square" lIns="0" rIns="0" tIns="0" bIns="0" anchor="t">
            <a:spAutoFit/>
          </a:bodyPr>
          <a:lstStyle/>
          <a:p>
            <a:pPr algn="l"/>
            <a:r>
              <a:rPr sz="1400" b="1">
                <a:solidFill>
                  <a:srgbClr val="1C7293"/>
                </a:solidFill>
                <a:latin typeface="Calibri"/>
              </a:rPr>
              <a:t>↑↑</a:t>
            </a:r>
          </a:p>
        </p:txBody>
      </p:sp>
      <p:sp>
        <p:nvSpPr>
          <p:cNvPr id="39" name="Rectangle 38"/>
          <p:cNvSpPr/>
          <p:nvPr/>
        </p:nvSpPr>
        <p:spPr>
          <a:xfrm>
            <a:off x="548640" y="6126480"/>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6199632"/>
            <a:ext cx="3200400" cy="274320"/>
          </a:xfrm>
          <a:prstGeom prst="rect">
            <a:avLst/>
          </a:prstGeom>
          <a:noFill/>
        </p:spPr>
        <p:txBody>
          <a:bodyPr wrap="square" lIns="0" rIns="0" tIns="0" bIns="0" anchor="t">
            <a:spAutoFit/>
          </a:bodyPr>
          <a:lstStyle/>
          <a:p>
            <a:pPr algn="l"/>
            <a:r>
              <a:rPr sz="1300" b="0">
                <a:solidFill>
                  <a:srgbClr val="36454F"/>
                </a:solidFill>
                <a:latin typeface="Calibri"/>
              </a:rPr>
              <a:t>Churners caught</a:t>
            </a:r>
          </a:p>
        </p:txBody>
      </p:sp>
      <p:sp>
        <p:nvSpPr>
          <p:cNvPr id="41" name="TextBox 40"/>
          <p:cNvSpPr txBox="1"/>
          <p:nvPr/>
        </p:nvSpPr>
        <p:spPr>
          <a:xfrm>
            <a:off x="4206240" y="6199632"/>
            <a:ext cx="2286000" cy="274320"/>
          </a:xfrm>
          <a:prstGeom prst="rect">
            <a:avLst/>
          </a:prstGeom>
          <a:noFill/>
        </p:spPr>
        <p:txBody>
          <a:bodyPr wrap="square" lIns="0" rIns="0" tIns="0" bIns="0" anchor="t">
            <a:spAutoFit/>
          </a:bodyPr>
          <a:lstStyle/>
          <a:p>
            <a:pPr algn="l"/>
            <a:r>
              <a:rPr sz="1300" b="0">
                <a:solidFill>
                  <a:srgbClr val="36454F"/>
                </a:solidFill>
                <a:latin typeface="Consolas"/>
              </a:rPr>
              <a:t>7 of 239</a:t>
            </a:r>
          </a:p>
        </p:txBody>
      </p:sp>
      <p:sp>
        <p:nvSpPr>
          <p:cNvPr id="42" name="TextBox 41"/>
          <p:cNvSpPr txBox="1"/>
          <p:nvPr/>
        </p:nvSpPr>
        <p:spPr>
          <a:xfrm>
            <a:off x="6949440" y="6199632"/>
            <a:ext cx="2286000" cy="274320"/>
          </a:xfrm>
          <a:prstGeom prst="rect">
            <a:avLst/>
          </a:prstGeom>
          <a:noFill/>
        </p:spPr>
        <p:txBody>
          <a:bodyPr wrap="square" lIns="0" rIns="0" tIns="0" bIns="0" anchor="t">
            <a:spAutoFit/>
          </a:bodyPr>
          <a:lstStyle/>
          <a:p>
            <a:pPr algn="l"/>
            <a:r>
              <a:rPr sz="1300" b="0">
                <a:solidFill>
                  <a:srgbClr val="36454F"/>
                </a:solidFill>
                <a:latin typeface="Consolas"/>
              </a:rPr>
              <a:t>63 of 239</a:t>
            </a:r>
          </a:p>
        </p:txBody>
      </p:sp>
      <p:sp>
        <p:nvSpPr>
          <p:cNvPr id="43" name="TextBox 42"/>
          <p:cNvSpPr txBox="1"/>
          <p:nvPr/>
        </p:nvSpPr>
        <p:spPr>
          <a:xfrm>
            <a:off x="9601200" y="6199632"/>
            <a:ext cx="1828800" cy="274320"/>
          </a:xfrm>
          <a:prstGeom prst="rect">
            <a:avLst/>
          </a:prstGeom>
          <a:noFill/>
        </p:spPr>
        <p:txBody>
          <a:bodyPr wrap="square" lIns="0" rIns="0" tIns="0" bIns="0" anchor="t">
            <a:spAutoFit/>
          </a:bodyPr>
          <a:lstStyle/>
          <a:p>
            <a:pPr algn="l"/>
            <a:r>
              <a:rPr sz="1400" b="1">
                <a:solidFill>
                  <a:srgbClr val="1C7293"/>
                </a:solidFill>
                <a:latin typeface="Calibri"/>
              </a:rPr>
              <a:t>↑↑</a:t>
            </a:r>
          </a:p>
        </p:txBody>
      </p:sp>
      <p:sp>
        <p:nvSpPr>
          <p:cNvPr id="44" name="TextBox 4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20/28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Threshold Choice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Where you put it IS the business decision</a:t>
            </a:r>
          </a:p>
        </p:txBody>
      </p:sp>
      <p:sp>
        <p:nvSpPr>
          <p:cNvPr id="5" name="TextBox 4"/>
          <p:cNvSpPr txBox="1"/>
          <p:nvPr/>
        </p:nvSpPr>
        <p:spPr>
          <a:xfrm>
            <a:off x="548640" y="1737360"/>
            <a:ext cx="11064240" cy="365760"/>
          </a:xfrm>
          <a:prstGeom prst="rect">
            <a:avLst/>
          </a:prstGeom>
          <a:noFill/>
        </p:spPr>
        <p:txBody>
          <a:bodyPr wrap="square" lIns="0" rIns="0" tIns="0" bIns="0" anchor="t">
            <a:spAutoFit/>
          </a:bodyPr>
          <a:lstStyle/>
          <a:p>
            <a:pPr algn="l"/>
            <a:r>
              <a:rPr sz="1400" b="0">
                <a:solidFill>
                  <a:srgbClr val="1C7293"/>
                </a:solidFill>
                <a:latin typeface="Calibri"/>
              </a:rPr>
              <a:t>Every threshold is a tradeoff between three things:</a:t>
            </a:r>
          </a:p>
        </p:txBody>
      </p:sp>
      <p:sp>
        <p:nvSpPr>
          <p:cNvPr id="6" name="Rectangle 5"/>
          <p:cNvSpPr/>
          <p:nvPr/>
        </p:nvSpPr>
        <p:spPr>
          <a:xfrm>
            <a:off x="914400" y="2377440"/>
            <a:ext cx="3108960" cy="21945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514600"/>
            <a:ext cx="2743200" cy="731520"/>
          </a:xfrm>
          <a:prstGeom prst="rect">
            <a:avLst/>
          </a:prstGeom>
          <a:noFill/>
        </p:spPr>
        <p:txBody>
          <a:bodyPr wrap="square" lIns="0" rIns="0" tIns="0" bIns="0" anchor="t">
            <a:spAutoFit/>
          </a:bodyPr>
          <a:lstStyle/>
          <a:p>
            <a:pPr algn="ctr"/>
            <a:r>
              <a:rPr sz="1600" b="1">
                <a:solidFill>
                  <a:srgbClr val="065A82"/>
                </a:solidFill>
                <a:latin typeface="Calibri"/>
              </a:rPr>
              <a:t>Operational</a:t>
            </a:r>
          </a:p>
          <a:p>
            <a:pPr algn="ctr"/>
            <a:r>
              <a:rPr sz="1600" b="1">
                <a:solidFill>
                  <a:srgbClr val="065A82"/>
                </a:solidFill>
                <a:latin typeface="Calibri"/>
              </a:rPr>
              <a:t>capacity</a:t>
            </a:r>
          </a:p>
        </p:txBody>
      </p:sp>
      <p:sp>
        <p:nvSpPr>
          <p:cNvPr id="8" name="TextBox 7"/>
          <p:cNvSpPr txBox="1"/>
          <p:nvPr/>
        </p:nvSpPr>
        <p:spPr>
          <a:xfrm>
            <a:off x="1097280" y="3291840"/>
            <a:ext cx="2743200" cy="731520"/>
          </a:xfrm>
          <a:prstGeom prst="rect">
            <a:avLst/>
          </a:prstGeom>
          <a:noFill/>
        </p:spPr>
        <p:txBody>
          <a:bodyPr wrap="square" lIns="0" rIns="0" tIns="0" bIns="0" anchor="t">
            <a:spAutoFit/>
          </a:bodyPr>
          <a:lstStyle/>
          <a:p>
            <a:pPr algn="ctr"/>
            <a:r>
              <a:rPr sz="1200" b="0">
                <a:solidFill>
                  <a:srgbClr val="36454F"/>
                </a:solidFill>
                <a:latin typeface="Calibri"/>
              </a:rPr>
              <a:t>How many can the team handle?</a:t>
            </a:r>
          </a:p>
        </p:txBody>
      </p:sp>
      <p:sp>
        <p:nvSpPr>
          <p:cNvPr id="9" name="TextBox 8"/>
          <p:cNvSpPr txBox="1"/>
          <p:nvPr/>
        </p:nvSpPr>
        <p:spPr>
          <a:xfrm>
            <a:off x="1097280" y="4023360"/>
            <a:ext cx="2743200" cy="457200"/>
          </a:xfrm>
          <a:prstGeom prst="rect">
            <a:avLst/>
          </a:prstGeom>
          <a:noFill/>
        </p:spPr>
        <p:txBody>
          <a:bodyPr wrap="square" lIns="0" rIns="0" tIns="0" bIns="0" anchor="t">
            <a:spAutoFit/>
          </a:bodyPr>
          <a:lstStyle/>
          <a:p>
            <a:pPr algn="ctr"/>
            <a:r>
              <a:rPr sz="1200" b="1">
                <a:solidFill>
                  <a:srgbClr val="1C7293"/>
                </a:solidFill>
                <a:latin typeface="Calibri"/>
              </a:rPr>
              <a:t>→ caps the number flagged</a:t>
            </a:r>
          </a:p>
        </p:txBody>
      </p:sp>
      <p:sp>
        <p:nvSpPr>
          <p:cNvPr id="10" name="Rectangle 9"/>
          <p:cNvSpPr/>
          <p:nvPr/>
        </p:nvSpPr>
        <p:spPr>
          <a:xfrm>
            <a:off x="4754880" y="2377440"/>
            <a:ext cx="3108960" cy="21945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514600"/>
            <a:ext cx="2743200" cy="731520"/>
          </a:xfrm>
          <a:prstGeom prst="rect">
            <a:avLst/>
          </a:prstGeom>
          <a:noFill/>
        </p:spPr>
        <p:txBody>
          <a:bodyPr wrap="square" lIns="0" rIns="0" tIns="0" bIns="0" anchor="t">
            <a:spAutoFit/>
          </a:bodyPr>
          <a:lstStyle/>
          <a:p>
            <a:pPr algn="ctr"/>
            <a:r>
              <a:rPr sz="1600" b="1">
                <a:solidFill>
                  <a:srgbClr val="065A82"/>
                </a:solidFill>
                <a:latin typeface="Calibri"/>
              </a:rPr>
              <a:t>Recall</a:t>
            </a:r>
          </a:p>
        </p:txBody>
      </p:sp>
      <p:sp>
        <p:nvSpPr>
          <p:cNvPr id="12" name="TextBox 11"/>
          <p:cNvSpPr txBox="1"/>
          <p:nvPr/>
        </p:nvSpPr>
        <p:spPr>
          <a:xfrm>
            <a:off x="4937760" y="3291840"/>
            <a:ext cx="2743200" cy="731520"/>
          </a:xfrm>
          <a:prstGeom prst="rect">
            <a:avLst/>
          </a:prstGeom>
          <a:noFill/>
        </p:spPr>
        <p:txBody>
          <a:bodyPr wrap="square" lIns="0" rIns="0" tIns="0" bIns="0" anchor="t">
            <a:spAutoFit/>
          </a:bodyPr>
          <a:lstStyle/>
          <a:p>
            <a:pPr algn="ctr"/>
            <a:r>
              <a:rPr sz="1200" b="0">
                <a:solidFill>
                  <a:srgbClr val="36454F"/>
                </a:solidFill>
                <a:latin typeface="Calibri"/>
              </a:rPr>
              <a:t>Of real churners, how many do we catch?</a:t>
            </a:r>
          </a:p>
        </p:txBody>
      </p:sp>
      <p:sp>
        <p:nvSpPr>
          <p:cNvPr id="13" name="TextBox 12"/>
          <p:cNvSpPr txBox="1"/>
          <p:nvPr/>
        </p:nvSpPr>
        <p:spPr>
          <a:xfrm>
            <a:off x="4937760" y="4023360"/>
            <a:ext cx="2743200" cy="457200"/>
          </a:xfrm>
          <a:prstGeom prst="rect">
            <a:avLst/>
          </a:prstGeom>
          <a:noFill/>
        </p:spPr>
        <p:txBody>
          <a:bodyPr wrap="square" lIns="0" rIns="0" tIns="0" bIns="0" anchor="t">
            <a:spAutoFit/>
          </a:bodyPr>
          <a:lstStyle/>
          <a:p>
            <a:pPr algn="ctr"/>
            <a:r>
              <a:rPr sz="1200" b="1">
                <a:solidFill>
                  <a:srgbClr val="1C7293"/>
                </a:solidFill>
                <a:latin typeface="Calibri"/>
              </a:rPr>
              <a:t>→ higher recall = catch more</a:t>
            </a:r>
          </a:p>
        </p:txBody>
      </p:sp>
      <p:sp>
        <p:nvSpPr>
          <p:cNvPr id="14" name="Rectangle 13"/>
          <p:cNvSpPr/>
          <p:nvPr/>
        </p:nvSpPr>
        <p:spPr>
          <a:xfrm>
            <a:off x="8595360" y="2377440"/>
            <a:ext cx="3108960" cy="21945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514600"/>
            <a:ext cx="2743200" cy="731520"/>
          </a:xfrm>
          <a:prstGeom prst="rect">
            <a:avLst/>
          </a:prstGeom>
          <a:noFill/>
        </p:spPr>
        <p:txBody>
          <a:bodyPr wrap="square" lIns="0" rIns="0" tIns="0" bIns="0" anchor="t">
            <a:spAutoFit/>
          </a:bodyPr>
          <a:lstStyle/>
          <a:p>
            <a:pPr algn="ctr"/>
            <a:r>
              <a:rPr sz="1600" b="1">
                <a:solidFill>
                  <a:srgbClr val="065A82"/>
                </a:solidFill>
                <a:latin typeface="Calibri"/>
              </a:rPr>
              <a:t>Precision</a:t>
            </a:r>
          </a:p>
        </p:txBody>
      </p:sp>
      <p:sp>
        <p:nvSpPr>
          <p:cNvPr id="16" name="TextBox 15"/>
          <p:cNvSpPr txBox="1"/>
          <p:nvPr/>
        </p:nvSpPr>
        <p:spPr>
          <a:xfrm>
            <a:off x="8778240" y="3291840"/>
            <a:ext cx="2743200" cy="731520"/>
          </a:xfrm>
          <a:prstGeom prst="rect">
            <a:avLst/>
          </a:prstGeom>
          <a:noFill/>
        </p:spPr>
        <p:txBody>
          <a:bodyPr wrap="square" lIns="0" rIns="0" tIns="0" bIns="0" anchor="t">
            <a:spAutoFit/>
          </a:bodyPr>
          <a:lstStyle/>
          <a:p>
            <a:pPr algn="ctr"/>
            <a:r>
              <a:rPr sz="1200" b="0">
                <a:solidFill>
                  <a:srgbClr val="36454F"/>
                </a:solidFill>
                <a:latin typeface="Calibri"/>
              </a:rPr>
              <a:t>Of flagged, how many are real?</a:t>
            </a:r>
          </a:p>
        </p:txBody>
      </p:sp>
      <p:sp>
        <p:nvSpPr>
          <p:cNvPr id="17" name="TextBox 16"/>
          <p:cNvSpPr txBox="1"/>
          <p:nvPr/>
        </p:nvSpPr>
        <p:spPr>
          <a:xfrm>
            <a:off x="8778240" y="4023360"/>
            <a:ext cx="2743200" cy="457200"/>
          </a:xfrm>
          <a:prstGeom prst="rect">
            <a:avLst/>
          </a:prstGeom>
          <a:noFill/>
        </p:spPr>
        <p:txBody>
          <a:bodyPr wrap="square" lIns="0" rIns="0" tIns="0" bIns="0" anchor="t">
            <a:spAutoFit/>
          </a:bodyPr>
          <a:lstStyle/>
          <a:p>
            <a:pPr algn="ctr"/>
            <a:r>
              <a:rPr sz="1200" b="1">
                <a:solidFill>
                  <a:srgbClr val="1C7293"/>
                </a:solidFill>
                <a:latin typeface="Calibri"/>
              </a:rPr>
              <a:t>→ higher precision = fewer wasted calls</a:t>
            </a:r>
          </a:p>
        </p:txBody>
      </p:sp>
      <p:sp>
        <p:nvSpPr>
          <p:cNvPr id="18" name="Rectangle 17"/>
          <p:cNvSpPr/>
          <p:nvPr/>
        </p:nvSpPr>
        <p:spPr>
          <a:xfrm>
            <a:off x="548640" y="5029200"/>
            <a:ext cx="1106424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66360"/>
            <a:ext cx="10515600" cy="365760"/>
          </a:xfrm>
          <a:prstGeom prst="rect">
            <a:avLst/>
          </a:prstGeom>
          <a:noFill/>
        </p:spPr>
        <p:txBody>
          <a:bodyPr wrap="square" lIns="0" rIns="0" tIns="0" bIns="0" anchor="t">
            <a:spAutoFit/>
          </a:bodyPr>
          <a:lstStyle/>
          <a:p>
            <a:pPr algn="l"/>
            <a:r>
              <a:rPr sz="1400" b="0">
                <a:solidFill>
                  <a:srgbClr val="E8F1F5"/>
                </a:solidFill>
                <a:latin typeface="Calibri"/>
              </a:rPr>
              <a:t>Sarah's recommendation</a:t>
            </a:r>
          </a:p>
        </p:txBody>
      </p:sp>
      <p:sp>
        <p:nvSpPr>
          <p:cNvPr id="20" name="TextBox 19"/>
          <p:cNvSpPr txBox="1"/>
          <p:nvPr/>
        </p:nvSpPr>
        <p:spPr>
          <a:xfrm>
            <a:off x="822960" y="5532120"/>
            <a:ext cx="10515600" cy="640080"/>
          </a:xfrm>
          <a:prstGeom prst="rect">
            <a:avLst/>
          </a:prstGeom>
          <a:noFill/>
        </p:spPr>
        <p:txBody>
          <a:bodyPr wrap="square" lIns="0" rIns="0" tIns="0" bIns="0" anchor="t">
            <a:spAutoFit/>
          </a:bodyPr>
          <a:lstStyle/>
          <a:p>
            <a:pPr algn="l"/>
            <a:r>
              <a:rPr sz="1400" b="0">
                <a:solidFill>
                  <a:srgbClr val="FFFFFF"/>
                </a:solidFill>
                <a:latin typeface="Trebuchet MS"/>
              </a:rPr>
              <a:t>"Use threshold 0.25–0.30. Flags ~200 customers (= retention team capacity). Catches 60+ real churners. Accepts ~70% false-positive rate as the operational cost."</a:t>
            </a:r>
          </a:p>
        </p:txBody>
      </p:sp>
      <p:sp>
        <p:nvSpPr>
          <p:cNvPr id="21" name="TextBox 20"/>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21/28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Threshold Sweep — The Picture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Precision · Recall · F1 across all thresholds</a:t>
            </a:r>
          </a:p>
        </p:txBody>
      </p:sp>
      <p:sp>
        <p:nvSpPr>
          <p:cNvPr id="5" name="Rectangle 4"/>
          <p:cNvSpPr/>
          <p:nvPr/>
        </p:nvSpPr>
        <p:spPr>
          <a:xfrm>
            <a:off x="1371600" y="2286000"/>
            <a:ext cx="18288" cy="32004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5486400"/>
            <a:ext cx="9144000" cy="18288"/>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365760" cy="274320"/>
          </a:xfrm>
          <a:prstGeom prst="rect">
            <a:avLst/>
          </a:prstGeom>
          <a:noFill/>
        </p:spPr>
        <p:txBody>
          <a:bodyPr wrap="square" lIns="0" rIns="0" tIns="0" bIns="0" anchor="t">
            <a:spAutoFit/>
          </a:bodyPr>
          <a:lstStyle/>
          <a:p>
            <a:pPr algn="l"/>
            <a:r>
              <a:rPr sz="1000" b="0">
                <a:solidFill>
                  <a:srgbClr val="36454F"/>
                </a:solidFill>
                <a:latin typeface="Calibri"/>
              </a:rPr>
              <a:t>1.0</a:t>
            </a:r>
          </a:p>
        </p:txBody>
      </p:sp>
      <p:sp>
        <p:nvSpPr>
          <p:cNvPr id="8" name="TextBox 7"/>
          <p:cNvSpPr txBox="1"/>
          <p:nvPr/>
        </p:nvSpPr>
        <p:spPr>
          <a:xfrm>
            <a:off x="914400" y="5349240"/>
            <a:ext cx="365760" cy="274320"/>
          </a:xfrm>
          <a:prstGeom prst="rect">
            <a:avLst/>
          </a:prstGeom>
          <a:noFill/>
        </p:spPr>
        <p:txBody>
          <a:bodyPr wrap="square" lIns="0" rIns="0" tIns="0" bIns="0" anchor="t">
            <a:spAutoFit/>
          </a:bodyPr>
          <a:lstStyle/>
          <a:p>
            <a:pPr algn="l"/>
            <a:r>
              <a:rPr sz="1000" b="0">
                <a:solidFill>
                  <a:srgbClr val="36454F"/>
                </a:solidFill>
                <a:latin typeface="Calibri"/>
              </a:rPr>
              <a:t>0.0</a:t>
            </a:r>
          </a:p>
        </p:txBody>
      </p:sp>
      <p:sp>
        <p:nvSpPr>
          <p:cNvPr id="9" name="TextBox 8"/>
          <p:cNvSpPr txBox="1"/>
          <p:nvPr/>
        </p:nvSpPr>
        <p:spPr>
          <a:xfrm>
            <a:off x="457200" y="3886200"/>
            <a:ext cx="731520" cy="274320"/>
          </a:xfrm>
          <a:prstGeom prst="rect">
            <a:avLst/>
          </a:prstGeom>
          <a:noFill/>
        </p:spPr>
        <p:txBody>
          <a:bodyPr wrap="square" lIns="0" rIns="0" tIns="0" bIns="0" anchor="t">
            <a:spAutoFit/>
          </a:bodyPr>
          <a:lstStyle/>
          <a:p>
            <a:pPr algn="l"/>
            <a:r>
              <a:rPr sz="1100" b="0">
                <a:solidFill>
                  <a:srgbClr val="36454F"/>
                </a:solidFill>
                <a:latin typeface="Calibri"/>
              </a:rPr>
              <a:t>Score</a:t>
            </a:r>
          </a:p>
        </p:txBody>
      </p:sp>
      <p:sp>
        <p:nvSpPr>
          <p:cNvPr id="10" name="TextBox 9"/>
          <p:cNvSpPr txBox="1"/>
          <p:nvPr/>
        </p:nvSpPr>
        <p:spPr>
          <a:xfrm>
            <a:off x="1188720" y="5577840"/>
            <a:ext cx="365760" cy="274320"/>
          </a:xfrm>
          <a:prstGeom prst="rect">
            <a:avLst/>
          </a:prstGeom>
          <a:noFill/>
        </p:spPr>
        <p:txBody>
          <a:bodyPr wrap="square" lIns="0" rIns="0" tIns="0" bIns="0" anchor="t">
            <a:spAutoFit/>
          </a:bodyPr>
          <a:lstStyle/>
          <a:p>
            <a:pPr algn="l"/>
            <a:r>
              <a:rPr sz="1000" b="0">
                <a:solidFill>
                  <a:srgbClr val="36454F"/>
                </a:solidFill>
                <a:latin typeface="Calibri"/>
              </a:rPr>
              <a:t>0</a:t>
            </a:r>
          </a:p>
        </p:txBody>
      </p:sp>
      <p:sp>
        <p:nvSpPr>
          <p:cNvPr id="11" name="TextBox 10"/>
          <p:cNvSpPr txBox="1"/>
          <p:nvPr/>
        </p:nvSpPr>
        <p:spPr>
          <a:xfrm>
            <a:off x="10332720" y="5577840"/>
            <a:ext cx="365760" cy="274320"/>
          </a:xfrm>
          <a:prstGeom prst="rect">
            <a:avLst/>
          </a:prstGeom>
          <a:noFill/>
        </p:spPr>
        <p:txBody>
          <a:bodyPr wrap="square" lIns="0" rIns="0" tIns="0" bIns="0" anchor="t">
            <a:spAutoFit/>
          </a:bodyPr>
          <a:lstStyle/>
          <a:p>
            <a:pPr algn="l"/>
            <a:r>
              <a:rPr sz="1000" b="0">
                <a:solidFill>
                  <a:srgbClr val="36454F"/>
                </a:solidFill>
                <a:latin typeface="Calibri"/>
              </a:rPr>
              <a:t>1</a:t>
            </a:r>
          </a:p>
        </p:txBody>
      </p:sp>
      <p:sp>
        <p:nvSpPr>
          <p:cNvPr id="12" name="TextBox 11"/>
          <p:cNvSpPr txBox="1"/>
          <p:nvPr/>
        </p:nvSpPr>
        <p:spPr>
          <a:xfrm>
            <a:off x="5029200" y="5806440"/>
            <a:ext cx="1828800" cy="274320"/>
          </a:xfrm>
          <a:prstGeom prst="rect">
            <a:avLst/>
          </a:prstGeom>
          <a:noFill/>
        </p:spPr>
        <p:txBody>
          <a:bodyPr wrap="square" lIns="0" rIns="0" tIns="0" bIns="0" anchor="t">
            <a:spAutoFit/>
          </a:bodyPr>
          <a:lstStyle/>
          <a:p>
            <a:pPr algn="l"/>
            <a:r>
              <a:rPr sz="1100" b="0">
                <a:solidFill>
                  <a:srgbClr val="36454F"/>
                </a:solidFill>
                <a:latin typeface="Calibri"/>
              </a:rPr>
              <a:t>Threshold →</a:t>
            </a:r>
          </a:p>
        </p:txBody>
      </p:sp>
      <p:sp>
        <p:nvSpPr>
          <p:cNvPr id="13" name="Rectangle 12"/>
          <p:cNvSpPr/>
          <p:nvPr/>
        </p:nvSpPr>
        <p:spPr>
          <a:xfrm>
            <a:off x="1371600" y="5282236"/>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6910" y="5238093"/>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02220" y="5193949"/>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17531" y="5149806"/>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32841" y="5105662"/>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48151" y="5061519"/>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63462" y="5017375"/>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78772" y="4973232"/>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94082" y="4929088"/>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09393" y="4884945"/>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24703" y="4840802"/>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40013" y="4796658"/>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55324" y="4752515"/>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70634" y="4708371"/>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785944" y="4664228"/>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01255" y="4620084"/>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16565" y="4575941"/>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731875" y="4531797"/>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47186" y="4487654"/>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62496" y="4443511"/>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77806" y="4399367"/>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93117" y="4355224"/>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08427" y="4311080"/>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23737" y="4266937"/>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39048" y="4222793"/>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54358" y="4178650"/>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69668" y="4134506"/>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884979" y="4090363"/>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00289" y="4046220"/>
            <a:ext cx="315310" cy="7414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607040" y="3863340"/>
            <a:ext cx="1097280" cy="274320"/>
          </a:xfrm>
          <a:prstGeom prst="rect">
            <a:avLst/>
          </a:prstGeom>
          <a:noFill/>
        </p:spPr>
        <p:txBody>
          <a:bodyPr wrap="square" lIns="0" rIns="0" tIns="0" bIns="0" anchor="t">
            <a:spAutoFit/>
          </a:bodyPr>
          <a:lstStyle/>
          <a:p>
            <a:pPr algn="l"/>
            <a:r>
              <a:rPr sz="1100" b="1">
                <a:solidFill>
                  <a:srgbClr val="1C7293"/>
                </a:solidFill>
                <a:latin typeface="Calibri"/>
              </a:rPr>
              <a:t>precision</a:t>
            </a:r>
          </a:p>
        </p:txBody>
      </p:sp>
      <p:sp>
        <p:nvSpPr>
          <p:cNvPr id="43" name="Rectangle 42"/>
          <p:cNvSpPr/>
          <p:nvPr/>
        </p:nvSpPr>
        <p:spPr>
          <a:xfrm>
            <a:off x="1371600" y="2446020"/>
            <a:ext cx="315310" cy="6817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686910" y="2484197"/>
            <a:ext cx="315310" cy="8582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002220" y="2540024"/>
            <a:ext cx="315310" cy="95241"/>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317531" y="2605265"/>
            <a:ext cx="315310" cy="1022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632841" y="2677486"/>
            <a:ext cx="315310" cy="10789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948151" y="2755385"/>
            <a:ext cx="315310" cy="112744"/>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263462" y="2838129"/>
            <a:ext cx="315310" cy="117003"/>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578772" y="2925132"/>
            <a:ext cx="315310" cy="120824"/>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894082" y="3015957"/>
            <a:ext cx="315310" cy="124303"/>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209393" y="3110261"/>
            <a:ext cx="315310" cy="127505"/>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524703" y="3207766"/>
            <a:ext cx="315310" cy="130479"/>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840013" y="3308245"/>
            <a:ext cx="315310" cy="1332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155324" y="3411506"/>
            <a:ext cx="315310" cy="13587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70634" y="3517383"/>
            <a:ext cx="315310" cy="138351"/>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785944" y="3625734"/>
            <a:ext cx="315310" cy="140699"/>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01255" y="3736434"/>
            <a:ext cx="315310" cy="14293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416565" y="3849371"/>
            <a:ext cx="315310" cy="14507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31875" y="3964447"/>
            <a:ext cx="315310" cy="147125"/>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047186" y="4081573"/>
            <a:ext cx="315310" cy="149095"/>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362496" y="4200668"/>
            <a:ext cx="315310" cy="150991"/>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677806" y="4321659"/>
            <a:ext cx="315310" cy="1528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993117" y="4444480"/>
            <a:ext cx="315310" cy="15458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308427" y="4569068"/>
            <a:ext cx="315310" cy="156299"/>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623737" y="4695368"/>
            <a:ext cx="315310" cy="15795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939048" y="4823325"/>
            <a:ext cx="315310" cy="15956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254358" y="4952893"/>
            <a:ext cx="315310" cy="16113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569668" y="5084026"/>
            <a:ext cx="315310" cy="162654"/>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884979" y="5216680"/>
            <a:ext cx="315310" cy="16413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200289" y="5350817"/>
            <a:ext cx="315310" cy="16558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607040" y="5303520"/>
            <a:ext cx="1097280" cy="274320"/>
          </a:xfrm>
          <a:prstGeom prst="rect">
            <a:avLst/>
          </a:prstGeom>
          <a:noFill/>
        </p:spPr>
        <p:txBody>
          <a:bodyPr wrap="square" lIns="0" rIns="0" tIns="0" bIns="0" anchor="t">
            <a:spAutoFit/>
          </a:bodyPr>
          <a:lstStyle/>
          <a:p>
            <a:pPr algn="l"/>
            <a:r>
              <a:rPr sz="1100" b="1">
                <a:solidFill>
                  <a:srgbClr val="F96167"/>
                </a:solidFill>
                <a:latin typeface="Calibri"/>
              </a:rPr>
              <a:t>recall</a:t>
            </a:r>
          </a:p>
        </p:txBody>
      </p:sp>
      <p:sp>
        <p:nvSpPr>
          <p:cNvPr id="73" name="Rectangle 72"/>
          <p:cNvSpPr/>
          <p:nvPr/>
        </p:nvSpPr>
        <p:spPr>
          <a:xfrm>
            <a:off x="1371600" y="5104454"/>
            <a:ext cx="315310" cy="108211"/>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686910" y="5028843"/>
            <a:ext cx="315310" cy="10561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002220" y="4955933"/>
            <a:ext cx="315310" cy="10291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317531" y="4885859"/>
            <a:ext cx="315310" cy="100073"/>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632841" y="4818782"/>
            <a:ext cx="315310" cy="9707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948151" y="4754884"/>
            <a:ext cx="315310" cy="9389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263462" y="4694377"/>
            <a:ext cx="315310" cy="90506"/>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578772" y="4637500"/>
            <a:ext cx="315310" cy="8687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894082" y="4584523"/>
            <a:ext cx="315310" cy="8297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209393" y="4535753"/>
            <a:ext cx="315310" cy="78769"/>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524703" y="4491539"/>
            <a:ext cx="315310" cy="74213"/>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840013" y="4452277"/>
            <a:ext cx="315310" cy="69261"/>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155324" y="4418419"/>
            <a:ext cx="315310" cy="6385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470634" y="4390481"/>
            <a:ext cx="315310" cy="57938"/>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85944" y="4369053"/>
            <a:ext cx="315310" cy="5142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101255" y="4354815"/>
            <a:ext cx="315310" cy="5000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416565" y="4348554"/>
            <a:ext cx="315310" cy="5000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731875" y="4348554"/>
            <a:ext cx="315310" cy="5000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047186" y="4351181"/>
            <a:ext cx="315310" cy="5000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362496" y="4363760"/>
            <a:ext cx="315310" cy="5378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677806" y="4387541"/>
            <a:ext cx="315310" cy="6645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993117" y="4423999"/>
            <a:ext cx="315310" cy="80889"/>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308427" y="4474888"/>
            <a:ext cx="315310" cy="97423"/>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623737" y="4542311"/>
            <a:ext cx="315310" cy="116498"/>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939048" y="4628810"/>
            <a:ext cx="315310" cy="138673"/>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254358" y="4737483"/>
            <a:ext cx="315310" cy="164666"/>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569668" y="4872150"/>
            <a:ext cx="315310" cy="19542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884979" y="5037571"/>
            <a:ext cx="315310" cy="232184"/>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200289" y="5239755"/>
            <a:ext cx="315310" cy="276644"/>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607040" y="5303520"/>
            <a:ext cx="1097280" cy="274320"/>
          </a:xfrm>
          <a:prstGeom prst="rect">
            <a:avLst/>
          </a:prstGeom>
          <a:noFill/>
        </p:spPr>
        <p:txBody>
          <a:bodyPr wrap="square" lIns="0" rIns="0" tIns="0" bIns="0" anchor="t">
            <a:spAutoFit/>
          </a:bodyPr>
          <a:lstStyle/>
          <a:p>
            <a:pPr algn="l"/>
            <a:r>
              <a:rPr sz="1100" b="1">
                <a:solidFill>
                  <a:srgbClr val="21C39A"/>
                </a:solidFill>
                <a:latin typeface="Calibri"/>
              </a:rPr>
              <a:t>F1</a:t>
            </a:r>
          </a:p>
        </p:txBody>
      </p:sp>
      <p:sp>
        <p:nvSpPr>
          <p:cNvPr id="103" name="Rectangle 102"/>
          <p:cNvSpPr/>
          <p:nvPr/>
        </p:nvSpPr>
        <p:spPr>
          <a:xfrm>
            <a:off x="3840480" y="2286000"/>
            <a:ext cx="27432" cy="3200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291840" y="2011680"/>
            <a:ext cx="1828800" cy="274320"/>
          </a:xfrm>
          <a:prstGeom prst="rect">
            <a:avLst/>
          </a:prstGeom>
          <a:noFill/>
        </p:spPr>
        <p:txBody>
          <a:bodyPr wrap="square" lIns="0" rIns="0" tIns="0" bIns="0" anchor="t">
            <a:spAutoFit/>
          </a:bodyPr>
          <a:lstStyle/>
          <a:p>
            <a:pPr algn="l"/>
            <a:r>
              <a:rPr sz="1100" b="1">
                <a:solidFill>
                  <a:srgbClr val="F96167"/>
                </a:solidFill>
                <a:latin typeface="Calibri"/>
              </a:rPr>
              <a:t>T = 0.25 (recommended)</a:t>
            </a:r>
          </a:p>
        </p:txBody>
      </p:sp>
      <p:sp>
        <p:nvSpPr>
          <p:cNvPr id="105" name="TextBox 10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22/28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200" b="1">
                <a:solidFill>
                  <a:srgbClr val="FFFFFF"/>
                </a:solidFill>
                <a:latin typeface="Consolas"/>
              </a:rPr>
              <a:t>Open: 04_metrics_threshold.ipynb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Compute the confusion matrix at the default 0.5 threshold — see how bad recall really is.</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Sweep across thresholds and plot precision, recall, F1.</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Pick the business-aware threshold and compute the final metrics for Marcus.</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Friday — Sarah's One-Pager to Marcus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full recommendation in a single table</a:t>
            </a:r>
          </a:p>
        </p:txBody>
      </p:sp>
      <p:sp>
        <p:nvSpPr>
          <p:cNvPr id="5" name="Rectangle 4"/>
          <p:cNvSpPr/>
          <p:nvPr/>
        </p:nvSpPr>
        <p:spPr>
          <a:xfrm>
            <a:off x="548640" y="1783080"/>
            <a:ext cx="338328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3108960" cy="365760"/>
          </a:xfrm>
          <a:prstGeom prst="rect">
            <a:avLst/>
          </a:prstGeom>
          <a:noFill/>
        </p:spPr>
        <p:txBody>
          <a:bodyPr wrap="square" lIns="0" rIns="0" tIns="0" bIns="0" anchor="t">
            <a:spAutoFit/>
          </a:bodyPr>
          <a:lstStyle/>
          <a:p>
            <a:pPr algn="l"/>
            <a:r>
              <a:rPr sz="1400" b="1">
                <a:solidFill>
                  <a:srgbClr val="E8F1F5"/>
                </a:solidFill>
                <a:latin typeface="Calibri"/>
              </a:rPr>
              <a:t>Pipeline</a:t>
            </a:r>
          </a:p>
        </p:txBody>
      </p:sp>
      <p:sp>
        <p:nvSpPr>
          <p:cNvPr id="7" name="Rectangle 6"/>
          <p:cNvSpPr/>
          <p:nvPr/>
        </p:nvSpPr>
        <p:spPr>
          <a:xfrm>
            <a:off x="3977639" y="1783080"/>
            <a:ext cx="76352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0" y="1965960"/>
            <a:ext cx="7315200" cy="365760"/>
          </a:xfrm>
          <a:prstGeom prst="rect">
            <a:avLst/>
          </a:prstGeom>
          <a:noFill/>
        </p:spPr>
        <p:txBody>
          <a:bodyPr wrap="square" lIns="0" rIns="0" tIns="0" bIns="0" anchor="t">
            <a:spAutoFit/>
          </a:bodyPr>
          <a:lstStyle/>
          <a:p>
            <a:pPr algn="l"/>
            <a:r>
              <a:rPr sz="1300" b="0">
                <a:solidFill>
                  <a:srgbClr val="36454F"/>
                </a:solidFill>
                <a:latin typeface="Calibri"/>
              </a:rPr>
              <a:t>preprocess → LogisticRegression. One sklearn Pipeline.</a:t>
            </a:r>
          </a:p>
        </p:txBody>
      </p:sp>
      <p:sp>
        <p:nvSpPr>
          <p:cNvPr id="9" name="Rectangle 8"/>
          <p:cNvSpPr/>
          <p:nvPr/>
        </p:nvSpPr>
        <p:spPr>
          <a:xfrm>
            <a:off x="548640" y="2468880"/>
            <a:ext cx="338328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3108960" cy="365760"/>
          </a:xfrm>
          <a:prstGeom prst="rect">
            <a:avLst/>
          </a:prstGeom>
          <a:noFill/>
        </p:spPr>
        <p:txBody>
          <a:bodyPr wrap="square" lIns="0" rIns="0" tIns="0" bIns="0" anchor="t">
            <a:spAutoFit/>
          </a:bodyPr>
          <a:lstStyle/>
          <a:p>
            <a:pPr algn="l"/>
            <a:r>
              <a:rPr sz="1400" b="1">
                <a:solidFill>
                  <a:srgbClr val="E8F1F5"/>
                </a:solidFill>
                <a:latin typeface="Calibri"/>
              </a:rPr>
              <a:t>CV accuracy</a:t>
            </a:r>
          </a:p>
        </p:txBody>
      </p:sp>
      <p:sp>
        <p:nvSpPr>
          <p:cNvPr id="11" name="Rectangle 10"/>
          <p:cNvSpPr/>
          <p:nvPr/>
        </p:nvSpPr>
        <p:spPr>
          <a:xfrm>
            <a:off x="3977639" y="2468880"/>
            <a:ext cx="76352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2651760"/>
            <a:ext cx="7315200" cy="365760"/>
          </a:xfrm>
          <a:prstGeom prst="rect">
            <a:avLst/>
          </a:prstGeom>
          <a:noFill/>
        </p:spPr>
        <p:txBody>
          <a:bodyPr wrap="square" lIns="0" rIns="0" tIns="0" bIns="0" anchor="t">
            <a:spAutoFit/>
          </a:bodyPr>
          <a:lstStyle/>
          <a:p>
            <a:pPr algn="l"/>
            <a:r>
              <a:rPr sz="1300" b="0">
                <a:solidFill>
                  <a:srgbClr val="36454F"/>
                </a:solidFill>
                <a:latin typeface="Calibri"/>
              </a:rPr>
              <a:t>88% — but irrelevant, baseline is 88% too</a:t>
            </a:r>
          </a:p>
        </p:txBody>
      </p:sp>
      <p:sp>
        <p:nvSpPr>
          <p:cNvPr id="13" name="Rectangle 12"/>
          <p:cNvSpPr/>
          <p:nvPr/>
        </p:nvSpPr>
        <p:spPr>
          <a:xfrm>
            <a:off x="548640" y="3154680"/>
            <a:ext cx="338328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337560"/>
            <a:ext cx="3108960" cy="365760"/>
          </a:xfrm>
          <a:prstGeom prst="rect">
            <a:avLst/>
          </a:prstGeom>
          <a:noFill/>
        </p:spPr>
        <p:txBody>
          <a:bodyPr wrap="square" lIns="0" rIns="0" tIns="0" bIns="0" anchor="t">
            <a:spAutoFit/>
          </a:bodyPr>
          <a:lstStyle/>
          <a:p>
            <a:pPr algn="l"/>
            <a:r>
              <a:rPr sz="1400" b="1">
                <a:solidFill>
                  <a:srgbClr val="E8F1F5"/>
                </a:solidFill>
                <a:latin typeface="Calibri"/>
              </a:rPr>
              <a:t>Recommended threshold</a:t>
            </a:r>
          </a:p>
        </p:txBody>
      </p:sp>
      <p:sp>
        <p:nvSpPr>
          <p:cNvPr id="15" name="Rectangle 14"/>
          <p:cNvSpPr/>
          <p:nvPr/>
        </p:nvSpPr>
        <p:spPr>
          <a:xfrm>
            <a:off x="3977639" y="3154680"/>
            <a:ext cx="76352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3337560"/>
            <a:ext cx="7315200" cy="365760"/>
          </a:xfrm>
          <a:prstGeom prst="rect">
            <a:avLst/>
          </a:prstGeom>
          <a:noFill/>
        </p:spPr>
        <p:txBody>
          <a:bodyPr wrap="square" lIns="0" rIns="0" tIns="0" bIns="0" anchor="t">
            <a:spAutoFit/>
          </a:bodyPr>
          <a:lstStyle/>
          <a:p>
            <a:pPr algn="l"/>
            <a:r>
              <a:rPr sz="1300" b="0">
                <a:solidFill>
                  <a:srgbClr val="36454F"/>
                </a:solidFill>
                <a:latin typeface="Calibri"/>
              </a:rPr>
              <a:t>0.25 — surfaces ~200 customers, matches retention team capacity</a:t>
            </a:r>
          </a:p>
        </p:txBody>
      </p:sp>
      <p:sp>
        <p:nvSpPr>
          <p:cNvPr id="17" name="Rectangle 16"/>
          <p:cNvSpPr/>
          <p:nvPr/>
        </p:nvSpPr>
        <p:spPr>
          <a:xfrm>
            <a:off x="548640" y="3840480"/>
            <a:ext cx="338328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23360"/>
            <a:ext cx="3108960" cy="365760"/>
          </a:xfrm>
          <a:prstGeom prst="rect">
            <a:avLst/>
          </a:prstGeom>
          <a:noFill/>
        </p:spPr>
        <p:txBody>
          <a:bodyPr wrap="square" lIns="0" rIns="0" tIns="0" bIns="0" anchor="t">
            <a:spAutoFit/>
          </a:bodyPr>
          <a:lstStyle/>
          <a:p>
            <a:pPr algn="l"/>
            <a:r>
              <a:rPr sz="1400" b="1">
                <a:solidFill>
                  <a:srgbClr val="E8F1F5"/>
                </a:solidFill>
                <a:latin typeface="Calibri"/>
              </a:rPr>
              <a:t>At T=0.25</a:t>
            </a:r>
          </a:p>
        </p:txBody>
      </p:sp>
      <p:sp>
        <p:nvSpPr>
          <p:cNvPr id="19" name="Rectangle 18"/>
          <p:cNvSpPr/>
          <p:nvPr/>
        </p:nvSpPr>
        <p:spPr>
          <a:xfrm>
            <a:off x="3977639" y="3840480"/>
            <a:ext cx="76352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023360"/>
            <a:ext cx="7315200" cy="365760"/>
          </a:xfrm>
          <a:prstGeom prst="rect">
            <a:avLst/>
          </a:prstGeom>
          <a:noFill/>
        </p:spPr>
        <p:txBody>
          <a:bodyPr wrap="square" lIns="0" rIns="0" tIns="0" bIns="0" anchor="t">
            <a:spAutoFit/>
          </a:bodyPr>
          <a:lstStyle/>
          <a:p>
            <a:pPr algn="l"/>
            <a:r>
              <a:rPr sz="1300" b="0">
                <a:solidFill>
                  <a:srgbClr val="36454F"/>
                </a:solidFill>
                <a:latin typeface="Calibri"/>
              </a:rPr>
              <a:t>Precision 0.30 · Recall 0.26 · F1 0.28</a:t>
            </a:r>
          </a:p>
        </p:txBody>
      </p:sp>
      <p:sp>
        <p:nvSpPr>
          <p:cNvPr id="21" name="Rectangle 20"/>
          <p:cNvSpPr/>
          <p:nvPr/>
        </p:nvSpPr>
        <p:spPr>
          <a:xfrm>
            <a:off x="548640" y="4526280"/>
            <a:ext cx="338328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709160"/>
            <a:ext cx="3108960" cy="365760"/>
          </a:xfrm>
          <a:prstGeom prst="rect">
            <a:avLst/>
          </a:prstGeom>
          <a:noFill/>
        </p:spPr>
        <p:txBody>
          <a:bodyPr wrap="square" lIns="0" rIns="0" tIns="0" bIns="0" anchor="t">
            <a:spAutoFit/>
          </a:bodyPr>
          <a:lstStyle/>
          <a:p>
            <a:pPr algn="l"/>
            <a:r>
              <a:rPr sz="1400" b="1">
                <a:solidFill>
                  <a:srgbClr val="E8F1F5"/>
                </a:solidFill>
                <a:latin typeface="Calibri"/>
              </a:rPr>
              <a:t>Churners caught</a:t>
            </a:r>
          </a:p>
        </p:txBody>
      </p:sp>
      <p:sp>
        <p:nvSpPr>
          <p:cNvPr id="23" name="Rectangle 22"/>
          <p:cNvSpPr/>
          <p:nvPr/>
        </p:nvSpPr>
        <p:spPr>
          <a:xfrm>
            <a:off x="3977639" y="4526280"/>
            <a:ext cx="76352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4709160"/>
            <a:ext cx="7315200" cy="365760"/>
          </a:xfrm>
          <a:prstGeom prst="rect">
            <a:avLst/>
          </a:prstGeom>
          <a:noFill/>
        </p:spPr>
        <p:txBody>
          <a:bodyPr wrap="square" lIns="0" rIns="0" tIns="0" bIns="0" anchor="t">
            <a:spAutoFit/>
          </a:bodyPr>
          <a:lstStyle/>
          <a:p>
            <a:pPr algn="l"/>
            <a:r>
              <a:rPr sz="1300" b="0">
                <a:solidFill>
                  <a:srgbClr val="36454F"/>
                </a:solidFill>
                <a:latin typeface="Calibri"/>
              </a:rPr>
              <a:t>63 of 239 in the test set (would have been 7 at T=0.5)</a:t>
            </a:r>
          </a:p>
        </p:txBody>
      </p:sp>
      <p:sp>
        <p:nvSpPr>
          <p:cNvPr id="25" name="Rectangle 24"/>
          <p:cNvSpPr/>
          <p:nvPr/>
        </p:nvSpPr>
        <p:spPr>
          <a:xfrm>
            <a:off x="548640" y="5212080"/>
            <a:ext cx="338328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394960"/>
            <a:ext cx="3108960" cy="365760"/>
          </a:xfrm>
          <a:prstGeom prst="rect">
            <a:avLst/>
          </a:prstGeom>
          <a:noFill/>
        </p:spPr>
        <p:txBody>
          <a:bodyPr wrap="square" lIns="0" rIns="0" tIns="0" bIns="0" anchor="t">
            <a:spAutoFit/>
          </a:bodyPr>
          <a:lstStyle/>
          <a:p>
            <a:pPr algn="l"/>
            <a:r>
              <a:rPr sz="1400" b="1">
                <a:solidFill>
                  <a:srgbClr val="E8F1F5"/>
                </a:solidFill>
                <a:latin typeface="Calibri"/>
              </a:rPr>
              <a:t>Top features (causal)</a:t>
            </a:r>
          </a:p>
        </p:txBody>
      </p:sp>
      <p:sp>
        <p:nvSpPr>
          <p:cNvPr id="27" name="Rectangle 26"/>
          <p:cNvSpPr/>
          <p:nvPr/>
        </p:nvSpPr>
        <p:spPr>
          <a:xfrm>
            <a:off x="3977639" y="5212080"/>
            <a:ext cx="76352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5394960"/>
            <a:ext cx="7315200" cy="365760"/>
          </a:xfrm>
          <a:prstGeom prst="rect">
            <a:avLst/>
          </a:prstGeom>
          <a:noFill/>
        </p:spPr>
        <p:txBody>
          <a:bodyPr wrap="square" lIns="0" rIns="0" tIns="0" bIns="0" anchor="t">
            <a:spAutoFit/>
          </a:bodyPr>
          <a:lstStyle/>
          <a:p>
            <a:pPr algn="l"/>
            <a:r>
              <a:rPr sz="1300" b="0">
                <a:solidFill>
                  <a:srgbClr val="36454F"/>
                </a:solidFill>
                <a:latin typeface="Calibri"/>
              </a:rPr>
              <a:t>returns_per_purchase (+) · tenure_months (−) · review_polarity (−)</a:t>
            </a:r>
          </a:p>
        </p:txBody>
      </p:sp>
      <p:sp>
        <p:nvSpPr>
          <p:cNvPr id="29" name="Rectangle 28"/>
          <p:cNvSpPr/>
          <p:nvPr/>
        </p:nvSpPr>
        <p:spPr>
          <a:xfrm>
            <a:off x="548640" y="5989320"/>
            <a:ext cx="1106424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6035040"/>
            <a:ext cx="10515600" cy="274320"/>
          </a:xfrm>
          <a:prstGeom prst="rect">
            <a:avLst/>
          </a:prstGeom>
          <a:noFill/>
        </p:spPr>
        <p:txBody>
          <a:bodyPr wrap="square" lIns="0" rIns="0" tIns="0" bIns="0" anchor="t">
            <a:spAutoFit/>
          </a:bodyPr>
          <a:lstStyle/>
          <a:p>
            <a:pPr algn="l"/>
            <a:r>
              <a:rPr sz="1300" b="1">
                <a:solidFill>
                  <a:srgbClr val="F9E795"/>
                </a:solidFill>
                <a:latin typeface="Trebuchet MS"/>
              </a:rPr>
              <a:t>Marcus nods. "This is the first model we own. Can you make it BETTER next week?"</a:t>
            </a:r>
          </a:p>
        </p:txBody>
      </p:sp>
      <p:sp>
        <p:nvSpPr>
          <p:cNvPr id="31" name="TextBox 30"/>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24/28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457200"/>
          </a:xfrm>
          <a:prstGeom prst="rect">
            <a:avLst/>
          </a:prstGeom>
          <a:noFill/>
        </p:spPr>
        <p:txBody>
          <a:bodyPr wrap="square" lIns="0" rIns="0" tIns="0" bIns="0" anchor="t">
            <a:spAutoFit/>
          </a:bodyPr>
          <a:lstStyle/>
          <a:p>
            <a:pPr algn="l"/>
            <a:r>
              <a:rPr sz="1800" b="1">
                <a:solidFill>
                  <a:srgbClr val="E8F1F5"/>
                </a:solidFill>
                <a:latin typeface="Calibri"/>
              </a:rPr>
              <a:t>Bridge to Lesson 4</a:t>
            </a:r>
          </a:p>
        </p:txBody>
      </p:sp>
      <p:sp>
        <p:nvSpPr>
          <p:cNvPr id="4" name="Rectangle 3"/>
          <p:cNvSpPr/>
          <p:nvPr/>
        </p:nvSpPr>
        <p:spPr>
          <a:xfrm>
            <a:off x="914400" y="1645920"/>
            <a:ext cx="10332720" cy="21945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828800"/>
            <a:ext cx="9784080" cy="365760"/>
          </a:xfrm>
          <a:prstGeom prst="rect">
            <a:avLst/>
          </a:prstGeom>
          <a:noFill/>
        </p:spPr>
        <p:txBody>
          <a:bodyPr wrap="square" lIns="0" rIns="0" tIns="0" bIns="0" anchor="t">
            <a:spAutoFit/>
          </a:bodyPr>
          <a:lstStyle/>
          <a:p>
            <a:pPr algn="l"/>
            <a:r>
              <a:rPr sz="1400" b="0">
                <a:solidFill>
                  <a:srgbClr val="E8F1F5"/>
                </a:solidFill>
                <a:latin typeface="Calibri"/>
              </a:rPr>
              <a:t>Marcus, after the Friday meeting:</a:t>
            </a:r>
          </a:p>
        </p:txBody>
      </p:sp>
      <p:sp>
        <p:nvSpPr>
          <p:cNvPr id="6" name="TextBox 5"/>
          <p:cNvSpPr txBox="1"/>
          <p:nvPr/>
        </p:nvSpPr>
        <p:spPr>
          <a:xfrm>
            <a:off x="1188720" y="2286000"/>
            <a:ext cx="9784080" cy="1371600"/>
          </a:xfrm>
          <a:prstGeom prst="rect">
            <a:avLst/>
          </a:prstGeom>
          <a:noFill/>
        </p:spPr>
        <p:txBody>
          <a:bodyPr wrap="square" lIns="0" rIns="0" tIns="0" bIns="0" anchor="t">
            <a:spAutoFit/>
          </a:bodyPr>
          <a:lstStyle/>
          <a:p>
            <a:pPr algn="l"/>
            <a:r>
              <a:rPr sz="1500" b="0">
                <a:solidFill>
                  <a:srgbClr val="FFFFFF"/>
                </a:solidFill>
                <a:latin typeface="Trebuchet MS"/>
              </a:rPr>
              <a:t>"This is the first model we own. The numbers are honest.</a:t>
            </a:r>
          </a:p>
          <a:p>
            <a:pPr algn="l"/>
            <a:r>
              <a:rPr sz="1500" b="0">
                <a:solidFill>
                  <a:srgbClr val="FFFFFF"/>
                </a:solidFill>
                <a:latin typeface="Trebuchet MS"/>
              </a:rPr>
              <a:t/>
            </a:r>
          </a:p>
          <a:p>
            <a:pPr algn="l"/>
            <a:r>
              <a:rPr sz="1500" b="0">
                <a:solidFill>
                  <a:srgbClr val="FFFFFF"/>
                </a:solidFill>
                <a:latin typeface="Trebuchet MS"/>
              </a:rPr>
              <a:t>But we're hitting capacity at 200 calls. If you could squeeze MORE recall without more false positives, we'd save real money.</a:t>
            </a:r>
          </a:p>
          <a:p>
            <a:pPr algn="l"/>
            <a:r>
              <a:rPr sz="1500" b="0">
                <a:solidFill>
                  <a:srgbClr val="FFFFFF"/>
                </a:solidFill>
                <a:latin typeface="Trebuchet MS"/>
              </a:rPr>
              <a:t/>
            </a:r>
          </a:p>
          <a:p>
            <a:pPr algn="l"/>
            <a:r>
              <a:rPr sz="1500" b="0">
                <a:solidFill>
                  <a:srgbClr val="FFFFFF"/>
                </a:solidFill>
                <a:latin typeface="Trebuchet MS"/>
              </a:rPr>
              <a:t>Try those tree-based models you mentioned."</a:t>
            </a:r>
          </a:p>
        </p:txBody>
      </p:sp>
      <p:sp>
        <p:nvSpPr>
          <p:cNvPr id="7" name="TextBox 6"/>
          <p:cNvSpPr txBox="1"/>
          <p:nvPr/>
        </p:nvSpPr>
        <p:spPr>
          <a:xfrm>
            <a:off x="914400" y="4297680"/>
            <a:ext cx="10332720" cy="457200"/>
          </a:xfrm>
          <a:prstGeom prst="rect">
            <a:avLst/>
          </a:prstGeom>
          <a:noFill/>
        </p:spPr>
        <p:txBody>
          <a:bodyPr wrap="square" lIns="0" rIns="0" tIns="0" bIns="0" anchor="t">
            <a:spAutoFit/>
          </a:bodyPr>
          <a:lstStyle/>
          <a:p>
            <a:pPr algn="l"/>
            <a:r>
              <a:rPr sz="2000" b="1">
                <a:solidFill>
                  <a:srgbClr val="E8F1F5"/>
                </a:solidFill>
                <a:latin typeface="Calibri"/>
              </a:rPr>
              <a:t>Lesson 4 — Advanced Supervised Learning</a:t>
            </a:r>
          </a:p>
        </p:txBody>
      </p:sp>
      <p:sp>
        <p:nvSpPr>
          <p:cNvPr id="8" name="TextBox 7"/>
          <p:cNvSpPr txBox="1"/>
          <p:nvPr/>
        </p:nvSpPr>
        <p:spPr>
          <a:xfrm>
            <a:off x="914400" y="4800600"/>
            <a:ext cx="10332720" cy="457200"/>
          </a:xfrm>
          <a:prstGeom prst="rect">
            <a:avLst/>
          </a:prstGeom>
          <a:noFill/>
        </p:spPr>
        <p:txBody>
          <a:bodyPr wrap="square" lIns="0" rIns="0" tIns="0" bIns="0" anchor="t">
            <a:spAutoFit/>
          </a:bodyPr>
          <a:lstStyle/>
          <a:p>
            <a:pPr algn="l"/>
            <a:r>
              <a:rPr sz="1500" b="0">
                <a:solidFill>
                  <a:srgbClr val="E8F1F5"/>
                </a:solidFill>
                <a:latin typeface="Calibri"/>
              </a:rPr>
              <a:t>Decision Trees · Random Forests · Gradient Boosting (XGBoost / LightGBM)</a:t>
            </a:r>
          </a:p>
        </p:txBody>
      </p:sp>
      <p:sp>
        <p:nvSpPr>
          <p:cNvPr id="9" name="TextBox 8"/>
          <p:cNvSpPr txBox="1"/>
          <p:nvPr/>
        </p:nvSpPr>
        <p:spPr>
          <a:xfrm>
            <a:off x="914400" y="5349240"/>
            <a:ext cx="10332720" cy="457200"/>
          </a:xfrm>
          <a:prstGeom prst="rect">
            <a:avLst/>
          </a:prstGeom>
          <a:noFill/>
        </p:spPr>
        <p:txBody>
          <a:bodyPr wrap="square" lIns="0" rIns="0" tIns="0" bIns="0" anchor="t">
            <a:spAutoFit/>
          </a:bodyPr>
          <a:lstStyle/>
          <a:p>
            <a:pPr algn="l"/>
            <a:r>
              <a:rPr sz="1400" b="0">
                <a:solidFill>
                  <a:srgbClr val="E8F1F5"/>
                </a:solidFill>
                <a:latin typeface="Calibri"/>
              </a:rPr>
              <a:t>The SAME pipeline — just a different last step. Plus regularization, hyperparameter tuning.</a:t>
            </a:r>
          </a:p>
        </p:txBody>
      </p:sp>
      <p:sp>
        <p:nvSpPr>
          <p:cNvPr id="10" name="TextBox 9"/>
          <p:cNvSpPr txBox="1"/>
          <p:nvPr/>
        </p:nvSpPr>
        <p:spPr>
          <a:xfrm>
            <a:off x="914400" y="5852160"/>
            <a:ext cx="10332720" cy="457200"/>
          </a:xfrm>
          <a:prstGeom prst="rect">
            <a:avLst/>
          </a:prstGeom>
          <a:noFill/>
        </p:spPr>
        <p:txBody>
          <a:bodyPr wrap="square" lIns="0" rIns="0" tIns="0" bIns="0" anchor="t">
            <a:spAutoFit/>
          </a:bodyPr>
          <a:lstStyle/>
          <a:p>
            <a:pPr algn="l"/>
            <a:r>
              <a:rPr sz="1400" b="1">
                <a:solidFill>
                  <a:srgbClr val="F9E795"/>
                </a:solidFill>
                <a:latin typeface="Calibri"/>
              </a:rPr>
              <a:t>After L04 → first kaggle competition. After L10 → mini hackathon.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Assignment Preview</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Same pipeline · new domain</a:t>
            </a:r>
          </a:p>
        </p:txBody>
      </p:sp>
      <p:sp>
        <p:nvSpPr>
          <p:cNvPr id="5" name="Rectangle 4"/>
          <p:cNvSpPr/>
          <p:nvPr/>
        </p:nvSpPr>
        <p:spPr>
          <a:xfrm>
            <a:off x="548640" y="173736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5029200" cy="457200"/>
          </a:xfrm>
          <a:prstGeom prst="rect">
            <a:avLst/>
          </a:prstGeom>
          <a:noFill/>
        </p:spPr>
        <p:txBody>
          <a:bodyPr wrap="square" lIns="0" rIns="0" tIns="0" bIns="0" anchor="t">
            <a:spAutoFit/>
          </a:bodyPr>
          <a:lstStyle/>
          <a:p>
            <a:pPr algn="l"/>
            <a:r>
              <a:rPr sz="1800" b="1">
                <a:solidFill>
                  <a:srgbClr val="065A82"/>
                </a:solidFill>
                <a:latin typeface="Calibri"/>
              </a:rPr>
              <a:t>Part A — Lakeside Bank</a:t>
            </a:r>
          </a:p>
        </p:txBody>
      </p:sp>
      <p:sp>
        <p:nvSpPr>
          <p:cNvPr id="7" name="TextBox 6"/>
          <p:cNvSpPr txBox="1"/>
          <p:nvPr/>
        </p:nvSpPr>
        <p:spPr>
          <a:xfrm>
            <a:off x="777240" y="2377440"/>
            <a:ext cx="5029200" cy="457200"/>
          </a:xfrm>
          <a:prstGeom prst="rect">
            <a:avLst/>
          </a:prstGeom>
          <a:noFill/>
        </p:spPr>
        <p:txBody>
          <a:bodyPr wrap="square" lIns="0" rIns="0" tIns="0" bIns="0" anchor="t">
            <a:spAutoFit/>
          </a:bodyPr>
          <a:lstStyle/>
          <a:p>
            <a:pPr algn="l"/>
            <a:r>
              <a:rPr sz="1200" b="0">
                <a:solidFill>
                  <a:srgbClr val="1C7293"/>
                </a:solidFill>
                <a:latin typeface="Consolas"/>
              </a:rPr>
              <a:t>notebooks/assignment.ipynb</a:t>
            </a:r>
          </a:p>
        </p:txBody>
      </p:sp>
      <p:sp>
        <p:nvSpPr>
          <p:cNvPr id="8" name="TextBox 7"/>
          <p:cNvSpPr txBox="1"/>
          <p:nvPr/>
        </p:nvSpPr>
        <p:spPr>
          <a:xfrm>
            <a:off x="914400" y="3017520"/>
            <a:ext cx="4937760" cy="365760"/>
          </a:xfrm>
          <a:prstGeom prst="rect">
            <a:avLst/>
          </a:prstGeom>
          <a:noFill/>
        </p:spPr>
        <p:txBody>
          <a:bodyPr wrap="square" lIns="0" rIns="0" tIns="0" bIns="0" anchor="t">
            <a:spAutoFit/>
          </a:bodyPr>
          <a:lstStyle/>
          <a:p>
            <a:pPr algn="l"/>
            <a:r>
              <a:rPr sz="1300" b="0">
                <a:solidFill>
                  <a:srgbClr val="36454F"/>
                </a:solidFill>
                <a:latin typeface="Calibri"/>
              </a:rPr>
              <a:t>Tom Bradley's credit-card customers.</a:t>
            </a:r>
          </a:p>
        </p:txBody>
      </p:sp>
      <p:sp>
        <p:nvSpPr>
          <p:cNvPr id="9" name="TextBox 8"/>
          <p:cNvSpPr txBox="1"/>
          <p:nvPr/>
        </p:nvSpPr>
        <p:spPr>
          <a:xfrm>
            <a:off x="914400" y="3474720"/>
            <a:ext cx="4937760" cy="365760"/>
          </a:xfrm>
          <a:prstGeom prst="rect">
            <a:avLst/>
          </a:prstGeom>
          <a:noFill/>
        </p:spPr>
        <p:txBody>
          <a:bodyPr wrap="square" lIns="0" rIns="0" tIns="0" bIns="0" anchor="t">
            <a:spAutoFit/>
          </a:bodyPr>
          <a:lstStyle/>
          <a:p>
            <a:pPr algn="l"/>
            <a:r>
              <a:rPr sz="1300" b="0">
                <a:solidFill>
                  <a:srgbClr val="36454F"/>
                </a:solidFill>
                <a:latin typeface="Calibri"/>
              </a:rPr>
              <a:t>13 features → predict churned.</a:t>
            </a:r>
          </a:p>
        </p:txBody>
      </p:sp>
      <p:sp>
        <p:nvSpPr>
          <p:cNvPr id="10" name="TextBox 9"/>
          <p:cNvSpPr txBox="1"/>
          <p:nvPr/>
        </p:nvSpPr>
        <p:spPr>
          <a:xfrm>
            <a:off x="914400" y="3931920"/>
            <a:ext cx="4937760" cy="365760"/>
          </a:xfrm>
          <a:prstGeom prst="rect">
            <a:avLst/>
          </a:prstGeom>
          <a:noFill/>
        </p:spPr>
        <p:txBody>
          <a:bodyPr wrap="square" lIns="0" rIns="0" tIns="0" bIns="0" anchor="t">
            <a:spAutoFit/>
          </a:bodyPr>
          <a:lstStyle/>
          <a:p>
            <a:pPr algn="l"/>
            <a:r>
              <a:rPr sz="1300" b="0">
                <a:solidFill>
                  <a:srgbClr val="36454F"/>
                </a:solidFill>
                <a:latin typeface="Calibri"/>
              </a:rPr>
              <a:t>Three tiers:</a:t>
            </a:r>
          </a:p>
        </p:txBody>
      </p:sp>
      <p:sp>
        <p:nvSpPr>
          <p:cNvPr id="11" name="TextBox 10"/>
          <p:cNvSpPr txBox="1"/>
          <p:nvPr/>
        </p:nvSpPr>
        <p:spPr>
          <a:xfrm>
            <a:off x="914400" y="4389120"/>
            <a:ext cx="4937760" cy="365760"/>
          </a:xfrm>
          <a:prstGeom prst="rect">
            <a:avLst/>
          </a:prstGeom>
          <a:noFill/>
        </p:spPr>
        <p:txBody>
          <a:bodyPr wrap="square" lIns="0" rIns="0" tIns="0" bIns="0" anchor="t">
            <a:spAutoFit/>
          </a:bodyPr>
          <a:lstStyle/>
          <a:p>
            <a:pPr algn="l"/>
            <a:r>
              <a:rPr sz="1300" b="0">
                <a:solidFill>
                  <a:srgbClr val="36454F"/>
                </a:solidFill>
                <a:latin typeface="Calibri"/>
              </a:rPr>
              <a:t>  🟢  Guided — read the worked example.</a:t>
            </a:r>
          </a:p>
        </p:txBody>
      </p:sp>
      <p:sp>
        <p:nvSpPr>
          <p:cNvPr id="12" name="TextBox 11"/>
          <p:cNvSpPr txBox="1"/>
          <p:nvPr/>
        </p:nvSpPr>
        <p:spPr>
          <a:xfrm>
            <a:off x="914400" y="4846320"/>
            <a:ext cx="4937760" cy="365760"/>
          </a:xfrm>
          <a:prstGeom prst="rect">
            <a:avLst/>
          </a:prstGeom>
          <a:noFill/>
        </p:spPr>
        <p:txBody>
          <a:bodyPr wrap="square" lIns="0" rIns="0" tIns="0" bIns="0" anchor="t">
            <a:spAutoFit/>
          </a:bodyPr>
          <a:lstStyle/>
          <a:p>
            <a:pPr algn="l"/>
            <a:r>
              <a:rPr sz="1300" b="0">
                <a:solidFill>
                  <a:srgbClr val="36454F"/>
                </a:solidFill>
                <a:latin typeface="Calibri"/>
              </a:rPr>
              <a:t>  🟡  Partial — fill in the four blanks.</a:t>
            </a:r>
          </a:p>
        </p:txBody>
      </p:sp>
      <p:sp>
        <p:nvSpPr>
          <p:cNvPr id="13" name="TextBox 12"/>
          <p:cNvSpPr txBox="1"/>
          <p:nvPr/>
        </p:nvSpPr>
        <p:spPr>
          <a:xfrm>
            <a:off x="914400" y="5303520"/>
            <a:ext cx="4937760" cy="365760"/>
          </a:xfrm>
          <a:prstGeom prst="rect">
            <a:avLst/>
          </a:prstGeom>
          <a:noFill/>
        </p:spPr>
        <p:txBody>
          <a:bodyPr wrap="square" lIns="0" rIns="0" tIns="0" bIns="0" anchor="t">
            <a:spAutoFit/>
          </a:bodyPr>
          <a:lstStyle/>
          <a:p>
            <a:pPr algn="l"/>
            <a:r>
              <a:rPr sz="1300" b="0">
                <a:solidFill>
                  <a:srgbClr val="36454F"/>
                </a:solidFill>
                <a:latin typeface="Calibri"/>
              </a:rPr>
              <a:t>  🟠  Open — capacity-based threshold from scratch.</a:t>
            </a:r>
          </a:p>
        </p:txBody>
      </p:sp>
      <p:sp>
        <p:nvSpPr>
          <p:cNvPr id="14" name="Rectangle 13"/>
          <p:cNvSpPr/>
          <p:nvPr/>
        </p:nvSpPr>
        <p:spPr>
          <a:xfrm>
            <a:off x="6263640" y="1737360"/>
            <a:ext cx="530352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874519"/>
            <a:ext cx="4937760" cy="457200"/>
          </a:xfrm>
          <a:prstGeom prst="rect">
            <a:avLst/>
          </a:prstGeom>
          <a:noFill/>
        </p:spPr>
        <p:txBody>
          <a:bodyPr wrap="square" lIns="0" rIns="0" tIns="0" bIns="0" anchor="t">
            <a:spAutoFit/>
          </a:bodyPr>
          <a:lstStyle/>
          <a:p>
            <a:pPr algn="l"/>
            <a:r>
              <a:rPr sz="1800" b="1">
                <a:solidFill>
                  <a:srgbClr val="FFFFFF"/>
                </a:solidFill>
                <a:latin typeface="Calibri"/>
              </a:rPr>
              <a:t>Part B — Hospital Readmissions</a:t>
            </a:r>
          </a:p>
        </p:txBody>
      </p:sp>
      <p:sp>
        <p:nvSpPr>
          <p:cNvPr id="16" name="TextBox 15"/>
          <p:cNvSpPr txBox="1"/>
          <p:nvPr/>
        </p:nvSpPr>
        <p:spPr>
          <a:xfrm>
            <a:off x="6537960" y="3017520"/>
            <a:ext cx="4937760" cy="365760"/>
          </a:xfrm>
          <a:prstGeom prst="rect">
            <a:avLst/>
          </a:prstGeom>
          <a:noFill/>
        </p:spPr>
        <p:txBody>
          <a:bodyPr wrap="square" lIns="0" rIns="0" tIns="0" bIns="0" anchor="t">
            <a:spAutoFit/>
          </a:bodyPr>
          <a:lstStyle/>
          <a:p>
            <a:pPr algn="l"/>
            <a:r>
              <a:rPr sz="1300" b="0">
                <a:solidFill>
                  <a:srgbClr val="E8F1F5"/>
                </a:solidFill>
                <a:latin typeface="Calibri"/>
              </a:rPr>
              <a:t>Cardiology ward readmission prediction.</a:t>
            </a:r>
          </a:p>
        </p:txBody>
      </p:sp>
      <p:sp>
        <p:nvSpPr>
          <p:cNvPr id="17" name="TextBox 16"/>
          <p:cNvSpPr txBox="1"/>
          <p:nvPr/>
        </p:nvSpPr>
        <p:spPr>
          <a:xfrm>
            <a:off x="6537960" y="3474720"/>
            <a:ext cx="4937760" cy="365760"/>
          </a:xfrm>
          <a:prstGeom prst="rect">
            <a:avLst/>
          </a:prstGeom>
          <a:noFill/>
        </p:spPr>
        <p:txBody>
          <a:bodyPr wrap="square" lIns="0" rIns="0" tIns="0" bIns="0" anchor="t">
            <a:spAutoFit/>
          </a:bodyPr>
          <a:lstStyle/>
          <a:p>
            <a:pPr algn="l"/>
            <a:r>
              <a:rPr sz="1300" b="0">
                <a:solidFill>
                  <a:srgbClr val="E8F1F5"/>
                </a:solidFill>
                <a:latin typeface="Calibri"/>
              </a:rPr>
              <a:t>9 features → 30-day readmission.</a:t>
            </a:r>
          </a:p>
        </p:txBody>
      </p:sp>
      <p:sp>
        <p:nvSpPr>
          <p:cNvPr id="18" name="TextBox 17"/>
          <p:cNvSpPr txBox="1"/>
          <p:nvPr/>
        </p:nvSpPr>
        <p:spPr>
          <a:xfrm>
            <a:off x="6537960" y="3931920"/>
            <a:ext cx="4937760" cy="365760"/>
          </a:xfrm>
          <a:prstGeom prst="rect">
            <a:avLst/>
          </a:prstGeom>
          <a:noFill/>
        </p:spPr>
        <p:txBody>
          <a:bodyPr wrap="square" lIns="0" rIns="0" tIns="0" bIns="0" anchor="t">
            <a:spAutoFit/>
          </a:bodyPr>
          <a:lstStyle/>
          <a:p>
            <a:pPr algn="l"/>
            <a:r>
              <a:rPr sz="1300" b="0">
                <a:solidFill>
                  <a:srgbClr val="E8F1F5"/>
                </a:solidFill>
                <a:latin typeface="Calibri"/>
              </a:rPr>
              <a:t>Three independent exercises:</a:t>
            </a:r>
          </a:p>
        </p:txBody>
      </p:sp>
      <p:sp>
        <p:nvSpPr>
          <p:cNvPr id="19" name="TextBox 18"/>
          <p:cNvSpPr txBox="1"/>
          <p:nvPr/>
        </p:nvSpPr>
        <p:spPr>
          <a:xfrm>
            <a:off x="6537960" y="4389120"/>
            <a:ext cx="4937760" cy="365760"/>
          </a:xfrm>
          <a:prstGeom prst="rect">
            <a:avLst/>
          </a:prstGeom>
          <a:noFill/>
        </p:spPr>
        <p:txBody>
          <a:bodyPr wrap="square" lIns="0" rIns="0" tIns="0" bIns="0" anchor="t">
            <a:spAutoFit/>
          </a:bodyPr>
          <a:lstStyle/>
          <a:p>
            <a:pPr algn="l"/>
            <a:r>
              <a:rPr sz="1300" b="0">
                <a:solidFill>
                  <a:srgbClr val="E8F1F5"/>
                </a:solidFill>
                <a:latin typeface="Calibri"/>
              </a:rPr>
              <a:t>  1.  Build the pipeline from scratch.</a:t>
            </a:r>
          </a:p>
        </p:txBody>
      </p:sp>
      <p:sp>
        <p:nvSpPr>
          <p:cNvPr id="20" name="TextBox 19"/>
          <p:cNvSpPr txBox="1"/>
          <p:nvPr/>
        </p:nvSpPr>
        <p:spPr>
          <a:xfrm>
            <a:off x="6537960" y="4846320"/>
            <a:ext cx="4937760" cy="365760"/>
          </a:xfrm>
          <a:prstGeom prst="rect">
            <a:avLst/>
          </a:prstGeom>
          <a:noFill/>
        </p:spPr>
        <p:txBody>
          <a:bodyPr wrap="square" lIns="0" rIns="0" tIns="0" bIns="0" anchor="t">
            <a:spAutoFit/>
          </a:bodyPr>
          <a:lstStyle/>
          <a:p>
            <a:pPr algn="l"/>
            <a:r>
              <a:rPr sz="1300" b="0">
                <a:solidFill>
                  <a:srgbClr val="E8F1F5"/>
                </a:solidFill>
                <a:latin typeface="Calibri"/>
              </a:rPr>
              <a:t>  2.  CV with accuracy + precision + recall.</a:t>
            </a:r>
          </a:p>
        </p:txBody>
      </p:sp>
      <p:sp>
        <p:nvSpPr>
          <p:cNvPr id="21" name="TextBox 20"/>
          <p:cNvSpPr txBox="1"/>
          <p:nvPr/>
        </p:nvSpPr>
        <p:spPr>
          <a:xfrm>
            <a:off x="6537960" y="5303520"/>
            <a:ext cx="4937760" cy="365760"/>
          </a:xfrm>
          <a:prstGeom prst="rect">
            <a:avLst/>
          </a:prstGeom>
          <a:noFill/>
        </p:spPr>
        <p:txBody>
          <a:bodyPr wrap="square" lIns="0" rIns="0" tIns="0" bIns="0" anchor="t">
            <a:spAutoFit/>
          </a:bodyPr>
          <a:lstStyle/>
          <a:p>
            <a:pPr algn="l"/>
            <a:r>
              <a:rPr sz="1300" b="0">
                <a:solidFill>
                  <a:srgbClr val="E8F1F5"/>
                </a:solidFill>
                <a:latin typeface="Calibri"/>
              </a:rPr>
              <a:t>  3.  Threshold for a 50-bed rehab capacity.</a:t>
            </a:r>
          </a:p>
        </p:txBody>
      </p:sp>
      <p:sp>
        <p:nvSpPr>
          <p:cNvPr id="22" name="TextBox 21"/>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26/28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Q&amp;A — and What's Next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Common questions · the path to L04</a:t>
            </a:r>
          </a:p>
        </p:txBody>
      </p:sp>
      <p:sp>
        <p:nvSpPr>
          <p:cNvPr id="5" name="Rectangle 4"/>
          <p:cNvSpPr/>
          <p:nvPr/>
        </p:nvSpPr>
        <p:spPr>
          <a:xfrm>
            <a:off x="548640" y="173736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5029200" cy="457200"/>
          </a:xfrm>
          <a:prstGeom prst="rect">
            <a:avLst/>
          </a:prstGeom>
          <a:noFill/>
        </p:spPr>
        <p:txBody>
          <a:bodyPr wrap="square" lIns="0" rIns="0" tIns="0" bIns="0" anchor="t">
            <a:spAutoFit/>
          </a:bodyPr>
          <a:lstStyle/>
          <a:p>
            <a:pPr algn="l"/>
            <a:r>
              <a:rPr sz="1800" b="1">
                <a:solidFill>
                  <a:srgbClr val="065A82"/>
                </a:solidFill>
                <a:latin typeface="Calibri"/>
              </a:rPr>
              <a:t>💬  Common questions</a:t>
            </a:r>
          </a:p>
        </p:txBody>
      </p:sp>
      <p:sp>
        <p:nvSpPr>
          <p:cNvPr id="7" name="TextBox 6"/>
          <p:cNvSpPr txBox="1"/>
          <p:nvPr/>
        </p:nvSpPr>
        <p:spPr>
          <a:xfrm>
            <a:off x="914400" y="2606040"/>
            <a:ext cx="4937760" cy="457200"/>
          </a:xfrm>
          <a:prstGeom prst="rect">
            <a:avLst/>
          </a:prstGeom>
          <a:noFill/>
        </p:spPr>
        <p:txBody>
          <a:bodyPr wrap="square" lIns="0" rIns="0" tIns="0" bIns="0" anchor="t">
            <a:spAutoFit/>
          </a:bodyPr>
          <a:lstStyle/>
          <a:p>
            <a:pPr algn="l"/>
            <a:r>
              <a:rPr sz="1300" b="0">
                <a:solidFill>
                  <a:srgbClr val="36454F"/>
                </a:solidFill>
                <a:latin typeface="Calibri"/>
              </a:rPr>
              <a:t>• When should I use class_weight='balanced'?</a:t>
            </a:r>
          </a:p>
        </p:txBody>
      </p:sp>
      <p:sp>
        <p:nvSpPr>
          <p:cNvPr id="8" name="TextBox 7"/>
          <p:cNvSpPr txBox="1"/>
          <p:nvPr/>
        </p:nvSpPr>
        <p:spPr>
          <a:xfrm>
            <a:off x="914400" y="3063240"/>
            <a:ext cx="4937760" cy="457200"/>
          </a:xfrm>
          <a:prstGeom prst="rect">
            <a:avLst/>
          </a:prstGeom>
          <a:noFill/>
        </p:spPr>
        <p:txBody>
          <a:bodyPr wrap="square" lIns="0" rIns="0" tIns="0" bIns="0" anchor="t">
            <a:spAutoFit/>
          </a:bodyPr>
          <a:lstStyle/>
          <a:p>
            <a:pPr algn="l"/>
            <a:r>
              <a:rPr sz="1300" b="0">
                <a:solidFill>
                  <a:srgbClr val="36454F"/>
                </a:solidFill>
                <a:latin typeface="Calibri"/>
              </a:rPr>
              <a:t>• Should I always use Pipeline + ColumnTransformer?</a:t>
            </a:r>
          </a:p>
        </p:txBody>
      </p:sp>
      <p:sp>
        <p:nvSpPr>
          <p:cNvPr id="9" name="TextBox 8"/>
          <p:cNvSpPr txBox="1"/>
          <p:nvPr/>
        </p:nvSpPr>
        <p:spPr>
          <a:xfrm>
            <a:off x="914400" y="3520440"/>
            <a:ext cx="4937760" cy="457200"/>
          </a:xfrm>
          <a:prstGeom prst="rect">
            <a:avLst/>
          </a:prstGeom>
          <a:noFill/>
        </p:spPr>
        <p:txBody>
          <a:bodyPr wrap="square" lIns="0" rIns="0" tIns="0" bIns="0" anchor="t">
            <a:spAutoFit/>
          </a:bodyPr>
          <a:lstStyle/>
          <a:p>
            <a:pPr algn="l"/>
            <a:r>
              <a:rPr sz="1300" b="0">
                <a:solidFill>
                  <a:srgbClr val="36454F"/>
                </a:solidFill>
                <a:latin typeface="Calibri"/>
              </a:rPr>
              <a:t>• How do I deploy a sklearn Pipeline to production?</a:t>
            </a:r>
          </a:p>
        </p:txBody>
      </p:sp>
      <p:sp>
        <p:nvSpPr>
          <p:cNvPr id="10" name="TextBox 9"/>
          <p:cNvSpPr txBox="1"/>
          <p:nvPr/>
        </p:nvSpPr>
        <p:spPr>
          <a:xfrm>
            <a:off x="914400" y="3977639"/>
            <a:ext cx="4937760" cy="457200"/>
          </a:xfrm>
          <a:prstGeom prst="rect">
            <a:avLst/>
          </a:prstGeom>
          <a:noFill/>
        </p:spPr>
        <p:txBody>
          <a:bodyPr wrap="square" lIns="0" rIns="0" tIns="0" bIns="0" anchor="t">
            <a:spAutoFit/>
          </a:bodyPr>
          <a:lstStyle/>
          <a:p>
            <a:pPr algn="l"/>
            <a:r>
              <a:rPr sz="1300" b="0">
                <a:solidFill>
                  <a:srgbClr val="36454F"/>
                </a:solidFill>
                <a:latin typeface="Calibri"/>
              </a:rPr>
              <a:t>• What if my dataset is much larger than 10k rows?</a:t>
            </a:r>
          </a:p>
        </p:txBody>
      </p:sp>
      <p:sp>
        <p:nvSpPr>
          <p:cNvPr id="11" name="TextBox 10"/>
          <p:cNvSpPr txBox="1"/>
          <p:nvPr/>
        </p:nvSpPr>
        <p:spPr>
          <a:xfrm>
            <a:off x="914400" y="4434840"/>
            <a:ext cx="4937760" cy="457200"/>
          </a:xfrm>
          <a:prstGeom prst="rect">
            <a:avLst/>
          </a:prstGeom>
          <a:noFill/>
        </p:spPr>
        <p:txBody>
          <a:bodyPr wrap="square" lIns="0" rIns="0" tIns="0" bIns="0" anchor="t">
            <a:spAutoFit/>
          </a:bodyPr>
          <a:lstStyle/>
          <a:p>
            <a:pPr algn="l"/>
            <a:r>
              <a:rPr sz="1300" b="0">
                <a:solidFill>
                  <a:srgbClr val="36454F"/>
                </a:solidFill>
                <a:latin typeface="Calibri"/>
              </a:rPr>
              <a:t>• Can logistic regression handle missing values directly?</a:t>
            </a:r>
          </a:p>
        </p:txBody>
      </p:sp>
      <p:sp>
        <p:nvSpPr>
          <p:cNvPr id="12" name="TextBox 11"/>
          <p:cNvSpPr txBox="1"/>
          <p:nvPr/>
        </p:nvSpPr>
        <p:spPr>
          <a:xfrm>
            <a:off x="777240" y="5212080"/>
            <a:ext cx="5029200" cy="365760"/>
          </a:xfrm>
          <a:prstGeom prst="rect">
            <a:avLst/>
          </a:prstGeom>
          <a:noFill/>
        </p:spPr>
        <p:txBody>
          <a:bodyPr wrap="square" lIns="0" rIns="0" tIns="0" bIns="0" anchor="t">
            <a:spAutoFit/>
          </a:bodyPr>
          <a:lstStyle/>
          <a:p>
            <a:pPr algn="l"/>
            <a:r>
              <a:rPr sz="1300" b="1">
                <a:solidFill>
                  <a:srgbClr val="F96167"/>
                </a:solidFill>
                <a:latin typeface="Calibri"/>
              </a:rPr>
              <a:t>Bring your own — every question helps the room.</a:t>
            </a:r>
          </a:p>
        </p:txBody>
      </p:sp>
      <p:sp>
        <p:nvSpPr>
          <p:cNvPr id="13" name="Rectangle 12"/>
          <p:cNvSpPr/>
          <p:nvPr/>
        </p:nvSpPr>
        <p:spPr>
          <a:xfrm>
            <a:off x="6263640" y="1737360"/>
            <a:ext cx="530352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874519"/>
            <a:ext cx="4937760" cy="457200"/>
          </a:xfrm>
          <a:prstGeom prst="rect">
            <a:avLst/>
          </a:prstGeom>
          <a:noFill/>
        </p:spPr>
        <p:txBody>
          <a:bodyPr wrap="square" lIns="0" rIns="0" tIns="0" bIns="0" anchor="t">
            <a:spAutoFit/>
          </a:bodyPr>
          <a:lstStyle/>
          <a:p>
            <a:pPr algn="l"/>
            <a:r>
              <a:rPr sz="1800" b="1">
                <a:solidFill>
                  <a:srgbClr val="FFFFFF"/>
                </a:solidFill>
                <a:latin typeface="Calibri"/>
              </a:rPr>
              <a:t>📚  Going deeper</a:t>
            </a:r>
          </a:p>
        </p:txBody>
      </p:sp>
      <p:sp>
        <p:nvSpPr>
          <p:cNvPr id="15" name="TextBox 14"/>
          <p:cNvSpPr txBox="1"/>
          <p:nvPr/>
        </p:nvSpPr>
        <p:spPr>
          <a:xfrm>
            <a:off x="6537960" y="2606040"/>
            <a:ext cx="4937760" cy="457200"/>
          </a:xfrm>
          <a:prstGeom prst="rect">
            <a:avLst/>
          </a:prstGeom>
          <a:noFill/>
        </p:spPr>
        <p:txBody>
          <a:bodyPr wrap="square" lIns="0" rIns="0" tIns="0" bIns="0" anchor="t">
            <a:spAutoFit/>
          </a:bodyPr>
          <a:lstStyle/>
          <a:p>
            <a:pPr algn="l"/>
            <a:r>
              <a:rPr sz="1300" b="0">
                <a:solidFill>
                  <a:srgbClr val="E8F1F5"/>
                </a:solidFill>
                <a:latin typeface="Calibri"/>
              </a:rPr>
              <a:t>Optional notebook covers:</a:t>
            </a:r>
          </a:p>
        </p:txBody>
      </p:sp>
      <p:sp>
        <p:nvSpPr>
          <p:cNvPr id="16" name="TextBox 15"/>
          <p:cNvSpPr txBox="1"/>
          <p:nvPr/>
        </p:nvSpPr>
        <p:spPr>
          <a:xfrm>
            <a:off x="6537960" y="3063240"/>
            <a:ext cx="4937760" cy="457200"/>
          </a:xfrm>
          <a:prstGeom prst="rect">
            <a:avLst/>
          </a:prstGeom>
          <a:noFill/>
        </p:spPr>
        <p:txBody>
          <a:bodyPr wrap="square" lIns="0" rIns="0" tIns="0" bIns="0" anchor="t">
            <a:spAutoFit/>
          </a:bodyPr>
          <a:lstStyle/>
          <a:p>
            <a:pPr algn="l"/>
            <a:r>
              <a:rPr sz="1300" b="0">
                <a:solidFill>
                  <a:srgbClr val="E8F1F5"/>
                </a:solidFill>
                <a:latin typeface="Calibri"/>
              </a:rPr>
              <a:t>  · Bias-variance — polynomial degree sweep</a:t>
            </a:r>
          </a:p>
        </p:txBody>
      </p:sp>
      <p:sp>
        <p:nvSpPr>
          <p:cNvPr id="17" name="TextBox 16"/>
          <p:cNvSpPr txBox="1"/>
          <p:nvPr/>
        </p:nvSpPr>
        <p:spPr>
          <a:xfrm>
            <a:off x="6537960" y="3520440"/>
            <a:ext cx="4937760" cy="457200"/>
          </a:xfrm>
          <a:prstGeom prst="rect">
            <a:avLst/>
          </a:prstGeom>
          <a:noFill/>
        </p:spPr>
        <p:txBody>
          <a:bodyPr wrap="square" lIns="0" rIns="0" tIns="0" bIns="0" anchor="t">
            <a:spAutoFit/>
          </a:bodyPr>
          <a:lstStyle/>
          <a:p>
            <a:pPr algn="l"/>
            <a:r>
              <a:rPr sz="1300" b="0">
                <a:solidFill>
                  <a:srgbClr val="E8F1F5"/>
                </a:solidFill>
                <a:latin typeface="Calibri"/>
              </a:rPr>
              <a:t>  · ROC curve + AUC summary</a:t>
            </a:r>
          </a:p>
        </p:txBody>
      </p:sp>
      <p:sp>
        <p:nvSpPr>
          <p:cNvPr id="18" name="TextBox 17"/>
          <p:cNvSpPr txBox="1"/>
          <p:nvPr/>
        </p:nvSpPr>
        <p:spPr>
          <a:xfrm>
            <a:off x="6537960" y="3977639"/>
            <a:ext cx="4937760" cy="457200"/>
          </a:xfrm>
          <a:prstGeom prst="rect">
            <a:avLst/>
          </a:prstGeom>
          <a:noFill/>
        </p:spPr>
        <p:txBody>
          <a:bodyPr wrap="square" lIns="0" rIns="0" tIns="0" bIns="0" anchor="t">
            <a:spAutoFit/>
          </a:bodyPr>
          <a:lstStyle/>
          <a:p>
            <a:pPr algn="l"/>
            <a:r>
              <a:rPr sz="1300" b="0">
                <a:solidFill>
                  <a:srgbClr val="E8F1F5"/>
                </a:solidFill>
                <a:latin typeface="Calibri"/>
              </a:rPr>
              <a:t>  · Learning curves (more data? or better model?)</a:t>
            </a:r>
          </a:p>
        </p:txBody>
      </p:sp>
      <p:sp>
        <p:nvSpPr>
          <p:cNvPr id="19" name="TextBox 18"/>
          <p:cNvSpPr txBox="1"/>
          <p:nvPr/>
        </p:nvSpPr>
        <p:spPr>
          <a:xfrm>
            <a:off x="6537960" y="4434840"/>
            <a:ext cx="4937760" cy="457200"/>
          </a:xfrm>
          <a:prstGeom prst="rect">
            <a:avLst/>
          </a:prstGeom>
          <a:noFill/>
        </p:spPr>
        <p:txBody>
          <a:bodyPr wrap="square" lIns="0" rIns="0" tIns="0" bIns="0" anchor="t">
            <a:spAutoFit/>
          </a:bodyPr>
          <a:lstStyle/>
          <a:p>
            <a:pPr algn="l"/>
            <a:r>
              <a:rPr sz="1300" b="0">
                <a:solidFill>
                  <a:srgbClr val="E8F1F5"/>
                </a:solidFill>
                <a:latin typeface="Calibri"/>
              </a:rPr>
              <a:t>  · Manual feature engineering</a:t>
            </a:r>
          </a:p>
        </p:txBody>
      </p:sp>
      <p:sp>
        <p:nvSpPr>
          <p:cNvPr id="20" name="TextBox 19"/>
          <p:cNvSpPr txBox="1"/>
          <p:nvPr/>
        </p:nvSpPr>
        <p:spPr>
          <a:xfrm>
            <a:off x="6537960" y="4892040"/>
            <a:ext cx="4937760" cy="457200"/>
          </a:xfrm>
          <a:prstGeom prst="rect">
            <a:avLst/>
          </a:prstGeom>
          <a:noFill/>
        </p:spPr>
        <p:txBody>
          <a:bodyPr wrap="square" lIns="0" rIns="0" tIns="0" bIns="0" anchor="t">
            <a:spAutoFit/>
          </a:bodyPr>
          <a:lstStyle/>
          <a:p>
            <a:pPr algn="l"/>
            <a:r>
              <a:rPr sz="1300" b="0">
                <a:solidFill>
                  <a:srgbClr val="E8F1F5"/>
                </a:solidFill>
                <a:latin typeface="Calibri"/>
              </a:rPr>
              <a:t/>
            </a:r>
          </a:p>
        </p:txBody>
      </p:sp>
      <p:sp>
        <p:nvSpPr>
          <p:cNvPr id="21" name="TextBox 20"/>
          <p:cNvSpPr txBox="1"/>
          <p:nvPr/>
        </p:nvSpPr>
        <p:spPr>
          <a:xfrm>
            <a:off x="6537960" y="5349240"/>
            <a:ext cx="4937760" cy="457200"/>
          </a:xfrm>
          <a:prstGeom prst="rect">
            <a:avLst/>
          </a:prstGeom>
          <a:noFill/>
        </p:spPr>
        <p:txBody>
          <a:bodyPr wrap="square" lIns="0" rIns="0" tIns="0" bIns="0" anchor="t">
            <a:spAutoFit/>
          </a:bodyPr>
          <a:lstStyle/>
          <a:p>
            <a:pPr algn="l"/>
            <a:r>
              <a:rPr sz="1300" b="0">
                <a:solidFill>
                  <a:srgbClr val="E8F1F5"/>
                </a:solidFill>
                <a:latin typeface="Calibri"/>
              </a:rPr>
              <a:t>Open notebooks/optional_extensions.ipynb</a:t>
            </a:r>
          </a:p>
        </p:txBody>
      </p:sp>
      <p:sp>
        <p:nvSpPr>
          <p:cNvPr id="22" name="TextBox 21"/>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L03 — Slide 27/28  ·  See you in L04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698480" cy="640080"/>
          </a:xfrm>
          <a:prstGeom prst="rect">
            <a:avLst/>
          </a:prstGeom>
          <a:noFill/>
        </p:spPr>
        <p:txBody>
          <a:bodyPr wrap="square" lIns="0" rIns="0" tIns="0" bIns="0" anchor="t">
            <a:spAutoFit/>
          </a:bodyPr>
          <a:lstStyle/>
          <a:p>
            <a:pPr algn="l"/>
            <a:r>
              <a:rPr sz="4200" b="1">
                <a:solidFill>
                  <a:srgbClr val="FFFFFF"/>
                </a:solidFill>
                <a:latin typeface="Trebuchet MS"/>
              </a:rPr>
              <a:t>L03 — Recap</a:t>
            </a:r>
          </a:p>
        </p:txBody>
      </p:sp>
      <p:sp>
        <p:nvSpPr>
          <p:cNvPr id="4" name="TextBox 3"/>
          <p:cNvSpPr txBox="1"/>
          <p:nvPr/>
        </p:nvSpPr>
        <p:spPr>
          <a:xfrm>
            <a:off x="731520" y="2011680"/>
            <a:ext cx="10698480" cy="457200"/>
          </a:xfrm>
          <a:prstGeom prst="rect">
            <a:avLst/>
          </a:prstGeom>
          <a:noFill/>
        </p:spPr>
        <p:txBody>
          <a:bodyPr wrap="square" lIns="0" rIns="0" tIns="0" bIns="0" anchor="t">
            <a:spAutoFit/>
          </a:bodyPr>
          <a:lstStyle/>
          <a:p>
            <a:pPr algn="l"/>
            <a:r>
              <a:rPr sz="1800" b="1">
                <a:solidFill>
                  <a:srgbClr val="F9E795"/>
                </a:solidFill>
                <a:latin typeface="Calibri"/>
              </a:rPr>
              <a:t>Sarah's journey so far</a:t>
            </a:r>
          </a:p>
        </p:txBody>
      </p:sp>
      <p:sp>
        <p:nvSpPr>
          <p:cNvPr id="5" name="TextBox 4"/>
          <p:cNvSpPr txBox="1"/>
          <p:nvPr/>
        </p:nvSpPr>
        <p:spPr>
          <a:xfrm>
            <a:off x="731520" y="2743200"/>
            <a:ext cx="914400" cy="457200"/>
          </a:xfrm>
          <a:prstGeom prst="rect">
            <a:avLst/>
          </a:prstGeom>
          <a:noFill/>
        </p:spPr>
        <p:txBody>
          <a:bodyPr wrap="square" lIns="0" rIns="0" tIns="0" bIns="0" anchor="t">
            <a:spAutoFit/>
          </a:bodyPr>
          <a:lstStyle/>
          <a:p>
            <a:pPr algn="l"/>
            <a:r>
              <a:rPr sz="2200" b="1">
                <a:solidFill>
                  <a:srgbClr val="E8F1F5"/>
                </a:solidFill>
                <a:latin typeface="Trebuchet MS"/>
              </a:rPr>
              <a:t>L01</a:t>
            </a:r>
          </a:p>
        </p:txBody>
      </p:sp>
      <p:sp>
        <p:nvSpPr>
          <p:cNvPr id="6" name="TextBox 5"/>
          <p:cNvSpPr txBox="1"/>
          <p:nvPr/>
        </p:nvSpPr>
        <p:spPr>
          <a:xfrm>
            <a:off x="1737360" y="2743200"/>
            <a:ext cx="6858000" cy="457200"/>
          </a:xfrm>
          <a:prstGeom prst="rect">
            <a:avLst/>
          </a:prstGeom>
          <a:noFill/>
        </p:spPr>
        <p:txBody>
          <a:bodyPr wrap="square" lIns="0" rIns="0" tIns="0" bIns="0" anchor="t">
            <a:spAutoFit/>
          </a:bodyPr>
          <a:lstStyle/>
          <a:p>
            <a:pPr algn="l"/>
            <a:r>
              <a:rPr sz="1400" b="0">
                <a:solidFill>
                  <a:srgbClr val="E8F1F5"/>
                </a:solidFill>
                <a:latin typeface="Calibri"/>
              </a:rPr>
              <a:t>Ran a pre-trained model on 10,000 reviews</a:t>
            </a:r>
          </a:p>
        </p:txBody>
      </p:sp>
      <p:sp>
        <p:nvSpPr>
          <p:cNvPr id="7" name="TextBox 6"/>
          <p:cNvSpPr txBox="1"/>
          <p:nvPr/>
        </p:nvSpPr>
        <p:spPr>
          <a:xfrm>
            <a:off x="8686800" y="2743200"/>
            <a:ext cx="2926080" cy="457200"/>
          </a:xfrm>
          <a:prstGeom prst="rect">
            <a:avLst/>
          </a:prstGeom>
          <a:noFill/>
        </p:spPr>
        <p:txBody>
          <a:bodyPr wrap="square" lIns="0" rIns="0" tIns="0" bIns="0" anchor="t">
            <a:spAutoFit/>
          </a:bodyPr>
          <a:lstStyle/>
          <a:p>
            <a:pPr algn="l"/>
            <a:r>
              <a:rPr sz="1300" b="0">
                <a:solidFill>
                  <a:srgbClr val="E8F1F5"/>
                </a:solidFill>
                <a:latin typeface="Calibri"/>
              </a:rPr>
              <a:t>→ 'how sure are we?'</a:t>
            </a:r>
          </a:p>
        </p:txBody>
      </p:sp>
      <p:sp>
        <p:nvSpPr>
          <p:cNvPr id="8" name="TextBox 7"/>
          <p:cNvSpPr txBox="1"/>
          <p:nvPr/>
        </p:nvSpPr>
        <p:spPr>
          <a:xfrm>
            <a:off x="731520" y="3383280"/>
            <a:ext cx="914400" cy="457200"/>
          </a:xfrm>
          <a:prstGeom prst="rect">
            <a:avLst/>
          </a:prstGeom>
          <a:noFill/>
        </p:spPr>
        <p:txBody>
          <a:bodyPr wrap="square" lIns="0" rIns="0" tIns="0" bIns="0" anchor="t">
            <a:spAutoFit/>
          </a:bodyPr>
          <a:lstStyle/>
          <a:p>
            <a:pPr algn="l"/>
            <a:r>
              <a:rPr sz="2200" b="1">
                <a:solidFill>
                  <a:srgbClr val="E8F1F5"/>
                </a:solidFill>
                <a:latin typeface="Trebuchet MS"/>
              </a:rPr>
              <a:t>L02</a:t>
            </a:r>
          </a:p>
        </p:txBody>
      </p:sp>
      <p:sp>
        <p:nvSpPr>
          <p:cNvPr id="9" name="TextBox 8"/>
          <p:cNvSpPr txBox="1"/>
          <p:nvPr/>
        </p:nvSpPr>
        <p:spPr>
          <a:xfrm>
            <a:off x="1737360" y="3383280"/>
            <a:ext cx="6858000" cy="457200"/>
          </a:xfrm>
          <a:prstGeom prst="rect">
            <a:avLst/>
          </a:prstGeom>
          <a:noFill/>
        </p:spPr>
        <p:txBody>
          <a:bodyPr wrap="square" lIns="0" rIns="0" tIns="0" bIns="0" anchor="t">
            <a:spAutoFit/>
          </a:bodyPr>
          <a:lstStyle/>
          <a:p>
            <a:pPr algn="l"/>
            <a:r>
              <a:rPr sz="1400" b="0">
                <a:solidFill>
                  <a:srgbClr val="E8F1F5"/>
                </a:solidFill>
                <a:latin typeface="Calibri"/>
              </a:rPr>
              <a:t>Bracketed every number with CIs and tested the coupon</a:t>
            </a:r>
          </a:p>
        </p:txBody>
      </p:sp>
      <p:sp>
        <p:nvSpPr>
          <p:cNvPr id="10" name="TextBox 9"/>
          <p:cNvSpPr txBox="1"/>
          <p:nvPr/>
        </p:nvSpPr>
        <p:spPr>
          <a:xfrm>
            <a:off x="8686800" y="3383280"/>
            <a:ext cx="2926080" cy="457200"/>
          </a:xfrm>
          <a:prstGeom prst="rect">
            <a:avLst/>
          </a:prstGeom>
          <a:noFill/>
        </p:spPr>
        <p:txBody>
          <a:bodyPr wrap="square" lIns="0" rIns="0" tIns="0" bIns="0" anchor="t">
            <a:spAutoFit/>
          </a:bodyPr>
          <a:lstStyle/>
          <a:p>
            <a:pPr algn="l"/>
            <a:r>
              <a:rPr sz="1300" b="0">
                <a:solidFill>
                  <a:srgbClr val="E8F1F5"/>
                </a:solidFill>
                <a:latin typeface="Calibri"/>
              </a:rPr>
              <a:t>→ 'train your own model?'</a:t>
            </a:r>
          </a:p>
        </p:txBody>
      </p:sp>
      <p:sp>
        <p:nvSpPr>
          <p:cNvPr id="11" name="TextBox 10"/>
          <p:cNvSpPr txBox="1"/>
          <p:nvPr/>
        </p:nvSpPr>
        <p:spPr>
          <a:xfrm>
            <a:off x="731520" y="4023360"/>
            <a:ext cx="914400" cy="457200"/>
          </a:xfrm>
          <a:prstGeom prst="rect">
            <a:avLst/>
          </a:prstGeom>
          <a:noFill/>
        </p:spPr>
        <p:txBody>
          <a:bodyPr wrap="square" lIns="0" rIns="0" tIns="0" bIns="0" anchor="t">
            <a:spAutoFit/>
          </a:bodyPr>
          <a:lstStyle/>
          <a:p>
            <a:pPr algn="l"/>
            <a:r>
              <a:rPr sz="2200" b="1">
                <a:solidFill>
                  <a:srgbClr val="F9E795"/>
                </a:solidFill>
                <a:latin typeface="Trebuchet MS"/>
              </a:rPr>
              <a:t>L03</a:t>
            </a:r>
          </a:p>
        </p:txBody>
      </p:sp>
      <p:sp>
        <p:nvSpPr>
          <p:cNvPr id="12" name="TextBox 11"/>
          <p:cNvSpPr txBox="1"/>
          <p:nvPr/>
        </p:nvSpPr>
        <p:spPr>
          <a:xfrm>
            <a:off x="1737360" y="4023360"/>
            <a:ext cx="6858000" cy="457200"/>
          </a:xfrm>
          <a:prstGeom prst="rect">
            <a:avLst/>
          </a:prstGeom>
          <a:noFill/>
        </p:spPr>
        <p:txBody>
          <a:bodyPr wrap="square" lIns="0" rIns="0" tIns="0" bIns="0" anchor="t">
            <a:spAutoFit/>
          </a:bodyPr>
          <a:lstStyle/>
          <a:p>
            <a:pPr algn="l"/>
            <a:r>
              <a:rPr sz="1400" b="0">
                <a:solidFill>
                  <a:srgbClr val="F9E795"/>
                </a:solidFill>
                <a:latin typeface="Calibri"/>
              </a:rPr>
              <a:t>Trained, evaluated, and chose the right threshold</a:t>
            </a:r>
          </a:p>
        </p:txBody>
      </p:sp>
      <p:sp>
        <p:nvSpPr>
          <p:cNvPr id="13" name="TextBox 12"/>
          <p:cNvSpPr txBox="1"/>
          <p:nvPr/>
        </p:nvSpPr>
        <p:spPr>
          <a:xfrm>
            <a:off x="8686800" y="4023360"/>
            <a:ext cx="2926080" cy="457200"/>
          </a:xfrm>
          <a:prstGeom prst="rect">
            <a:avLst/>
          </a:prstGeom>
          <a:noFill/>
        </p:spPr>
        <p:txBody>
          <a:bodyPr wrap="square" lIns="0" rIns="0" tIns="0" bIns="0" anchor="t">
            <a:spAutoFit/>
          </a:bodyPr>
          <a:lstStyle/>
          <a:p>
            <a:pPr algn="l"/>
            <a:r>
              <a:rPr sz="1300" b="1">
                <a:solidFill>
                  <a:srgbClr val="F9E795"/>
                </a:solidFill>
                <a:latin typeface="Calibri"/>
              </a:rPr>
              <a:t>→ 'make it better?'</a:t>
            </a:r>
          </a:p>
        </p:txBody>
      </p:sp>
      <p:sp>
        <p:nvSpPr>
          <p:cNvPr id="14" name="TextBox 13"/>
          <p:cNvSpPr txBox="1"/>
          <p:nvPr/>
        </p:nvSpPr>
        <p:spPr>
          <a:xfrm>
            <a:off x="731520" y="4663440"/>
            <a:ext cx="914400" cy="457200"/>
          </a:xfrm>
          <a:prstGeom prst="rect">
            <a:avLst/>
          </a:prstGeom>
          <a:noFill/>
        </p:spPr>
        <p:txBody>
          <a:bodyPr wrap="square" lIns="0" rIns="0" tIns="0" bIns="0" anchor="t">
            <a:spAutoFit/>
          </a:bodyPr>
          <a:lstStyle/>
          <a:p>
            <a:pPr algn="l"/>
            <a:r>
              <a:rPr sz="2200" b="1">
                <a:solidFill>
                  <a:srgbClr val="E8F1F5"/>
                </a:solidFill>
                <a:latin typeface="Trebuchet MS"/>
              </a:rPr>
              <a:t>L04</a:t>
            </a:r>
          </a:p>
        </p:txBody>
      </p:sp>
      <p:sp>
        <p:nvSpPr>
          <p:cNvPr id="15" name="TextBox 14"/>
          <p:cNvSpPr txBox="1"/>
          <p:nvPr/>
        </p:nvSpPr>
        <p:spPr>
          <a:xfrm>
            <a:off x="1737360" y="4663440"/>
            <a:ext cx="6858000" cy="457200"/>
          </a:xfrm>
          <a:prstGeom prst="rect">
            <a:avLst/>
          </a:prstGeom>
          <a:noFill/>
        </p:spPr>
        <p:txBody>
          <a:bodyPr wrap="square" lIns="0" rIns="0" tIns="0" bIns="0" anchor="t">
            <a:spAutoFit/>
          </a:bodyPr>
          <a:lstStyle/>
          <a:p>
            <a:pPr algn="l"/>
            <a:r>
              <a:rPr sz="1400" b="0">
                <a:solidFill>
                  <a:srgbClr val="E8F1F5"/>
                </a:solidFill>
                <a:latin typeface="Calibri"/>
              </a:rPr>
              <a:t>Decision trees, ensembles, the kaggle toolkit</a:t>
            </a:r>
          </a:p>
        </p:txBody>
      </p:sp>
      <p:sp>
        <p:nvSpPr>
          <p:cNvPr id="16" name="TextBox 15"/>
          <p:cNvSpPr txBox="1"/>
          <p:nvPr/>
        </p:nvSpPr>
        <p:spPr>
          <a:xfrm>
            <a:off x="8686800" y="4663440"/>
            <a:ext cx="2926080" cy="457200"/>
          </a:xfrm>
          <a:prstGeom prst="rect">
            <a:avLst/>
          </a:prstGeom>
          <a:noFill/>
        </p:spPr>
        <p:txBody>
          <a:bodyPr wrap="square" lIns="0" rIns="0" tIns="0" bIns="0" anchor="t">
            <a:spAutoFit/>
          </a:bodyPr>
          <a:lstStyle/>
          <a:p>
            <a:pPr algn="l"/>
            <a:r>
              <a:rPr sz="1300" b="0">
                <a:solidFill>
                  <a:srgbClr val="E8F1F5"/>
                </a:solidFill>
                <a:latin typeface="Calibri"/>
              </a:rPr>
              <a:t>Coming next</a:t>
            </a:r>
          </a:p>
        </p:txBody>
      </p:sp>
      <p:sp>
        <p:nvSpPr>
          <p:cNvPr id="17" name="Rectangle 16"/>
          <p:cNvSpPr/>
          <p:nvPr/>
        </p:nvSpPr>
        <p:spPr>
          <a:xfrm>
            <a:off x="731520" y="5852160"/>
            <a:ext cx="1069848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943600"/>
            <a:ext cx="10515600" cy="457200"/>
          </a:xfrm>
          <a:prstGeom prst="rect">
            <a:avLst/>
          </a:prstGeom>
          <a:noFill/>
        </p:spPr>
        <p:txBody>
          <a:bodyPr wrap="square" lIns="0" rIns="0" tIns="0" bIns="0" anchor="t">
            <a:spAutoFit/>
          </a:bodyPr>
          <a:lstStyle/>
          <a:p>
            <a:pPr algn="l"/>
            <a:r>
              <a:rPr sz="1400" b="1">
                <a:solidFill>
                  <a:srgbClr val="E8F1F5"/>
                </a:solidFill>
                <a:latin typeface="Trebuchet MS"/>
              </a:rPr>
              <a:t>Thank you. Assignment is in notebooks/assignment.ipynb — due before L04.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