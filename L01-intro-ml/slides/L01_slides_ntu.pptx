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Lesson 1 of Module 3. Today's session is structured as ~90 minutes of slide-driven lecture and ~90 minutes of hands-on notebook work, with short transitions between. The aim is for you to leave with a working mental model of what Machine Learning is and a real model run end-to-end on a dataset that mirrors your own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orientation. Module 1 was about summarising data that already has answers — describing the past. Module 2 was about moving data reliably between systems. Module 3 changes the question: now we're asking the computer to produce answers for data nobody has looked at yet. That's the shift you're making this week.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sentence that defines M3: instead of summarising data that already has answers, we are now asking the computer to learn from examples and produce answers for unseen data. SQL, Python, and statistics — you carry all of those forward. What is new in M3 is the learning-from-examples machinery.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our protagonist for the whole module. Sarah Chen, recently promoted to Customer Experience Analyst at NorthStar Retail. She's smart, motivated, and a little nervous. Her week-one task lands on her desk as a USB drive with 10,000 customer reviews. Every concept in this lesson is grounded in a moment from her week.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this problem matter? Hand-reading 10,000 reviews would take Sarah the entire week — and she still wouldn't be done by Friday. This is the kind of scale problem where you reach for ML. But Sarah's first instinct, like most analysts new to ML, is to try to solve it with rules — keyword matching. We'll see why that doesn't survive contact with real 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Rule-based programming is the natural first instinct: hand-code the answer. List positive words, list negative words, count which side wins. It feels concrete and controllable. The key teaching point here is that this is exactly how programming worked before ML — and exactly why simple text problems were so hard to solve.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rule-based code Sarah writes in her first hour. Read it on the slide — we won't dive into every line, because the point is that it's straightforward. It works fine on simple reviews. The trouble starts when language gets nuanced — negations, mixed sentiment, sarcasm.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failure modes. First, rules don't know what a word refers to — 'terrible shipping' triggers a NEGATIVE label even when the review explicitly says the product is fine. Second, negations like 'not' flip the meaning and confuse word-counting. Third, every new edge case requires a new rule, and the rule list becomes unmaintainable. This is the 'whack-a-mole' pattern that makes traditional NLP painful.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ML paradigm flip. Instead of writing rules, we provide examples — many of them, with correct labels. The computer studies them and discovers patterns we couldn't have written down. This is the single most important concept in the course. It's also the reason 'training data' becomes the new bottleneck.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practical shortcut: someone has often already done the training for you. Hugging Face hosts hundreds of pre-trained models for common tasks like sentiment, translation, summarisation. Sarah does NOT need to label a million reviews from scratch — she can load a model that has already learned from millions of labeled examples and use it directly. Start there, every time, before training your 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pause here for the first code-along. Open notebook 02_what_is_ml.ipynb in your environment. Plan for about 30 minutes. The Core section ends at a clear 🟡 marker — you don't need to do the Extension content today. If you get stuck on the model download, raise a hand; the first run downloads ~250MB.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zoom out. ML is a family of methods, not one method. Three main branches — supervised, unsupervised, reinforcement. Supervised is by far the most common in business: you have inputs AND correct answers, and the model learns to map inputs to answers. Sarah's sentiment task is supervised. Lessons 3 and 4 go very deep on this category.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Unsupervised is the second category. No correct answers — just inputs. The model finds structure on its own: groups, anomalies, latent patterns. Customer segmentation is the canonical business example. Lesson 6 covers this in detail. It's powerful when you have data but nobody has labelled it yet.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category, reinforcement learning. An agent takes actions, gets rewards or penalties, and learns over time which actions pay off. Behind game-playing AIs, robotic control, and parts of how modern LLMs are fine-tuned (RLHF). We will not build one in this course — RL needs millions of trials and a simulator — but you should be able to recognise it when you see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10-minute discussion notebook. Open 03_three_categories.ipynb. Read through the categories, then do the five-problem matching exercise. Discuss with your neighbour — most learners find this fun. The answer key is at the bottom of the notebook.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step back from Sarah's specific work and look at the workflow every ML project follows. There are seven steps, in this order. Most beginners think the model is the hard part. It isn't — framing and data are. We'll spend the next three slides on this.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surprise. Most beginners expect to spend their time training models. Real projects spend 60-70% on framing, data collection, and cleaning. Training is fast. Evaluation needs care. Deployment and monitoring are where ML engineering lives. This single insight reframes what your real job will look like.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condensed version of the table — what happens in each step, and the most common mistake. Use this as your checklist for every ML project you ever do. Sarah's sentiment work followed every step, even the ones she didn't realise she was doing.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nothing else from this lesson, remember this: the project succeeds or fails at Step 1. A beautifully trained model that solves the wrong problem is worth zero. Framing means: what is the actual question? Who acts on the output? What's the cost of being wrong, and is it symmetric?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code-along of the lesson. Open 04_ml_workflow.ipynb. You'll walk Sarah's sentiment project through each of the seven steps and discover where she did them well — and where she skipped them. Plan for about 20 minutes. The hospital scenario at the end is Extension content.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close on Priya's question — the question Sarah cannot yet answer. Friday morning. Sarah's deck is polished, the numbers look great, and Priya asks: 'how SURE are we?' The model put a label on every review. Could it be confidently wrong in ways we can't see from this report? That single question is the entire engine of Lesson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preview of the assignment and time for questions. The assignment notebook moves Sarah to a new client — Lakeside Bank — where Tom Bradley needs help categorising 8,000 complaints. Same 7-step workflow, new domain. Aim to complete before L02.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jpg"/>
          <p:cNvPicPr>
            <a:picLocks noChangeAspect="1"/>
          </p:cNvPicPr>
          <p:nvPr/>
        </p:nvPicPr>
        <p:blipFill>
          <a:blip r:embed="rId4"/>
          <a:stretch>
            <a:fillRect/>
          </a:stretch>
        </p:blipFill>
        <p:spPr>
          <a:xfrm>
            <a:off x="0" y="0"/>
            <a:ext cx="9144000" cy="5143500"/>
          </a:xfrm>
          <a:prstGeom prst="rect">
            <a:avLst/>
          </a:prstGeom>
        </p:spPr>
      </p:pic>
      <p:sp>
        <p:nvSpPr>
          <p:cNvPr id="3" name="TextBox 2"/>
          <p:cNvSpPr txBox="1"/>
          <p:nvPr/>
        </p:nvSpPr>
        <p:spPr>
          <a:xfrm>
            <a:off x="365760" y="1417320"/>
            <a:ext cx="5349240" cy="1371600"/>
          </a:xfrm>
          <a:prstGeom prst="rect">
            <a:avLst/>
          </a:prstGeom>
          <a:noFill/>
        </p:spPr>
        <p:txBody>
          <a:bodyPr wrap="square" lIns="0" rIns="0" tIns="0" bIns="0">
            <a:spAutoFit/>
          </a:bodyPr>
          <a:lstStyle/>
          <a:p>
            <a:pPr algn="l"/>
            <a:r>
              <a:rPr sz="2800" b="1">
                <a:solidFill>
                  <a:srgbClr val="FFFFFF"/>
                </a:solidFill>
                <a:latin typeface="Arial"/>
              </a:rPr>
              <a:t>L01 — How Machines Learn</a:t>
            </a:r>
          </a:p>
        </p:txBody>
      </p:sp>
      <p:sp>
        <p:nvSpPr>
          <p:cNvPr id="4" name="TextBox 3"/>
          <p:cNvSpPr txBox="1"/>
          <p:nvPr/>
        </p:nvSpPr>
        <p:spPr>
          <a:xfrm>
            <a:off x="365760" y="2926080"/>
            <a:ext cx="5029200" cy="1371600"/>
          </a:xfrm>
          <a:prstGeom prst="rect">
            <a:avLst/>
          </a:prstGeom>
          <a:noFill/>
        </p:spPr>
        <p:txBody>
          <a:bodyPr wrap="square" lIns="0" rIns="0" tIns="0" bIns="0">
            <a:spAutoFit/>
          </a:bodyPr>
          <a:lstStyle/>
          <a:p>
            <a:pPr algn="l"/>
            <a:r>
              <a:rPr sz="1400">
                <a:solidFill>
                  <a:srgbClr val="FFFFFF"/>
                </a:solidFill>
                <a:latin typeface="Arial"/>
              </a:rPr>
              <a:t>Sarah's Week at NorthStar Retail</a:t>
            </a:r>
          </a:p>
          <a:p>
            <a:pPr algn="l"/>
            <a:r>
              <a:rPr sz="1400">
                <a:solidFill>
                  <a:srgbClr val="FFFFFF"/>
                </a:solidFill>
                <a:latin typeface="Arial"/>
              </a:rPr>
              <a:t/>
            </a:r>
          </a:p>
          <a:p>
            <a:pPr algn="l"/>
            <a:r>
              <a:rPr sz="1400">
                <a:solidFill>
                  <a:srgbClr val="FFFFFF"/>
                </a:solidFill>
                <a:latin typeface="Arial"/>
              </a:rPr>
              <a:t>Module 3 · Machine Learning &amp; GenAI</a:t>
            </a:r>
          </a:p>
        </p:txBody>
      </p:sp>
      <p:pic>
        <p:nvPicPr>
          <p:cNvPr id="5" name="Picture 4" descr="image.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Where Does Machine Learning Fit?</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Bridge from Modules 1 and 2 into M3</a:t>
            </a:r>
          </a:p>
        </p:txBody>
      </p:sp>
      <p:sp>
        <p:nvSpPr>
          <p:cNvPr id="5" name="Rectangle 4"/>
          <p:cNvSpPr/>
          <p:nvPr/>
        </p:nvSpPr>
        <p:spPr>
          <a:xfrm>
            <a:off x="411480" y="1234440"/>
            <a:ext cx="2743200" cy="31546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40180"/>
            <a:ext cx="2400300" cy="548640"/>
          </a:xfrm>
          <a:prstGeom prst="rect">
            <a:avLst/>
          </a:prstGeom>
          <a:noFill/>
        </p:spPr>
        <p:txBody>
          <a:bodyPr wrap="square" lIns="0" rIns="0" tIns="0" bIns="0" anchor="t">
            <a:spAutoFit/>
          </a:bodyPr>
          <a:lstStyle/>
          <a:p>
            <a:pPr algn="l"/>
            <a:r>
              <a:rPr sz="1500" b="1">
                <a:solidFill>
                  <a:srgbClr val="065A82"/>
                </a:solidFill>
                <a:latin typeface="Trebuchet MS"/>
              </a:rPr>
              <a:t>M1 · Data Analytics</a:t>
            </a:r>
          </a:p>
        </p:txBody>
      </p:sp>
      <p:sp>
        <p:nvSpPr>
          <p:cNvPr id="7" name="TextBox 6"/>
          <p:cNvSpPr txBox="1"/>
          <p:nvPr/>
        </p:nvSpPr>
        <p:spPr>
          <a:xfrm>
            <a:off x="582930" y="2057400"/>
            <a:ext cx="2400300" cy="1371600"/>
          </a:xfrm>
          <a:prstGeom prst="rect">
            <a:avLst/>
          </a:prstGeom>
          <a:noFill/>
        </p:spPr>
        <p:txBody>
          <a:bodyPr wrap="square" lIns="0" rIns="0" tIns="0" bIns="0" anchor="t">
            <a:spAutoFit/>
          </a:bodyPr>
          <a:lstStyle/>
          <a:p>
            <a:pPr algn="l"/>
            <a:r>
              <a:rPr sz="1050" b="0">
                <a:solidFill>
                  <a:srgbClr val="36454F"/>
                </a:solidFill>
                <a:latin typeface="Calibri"/>
              </a:rPr>
              <a:t>Summarise the past.</a:t>
            </a:r>
          </a:p>
          <a:p>
            <a:pPr algn="l"/>
            <a:r>
              <a:rPr sz="1050" b="0">
                <a:solidFill>
                  <a:srgbClr val="36454F"/>
                </a:solidFill>
                <a:latin typeface="Calibri"/>
              </a:rPr>
              <a:t>Describe what happened.</a:t>
            </a:r>
          </a:p>
        </p:txBody>
      </p:sp>
      <p:sp>
        <p:nvSpPr>
          <p:cNvPr id="8" name="Rectangle 7"/>
          <p:cNvSpPr/>
          <p:nvPr/>
        </p:nvSpPr>
        <p:spPr>
          <a:xfrm>
            <a:off x="582930" y="3429000"/>
            <a:ext cx="2400300" cy="8229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531870"/>
            <a:ext cx="2194560" cy="617220"/>
          </a:xfrm>
          <a:prstGeom prst="rect">
            <a:avLst/>
          </a:prstGeom>
          <a:noFill/>
        </p:spPr>
        <p:txBody>
          <a:bodyPr wrap="square" lIns="0" rIns="0" tIns="0" bIns="0" anchor="t">
            <a:spAutoFit/>
          </a:bodyPr>
          <a:lstStyle/>
          <a:p>
            <a:pPr algn="l"/>
            <a:r>
              <a:rPr sz="900" b="0">
                <a:solidFill>
                  <a:srgbClr val="FFFFFF"/>
                </a:solidFill>
                <a:latin typeface="Calibri"/>
              </a:rPr>
              <a:t>Sarah: 'Reviews dropped 12% last month.'</a:t>
            </a:r>
          </a:p>
        </p:txBody>
      </p:sp>
      <p:sp>
        <p:nvSpPr>
          <p:cNvPr id="10" name="Rectangle 9"/>
          <p:cNvSpPr/>
          <p:nvPr/>
        </p:nvSpPr>
        <p:spPr>
          <a:xfrm>
            <a:off x="3223260" y="1234440"/>
            <a:ext cx="2743200" cy="31546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94710" y="1440180"/>
            <a:ext cx="2400300" cy="548640"/>
          </a:xfrm>
          <a:prstGeom prst="rect">
            <a:avLst/>
          </a:prstGeom>
          <a:noFill/>
        </p:spPr>
        <p:txBody>
          <a:bodyPr wrap="square" lIns="0" rIns="0" tIns="0" bIns="0" anchor="t">
            <a:spAutoFit/>
          </a:bodyPr>
          <a:lstStyle/>
          <a:p>
            <a:pPr algn="l"/>
            <a:r>
              <a:rPr sz="1500" b="1">
                <a:solidFill>
                  <a:srgbClr val="065A82"/>
                </a:solidFill>
                <a:latin typeface="Trebuchet MS"/>
              </a:rPr>
              <a:t>M2 · Data Engineering</a:t>
            </a:r>
          </a:p>
        </p:txBody>
      </p:sp>
      <p:sp>
        <p:nvSpPr>
          <p:cNvPr id="12" name="TextBox 11"/>
          <p:cNvSpPr txBox="1"/>
          <p:nvPr/>
        </p:nvSpPr>
        <p:spPr>
          <a:xfrm>
            <a:off x="3394710" y="2057400"/>
            <a:ext cx="2400300" cy="1371600"/>
          </a:xfrm>
          <a:prstGeom prst="rect">
            <a:avLst/>
          </a:prstGeom>
          <a:noFill/>
        </p:spPr>
        <p:txBody>
          <a:bodyPr wrap="square" lIns="0" rIns="0" tIns="0" bIns="0" anchor="t">
            <a:spAutoFit/>
          </a:bodyPr>
          <a:lstStyle/>
          <a:p>
            <a:pPr algn="l"/>
            <a:r>
              <a:rPr sz="1050" b="0">
                <a:solidFill>
                  <a:srgbClr val="36454F"/>
                </a:solidFill>
                <a:latin typeface="Calibri"/>
              </a:rPr>
              <a:t>Move and store data reliably.</a:t>
            </a:r>
          </a:p>
          <a:p>
            <a:pPr algn="l"/>
            <a:r>
              <a:rPr sz="1050" b="0">
                <a:solidFill>
                  <a:srgbClr val="36454F"/>
                </a:solidFill>
                <a:latin typeface="Calibri"/>
              </a:rPr>
              <a:t>Build the pipes.</a:t>
            </a:r>
          </a:p>
        </p:txBody>
      </p:sp>
      <p:sp>
        <p:nvSpPr>
          <p:cNvPr id="13" name="Rectangle 12"/>
          <p:cNvSpPr/>
          <p:nvPr/>
        </p:nvSpPr>
        <p:spPr>
          <a:xfrm>
            <a:off x="3394710" y="3429000"/>
            <a:ext cx="2400300" cy="8229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97580" y="3531870"/>
            <a:ext cx="2194560" cy="617220"/>
          </a:xfrm>
          <a:prstGeom prst="rect">
            <a:avLst/>
          </a:prstGeom>
          <a:noFill/>
        </p:spPr>
        <p:txBody>
          <a:bodyPr wrap="square" lIns="0" rIns="0" tIns="0" bIns="0" anchor="t">
            <a:spAutoFit/>
          </a:bodyPr>
          <a:lstStyle/>
          <a:p>
            <a:pPr algn="l"/>
            <a:r>
              <a:rPr sz="900" b="0">
                <a:solidFill>
                  <a:srgbClr val="FFFFFF"/>
                </a:solidFill>
                <a:latin typeface="Calibri"/>
              </a:rPr>
              <a:t>Sarah: 'Reviews now land in the warehouse every night.'</a:t>
            </a:r>
          </a:p>
        </p:txBody>
      </p:sp>
      <p:sp>
        <p:nvSpPr>
          <p:cNvPr id="15" name="Rectangle 14"/>
          <p:cNvSpPr/>
          <p:nvPr/>
        </p:nvSpPr>
        <p:spPr>
          <a:xfrm>
            <a:off x="6035040" y="1234440"/>
            <a:ext cx="2743200" cy="31546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06490" y="1440180"/>
            <a:ext cx="2400300" cy="548640"/>
          </a:xfrm>
          <a:prstGeom prst="rect">
            <a:avLst/>
          </a:prstGeom>
          <a:noFill/>
        </p:spPr>
        <p:txBody>
          <a:bodyPr wrap="square" lIns="0" rIns="0" tIns="0" bIns="0" anchor="t">
            <a:spAutoFit/>
          </a:bodyPr>
          <a:lstStyle/>
          <a:p>
            <a:pPr algn="l"/>
            <a:r>
              <a:rPr sz="1500" b="1">
                <a:solidFill>
                  <a:srgbClr val="FFFFFF"/>
                </a:solidFill>
                <a:latin typeface="Trebuchet MS"/>
              </a:rPr>
              <a:t>M3 · Machine Learning</a:t>
            </a:r>
          </a:p>
        </p:txBody>
      </p:sp>
      <p:sp>
        <p:nvSpPr>
          <p:cNvPr id="17" name="TextBox 16"/>
          <p:cNvSpPr txBox="1"/>
          <p:nvPr/>
        </p:nvSpPr>
        <p:spPr>
          <a:xfrm>
            <a:off x="6206490" y="2057400"/>
            <a:ext cx="2400300" cy="1371600"/>
          </a:xfrm>
          <a:prstGeom prst="rect">
            <a:avLst/>
          </a:prstGeom>
          <a:noFill/>
        </p:spPr>
        <p:txBody>
          <a:bodyPr wrap="square" lIns="0" rIns="0" tIns="0" bIns="0" anchor="t">
            <a:spAutoFit/>
          </a:bodyPr>
          <a:lstStyle/>
          <a:p>
            <a:pPr algn="l"/>
            <a:r>
              <a:rPr sz="1050" b="0">
                <a:solidFill>
                  <a:srgbClr val="FFFFFF"/>
                </a:solidFill>
                <a:latin typeface="Calibri"/>
              </a:rPr>
              <a:t>Predict the unseen.</a:t>
            </a:r>
          </a:p>
          <a:p>
            <a:pPr algn="l"/>
            <a:r>
              <a:rPr sz="1050" b="0">
                <a:solidFill>
                  <a:srgbClr val="FFFFFF"/>
                </a:solidFill>
                <a:latin typeface="Calibri"/>
              </a:rPr>
              <a:t>Label or forecast things no human has seen yet.</a:t>
            </a:r>
          </a:p>
        </p:txBody>
      </p:sp>
      <p:sp>
        <p:nvSpPr>
          <p:cNvPr id="18" name="Rectangle 17"/>
          <p:cNvSpPr/>
          <p:nvPr/>
        </p:nvSpPr>
        <p:spPr>
          <a:xfrm>
            <a:off x="6206490" y="3429000"/>
            <a:ext cx="240030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3531870"/>
            <a:ext cx="2194560" cy="617220"/>
          </a:xfrm>
          <a:prstGeom prst="rect">
            <a:avLst/>
          </a:prstGeom>
          <a:noFill/>
        </p:spPr>
        <p:txBody>
          <a:bodyPr wrap="square" lIns="0" rIns="0" tIns="0" bIns="0" anchor="t">
            <a:spAutoFit/>
          </a:bodyPr>
          <a:lstStyle/>
          <a:p>
            <a:pPr algn="l"/>
            <a:r>
              <a:rPr sz="900" b="0">
                <a:solidFill>
                  <a:srgbClr val="065A82"/>
                </a:solidFill>
                <a:latin typeface="Calibri"/>
              </a:rPr>
              <a:t>Sarah: 'Label 10,000 reviews — positive or negative.'</a:t>
            </a:r>
          </a:p>
        </p:txBody>
      </p:sp>
      <p:pic>
        <p:nvPicPr>
          <p:cNvPr id="21" name="Picture 2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The Shift in M3</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Same toolkit (Python, SQL, stats) — fundamentally new question</a:t>
            </a:r>
          </a:p>
        </p:txBody>
      </p:sp>
      <p:sp>
        <p:nvSpPr>
          <p:cNvPr id="5" name="Rectangle 4"/>
          <p:cNvSpPr/>
          <p:nvPr/>
        </p:nvSpPr>
        <p:spPr>
          <a:xfrm>
            <a:off x="685800" y="1577340"/>
            <a:ext cx="7749540" cy="15773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8700" y="1714500"/>
            <a:ext cx="7063740" cy="342900"/>
          </a:xfrm>
          <a:prstGeom prst="rect">
            <a:avLst/>
          </a:prstGeom>
          <a:noFill/>
        </p:spPr>
        <p:txBody>
          <a:bodyPr wrap="square" lIns="0" rIns="0" tIns="0" bIns="0" anchor="t">
            <a:spAutoFit/>
          </a:bodyPr>
          <a:lstStyle/>
          <a:p>
            <a:pPr algn="l"/>
            <a:r>
              <a:rPr sz="1050" b="1">
                <a:solidFill>
                  <a:srgbClr val="1C7293"/>
                </a:solidFill>
                <a:latin typeface="Calibri"/>
              </a:rPr>
              <a:t>The defining shift</a:t>
            </a:r>
          </a:p>
        </p:txBody>
      </p:sp>
      <p:sp>
        <p:nvSpPr>
          <p:cNvPr id="7" name="TextBox 6"/>
          <p:cNvSpPr txBox="1"/>
          <p:nvPr/>
        </p:nvSpPr>
        <p:spPr>
          <a:xfrm>
            <a:off x="1028700" y="2057400"/>
            <a:ext cx="7063740" cy="1097280"/>
          </a:xfrm>
          <a:prstGeom prst="rect">
            <a:avLst/>
          </a:prstGeom>
          <a:noFill/>
        </p:spPr>
        <p:txBody>
          <a:bodyPr wrap="square" lIns="0" rIns="0" tIns="0" bIns="0" anchor="t">
            <a:spAutoFit/>
          </a:bodyPr>
          <a:lstStyle/>
          <a:p>
            <a:pPr algn="l"/>
            <a:r>
              <a:rPr sz="1650" b="0">
                <a:solidFill>
                  <a:srgbClr val="065A82"/>
                </a:solidFill>
                <a:latin typeface="Trebuchet MS"/>
              </a:rPr>
              <a:t>"Instead of describing data that already has answers, you are asking a computer to produce answers for data the team has never seen."</a:t>
            </a:r>
          </a:p>
        </p:txBody>
      </p:sp>
      <p:sp>
        <p:nvSpPr>
          <p:cNvPr id="8" name="TextBox 7"/>
          <p:cNvSpPr txBox="1"/>
          <p:nvPr/>
        </p:nvSpPr>
        <p:spPr>
          <a:xfrm>
            <a:off x="685800" y="3429000"/>
            <a:ext cx="7749540" cy="274320"/>
          </a:xfrm>
          <a:prstGeom prst="rect">
            <a:avLst/>
          </a:prstGeom>
          <a:noFill/>
        </p:spPr>
        <p:txBody>
          <a:bodyPr wrap="square" lIns="0" rIns="0" tIns="0" bIns="0" anchor="t">
            <a:spAutoFit/>
          </a:bodyPr>
          <a:lstStyle/>
          <a:p>
            <a:pPr algn="l"/>
            <a:r>
              <a:rPr sz="1050" b="1">
                <a:solidFill>
                  <a:srgbClr val="1C7293"/>
                </a:solidFill>
                <a:latin typeface="Calibri"/>
              </a:rPr>
              <a:t>What you already have →  What is genuinely new</a:t>
            </a:r>
          </a:p>
        </p:txBody>
      </p:sp>
      <p:sp>
        <p:nvSpPr>
          <p:cNvPr id="9" name="TextBox 8"/>
          <p:cNvSpPr txBox="1"/>
          <p:nvPr/>
        </p:nvSpPr>
        <p:spPr>
          <a:xfrm>
            <a:off x="822960" y="3771900"/>
            <a:ext cx="7543800" cy="274320"/>
          </a:xfrm>
          <a:prstGeom prst="rect">
            <a:avLst/>
          </a:prstGeom>
          <a:noFill/>
        </p:spPr>
        <p:txBody>
          <a:bodyPr wrap="square" lIns="0" rIns="0" tIns="0" bIns="0" anchor="t">
            <a:spAutoFit/>
          </a:bodyPr>
          <a:lstStyle/>
          <a:p>
            <a:pPr algn="l"/>
            <a:r>
              <a:rPr sz="1050" b="0">
                <a:solidFill>
                  <a:srgbClr val="36454F"/>
                </a:solidFill>
                <a:latin typeface="Calibri"/>
              </a:rPr>
              <a:t>✓ Python · SQL · pandas · matplotlib · descriptive statistics</a:t>
            </a:r>
          </a:p>
        </p:txBody>
      </p:sp>
      <p:sp>
        <p:nvSpPr>
          <p:cNvPr id="10" name="TextBox 9"/>
          <p:cNvSpPr txBox="1"/>
          <p:nvPr/>
        </p:nvSpPr>
        <p:spPr>
          <a:xfrm>
            <a:off x="822960" y="4046220"/>
            <a:ext cx="7543800" cy="274320"/>
          </a:xfrm>
          <a:prstGeom prst="rect">
            <a:avLst/>
          </a:prstGeom>
          <a:noFill/>
        </p:spPr>
        <p:txBody>
          <a:bodyPr wrap="square" lIns="0" rIns="0" tIns="0" bIns="0" anchor="t">
            <a:spAutoFit/>
          </a:bodyPr>
          <a:lstStyle/>
          <a:p>
            <a:pPr algn="l"/>
            <a:r>
              <a:rPr sz="1050" b="0">
                <a:solidFill>
                  <a:srgbClr val="36454F"/>
                </a:solidFill>
                <a:latin typeface="Calibri"/>
              </a:rPr>
              <a:t>✓ Reading data, joining tables, cleaning columns</a:t>
            </a:r>
          </a:p>
        </p:txBody>
      </p:sp>
      <p:pic>
        <p:nvPicPr>
          <p:cNvPr id="13" name="Picture 12"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Meet Sarah Chen</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Customer Experience Analyst at NorthStar Retail</a:t>
            </a:r>
          </a:p>
        </p:txBody>
      </p:sp>
      <p:sp>
        <p:nvSpPr>
          <p:cNvPr id="5" name="Rectangle 4"/>
          <p:cNvSpPr/>
          <p:nvPr/>
        </p:nvSpPr>
        <p:spPr>
          <a:xfrm>
            <a:off x="411480" y="1234440"/>
            <a:ext cx="3086100" cy="3429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40180"/>
            <a:ext cx="2743200" cy="411480"/>
          </a:xfrm>
          <a:prstGeom prst="rect">
            <a:avLst/>
          </a:prstGeom>
          <a:noFill/>
        </p:spPr>
        <p:txBody>
          <a:bodyPr wrap="square" lIns="0" rIns="0" tIns="0" bIns="0" anchor="t">
            <a:spAutoFit/>
          </a:bodyPr>
          <a:lstStyle/>
          <a:p>
            <a:pPr algn="l"/>
            <a:r>
              <a:rPr sz="1800" b="1">
                <a:solidFill>
                  <a:srgbClr val="FFFFFF"/>
                </a:solidFill>
                <a:latin typeface="Trebuchet MS"/>
              </a:rPr>
              <a:t>Sarah Chen</a:t>
            </a:r>
          </a:p>
        </p:txBody>
      </p:sp>
      <p:sp>
        <p:nvSpPr>
          <p:cNvPr id="7" name="TextBox 6"/>
          <p:cNvSpPr txBox="1"/>
          <p:nvPr/>
        </p:nvSpPr>
        <p:spPr>
          <a:xfrm>
            <a:off x="617220" y="1851660"/>
            <a:ext cx="2743200" cy="342900"/>
          </a:xfrm>
          <a:prstGeom prst="rect">
            <a:avLst/>
          </a:prstGeom>
          <a:noFill/>
        </p:spPr>
        <p:txBody>
          <a:bodyPr wrap="square" lIns="0" rIns="0" tIns="0" bIns="0" anchor="t">
            <a:spAutoFit/>
          </a:bodyPr>
          <a:lstStyle/>
          <a:p>
            <a:pPr algn="l"/>
            <a:r>
              <a:rPr sz="1050" b="0">
                <a:solidFill>
                  <a:srgbClr val="E8F1F5"/>
                </a:solidFill>
                <a:latin typeface="Calibri"/>
              </a:rPr>
              <a:t>Customer Experience Analyst</a:t>
            </a:r>
          </a:p>
        </p:txBody>
      </p:sp>
      <p:sp>
        <p:nvSpPr>
          <p:cNvPr id="8" name="TextBox 7"/>
          <p:cNvSpPr txBox="1"/>
          <p:nvPr/>
        </p:nvSpPr>
        <p:spPr>
          <a:xfrm>
            <a:off x="617220" y="2125980"/>
            <a:ext cx="2743200" cy="342900"/>
          </a:xfrm>
          <a:prstGeom prst="rect">
            <a:avLst/>
          </a:prstGeom>
          <a:noFill/>
        </p:spPr>
        <p:txBody>
          <a:bodyPr wrap="square" lIns="0" rIns="0" tIns="0" bIns="0" anchor="t">
            <a:spAutoFit/>
          </a:bodyPr>
          <a:lstStyle/>
          <a:p>
            <a:pPr algn="l"/>
            <a:r>
              <a:rPr sz="900" b="0">
                <a:solidFill>
                  <a:srgbClr val="E8F1F5"/>
                </a:solidFill>
                <a:latin typeface="Calibri"/>
              </a:rPr>
              <a:t>NorthStar Retail · 2nd week on the job</a:t>
            </a:r>
          </a:p>
        </p:txBody>
      </p:sp>
      <p:sp>
        <p:nvSpPr>
          <p:cNvPr id="9" name="Oval 8"/>
          <p:cNvSpPr/>
          <p:nvPr/>
        </p:nvSpPr>
        <p:spPr>
          <a:xfrm>
            <a:off x="1234440" y="2743200"/>
            <a:ext cx="1371600" cy="1371600"/>
          </a:xfrm>
          <a:prstGeom prst="ellipse">
            <a:avLst/>
          </a:prstGeom>
          <a:solidFill>
            <a:srgbClr val="E8F1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40" y="3086100"/>
            <a:ext cx="1371600" cy="685800"/>
          </a:xfrm>
          <a:prstGeom prst="rect">
            <a:avLst/>
          </a:prstGeom>
          <a:noFill/>
        </p:spPr>
        <p:txBody>
          <a:bodyPr wrap="square" lIns="0" rIns="0" tIns="0" bIns="0" anchor="t">
            <a:spAutoFit/>
          </a:bodyPr>
          <a:lstStyle/>
          <a:p>
            <a:pPr algn="ctr"/>
            <a:r>
              <a:rPr sz="5400" b="1">
                <a:solidFill>
                  <a:srgbClr val="065A82"/>
                </a:solidFill>
                <a:latin typeface="Trebuchet MS"/>
              </a:rPr>
              <a:t>SC</a:t>
            </a:r>
          </a:p>
        </p:txBody>
      </p:sp>
      <p:sp>
        <p:nvSpPr>
          <p:cNvPr id="11" name="TextBox 10"/>
          <p:cNvSpPr txBox="1"/>
          <p:nvPr/>
        </p:nvSpPr>
        <p:spPr>
          <a:xfrm>
            <a:off x="3771900" y="1303020"/>
            <a:ext cx="5074920" cy="411480"/>
          </a:xfrm>
          <a:prstGeom prst="rect">
            <a:avLst/>
          </a:prstGeom>
          <a:noFill/>
        </p:spPr>
        <p:txBody>
          <a:bodyPr wrap="square" lIns="0" rIns="0" tIns="0" bIns="0" anchor="t">
            <a:spAutoFit/>
          </a:bodyPr>
          <a:lstStyle/>
          <a:p>
            <a:pPr algn="l"/>
            <a:r>
              <a:rPr sz="1200" b="1">
                <a:solidFill>
                  <a:srgbClr val="1C7293"/>
                </a:solidFill>
                <a:latin typeface="Calibri"/>
              </a:rPr>
              <a:t>Her first big ask, dropped on her desk:</a:t>
            </a:r>
          </a:p>
        </p:txBody>
      </p:sp>
      <p:sp>
        <p:nvSpPr>
          <p:cNvPr id="12" name="Rectangle 11"/>
          <p:cNvSpPr/>
          <p:nvPr/>
        </p:nvSpPr>
        <p:spPr>
          <a:xfrm>
            <a:off x="3771900" y="1783080"/>
            <a:ext cx="5074920" cy="19202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09060" y="1920240"/>
            <a:ext cx="4800600" cy="1714500"/>
          </a:xfrm>
          <a:prstGeom prst="rect">
            <a:avLst/>
          </a:prstGeom>
          <a:noFill/>
        </p:spPr>
        <p:txBody>
          <a:bodyPr wrap="square" lIns="0" rIns="0" tIns="0" bIns="0" anchor="t">
            <a:spAutoFit/>
          </a:bodyPr>
          <a:lstStyle/>
          <a:p>
            <a:pPr algn="l"/>
            <a:r>
              <a:rPr sz="1125" b="0">
                <a:solidFill>
                  <a:srgbClr val="065A82"/>
                </a:solidFill>
                <a:latin typeface="Trebuchet MS"/>
              </a:rPr>
              <a:t>"By Friday, I need to know which of these 10,000 customer reviews are positive and which are negative.</a:t>
            </a:r>
          </a:p>
          <a:p>
            <a:pPr algn="l"/>
            <a:r>
              <a:rPr sz="1125" b="0">
                <a:solidFill>
                  <a:srgbClr val="065A82"/>
                </a:solidFill>
                <a:latin typeface="Trebuchet MS"/>
              </a:rPr>
              <a:t/>
            </a:r>
          </a:p>
          <a:p>
            <a:pPr algn="l"/>
            <a:r>
              <a:rPr sz="1125" b="0">
                <a:solidFill>
                  <a:srgbClr val="065A82"/>
                </a:solidFill>
                <a:latin typeface="Trebuchet MS"/>
              </a:rPr>
              <a:t>Hand-reading them would take a full work-week.</a:t>
            </a:r>
          </a:p>
          <a:p>
            <a:pPr algn="l"/>
            <a:r>
              <a:rPr sz="1125" b="0">
                <a:solidFill>
                  <a:srgbClr val="065A82"/>
                </a:solidFill>
                <a:latin typeface="Trebuchet MS"/>
              </a:rPr>
              <a:t/>
            </a:r>
          </a:p>
          <a:p>
            <a:pPr algn="l"/>
            <a:r>
              <a:rPr sz="1125" b="0">
                <a:solidFill>
                  <a:srgbClr val="065A82"/>
                </a:solidFill>
                <a:latin typeface="Trebuchet MS"/>
              </a:rPr>
              <a:t>Figure something out."</a:t>
            </a:r>
          </a:p>
        </p:txBody>
      </p:sp>
      <p:sp>
        <p:nvSpPr>
          <p:cNvPr id="14" name="TextBox 13"/>
          <p:cNvSpPr txBox="1"/>
          <p:nvPr/>
        </p:nvSpPr>
        <p:spPr>
          <a:xfrm>
            <a:off x="3771900" y="3840480"/>
            <a:ext cx="5074920" cy="274320"/>
          </a:xfrm>
          <a:prstGeom prst="rect">
            <a:avLst/>
          </a:prstGeom>
          <a:noFill/>
        </p:spPr>
        <p:txBody>
          <a:bodyPr wrap="square" lIns="0" rIns="0" tIns="0" bIns="0" anchor="t">
            <a:spAutoFit/>
          </a:bodyPr>
          <a:lstStyle/>
          <a:p>
            <a:pPr algn="l"/>
            <a:r>
              <a:rPr sz="900" b="0">
                <a:solidFill>
                  <a:srgbClr val="1C7293"/>
                </a:solidFill>
                <a:latin typeface="Calibri"/>
              </a:rPr>
              <a:t>— Priya, Sarah's manager</a:t>
            </a:r>
          </a:p>
        </p:txBody>
      </p:sp>
      <p:sp>
        <p:nvSpPr>
          <p:cNvPr id="15" name="TextBox 14"/>
          <p:cNvSpPr txBox="1"/>
          <p:nvPr/>
        </p:nvSpPr>
        <p:spPr>
          <a:xfrm>
            <a:off x="3771900" y="4251960"/>
            <a:ext cx="5074920" cy="342900"/>
          </a:xfrm>
          <a:prstGeom prst="rect">
            <a:avLst/>
          </a:prstGeom>
          <a:noFill/>
        </p:spPr>
        <p:txBody>
          <a:bodyPr wrap="square" lIns="0" rIns="0" tIns="0" bIns="0" anchor="t">
            <a:spAutoFit/>
          </a:bodyPr>
          <a:lstStyle/>
          <a:p>
            <a:pPr algn="l"/>
            <a:r>
              <a:rPr sz="975" b="0">
                <a:solidFill>
                  <a:srgbClr val="36454F"/>
                </a:solidFill>
                <a:latin typeface="Calibri"/>
              </a:rPr>
              <a:t>Sarah's challenge: scale beyond what a single human can read in a week.</a:t>
            </a:r>
          </a:p>
        </p:txBody>
      </p:sp>
      <p:pic>
        <p:nvPicPr>
          <p:cNvPr id="17" name="Picture 16"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The Scale Problem</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Why Sarah can't just read them all</a:t>
            </a:r>
          </a:p>
        </p:txBody>
      </p:sp>
      <p:sp>
        <p:nvSpPr>
          <p:cNvPr id="5" name="Rectangle 4"/>
          <p:cNvSpPr/>
          <p:nvPr/>
        </p:nvSpPr>
        <p:spPr>
          <a:xfrm>
            <a:off x="411480" y="1371600"/>
            <a:ext cx="1988820" cy="1371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77340"/>
            <a:ext cx="1988820" cy="685800"/>
          </a:xfrm>
          <a:prstGeom prst="rect">
            <a:avLst/>
          </a:prstGeom>
          <a:noFill/>
        </p:spPr>
        <p:txBody>
          <a:bodyPr wrap="square" lIns="0" rIns="0" tIns="0" bIns="0" anchor="t">
            <a:spAutoFit/>
          </a:bodyPr>
          <a:lstStyle/>
          <a:p>
            <a:pPr algn="ctr"/>
            <a:r>
              <a:rPr sz="3300" b="1">
                <a:solidFill>
                  <a:srgbClr val="FFFFFF"/>
                </a:solidFill>
                <a:latin typeface="Trebuchet MS"/>
              </a:rPr>
              <a:t>10,000</a:t>
            </a:r>
          </a:p>
        </p:txBody>
      </p:sp>
      <p:sp>
        <p:nvSpPr>
          <p:cNvPr id="7" name="TextBox 6"/>
          <p:cNvSpPr txBox="1"/>
          <p:nvPr/>
        </p:nvSpPr>
        <p:spPr>
          <a:xfrm>
            <a:off x="411480" y="2263140"/>
            <a:ext cx="1988820" cy="411480"/>
          </a:xfrm>
          <a:prstGeom prst="rect">
            <a:avLst/>
          </a:prstGeom>
          <a:noFill/>
        </p:spPr>
        <p:txBody>
          <a:bodyPr wrap="square" lIns="0" rIns="0" tIns="0" bIns="0" anchor="t">
            <a:spAutoFit/>
          </a:bodyPr>
          <a:lstStyle/>
          <a:p>
            <a:pPr algn="ctr"/>
            <a:r>
              <a:rPr sz="900" b="0">
                <a:solidFill>
                  <a:srgbClr val="E8F1F5"/>
                </a:solidFill>
                <a:latin typeface="Calibri"/>
              </a:rPr>
              <a:t>customer reviews</a:t>
            </a:r>
          </a:p>
        </p:txBody>
      </p:sp>
      <p:sp>
        <p:nvSpPr>
          <p:cNvPr id="8" name="Rectangle 7"/>
          <p:cNvSpPr/>
          <p:nvPr/>
        </p:nvSpPr>
        <p:spPr>
          <a:xfrm>
            <a:off x="2503170" y="1371600"/>
            <a:ext cx="1988820" cy="13716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03170" y="1577340"/>
            <a:ext cx="1988820" cy="685800"/>
          </a:xfrm>
          <a:prstGeom prst="rect">
            <a:avLst/>
          </a:prstGeom>
          <a:noFill/>
        </p:spPr>
        <p:txBody>
          <a:bodyPr wrap="square" lIns="0" rIns="0" tIns="0" bIns="0" anchor="t">
            <a:spAutoFit/>
          </a:bodyPr>
          <a:lstStyle/>
          <a:p>
            <a:pPr algn="ctr"/>
            <a:r>
              <a:rPr sz="3300" b="1">
                <a:solidFill>
                  <a:srgbClr val="FFFFFF"/>
                </a:solidFill>
                <a:latin typeface="Trebuchet MS"/>
              </a:rPr>
              <a:t>~30s</a:t>
            </a:r>
          </a:p>
        </p:txBody>
      </p:sp>
      <p:sp>
        <p:nvSpPr>
          <p:cNvPr id="10" name="TextBox 9"/>
          <p:cNvSpPr txBox="1"/>
          <p:nvPr/>
        </p:nvSpPr>
        <p:spPr>
          <a:xfrm>
            <a:off x="2503170" y="2263140"/>
            <a:ext cx="1988820" cy="411480"/>
          </a:xfrm>
          <a:prstGeom prst="rect">
            <a:avLst/>
          </a:prstGeom>
          <a:noFill/>
        </p:spPr>
        <p:txBody>
          <a:bodyPr wrap="square" lIns="0" rIns="0" tIns="0" bIns="0" anchor="t">
            <a:spAutoFit/>
          </a:bodyPr>
          <a:lstStyle/>
          <a:p>
            <a:pPr algn="ctr"/>
            <a:r>
              <a:rPr sz="900" b="0">
                <a:solidFill>
                  <a:srgbClr val="E8F1F5"/>
                </a:solidFill>
                <a:latin typeface="Calibri"/>
              </a:rPr>
              <a:t>per review to read carefully</a:t>
            </a:r>
          </a:p>
        </p:txBody>
      </p:sp>
      <p:sp>
        <p:nvSpPr>
          <p:cNvPr id="11" name="Rectangle 10"/>
          <p:cNvSpPr/>
          <p:nvPr/>
        </p:nvSpPr>
        <p:spPr>
          <a:xfrm>
            <a:off x="4594859" y="1371600"/>
            <a:ext cx="1988820" cy="1371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4859" y="1577340"/>
            <a:ext cx="1988820" cy="685800"/>
          </a:xfrm>
          <a:prstGeom prst="rect">
            <a:avLst/>
          </a:prstGeom>
          <a:noFill/>
        </p:spPr>
        <p:txBody>
          <a:bodyPr wrap="square" lIns="0" rIns="0" tIns="0" bIns="0" anchor="t">
            <a:spAutoFit/>
          </a:bodyPr>
          <a:lstStyle/>
          <a:p>
            <a:pPr algn="ctr"/>
            <a:r>
              <a:rPr sz="3300" b="1">
                <a:solidFill>
                  <a:srgbClr val="FFFFFF"/>
                </a:solidFill>
                <a:latin typeface="Trebuchet MS"/>
              </a:rPr>
              <a:t>83 hrs</a:t>
            </a:r>
          </a:p>
        </p:txBody>
      </p:sp>
      <p:sp>
        <p:nvSpPr>
          <p:cNvPr id="13" name="TextBox 12"/>
          <p:cNvSpPr txBox="1"/>
          <p:nvPr/>
        </p:nvSpPr>
        <p:spPr>
          <a:xfrm>
            <a:off x="4594859" y="2263140"/>
            <a:ext cx="1988820" cy="411480"/>
          </a:xfrm>
          <a:prstGeom prst="rect">
            <a:avLst/>
          </a:prstGeom>
          <a:noFill/>
        </p:spPr>
        <p:txBody>
          <a:bodyPr wrap="square" lIns="0" rIns="0" tIns="0" bIns="0" anchor="t">
            <a:spAutoFit/>
          </a:bodyPr>
          <a:lstStyle/>
          <a:p>
            <a:pPr algn="ctr"/>
            <a:r>
              <a:rPr sz="900" b="0">
                <a:solidFill>
                  <a:srgbClr val="E8F1F5"/>
                </a:solidFill>
                <a:latin typeface="Calibri"/>
              </a:rPr>
              <a:t>to read them all</a:t>
            </a:r>
          </a:p>
        </p:txBody>
      </p:sp>
      <p:sp>
        <p:nvSpPr>
          <p:cNvPr id="14" name="Rectangle 13"/>
          <p:cNvSpPr/>
          <p:nvPr/>
        </p:nvSpPr>
        <p:spPr>
          <a:xfrm>
            <a:off x="6686549" y="1371600"/>
            <a:ext cx="1988820" cy="13716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86549" y="1577340"/>
            <a:ext cx="1988820" cy="685800"/>
          </a:xfrm>
          <a:prstGeom prst="rect">
            <a:avLst/>
          </a:prstGeom>
          <a:noFill/>
        </p:spPr>
        <p:txBody>
          <a:bodyPr wrap="square" lIns="0" rIns="0" tIns="0" bIns="0" anchor="t">
            <a:spAutoFit/>
          </a:bodyPr>
          <a:lstStyle/>
          <a:p>
            <a:pPr algn="ctr"/>
            <a:r>
              <a:rPr sz="3300" b="1">
                <a:solidFill>
                  <a:srgbClr val="FFFFFF"/>
                </a:solidFill>
                <a:latin typeface="Trebuchet MS"/>
              </a:rPr>
              <a:t>5 days</a:t>
            </a:r>
          </a:p>
        </p:txBody>
      </p:sp>
      <p:sp>
        <p:nvSpPr>
          <p:cNvPr id="16" name="TextBox 15"/>
          <p:cNvSpPr txBox="1"/>
          <p:nvPr/>
        </p:nvSpPr>
        <p:spPr>
          <a:xfrm>
            <a:off x="6686549" y="2263140"/>
            <a:ext cx="1988820" cy="411480"/>
          </a:xfrm>
          <a:prstGeom prst="rect">
            <a:avLst/>
          </a:prstGeom>
          <a:noFill/>
        </p:spPr>
        <p:txBody>
          <a:bodyPr wrap="square" lIns="0" rIns="0" tIns="0" bIns="0" anchor="t">
            <a:spAutoFit/>
          </a:bodyPr>
          <a:lstStyle/>
          <a:p>
            <a:pPr algn="ctr"/>
            <a:r>
              <a:rPr sz="900" b="0">
                <a:solidFill>
                  <a:srgbClr val="E8F1F5"/>
                </a:solidFill>
                <a:latin typeface="Calibri"/>
              </a:rPr>
              <a:t>until Priya's meeting</a:t>
            </a:r>
          </a:p>
        </p:txBody>
      </p:sp>
      <p:sp>
        <p:nvSpPr>
          <p:cNvPr id="17" name="Rectangle 16"/>
          <p:cNvSpPr/>
          <p:nvPr/>
        </p:nvSpPr>
        <p:spPr>
          <a:xfrm>
            <a:off x="411480" y="3154680"/>
            <a:ext cx="8298180" cy="13716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 y="3291840"/>
            <a:ext cx="7886700" cy="342900"/>
          </a:xfrm>
          <a:prstGeom prst="rect">
            <a:avLst/>
          </a:prstGeom>
          <a:noFill/>
        </p:spPr>
        <p:txBody>
          <a:bodyPr wrap="square" lIns="0" rIns="0" tIns="0" bIns="0" anchor="t">
            <a:spAutoFit/>
          </a:bodyPr>
          <a:lstStyle/>
          <a:p>
            <a:pPr algn="l"/>
            <a:r>
              <a:rPr sz="1050" b="1">
                <a:solidFill>
                  <a:srgbClr val="1C7293"/>
                </a:solidFill>
                <a:latin typeface="Calibri"/>
              </a:rPr>
              <a:t>Sarah's first thought:</a:t>
            </a:r>
          </a:p>
        </p:txBody>
      </p:sp>
      <p:sp>
        <p:nvSpPr>
          <p:cNvPr id="19" name="TextBox 18"/>
          <p:cNvSpPr txBox="1"/>
          <p:nvPr/>
        </p:nvSpPr>
        <p:spPr>
          <a:xfrm>
            <a:off x="617220" y="3600450"/>
            <a:ext cx="7886700" cy="1028700"/>
          </a:xfrm>
          <a:prstGeom prst="rect">
            <a:avLst/>
          </a:prstGeom>
          <a:noFill/>
        </p:spPr>
        <p:txBody>
          <a:bodyPr wrap="square" lIns="0" rIns="0" tIns="0" bIns="0" anchor="t">
            <a:spAutoFit/>
          </a:bodyPr>
          <a:lstStyle/>
          <a:p>
            <a:pPr algn="l"/>
            <a:r>
              <a:rPr sz="1350" b="0">
                <a:solidFill>
                  <a:srgbClr val="065A82"/>
                </a:solidFill>
                <a:latin typeface="Trebuchet MS"/>
              </a:rPr>
              <a:t>"What if I just look for happy words and sad words? Tally them up?"</a:t>
            </a:r>
          </a:p>
          <a:p>
            <a:pPr algn="l"/>
            <a:r>
              <a:rPr sz="1350" b="0">
                <a:solidFill>
                  <a:srgbClr val="065A82"/>
                </a:solidFill>
                <a:latin typeface="Trebuchet MS"/>
              </a:rPr>
              <a:t/>
            </a:r>
          </a:p>
          <a:p>
            <a:pPr algn="l"/>
            <a:r>
              <a:rPr sz="1350" b="0">
                <a:solidFill>
                  <a:srgbClr val="065A82"/>
                </a:solidFill>
                <a:latin typeface="Trebuchet MS"/>
              </a:rPr>
              <a:t>That's rule-based programming. Let's try it.</a:t>
            </a:r>
          </a:p>
        </p:txBody>
      </p:sp>
      <p:pic>
        <p:nvPicPr>
          <p:cNvPr id="21" name="Picture 2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Approach 1: Rule-Based Programming</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The way programming worked before ML</a:t>
            </a:r>
          </a:p>
        </p:txBody>
      </p:sp>
      <p:sp>
        <p:nvSpPr>
          <p:cNvPr id="5" name="TextBox 4"/>
          <p:cNvSpPr txBox="1"/>
          <p:nvPr/>
        </p:nvSpPr>
        <p:spPr>
          <a:xfrm>
            <a:off x="411480" y="1234440"/>
            <a:ext cx="5143500" cy="342900"/>
          </a:xfrm>
          <a:prstGeom prst="rect">
            <a:avLst/>
          </a:prstGeom>
          <a:noFill/>
        </p:spPr>
        <p:txBody>
          <a:bodyPr wrap="square" lIns="0" rIns="0" tIns="0" bIns="0" anchor="t">
            <a:spAutoFit/>
          </a:bodyPr>
          <a:lstStyle/>
          <a:p>
            <a:pPr algn="l"/>
            <a:r>
              <a:rPr sz="1350" b="1">
                <a:solidFill>
                  <a:srgbClr val="1C7293"/>
                </a:solidFill>
                <a:latin typeface="Calibri"/>
              </a:rPr>
              <a:t>The plan:</a:t>
            </a:r>
          </a:p>
        </p:txBody>
      </p:sp>
      <p:sp>
        <p:nvSpPr>
          <p:cNvPr id="6" name="TextBox 5"/>
          <p:cNvSpPr txBox="1"/>
          <p:nvPr/>
        </p:nvSpPr>
        <p:spPr>
          <a:xfrm>
            <a:off x="548640" y="1714500"/>
            <a:ext cx="4800600" cy="342900"/>
          </a:xfrm>
          <a:prstGeom prst="rect">
            <a:avLst/>
          </a:prstGeom>
          <a:noFill/>
        </p:spPr>
        <p:txBody>
          <a:bodyPr wrap="square" lIns="0" rIns="0" tIns="0" bIns="0" anchor="t">
            <a:spAutoFit/>
          </a:bodyPr>
          <a:lstStyle/>
          <a:p>
            <a:pPr algn="l"/>
            <a:r>
              <a:rPr sz="1125" b="0">
                <a:solidFill>
                  <a:srgbClr val="36454F"/>
                </a:solidFill>
                <a:latin typeface="Calibri"/>
              </a:rPr>
              <a:t>1.  List positive words: love, perfect, great, nice, soft, amazing…</a:t>
            </a:r>
          </a:p>
        </p:txBody>
      </p:sp>
      <p:sp>
        <p:nvSpPr>
          <p:cNvPr id="7" name="TextBox 6"/>
          <p:cNvSpPr txBox="1"/>
          <p:nvPr/>
        </p:nvSpPr>
        <p:spPr>
          <a:xfrm>
            <a:off x="548640" y="2091690"/>
            <a:ext cx="4800600" cy="342900"/>
          </a:xfrm>
          <a:prstGeom prst="rect">
            <a:avLst/>
          </a:prstGeom>
          <a:noFill/>
        </p:spPr>
        <p:txBody>
          <a:bodyPr wrap="square" lIns="0" rIns="0" tIns="0" bIns="0" anchor="t">
            <a:spAutoFit/>
          </a:bodyPr>
          <a:lstStyle/>
          <a:p>
            <a:pPr algn="l"/>
            <a:r>
              <a:rPr sz="1125" b="0">
                <a:solidFill>
                  <a:srgbClr val="36454F"/>
                </a:solidFill>
                <a:latin typeface="Calibri"/>
              </a:rPr>
              <a:t>2.  List negative words: terrible, cheap, disappointed, bad, awful…</a:t>
            </a:r>
          </a:p>
        </p:txBody>
      </p:sp>
      <p:sp>
        <p:nvSpPr>
          <p:cNvPr id="8" name="TextBox 7"/>
          <p:cNvSpPr txBox="1"/>
          <p:nvPr/>
        </p:nvSpPr>
        <p:spPr>
          <a:xfrm>
            <a:off x="548640" y="2468880"/>
            <a:ext cx="4800600" cy="342900"/>
          </a:xfrm>
          <a:prstGeom prst="rect">
            <a:avLst/>
          </a:prstGeom>
          <a:noFill/>
        </p:spPr>
        <p:txBody>
          <a:bodyPr wrap="square" lIns="0" rIns="0" tIns="0" bIns="0" anchor="t">
            <a:spAutoFit/>
          </a:bodyPr>
          <a:lstStyle/>
          <a:p>
            <a:pPr algn="l"/>
            <a:r>
              <a:rPr sz="1125" b="0">
                <a:solidFill>
                  <a:srgbClr val="36454F"/>
                </a:solidFill>
                <a:latin typeface="Calibri"/>
              </a:rPr>
              <a:t>3.  For each review, count hits on each list.</a:t>
            </a:r>
          </a:p>
        </p:txBody>
      </p:sp>
      <p:sp>
        <p:nvSpPr>
          <p:cNvPr id="9" name="TextBox 8"/>
          <p:cNvSpPr txBox="1"/>
          <p:nvPr/>
        </p:nvSpPr>
        <p:spPr>
          <a:xfrm>
            <a:off x="548640" y="2846070"/>
            <a:ext cx="4800600" cy="342900"/>
          </a:xfrm>
          <a:prstGeom prst="rect">
            <a:avLst/>
          </a:prstGeom>
          <a:noFill/>
        </p:spPr>
        <p:txBody>
          <a:bodyPr wrap="square" lIns="0" rIns="0" tIns="0" bIns="0" anchor="t">
            <a:spAutoFit/>
          </a:bodyPr>
          <a:lstStyle/>
          <a:p>
            <a:pPr algn="l"/>
            <a:r>
              <a:rPr sz="1125" b="0">
                <a:solidFill>
                  <a:srgbClr val="36454F"/>
                </a:solidFill>
                <a:latin typeface="Calibri"/>
              </a:rPr>
              <a:t>4.  Whichever count is bigger wins.</a:t>
            </a:r>
          </a:p>
        </p:txBody>
      </p:sp>
      <p:sp>
        <p:nvSpPr>
          <p:cNvPr id="10" name="Rectangle 9"/>
          <p:cNvSpPr/>
          <p:nvPr/>
        </p:nvSpPr>
        <p:spPr>
          <a:xfrm>
            <a:off x="5760720" y="1234440"/>
            <a:ext cx="2948940" cy="32918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97880" y="1371600"/>
            <a:ext cx="2743200" cy="342900"/>
          </a:xfrm>
          <a:prstGeom prst="rect">
            <a:avLst/>
          </a:prstGeom>
          <a:noFill/>
        </p:spPr>
        <p:txBody>
          <a:bodyPr wrap="square" lIns="0" rIns="0" tIns="0" bIns="0" anchor="t">
            <a:spAutoFit/>
          </a:bodyPr>
          <a:lstStyle/>
          <a:p>
            <a:pPr algn="l"/>
            <a:r>
              <a:rPr sz="1125" b="1">
                <a:solidFill>
                  <a:srgbClr val="065A82"/>
                </a:solidFill>
                <a:latin typeface="Calibri"/>
              </a:rPr>
              <a:t>Hallmarks of rule-based code</a:t>
            </a:r>
          </a:p>
        </p:txBody>
      </p:sp>
      <p:sp>
        <p:nvSpPr>
          <p:cNvPr id="12" name="TextBox 11"/>
          <p:cNvSpPr txBox="1"/>
          <p:nvPr/>
        </p:nvSpPr>
        <p:spPr>
          <a:xfrm>
            <a:off x="5966459" y="1851660"/>
            <a:ext cx="2743200" cy="342900"/>
          </a:xfrm>
          <a:prstGeom prst="rect">
            <a:avLst/>
          </a:prstGeom>
          <a:noFill/>
        </p:spPr>
        <p:txBody>
          <a:bodyPr wrap="square" lIns="0" rIns="0" tIns="0" bIns="0" anchor="t">
            <a:spAutoFit/>
          </a:bodyPr>
          <a:lstStyle/>
          <a:p>
            <a:pPr algn="l"/>
            <a:r>
              <a:rPr sz="975" b="0">
                <a:solidFill>
                  <a:srgbClr val="065A82"/>
                </a:solidFill>
                <a:latin typeface="Calibri"/>
              </a:rPr>
              <a:t>✓ You write the rules</a:t>
            </a:r>
          </a:p>
        </p:txBody>
      </p:sp>
      <p:sp>
        <p:nvSpPr>
          <p:cNvPr id="13" name="TextBox 12"/>
          <p:cNvSpPr txBox="1"/>
          <p:nvPr/>
        </p:nvSpPr>
        <p:spPr>
          <a:xfrm>
            <a:off x="5966459" y="2228850"/>
            <a:ext cx="2743200" cy="342900"/>
          </a:xfrm>
          <a:prstGeom prst="rect">
            <a:avLst/>
          </a:prstGeom>
          <a:noFill/>
        </p:spPr>
        <p:txBody>
          <a:bodyPr wrap="square" lIns="0" rIns="0" tIns="0" bIns="0" anchor="t">
            <a:spAutoFit/>
          </a:bodyPr>
          <a:lstStyle/>
          <a:p>
            <a:pPr algn="l"/>
            <a:r>
              <a:rPr sz="975" b="0">
                <a:solidFill>
                  <a:srgbClr val="065A82"/>
                </a:solidFill>
                <a:latin typeface="Calibri"/>
              </a:rPr>
              <a:t>✓ Computer follows them exactly</a:t>
            </a:r>
          </a:p>
        </p:txBody>
      </p:sp>
      <p:sp>
        <p:nvSpPr>
          <p:cNvPr id="14" name="TextBox 13"/>
          <p:cNvSpPr txBox="1"/>
          <p:nvPr/>
        </p:nvSpPr>
        <p:spPr>
          <a:xfrm>
            <a:off x="5966459" y="2606040"/>
            <a:ext cx="2743200" cy="342900"/>
          </a:xfrm>
          <a:prstGeom prst="rect">
            <a:avLst/>
          </a:prstGeom>
          <a:noFill/>
        </p:spPr>
        <p:txBody>
          <a:bodyPr wrap="square" lIns="0" rIns="0" tIns="0" bIns="0" anchor="t">
            <a:spAutoFit/>
          </a:bodyPr>
          <a:lstStyle/>
          <a:p>
            <a:pPr algn="l"/>
            <a:r>
              <a:rPr sz="975" b="0">
                <a:solidFill>
                  <a:srgbClr val="065A82"/>
                </a:solidFill>
                <a:latin typeface="Calibri"/>
              </a:rPr>
              <a:t>✓ Deterministic — same input, same output</a:t>
            </a:r>
          </a:p>
        </p:txBody>
      </p:sp>
      <p:sp>
        <p:nvSpPr>
          <p:cNvPr id="15" name="TextBox 14"/>
          <p:cNvSpPr txBox="1"/>
          <p:nvPr/>
        </p:nvSpPr>
        <p:spPr>
          <a:xfrm>
            <a:off x="5966459" y="2983230"/>
            <a:ext cx="2743200" cy="342900"/>
          </a:xfrm>
          <a:prstGeom prst="rect">
            <a:avLst/>
          </a:prstGeom>
          <a:noFill/>
        </p:spPr>
        <p:txBody>
          <a:bodyPr wrap="square" lIns="0" rIns="0" tIns="0" bIns="0" anchor="t">
            <a:spAutoFit/>
          </a:bodyPr>
          <a:lstStyle/>
          <a:p>
            <a:pPr algn="l"/>
            <a:r>
              <a:rPr sz="975" b="0">
                <a:solidFill>
                  <a:srgbClr val="F96167"/>
                </a:solidFill>
                <a:latin typeface="Calibri"/>
              </a:rPr>
              <a:t>✗ Only handles cases the rules covered</a:t>
            </a:r>
          </a:p>
        </p:txBody>
      </p:sp>
      <p:sp>
        <p:nvSpPr>
          <p:cNvPr id="16" name="TextBox 15"/>
          <p:cNvSpPr txBox="1"/>
          <p:nvPr/>
        </p:nvSpPr>
        <p:spPr>
          <a:xfrm>
            <a:off x="5966459" y="3360420"/>
            <a:ext cx="2743200" cy="342900"/>
          </a:xfrm>
          <a:prstGeom prst="rect">
            <a:avLst/>
          </a:prstGeom>
          <a:noFill/>
        </p:spPr>
        <p:txBody>
          <a:bodyPr wrap="square" lIns="0" rIns="0" tIns="0" bIns="0" anchor="t">
            <a:spAutoFit/>
          </a:bodyPr>
          <a:lstStyle/>
          <a:p>
            <a:pPr algn="l"/>
            <a:r>
              <a:rPr sz="975" b="0">
                <a:solidFill>
                  <a:srgbClr val="F96167"/>
                </a:solidFill>
                <a:latin typeface="Calibri"/>
              </a:rPr>
              <a:t>✗ Maintenance is whack-a-mole</a:t>
            </a:r>
          </a:p>
        </p:txBody>
      </p:sp>
      <p:sp>
        <p:nvSpPr>
          <p:cNvPr id="17" name="TextBox 16"/>
          <p:cNvSpPr txBox="1"/>
          <p:nvPr/>
        </p:nvSpPr>
        <p:spPr>
          <a:xfrm>
            <a:off x="5966459" y="3737610"/>
            <a:ext cx="2743200" cy="342900"/>
          </a:xfrm>
          <a:prstGeom prst="rect">
            <a:avLst/>
          </a:prstGeom>
          <a:noFill/>
        </p:spPr>
        <p:txBody>
          <a:bodyPr wrap="square" lIns="0" rIns="0" tIns="0" bIns="0" anchor="t">
            <a:spAutoFit/>
          </a:bodyPr>
          <a:lstStyle/>
          <a:p>
            <a:pPr algn="l"/>
            <a:r>
              <a:rPr sz="975" b="0">
                <a:solidFill>
                  <a:srgbClr val="F96167"/>
                </a:solidFill>
                <a:latin typeface="Calibri"/>
              </a:rPr>
              <a:t>✗ No notion of 'confidence'</a:t>
            </a:r>
          </a:p>
        </p:txBody>
      </p:sp>
      <p:pic>
        <p:nvPicPr>
          <p:cNvPr id="19" name="Picture 18"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Rule-Based Code</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Simple, short, and brittle</a:t>
            </a:r>
          </a:p>
        </p:txBody>
      </p:sp>
      <p:sp>
        <p:nvSpPr>
          <p:cNvPr id="5" name="Rectangle 4"/>
          <p:cNvSpPr/>
          <p:nvPr/>
        </p:nvSpPr>
        <p:spPr>
          <a:xfrm>
            <a:off x="411480" y="1234440"/>
            <a:ext cx="8298180" cy="32918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371600"/>
            <a:ext cx="7886700" cy="3086100"/>
          </a:xfrm>
          <a:prstGeom prst="rect">
            <a:avLst/>
          </a:prstGeom>
          <a:noFill/>
        </p:spPr>
        <p:txBody>
          <a:bodyPr wrap="square" lIns="0" rIns="0" tIns="0" bIns="0" anchor="t">
            <a:spAutoFit/>
          </a:bodyPr>
          <a:lstStyle/>
          <a:p>
            <a:pPr algn="l"/>
            <a:r>
              <a:rPr sz="1050" b="0">
                <a:solidFill>
                  <a:srgbClr val="E8F1F5"/>
                </a:solidFill>
                <a:latin typeface="Consolas"/>
              </a:rPr>
              <a:t>positive_words = ["love", "perfect", "great", "nice", "soft"]</a:t>
            </a:r>
          </a:p>
          <a:p>
            <a:pPr algn="l"/>
            <a:r>
              <a:rPr sz="1050" b="0">
                <a:solidFill>
                  <a:srgbClr val="E8F1F5"/>
                </a:solidFill>
                <a:latin typeface="Consolas"/>
              </a:rPr>
              <a:t>negative_words = ["terrible", "cheap", "disappointed", "bad", "late"]</a:t>
            </a:r>
          </a:p>
          <a:p>
            <a:pPr algn="l"/>
            <a:r>
              <a:rPr sz="1050" b="0">
                <a:solidFill>
                  <a:srgbClr val="E8F1F5"/>
                </a:solidFill>
                <a:latin typeface="Consolas"/>
              </a:rPr>
              <a:t/>
            </a:r>
          </a:p>
          <a:p>
            <a:pPr algn="l"/>
            <a:r>
              <a:rPr sz="1050" b="0">
                <a:solidFill>
                  <a:srgbClr val="E8F1F5"/>
                </a:solidFill>
                <a:latin typeface="Consolas"/>
              </a:rPr>
              <a:t>def rule_based_sentiment(review):</a:t>
            </a:r>
          </a:p>
          <a:p>
            <a:pPr algn="l"/>
            <a:r>
              <a:rPr sz="1050" b="0">
                <a:solidFill>
                  <a:srgbClr val="E8F1F5"/>
                </a:solidFill>
                <a:latin typeface="Consolas"/>
              </a:rPr>
              <a:t>    text = review.lower()</a:t>
            </a:r>
          </a:p>
          <a:p>
            <a:pPr algn="l"/>
            <a:r>
              <a:rPr sz="1050" b="0">
                <a:solidFill>
                  <a:srgbClr val="E8F1F5"/>
                </a:solidFill>
                <a:latin typeface="Consolas"/>
              </a:rPr>
              <a:t>    pos_hits = sum(1 for w in positive_words if w in text)</a:t>
            </a:r>
          </a:p>
          <a:p>
            <a:pPr algn="l"/>
            <a:r>
              <a:rPr sz="1050" b="0">
                <a:solidFill>
                  <a:srgbClr val="E8F1F5"/>
                </a:solidFill>
                <a:latin typeface="Consolas"/>
              </a:rPr>
              <a:t>    neg_hits = sum(1 for w in negative_words if w in text)</a:t>
            </a:r>
          </a:p>
          <a:p>
            <a:pPr algn="l"/>
            <a:r>
              <a:rPr sz="1050" b="0">
                <a:solidFill>
                  <a:srgbClr val="E8F1F5"/>
                </a:solidFill>
                <a:latin typeface="Consolas"/>
              </a:rPr>
              <a:t>    if pos_hits &gt; neg_hits:   return "POSITIVE"</a:t>
            </a:r>
          </a:p>
          <a:p>
            <a:pPr algn="l"/>
            <a:r>
              <a:rPr sz="1050" b="0">
                <a:solidFill>
                  <a:srgbClr val="E8F1F5"/>
                </a:solidFill>
                <a:latin typeface="Consolas"/>
              </a:rPr>
              <a:t>    elif neg_hits &gt; pos_hits: return "NEGATIVE"</a:t>
            </a:r>
          </a:p>
          <a:p>
            <a:pPr algn="l"/>
            <a:r>
              <a:rPr sz="1050" b="0">
                <a:solidFill>
                  <a:srgbClr val="E8F1F5"/>
                </a:solidFill>
                <a:latin typeface="Consolas"/>
              </a:rPr>
              <a:t>    else:                     return "NEUTRAL"</a:t>
            </a:r>
          </a:p>
          <a:p>
            <a:pPr algn="l"/>
            <a:r>
              <a:rPr sz="1050" b="0">
                <a:solidFill>
                  <a:srgbClr val="E8F1F5"/>
                </a:solidFill>
                <a:latin typeface="Consolas"/>
              </a:rPr>
              <a:t/>
            </a:r>
          </a:p>
          <a:p>
            <a:pPr algn="l"/>
            <a:r>
              <a:rPr sz="1050" b="0">
                <a:solidFill>
                  <a:srgbClr val="E8F1F5"/>
                </a:solidFill>
                <a:latin typeface="Consolas"/>
              </a:rPr>
              <a:t>for r in reviews:</a:t>
            </a:r>
          </a:p>
          <a:p>
            <a:pPr algn="l"/>
            <a:r>
              <a:rPr sz="1050" b="0">
                <a:solidFill>
                  <a:srgbClr val="E8F1F5"/>
                </a:solidFill>
                <a:latin typeface="Consolas"/>
              </a:rPr>
              <a:t>    print(f"{rule_based_sentiment(r):&gt;9} | {r}")</a:t>
            </a:r>
          </a:p>
        </p:txBody>
      </p:sp>
      <p:pic>
        <p:nvPicPr>
          <p:cNvPr id="9" name="Picture 8"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Why Rule-Based Fails</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Three failure modes — and they compound</a:t>
            </a:r>
          </a:p>
        </p:txBody>
      </p:sp>
      <p:sp>
        <p:nvSpPr>
          <p:cNvPr id="5" name="Rectangle 4"/>
          <p:cNvSpPr/>
          <p:nvPr/>
        </p:nvSpPr>
        <p:spPr>
          <a:xfrm>
            <a:off x="411480" y="1234440"/>
            <a:ext cx="205740" cy="109728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7220" y="1234440"/>
            <a:ext cx="8092440" cy="10972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8670" y="1337310"/>
            <a:ext cx="7886700" cy="308610"/>
          </a:xfrm>
          <a:prstGeom prst="rect">
            <a:avLst/>
          </a:prstGeom>
          <a:noFill/>
        </p:spPr>
        <p:txBody>
          <a:bodyPr wrap="square" lIns="0" rIns="0" tIns="0" bIns="0" anchor="t">
            <a:spAutoFit/>
          </a:bodyPr>
          <a:lstStyle/>
          <a:p>
            <a:pPr algn="l"/>
            <a:r>
              <a:rPr sz="1200" b="1">
                <a:solidFill>
                  <a:srgbClr val="065A82"/>
                </a:solidFill>
                <a:latin typeface="Calibri"/>
              </a:rPr>
              <a:t>#1  Context blindness</a:t>
            </a:r>
          </a:p>
        </p:txBody>
      </p:sp>
      <p:sp>
        <p:nvSpPr>
          <p:cNvPr id="8" name="TextBox 7"/>
          <p:cNvSpPr txBox="1"/>
          <p:nvPr/>
        </p:nvSpPr>
        <p:spPr>
          <a:xfrm>
            <a:off x="788670" y="1645920"/>
            <a:ext cx="7886700" cy="548640"/>
          </a:xfrm>
          <a:prstGeom prst="rect">
            <a:avLst/>
          </a:prstGeom>
          <a:noFill/>
        </p:spPr>
        <p:txBody>
          <a:bodyPr wrap="square" lIns="0" rIns="0" tIns="0" bIns="0" anchor="t">
            <a:spAutoFit/>
          </a:bodyPr>
          <a:lstStyle/>
          <a:p>
            <a:pPr algn="l"/>
            <a:r>
              <a:rPr sz="900" b="0">
                <a:solidFill>
                  <a:srgbClr val="36454F"/>
                </a:solidFill>
                <a:latin typeface="Calibri"/>
              </a:rPr>
              <a:t>"Terrible shipping — product itself is fine."</a:t>
            </a:r>
          </a:p>
          <a:p>
            <a:pPr algn="l"/>
            <a:r>
              <a:rPr sz="900" b="0">
                <a:solidFill>
                  <a:srgbClr val="36454F"/>
                </a:solidFill>
                <a:latin typeface="Calibri"/>
              </a:rPr>
              <a:t>The rules see 'terrible' and 'fine' and don't know what each word refers to.</a:t>
            </a:r>
          </a:p>
        </p:txBody>
      </p:sp>
      <p:sp>
        <p:nvSpPr>
          <p:cNvPr id="9" name="TextBox 8"/>
          <p:cNvSpPr txBox="1"/>
          <p:nvPr/>
        </p:nvSpPr>
        <p:spPr>
          <a:xfrm>
            <a:off x="788670" y="2091690"/>
            <a:ext cx="7886700" cy="240030"/>
          </a:xfrm>
          <a:prstGeom prst="rect">
            <a:avLst/>
          </a:prstGeom>
          <a:noFill/>
        </p:spPr>
        <p:txBody>
          <a:bodyPr wrap="square" lIns="0" rIns="0" tIns="0" bIns="0" anchor="t">
            <a:spAutoFit/>
          </a:bodyPr>
          <a:lstStyle/>
          <a:p>
            <a:pPr algn="l"/>
            <a:r>
              <a:rPr sz="900" b="1">
                <a:solidFill>
                  <a:srgbClr val="F96167"/>
                </a:solidFill>
                <a:latin typeface="Calibri"/>
              </a:rPr>
              <a:t>Result: incorrectly tagged NEGATIVE.</a:t>
            </a:r>
          </a:p>
        </p:txBody>
      </p:sp>
      <p:sp>
        <p:nvSpPr>
          <p:cNvPr id="10" name="Rectangle 9"/>
          <p:cNvSpPr/>
          <p:nvPr/>
        </p:nvSpPr>
        <p:spPr>
          <a:xfrm>
            <a:off x="411480" y="2366010"/>
            <a:ext cx="205740" cy="109728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 y="2366010"/>
            <a:ext cx="8092440" cy="10972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8670" y="2468880"/>
            <a:ext cx="7886700" cy="308610"/>
          </a:xfrm>
          <a:prstGeom prst="rect">
            <a:avLst/>
          </a:prstGeom>
          <a:noFill/>
        </p:spPr>
        <p:txBody>
          <a:bodyPr wrap="square" lIns="0" rIns="0" tIns="0" bIns="0" anchor="t">
            <a:spAutoFit/>
          </a:bodyPr>
          <a:lstStyle/>
          <a:p>
            <a:pPr algn="l"/>
            <a:r>
              <a:rPr sz="1200" b="1">
                <a:solidFill>
                  <a:srgbClr val="065A82"/>
                </a:solidFill>
                <a:latin typeface="Calibri"/>
              </a:rPr>
              <a:t>#2  Negation flips meaning</a:t>
            </a:r>
          </a:p>
        </p:txBody>
      </p:sp>
      <p:sp>
        <p:nvSpPr>
          <p:cNvPr id="13" name="TextBox 12"/>
          <p:cNvSpPr txBox="1"/>
          <p:nvPr/>
        </p:nvSpPr>
        <p:spPr>
          <a:xfrm>
            <a:off x="788670" y="2777490"/>
            <a:ext cx="7886700" cy="548640"/>
          </a:xfrm>
          <a:prstGeom prst="rect">
            <a:avLst/>
          </a:prstGeom>
          <a:noFill/>
        </p:spPr>
        <p:txBody>
          <a:bodyPr wrap="square" lIns="0" rIns="0" tIns="0" bIns="0" anchor="t">
            <a:spAutoFit/>
          </a:bodyPr>
          <a:lstStyle/>
          <a:p>
            <a:pPr algn="l"/>
            <a:r>
              <a:rPr sz="900" b="0">
                <a:solidFill>
                  <a:srgbClr val="36454F"/>
                </a:solidFill>
                <a:latin typeface="Calibri"/>
              </a:rPr>
              <a:t>"Not what I expected — actually really nice in person!"</a:t>
            </a:r>
          </a:p>
          <a:p>
            <a:pPr algn="l"/>
            <a:r>
              <a:rPr sz="900" b="0">
                <a:solidFill>
                  <a:srgbClr val="36454F"/>
                </a:solidFill>
                <a:latin typeface="Calibri"/>
              </a:rPr>
              <a:t>'not' inverts the sentiment of the next phrase. Word-counting can't capture this.</a:t>
            </a:r>
          </a:p>
        </p:txBody>
      </p:sp>
      <p:sp>
        <p:nvSpPr>
          <p:cNvPr id="14" name="TextBox 13"/>
          <p:cNvSpPr txBox="1"/>
          <p:nvPr/>
        </p:nvSpPr>
        <p:spPr>
          <a:xfrm>
            <a:off x="788670" y="3223260"/>
            <a:ext cx="7886700" cy="240030"/>
          </a:xfrm>
          <a:prstGeom prst="rect">
            <a:avLst/>
          </a:prstGeom>
          <a:noFill/>
        </p:spPr>
        <p:txBody>
          <a:bodyPr wrap="square" lIns="0" rIns="0" tIns="0" bIns="0" anchor="t">
            <a:spAutoFit/>
          </a:bodyPr>
          <a:lstStyle/>
          <a:p>
            <a:pPr algn="l"/>
            <a:r>
              <a:rPr sz="900" b="1">
                <a:solidFill>
                  <a:srgbClr val="F96167"/>
                </a:solidFill>
                <a:latin typeface="Calibri"/>
              </a:rPr>
              <a:t>Result: rules tag NEUTRAL or NEGATIVE.</a:t>
            </a:r>
          </a:p>
        </p:txBody>
      </p:sp>
      <p:sp>
        <p:nvSpPr>
          <p:cNvPr id="15" name="Rectangle 14"/>
          <p:cNvSpPr/>
          <p:nvPr/>
        </p:nvSpPr>
        <p:spPr>
          <a:xfrm>
            <a:off x="411480" y="3497580"/>
            <a:ext cx="205740" cy="109728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 y="3497580"/>
            <a:ext cx="8092440" cy="10972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8670" y="3600450"/>
            <a:ext cx="7886700" cy="308610"/>
          </a:xfrm>
          <a:prstGeom prst="rect">
            <a:avLst/>
          </a:prstGeom>
          <a:noFill/>
        </p:spPr>
        <p:txBody>
          <a:bodyPr wrap="square" lIns="0" rIns="0" tIns="0" bIns="0" anchor="t">
            <a:spAutoFit/>
          </a:bodyPr>
          <a:lstStyle/>
          <a:p>
            <a:pPr algn="l"/>
            <a:r>
              <a:rPr sz="1200" b="1">
                <a:solidFill>
                  <a:srgbClr val="065A82"/>
                </a:solidFill>
                <a:latin typeface="Calibri"/>
              </a:rPr>
              <a:t>#3  Endless whack-a-mole</a:t>
            </a:r>
          </a:p>
        </p:txBody>
      </p:sp>
      <p:sp>
        <p:nvSpPr>
          <p:cNvPr id="18" name="TextBox 17"/>
          <p:cNvSpPr txBox="1"/>
          <p:nvPr/>
        </p:nvSpPr>
        <p:spPr>
          <a:xfrm>
            <a:off x="788670" y="3909060"/>
            <a:ext cx="7886700" cy="548640"/>
          </a:xfrm>
          <a:prstGeom prst="rect">
            <a:avLst/>
          </a:prstGeom>
          <a:noFill/>
        </p:spPr>
        <p:txBody>
          <a:bodyPr wrap="square" lIns="0" rIns="0" tIns="0" bIns="0" anchor="t">
            <a:spAutoFit/>
          </a:bodyPr>
          <a:lstStyle/>
          <a:p>
            <a:pPr algn="l"/>
            <a:r>
              <a:rPr sz="900" b="0">
                <a:solidFill>
                  <a:srgbClr val="36454F"/>
                </a:solidFill>
                <a:latin typeface="Calibri"/>
              </a:rPr>
              <a:t>Every new review surfaces a new edge case.</a:t>
            </a:r>
          </a:p>
          <a:p>
            <a:pPr algn="l"/>
            <a:r>
              <a:rPr sz="900" b="0">
                <a:solidFill>
                  <a:srgbClr val="36454F"/>
                </a:solidFill>
                <a:latin typeface="Calibri"/>
              </a:rPr>
              <a:t>Your rule list grows from 10 → 100 → 1,000 — and conflicts start.</a:t>
            </a:r>
          </a:p>
        </p:txBody>
      </p:sp>
      <p:pic>
        <p:nvPicPr>
          <p:cNvPr id="21" name="Picture 2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Approach 2: Machine Learning</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Stop writing rules. Start providing examples.</a:t>
            </a:r>
          </a:p>
        </p:txBody>
      </p:sp>
      <p:sp>
        <p:nvSpPr>
          <p:cNvPr id="5" name="Rectangle 4"/>
          <p:cNvSpPr/>
          <p:nvPr/>
        </p:nvSpPr>
        <p:spPr>
          <a:xfrm>
            <a:off x="411480" y="1234440"/>
            <a:ext cx="4114800" cy="17145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371600"/>
            <a:ext cx="3703320" cy="342900"/>
          </a:xfrm>
          <a:prstGeom prst="rect">
            <a:avLst/>
          </a:prstGeom>
          <a:noFill/>
        </p:spPr>
        <p:txBody>
          <a:bodyPr wrap="square" lIns="0" rIns="0" tIns="0" bIns="0" anchor="t">
            <a:spAutoFit/>
          </a:bodyPr>
          <a:lstStyle/>
          <a:p>
            <a:pPr algn="l"/>
            <a:r>
              <a:rPr sz="1350" b="1">
                <a:solidFill>
                  <a:srgbClr val="36454F"/>
                </a:solidFill>
                <a:latin typeface="Calibri"/>
              </a:rPr>
              <a:t>Traditional Programming</a:t>
            </a:r>
          </a:p>
        </p:txBody>
      </p:sp>
      <p:sp>
        <p:nvSpPr>
          <p:cNvPr id="7" name="TextBox 6"/>
          <p:cNvSpPr txBox="1"/>
          <p:nvPr/>
        </p:nvSpPr>
        <p:spPr>
          <a:xfrm>
            <a:off x="617220" y="1748790"/>
            <a:ext cx="3703320" cy="1165860"/>
          </a:xfrm>
          <a:prstGeom prst="rect">
            <a:avLst/>
          </a:prstGeom>
          <a:noFill/>
        </p:spPr>
        <p:txBody>
          <a:bodyPr wrap="square" lIns="0" rIns="0" tIns="0" bIns="0" anchor="t">
            <a:spAutoFit/>
          </a:bodyPr>
          <a:lstStyle/>
          <a:p>
            <a:pPr algn="l"/>
            <a:r>
              <a:rPr sz="1050" b="0">
                <a:solidFill>
                  <a:srgbClr val="36454F"/>
                </a:solidFill>
                <a:latin typeface="Calibri"/>
              </a:rPr>
              <a:t>You write the rules.</a:t>
            </a:r>
          </a:p>
          <a:p>
            <a:pPr algn="l"/>
            <a:r>
              <a:rPr sz="1050" b="0">
                <a:solidFill>
                  <a:srgbClr val="36454F"/>
                </a:solidFill>
                <a:latin typeface="Calibri"/>
              </a:rPr>
              <a:t>Computer follows them.</a:t>
            </a:r>
          </a:p>
          <a:p>
            <a:pPr algn="l"/>
            <a:r>
              <a:rPr sz="1050" b="0">
                <a:solidFill>
                  <a:srgbClr val="36454F"/>
                </a:solidFill>
                <a:latin typeface="Calibri"/>
              </a:rPr>
              <a:t/>
            </a:r>
          </a:p>
          <a:p>
            <a:pPr algn="l"/>
            <a:r>
              <a:rPr sz="1050" b="0">
                <a:solidFill>
                  <a:srgbClr val="36454F"/>
                </a:solidFill>
                <a:latin typeface="Calibri"/>
              </a:rPr>
              <a:t>Input: rules + data</a:t>
            </a:r>
          </a:p>
          <a:p>
            <a:pPr algn="l"/>
            <a:r>
              <a:rPr sz="1050" b="0">
                <a:solidFill>
                  <a:srgbClr val="36454F"/>
                </a:solidFill>
                <a:latin typeface="Calibri"/>
              </a:rPr>
              <a:t>Output: deterministic answer</a:t>
            </a:r>
          </a:p>
        </p:txBody>
      </p:sp>
      <p:sp>
        <p:nvSpPr>
          <p:cNvPr id="8" name="Rectangle 7"/>
          <p:cNvSpPr/>
          <p:nvPr/>
        </p:nvSpPr>
        <p:spPr>
          <a:xfrm>
            <a:off x="4594860" y="1234440"/>
            <a:ext cx="4114800" cy="17145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00600" y="1371600"/>
            <a:ext cx="3703320" cy="342900"/>
          </a:xfrm>
          <a:prstGeom prst="rect">
            <a:avLst/>
          </a:prstGeom>
          <a:noFill/>
        </p:spPr>
        <p:txBody>
          <a:bodyPr wrap="square" lIns="0" rIns="0" tIns="0" bIns="0" anchor="t">
            <a:spAutoFit/>
          </a:bodyPr>
          <a:lstStyle/>
          <a:p>
            <a:pPr algn="l"/>
            <a:r>
              <a:rPr sz="1350" b="1">
                <a:solidFill>
                  <a:srgbClr val="FFFFFF"/>
                </a:solidFill>
                <a:latin typeface="Calibri"/>
              </a:rPr>
              <a:t>Machine Learning</a:t>
            </a:r>
          </a:p>
        </p:txBody>
      </p:sp>
      <p:sp>
        <p:nvSpPr>
          <p:cNvPr id="10" name="TextBox 9"/>
          <p:cNvSpPr txBox="1"/>
          <p:nvPr/>
        </p:nvSpPr>
        <p:spPr>
          <a:xfrm>
            <a:off x="4800600" y="1748790"/>
            <a:ext cx="3703320" cy="1165860"/>
          </a:xfrm>
          <a:prstGeom prst="rect">
            <a:avLst/>
          </a:prstGeom>
          <a:noFill/>
        </p:spPr>
        <p:txBody>
          <a:bodyPr wrap="square" lIns="0" rIns="0" tIns="0" bIns="0" anchor="t">
            <a:spAutoFit/>
          </a:bodyPr>
          <a:lstStyle/>
          <a:p>
            <a:pPr algn="l"/>
            <a:r>
              <a:rPr sz="1050" b="0">
                <a:solidFill>
                  <a:srgbClr val="E8F1F5"/>
                </a:solidFill>
                <a:latin typeface="Calibri"/>
              </a:rPr>
              <a:t>You provide the examples.</a:t>
            </a:r>
          </a:p>
          <a:p>
            <a:pPr algn="l"/>
            <a:r>
              <a:rPr sz="1050" b="0">
                <a:solidFill>
                  <a:srgbClr val="E8F1F5"/>
                </a:solidFill>
                <a:latin typeface="Calibri"/>
              </a:rPr>
              <a:t>Computer discovers the rules.</a:t>
            </a:r>
          </a:p>
          <a:p>
            <a:pPr algn="l"/>
            <a:r>
              <a:rPr sz="1050" b="0">
                <a:solidFill>
                  <a:srgbClr val="E8F1F5"/>
                </a:solidFill>
                <a:latin typeface="Calibri"/>
              </a:rPr>
              <a:t/>
            </a:r>
          </a:p>
          <a:p>
            <a:pPr algn="l"/>
            <a:r>
              <a:rPr sz="1050" b="0">
                <a:solidFill>
                  <a:srgbClr val="E8F1F5"/>
                </a:solidFill>
                <a:latin typeface="Calibri"/>
              </a:rPr>
              <a:t>Input: examples (data + correct answers)</a:t>
            </a:r>
          </a:p>
          <a:p>
            <a:pPr algn="l"/>
            <a:r>
              <a:rPr sz="1050" b="0">
                <a:solidFill>
                  <a:srgbClr val="E8F1F5"/>
                </a:solidFill>
                <a:latin typeface="Calibri"/>
              </a:rPr>
              <a:t>Output: prediction + confidence</a:t>
            </a:r>
          </a:p>
        </p:txBody>
      </p:sp>
      <p:sp>
        <p:nvSpPr>
          <p:cNvPr id="11" name="TextBox 10"/>
          <p:cNvSpPr txBox="1"/>
          <p:nvPr/>
        </p:nvSpPr>
        <p:spPr>
          <a:xfrm>
            <a:off x="411480" y="3223260"/>
            <a:ext cx="8298180" cy="1028700"/>
          </a:xfrm>
          <a:prstGeom prst="rect">
            <a:avLst/>
          </a:prstGeom>
          <a:noFill/>
        </p:spPr>
        <p:txBody>
          <a:bodyPr wrap="square" lIns="0" rIns="0" tIns="0" bIns="0" anchor="t">
            <a:spAutoFit/>
          </a:bodyPr>
          <a:lstStyle/>
          <a:p>
            <a:pPr algn="ctr"/>
            <a:r>
              <a:rPr sz="1650" b="0">
                <a:solidFill>
                  <a:srgbClr val="065A82"/>
                </a:solidFill>
                <a:latin typeface="Trebuchet MS"/>
              </a:rPr>
              <a:t>"In traditional programming, you write the rules.</a:t>
            </a:r>
          </a:p>
          <a:p>
            <a:pPr algn="ctr"/>
            <a:r>
              <a:rPr sz="1650" b="0">
                <a:solidFill>
                  <a:srgbClr val="065A82"/>
                </a:solidFill>
                <a:latin typeface="Trebuchet MS"/>
              </a:rPr>
              <a:t>In ML, you write the examples — and the computer discovers the rules."</a:t>
            </a:r>
          </a:p>
        </p:txBody>
      </p:sp>
      <p:pic>
        <p:nvPicPr>
          <p:cNvPr id="14" name="Picture 13"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Pre-trained Models</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The shortcut that turns 'a week of work' into 'an hour'</a:t>
            </a:r>
          </a:p>
        </p:txBody>
      </p:sp>
      <p:sp>
        <p:nvSpPr>
          <p:cNvPr id="5" name="Rectangle 4"/>
          <p:cNvSpPr/>
          <p:nvPr/>
        </p:nvSpPr>
        <p:spPr>
          <a:xfrm>
            <a:off x="411480" y="1303020"/>
            <a:ext cx="8298180" cy="9601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05889"/>
            <a:ext cx="7886700" cy="342900"/>
          </a:xfrm>
          <a:prstGeom prst="rect">
            <a:avLst/>
          </a:prstGeom>
          <a:noFill/>
        </p:spPr>
        <p:txBody>
          <a:bodyPr wrap="square" lIns="0" rIns="0" tIns="0" bIns="0" anchor="t">
            <a:spAutoFit/>
          </a:bodyPr>
          <a:lstStyle/>
          <a:p>
            <a:pPr algn="l"/>
            <a:r>
              <a:rPr sz="1050" b="0">
                <a:solidFill>
                  <a:srgbClr val="E8F1F5"/>
                </a:solidFill>
                <a:latin typeface="Calibri"/>
              </a:rPr>
              <a:t>Key insight</a:t>
            </a:r>
          </a:p>
        </p:txBody>
      </p:sp>
      <p:sp>
        <p:nvSpPr>
          <p:cNvPr id="7" name="TextBox 6"/>
          <p:cNvSpPr txBox="1"/>
          <p:nvPr/>
        </p:nvSpPr>
        <p:spPr>
          <a:xfrm>
            <a:off x="617220" y="1714500"/>
            <a:ext cx="7886700" cy="548640"/>
          </a:xfrm>
          <a:prstGeom prst="rect">
            <a:avLst/>
          </a:prstGeom>
          <a:noFill/>
        </p:spPr>
        <p:txBody>
          <a:bodyPr wrap="square" lIns="0" rIns="0" tIns="0" bIns="0" anchor="t">
            <a:spAutoFit/>
          </a:bodyPr>
          <a:lstStyle/>
          <a:p>
            <a:pPr algn="l"/>
            <a:r>
              <a:rPr sz="1050" b="0">
                <a:solidFill>
                  <a:srgbClr val="FFFFFF"/>
                </a:solidFill>
                <a:latin typeface="Trebuchet MS"/>
              </a:rPr>
              <a:t>For common tasks (sentiment, translation, image classification) — someone has already trained a great model.</a:t>
            </a:r>
          </a:p>
          <a:p>
            <a:pPr algn="l"/>
            <a:r>
              <a:rPr sz="1050" b="0">
                <a:solidFill>
                  <a:srgbClr val="FFFFFF"/>
                </a:solidFill>
                <a:latin typeface="Trebuchet MS"/>
              </a:rPr>
              <a:t>You load it. You use it. You don't train from scratch unless your task is genuinely unique.</a:t>
            </a:r>
          </a:p>
        </p:txBody>
      </p:sp>
      <p:sp>
        <p:nvSpPr>
          <p:cNvPr id="8" name="Rectangle 7"/>
          <p:cNvSpPr/>
          <p:nvPr/>
        </p:nvSpPr>
        <p:spPr>
          <a:xfrm>
            <a:off x="411480" y="2468880"/>
            <a:ext cx="4183380" cy="21945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 y="2606040"/>
            <a:ext cx="3771900" cy="342900"/>
          </a:xfrm>
          <a:prstGeom prst="rect">
            <a:avLst/>
          </a:prstGeom>
          <a:noFill/>
        </p:spPr>
        <p:txBody>
          <a:bodyPr wrap="square" lIns="0" rIns="0" tIns="0" bIns="0" anchor="t">
            <a:spAutoFit/>
          </a:bodyPr>
          <a:lstStyle/>
          <a:p>
            <a:pPr algn="l"/>
            <a:r>
              <a:rPr sz="1200" b="1">
                <a:solidFill>
                  <a:srgbClr val="065A82"/>
                </a:solidFill>
                <a:latin typeface="Calibri"/>
              </a:rPr>
              <a:t>Where they come from</a:t>
            </a:r>
          </a:p>
        </p:txBody>
      </p:sp>
      <p:sp>
        <p:nvSpPr>
          <p:cNvPr id="10" name="TextBox 9"/>
          <p:cNvSpPr txBox="1"/>
          <p:nvPr/>
        </p:nvSpPr>
        <p:spPr>
          <a:xfrm>
            <a:off x="617220" y="3017520"/>
            <a:ext cx="3771900" cy="342900"/>
          </a:xfrm>
          <a:prstGeom prst="rect">
            <a:avLst/>
          </a:prstGeom>
          <a:noFill/>
        </p:spPr>
        <p:txBody>
          <a:bodyPr wrap="square" lIns="0" rIns="0" tIns="0" bIns="0" anchor="t">
            <a:spAutoFit/>
          </a:bodyPr>
          <a:lstStyle/>
          <a:p>
            <a:pPr algn="l"/>
            <a:r>
              <a:rPr sz="975" b="0">
                <a:solidFill>
                  <a:srgbClr val="36454F"/>
                </a:solidFill>
                <a:latin typeface="Calibri"/>
              </a:rPr>
              <a:t>• Hugging Face — open repository (hundreds of models)</a:t>
            </a:r>
          </a:p>
        </p:txBody>
      </p:sp>
      <p:sp>
        <p:nvSpPr>
          <p:cNvPr id="11" name="TextBox 10"/>
          <p:cNvSpPr txBox="1"/>
          <p:nvPr/>
        </p:nvSpPr>
        <p:spPr>
          <a:xfrm>
            <a:off x="617220" y="3360420"/>
            <a:ext cx="3771900" cy="342900"/>
          </a:xfrm>
          <a:prstGeom prst="rect">
            <a:avLst/>
          </a:prstGeom>
          <a:noFill/>
        </p:spPr>
        <p:txBody>
          <a:bodyPr wrap="square" lIns="0" rIns="0" tIns="0" bIns="0" anchor="t">
            <a:spAutoFit/>
          </a:bodyPr>
          <a:lstStyle/>
          <a:p>
            <a:pPr algn="l"/>
            <a:r>
              <a:rPr sz="975" b="0">
                <a:solidFill>
                  <a:srgbClr val="36454F"/>
                </a:solidFill>
                <a:latin typeface="Calibri"/>
              </a:rPr>
              <a:t>• OpenAI, Anthropic, Google — large hosted models</a:t>
            </a:r>
          </a:p>
        </p:txBody>
      </p:sp>
      <p:sp>
        <p:nvSpPr>
          <p:cNvPr id="12" name="TextBox 11"/>
          <p:cNvSpPr txBox="1"/>
          <p:nvPr/>
        </p:nvSpPr>
        <p:spPr>
          <a:xfrm>
            <a:off x="617220" y="3703320"/>
            <a:ext cx="3771900" cy="342900"/>
          </a:xfrm>
          <a:prstGeom prst="rect">
            <a:avLst/>
          </a:prstGeom>
          <a:noFill/>
        </p:spPr>
        <p:txBody>
          <a:bodyPr wrap="square" lIns="0" rIns="0" tIns="0" bIns="0" anchor="t">
            <a:spAutoFit/>
          </a:bodyPr>
          <a:lstStyle/>
          <a:p>
            <a:pPr algn="l"/>
            <a:r>
              <a:rPr sz="975" b="0">
                <a:solidFill>
                  <a:srgbClr val="36454F"/>
                </a:solidFill>
                <a:latin typeface="Calibri"/>
              </a:rPr>
              <a:t>• Industry-specific repos (medical, legal, finance)</a:t>
            </a:r>
          </a:p>
        </p:txBody>
      </p:sp>
      <p:sp>
        <p:nvSpPr>
          <p:cNvPr id="13" name="TextBox 12"/>
          <p:cNvSpPr txBox="1"/>
          <p:nvPr/>
        </p:nvSpPr>
        <p:spPr>
          <a:xfrm>
            <a:off x="617220" y="4046220"/>
            <a:ext cx="3771900" cy="342900"/>
          </a:xfrm>
          <a:prstGeom prst="rect">
            <a:avLst/>
          </a:prstGeom>
          <a:noFill/>
        </p:spPr>
        <p:txBody>
          <a:bodyPr wrap="square" lIns="0" rIns="0" tIns="0" bIns="0" anchor="t">
            <a:spAutoFit/>
          </a:bodyPr>
          <a:lstStyle/>
          <a:p>
            <a:pPr algn="l"/>
            <a:r>
              <a:rPr sz="975" b="0">
                <a:solidFill>
                  <a:srgbClr val="36454F"/>
                </a:solidFill>
                <a:latin typeface="Calibri"/>
              </a:rPr>
              <a:t>• Research labs — published with each new paper</a:t>
            </a:r>
          </a:p>
        </p:txBody>
      </p:sp>
      <p:sp>
        <p:nvSpPr>
          <p:cNvPr id="14" name="Rectangle 13"/>
          <p:cNvSpPr/>
          <p:nvPr/>
        </p:nvSpPr>
        <p:spPr>
          <a:xfrm>
            <a:off x="4800600" y="2468880"/>
            <a:ext cx="4183380" cy="21945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06340" y="2606040"/>
            <a:ext cx="3771900" cy="342900"/>
          </a:xfrm>
          <a:prstGeom prst="rect">
            <a:avLst/>
          </a:prstGeom>
          <a:noFill/>
        </p:spPr>
        <p:txBody>
          <a:bodyPr wrap="square" lIns="0" rIns="0" tIns="0" bIns="0" anchor="t">
            <a:spAutoFit/>
          </a:bodyPr>
          <a:lstStyle/>
          <a:p>
            <a:pPr algn="l"/>
            <a:r>
              <a:rPr sz="1200" b="1">
                <a:solidFill>
                  <a:srgbClr val="FFFFFF"/>
                </a:solidFill>
                <a:latin typeface="Calibri"/>
              </a:rPr>
              <a:t>What Sarah gets</a:t>
            </a:r>
          </a:p>
        </p:txBody>
      </p:sp>
      <p:sp>
        <p:nvSpPr>
          <p:cNvPr id="16" name="TextBox 15"/>
          <p:cNvSpPr txBox="1"/>
          <p:nvPr/>
        </p:nvSpPr>
        <p:spPr>
          <a:xfrm>
            <a:off x="5006340" y="3017520"/>
            <a:ext cx="3771900" cy="342900"/>
          </a:xfrm>
          <a:prstGeom prst="rect">
            <a:avLst/>
          </a:prstGeom>
          <a:noFill/>
        </p:spPr>
        <p:txBody>
          <a:bodyPr wrap="square" lIns="0" rIns="0" tIns="0" bIns="0" anchor="t">
            <a:spAutoFit/>
          </a:bodyPr>
          <a:lstStyle/>
          <a:p>
            <a:pPr algn="l"/>
            <a:r>
              <a:rPr sz="975" b="0">
                <a:solidFill>
                  <a:srgbClr val="E8F1F5"/>
                </a:solidFill>
                <a:latin typeface="Calibri"/>
              </a:rPr>
              <a:t>✓ A POSITIVE / NEGATIVE label for every review</a:t>
            </a:r>
          </a:p>
        </p:txBody>
      </p:sp>
      <p:sp>
        <p:nvSpPr>
          <p:cNvPr id="17" name="TextBox 16"/>
          <p:cNvSpPr txBox="1"/>
          <p:nvPr/>
        </p:nvSpPr>
        <p:spPr>
          <a:xfrm>
            <a:off x="5006340" y="3360420"/>
            <a:ext cx="3771900" cy="342900"/>
          </a:xfrm>
          <a:prstGeom prst="rect">
            <a:avLst/>
          </a:prstGeom>
          <a:noFill/>
        </p:spPr>
        <p:txBody>
          <a:bodyPr wrap="square" lIns="0" rIns="0" tIns="0" bIns="0" anchor="t">
            <a:spAutoFit/>
          </a:bodyPr>
          <a:lstStyle/>
          <a:p>
            <a:pPr algn="l"/>
            <a:r>
              <a:rPr sz="975" b="0">
                <a:solidFill>
                  <a:srgbClr val="E8F1F5"/>
                </a:solidFill>
                <a:latin typeface="Calibri"/>
              </a:rPr>
              <a:t>✓ A confidence score (e.g. 97% POSITIVE)</a:t>
            </a:r>
          </a:p>
        </p:txBody>
      </p:sp>
      <p:sp>
        <p:nvSpPr>
          <p:cNvPr id="18" name="TextBox 17"/>
          <p:cNvSpPr txBox="1"/>
          <p:nvPr/>
        </p:nvSpPr>
        <p:spPr>
          <a:xfrm>
            <a:off x="5006340" y="3703320"/>
            <a:ext cx="3771900" cy="342900"/>
          </a:xfrm>
          <a:prstGeom prst="rect">
            <a:avLst/>
          </a:prstGeom>
          <a:noFill/>
        </p:spPr>
        <p:txBody>
          <a:bodyPr wrap="square" lIns="0" rIns="0" tIns="0" bIns="0" anchor="t">
            <a:spAutoFit/>
          </a:bodyPr>
          <a:lstStyle/>
          <a:p>
            <a:pPr algn="l"/>
            <a:r>
              <a:rPr sz="975" b="0">
                <a:solidFill>
                  <a:srgbClr val="E8F1F5"/>
                </a:solidFill>
                <a:latin typeface="Calibri"/>
              </a:rPr>
              <a:t>✓ Can filter to 'NEGATIVE with &gt;90% confidence'</a:t>
            </a:r>
          </a:p>
        </p:txBody>
      </p:sp>
      <p:sp>
        <p:nvSpPr>
          <p:cNvPr id="19" name="TextBox 18"/>
          <p:cNvSpPr txBox="1"/>
          <p:nvPr/>
        </p:nvSpPr>
        <p:spPr>
          <a:xfrm>
            <a:off x="5006340" y="4046220"/>
            <a:ext cx="3771900" cy="342900"/>
          </a:xfrm>
          <a:prstGeom prst="rect">
            <a:avLst/>
          </a:prstGeom>
          <a:noFill/>
        </p:spPr>
        <p:txBody>
          <a:bodyPr wrap="square" lIns="0" rIns="0" tIns="0" bIns="0" anchor="t">
            <a:spAutoFit/>
          </a:bodyPr>
          <a:lstStyle/>
          <a:p>
            <a:pPr algn="l"/>
            <a:r>
              <a:rPr sz="975" b="0">
                <a:solidFill>
                  <a:srgbClr val="E8F1F5"/>
                </a:solidFill>
                <a:latin typeface="Calibri"/>
              </a:rPr>
              <a:t>✓ Runs in minutes — not a workweek</a:t>
            </a:r>
          </a:p>
        </p:txBody>
      </p:sp>
      <p:pic>
        <p:nvPicPr>
          <p:cNvPr id="21" name="Picture 2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2900" y="342900"/>
            <a:ext cx="8457971" cy="44577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8023860" cy="342900"/>
          </a:xfrm>
          <a:prstGeom prst="rect">
            <a:avLst/>
          </a:prstGeom>
          <a:noFill/>
        </p:spPr>
        <p:txBody>
          <a:bodyPr wrap="square" lIns="0" rIns="0" tIns="0" bIns="0" anchor="t">
            <a:spAutoFit/>
          </a:bodyPr>
          <a:lstStyle/>
          <a:p>
            <a:pPr algn="l"/>
            <a:r>
              <a:rPr sz="1200" b="1">
                <a:solidFill>
                  <a:srgbClr val="21C39A"/>
                </a:solidFill>
                <a:latin typeface="Calibri"/>
              </a:rPr>
              <a:t>🟢  CODE-ALONG</a:t>
            </a:r>
          </a:p>
        </p:txBody>
      </p:sp>
      <p:sp>
        <p:nvSpPr>
          <p:cNvPr id="5" name="TextBox 4"/>
          <p:cNvSpPr txBox="1"/>
          <p:nvPr/>
        </p:nvSpPr>
        <p:spPr>
          <a:xfrm>
            <a:off x="548640" y="1097280"/>
            <a:ext cx="8023860" cy="685800"/>
          </a:xfrm>
          <a:prstGeom prst="rect">
            <a:avLst/>
          </a:prstGeom>
          <a:noFill/>
        </p:spPr>
        <p:txBody>
          <a:bodyPr wrap="square" lIns="0" rIns="0" tIns="0" bIns="0" anchor="t">
            <a:spAutoFit/>
          </a:bodyPr>
          <a:lstStyle/>
          <a:p>
            <a:pPr algn="l"/>
            <a:r>
              <a:rPr sz="2700" b="1">
                <a:solidFill>
                  <a:srgbClr val="FFFFFF"/>
                </a:solidFill>
                <a:latin typeface="Consolas"/>
              </a:rPr>
              <a:t>Open: 02_what_is_ml.ipynb</a:t>
            </a:r>
          </a:p>
        </p:txBody>
      </p:sp>
      <p:sp>
        <p:nvSpPr>
          <p:cNvPr id="6" name="TextBox 5"/>
          <p:cNvSpPr txBox="1"/>
          <p:nvPr/>
        </p:nvSpPr>
        <p:spPr>
          <a:xfrm>
            <a:off x="548640" y="2125980"/>
            <a:ext cx="8023860" cy="411480"/>
          </a:xfrm>
          <a:prstGeom prst="rect">
            <a:avLst/>
          </a:prstGeom>
          <a:noFill/>
        </p:spPr>
        <p:txBody>
          <a:bodyPr wrap="square" lIns="0" rIns="0" tIns="0" bIns="0" anchor="t">
            <a:spAutoFit/>
          </a:bodyPr>
          <a:lstStyle/>
          <a:p>
            <a:pPr algn="l"/>
            <a:r>
              <a:rPr sz="1500" b="1">
                <a:solidFill>
                  <a:srgbClr val="E8F1F5"/>
                </a:solidFill>
                <a:latin typeface="Calibri"/>
              </a:rPr>
              <a:t>What you'll do</a:t>
            </a:r>
          </a:p>
        </p:txBody>
      </p:sp>
      <p:sp>
        <p:nvSpPr>
          <p:cNvPr id="7" name="TextBox 6"/>
          <p:cNvSpPr txBox="1"/>
          <p:nvPr/>
        </p:nvSpPr>
        <p:spPr>
          <a:xfrm>
            <a:off x="685800" y="2537460"/>
            <a:ext cx="7886700" cy="342900"/>
          </a:xfrm>
          <a:prstGeom prst="rect">
            <a:avLst/>
          </a:prstGeom>
          <a:noFill/>
        </p:spPr>
        <p:txBody>
          <a:bodyPr wrap="square" lIns="0" rIns="0" tIns="0" bIns="0" anchor="t">
            <a:spAutoFit/>
          </a:bodyPr>
          <a:lstStyle/>
          <a:p>
            <a:pPr algn="l"/>
            <a:r>
              <a:rPr sz="1125" b="0">
                <a:solidFill>
                  <a:srgbClr val="FFFFFF"/>
                </a:solidFill>
                <a:latin typeface="Calibri"/>
              </a:rPr>
              <a:t>1.  Run the rule-based sentiment function on 5 reviews — see exactly where it fails.</a:t>
            </a:r>
          </a:p>
        </p:txBody>
      </p:sp>
      <p:sp>
        <p:nvSpPr>
          <p:cNvPr id="8" name="TextBox 7"/>
          <p:cNvSpPr txBox="1"/>
          <p:nvPr/>
        </p:nvSpPr>
        <p:spPr>
          <a:xfrm>
            <a:off x="685800" y="2914650"/>
            <a:ext cx="7886700" cy="342900"/>
          </a:xfrm>
          <a:prstGeom prst="rect">
            <a:avLst/>
          </a:prstGeom>
          <a:noFill/>
        </p:spPr>
        <p:txBody>
          <a:bodyPr wrap="square" lIns="0" rIns="0" tIns="0" bIns="0" anchor="t">
            <a:spAutoFit/>
          </a:bodyPr>
          <a:lstStyle/>
          <a:p>
            <a:pPr algn="l"/>
            <a:r>
              <a:rPr sz="1125" b="0">
                <a:solidFill>
                  <a:srgbClr val="FFFFFF"/>
                </a:solidFill>
                <a:latin typeface="Calibri"/>
              </a:rPr>
              <a:t>2.  Load a pre-trained sentiment model and re-run on the same 5 reviews.</a:t>
            </a:r>
          </a:p>
        </p:txBody>
      </p:sp>
      <p:sp>
        <p:nvSpPr>
          <p:cNvPr id="9" name="TextBox 8"/>
          <p:cNvSpPr txBox="1"/>
          <p:nvPr/>
        </p:nvSpPr>
        <p:spPr>
          <a:xfrm>
            <a:off x="685800" y="3291840"/>
            <a:ext cx="7886700" cy="342900"/>
          </a:xfrm>
          <a:prstGeom prst="rect">
            <a:avLst/>
          </a:prstGeom>
          <a:noFill/>
        </p:spPr>
        <p:txBody>
          <a:bodyPr wrap="square" lIns="0" rIns="0" tIns="0" bIns="0" anchor="t">
            <a:spAutoFit/>
          </a:bodyPr>
          <a:lstStyle/>
          <a:p>
            <a:pPr algn="l"/>
            <a:r>
              <a:rPr sz="1125" b="0">
                <a:solidFill>
                  <a:srgbClr val="FFFFFF"/>
                </a:solidFill>
                <a:latin typeface="Calibri"/>
              </a:rPr>
              <a:t>3.  Notice the confidence score — and what it signals about ambiguous reviews.</a:t>
            </a:r>
          </a:p>
        </p:txBody>
      </p:sp>
      <p:sp>
        <p:nvSpPr>
          <p:cNvPr id="10" name="Rectangle 9"/>
          <p:cNvSpPr/>
          <p:nvPr/>
        </p:nvSpPr>
        <p:spPr>
          <a:xfrm>
            <a:off x="548640" y="3909060"/>
            <a:ext cx="8023860"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046220"/>
            <a:ext cx="7886700" cy="480060"/>
          </a:xfrm>
          <a:prstGeom prst="rect">
            <a:avLst/>
          </a:prstGeom>
          <a:noFill/>
        </p:spPr>
        <p:txBody>
          <a:bodyPr wrap="square" lIns="0" rIns="0" tIns="0" bIns="0" anchor="t">
            <a:spAutoFit/>
          </a:bodyPr>
          <a:lstStyle/>
          <a:p>
            <a:pPr algn="l"/>
            <a:r>
              <a:rPr sz="1125" b="1">
                <a:solidFill>
                  <a:srgbClr val="FFFFFF"/>
                </a:solidFill>
                <a:latin typeface="Calibri"/>
              </a:rPr>
              <a:t>⏱  30 minutes  ·  Stop at the 🟡 Extension marker  ·  Extension is self-paced after class</a:t>
            </a:r>
          </a:p>
        </p:txBody>
      </p:sp>
      <p:pic>
        <p:nvPicPr>
          <p:cNvPr id="12" name="Picture 1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Category 1: Supervised Learning</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Inputs + known correct answers</a:t>
            </a:r>
          </a:p>
        </p:txBody>
      </p:sp>
      <p:sp>
        <p:nvSpPr>
          <p:cNvPr id="5" name="Rectangle 4"/>
          <p:cNvSpPr/>
          <p:nvPr/>
        </p:nvSpPr>
        <p:spPr>
          <a:xfrm>
            <a:off x="411480" y="1234440"/>
            <a:ext cx="8298180" cy="8229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337310"/>
            <a:ext cx="7886700" cy="342900"/>
          </a:xfrm>
          <a:prstGeom prst="rect">
            <a:avLst/>
          </a:prstGeom>
          <a:noFill/>
        </p:spPr>
        <p:txBody>
          <a:bodyPr wrap="square" lIns="0" rIns="0" tIns="0" bIns="0" anchor="t">
            <a:spAutoFit/>
          </a:bodyPr>
          <a:lstStyle/>
          <a:p>
            <a:pPr algn="l"/>
            <a:r>
              <a:rPr sz="975" b="0">
                <a:solidFill>
                  <a:srgbClr val="E8F1F5"/>
                </a:solidFill>
                <a:latin typeface="Calibri"/>
              </a:rPr>
              <a:t>Plain English</a:t>
            </a:r>
          </a:p>
        </p:txBody>
      </p:sp>
      <p:sp>
        <p:nvSpPr>
          <p:cNvPr id="7" name="TextBox 6"/>
          <p:cNvSpPr txBox="1"/>
          <p:nvPr/>
        </p:nvSpPr>
        <p:spPr>
          <a:xfrm>
            <a:off x="617220" y="1611630"/>
            <a:ext cx="7886700" cy="480060"/>
          </a:xfrm>
          <a:prstGeom prst="rect">
            <a:avLst/>
          </a:prstGeom>
          <a:noFill/>
        </p:spPr>
        <p:txBody>
          <a:bodyPr wrap="square" lIns="0" rIns="0" tIns="0" bIns="0" anchor="t">
            <a:spAutoFit/>
          </a:bodyPr>
          <a:lstStyle/>
          <a:p>
            <a:pPr algn="l"/>
            <a:r>
              <a:rPr sz="1350" b="0">
                <a:solidFill>
                  <a:srgbClr val="FFFFFF"/>
                </a:solidFill>
                <a:latin typeface="Trebuchet MS"/>
              </a:rPr>
              <a:t>You give the model inputs and correct answers. It learns to map new inputs to answers it hasn't seen yet.</a:t>
            </a:r>
          </a:p>
        </p:txBody>
      </p:sp>
      <p:sp>
        <p:nvSpPr>
          <p:cNvPr id="8" name="Rectangle 7"/>
          <p:cNvSpPr/>
          <p:nvPr/>
        </p:nvSpPr>
        <p:spPr>
          <a:xfrm>
            <a:off x="411480" y="2194560"/>
            <a:ext cx="4114800" cy="23317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 y="2331720"/>
            <a:ext cx="3703320" cy="342900"/>
          </a:xfrm>
          <a:prstGeom prst="rect">
            <a:avLst/>
          </a:prstGeom>
          <a:noFill/>
        </p:spPr>
        <p:txBody>
          <a:bodyPr wrap="square" lIns="0" rIns="0" tIns="0" bIns="0" anchor="t">
            <a:spAutoFit/>
          </a:bodyPr>
          <a:lstStyle/>
          <a:p>
            <a:pPr algn="l"/>
            <a:r>
              <a:rPr sz="1125" b="1">
                <a:solidFill>
                  <a:srgbClr val="065A82"/>
                </a:solidFill>
                <a:latin typeface="Calibri"/>
              </a:rPr>
              <a:t>Real-world analogy</a:t>
            </a:r>
          </a:p>
        </p:txBody>
      </p:sp>
      <p:sp>
        <p:nvSpPr>
          <p:cNvPr id="10" name="TextBox 9"/>
          <p:cNvSpPr txBox="1"/>
          <p:nvPr/>
        </p:nvSpPr>
        <p:spPr>
          <a:xfrm>
            <a:off x="617220" y="2708910"/>
            <a:ext cx="3703320" cy="1714500"/>
          </a:xfrm>
          <a:prstGeom prst="rect">
            <a:avLst/>
          </a:prstGeom>
          <a:noFill/>
        </p:spPr>
        <p:txBody>
          <a:bodyPr wrap="square" lIns="0" rIns="0" tIns="0" bIns="0" anchor="t">
            <a:spAutoFit/>
          </a:bodyPr>
          <a:lstStyle/>
          <a:p>
            <a:pPr algn="l"/>
            <a:r>
              <a:rPr sz="975" b="0">
                <a:solidFill>
                  <a:srgbClr val="36454F"/>
                </a:solidFill>
                <a:latin typeface="Calibri"/>
              </a:rPr>
              <a:t>A student studying past exam papers with answer keys.</a:t>
            </a:r>
          </a:p>
          <a:p>
            <a:pPr algn="l"/>
            <a:r>
              <a:rPr sz="975" b="0">
                <a:solidFill>
                  <a:srgbClr val="36454F"/>
                </a:solidFill>
                <a:latin typeface="Calibri"/>
              </a:rPr>
              <a:t>Many questions, many correct answers.</a:t>
            </a:r>
          </a:p>
          <a:p>
            <a:pPr algn="l"/>
            <a:r>
              <a:rPr sz="975" b="0">
                <a:solidFill>
                  <a:srgbClr val="36454F"/>
                </a:solidFill>
                <a:latin typeface="Calibri"/>
              </a:rPr>
              <a:t/>
            </a:r>
          </a:p>
          <a:p>
            <a:pPr algn="l"/>
            <a:r>
              <a:rPr sz="975" b="0">
                <a:solidFill>
                  <a:srgbClr val="36454F"/>
                </a:solidFill>
                <a:latin typeface="Calibri"/>
              </a:rPr>
              <a:t>Over time, the student learns the patterns and can answer new questions on their own.</a:t>
            </a:r>
          </a:p>
        </p:txBody>
      </p:sp>
      <p:sp>
        <p:nvSpPr>
          <p:cNvPr id="11" name="Rectangle 10"/>
          <p:cNvSpPr/>
          <p:nvPr/>
        </p:nvSpPr>
        <p:spPr>
          <a:xfrm>
            <a:off x="4697730" y="2194560"/>
            <a:ext cx="4114800" cy="23317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3470" y="2331720"/>
            <a:ext cx="3703320" cy="342900"/>
          </a:xfrm>
          <a:prstGeom prst="rect">
            <a:avLst/>
          </a:prstGeom>
          <a:noFill/>
        </p:spPr>
        <p:txBody>
          <a:bodyPr wrap="square" lIns="0" rIns="0" tIns="0" bIns="0" anchor="t">
            <a:spAutoFit/>
          </a:bodyPr>
          <a:lstStyle/>
          <a:p>
            <a:pPr algn="l"/>
            <a:r>
              <a:rPr sz="1125" b="1">
                <a:solidFill>
                  <a:srgbClr val="FFFFFF"/>
                </a:solidFill>
                <a:latin typeface="Calibri"/>
              </a:rPr>
              <a:t>Business use cases</a:t>
            </a:r>
          </a:p>
        </p:txBody>
      </p:sp>
      <p:sp>
        <p:nvSpPr>
          <p:cNvPr id="13" name="TextBox 12"/>
          <p:cNvSpPr txBox="1"/>
          <p:nvPr/>
        </p:nvSpPr>
        <p:spPr>
          <a:xfrm>
            <a:off x="4903470" y="2708910"/>
            <a:ext cx="3703320" cy="274320"/>
          </a:xfrm>
          <a:prstGeom prst="rect">
            <a:avLst/>
          </a:prstGeom>
          <a:noFill/>
        </p:spPr>
        <p:txBody>
          <a:bodyPr wrap="square" lIns="0" rIns="0" tIns="0" bIns="0" anchor="t">
            <a:spAutoFit/>
          </a:bodyPr>
          <a:lstStyle/>
          <a:p>
            <a:pPr algn="l"/>
            <a:r>
              <a:rPr sz="975" b="0">
                <a:solidFill>
                  <a:srgbClr val="E8F1F5"/>
                </a:solidFill>
                <a:latin typeface="Calibri"/>
              </a:rPr>
              <a:t>• Churn prediction</a:t>
            </a:r>
          </a:p>
        </p:txBody>
      </p:sp>
      <p:sp>
        <p:nvSpPr>
          <p:cNvPr id="14" name="TextBox 13"/>
          <p:cNvSpPr txBox="1"/>
          <p:nvPr/>
        </p:nvSpPr>
        <p:spPr>
          <a:xfrm>
            <a:off x="4903470" y="2983230"/>
            <a:ext cx="3703320" cy="274320"/>
          </a:xfrm>
          <a:prstGeom prst="rect">
            <a:avLst/>
          </a:prstGeom>
          <a:noFill/>
        </p:spPr>
        <p:txBody>
          <a:bodyPr wrap="square" lIns="0" rIns="0" tIns="0" bIns="0" anchor="t">
            <a:spAutoFit/>
          </a:bodyPr>
          <a:lstStyle/>
          <a:p>
            <a:pPr algn="l"/>
            <a:r>
              <a:rPr sz="975" b="0">
                <a:solidFill>
                  <a:srgbClr val="E8F1F5"/>
                </a:solidFill>
                <a:latin typeface="Calibri"/>
              </a:rPr>
              <a:t>• Fraud detection</a:t>
            </a:r>
          </a:p>
        </p:txBody>
      </p:sp>
      <p:sp>
        <p:nvSpPr>
          <p:cNvPr id="15" name="TextBox 14"/>
          <p:cNvSpPr txBox="1"/>
          <p:nvPr/>
        </p:nvSpPr>
        <p:spPr>
          <a:xfrm>
            <a:off x="4903470" y="3257550"/>
            <a:ext cx="3703320" cy="274320"/>
          </a:xfrm>
          <a:prstGeom prst="rect">
            <a:avLst/>
          </a:prstGeom>
          <a:noFill/>
        </p:spPr>
        <p:txBody>
          <a:bodyPr wrap="square" lIns="0" rIns="0" tIns="0" bIns="0" anchor="t">
            <a:spAutoFit/>
          </a:bodyPr>
          <a:lstStyle/>
          <a:p>
            <a:pPr algn="l"/>
            <a:r>
              <a:rPr sz="975" b="0">
                <a:solidFill>
                  <a:srgbClr val="E8F1F5"/>
                </a:solidFill>
                <a:latin typeface="Calibri"/>
              </a:rPr>
              <a:t>• Demand forecasting</a:t>
            </a:r>
          </a:p>
        </p:txBody>
      </p:sp>
      <p:sp>
        <p:nvSpPr>
          <p:cNvPr id="16" name="TextBox 15"/>
          <p:cNvSpPr txBox="1"/>
          <p:nvPr/>
        </p:nvSpPr>
        <p:spPr>
          <a:xfrm>
            <a:off x="4903470" y="3531870"/>
            <a:ext cx="3703320" cy="274320"/>
          </a:xfrm>
          <a:prstGeom prst="rect">
            <a:avLst/>
          </a:prstGeom>
          <a:noFill/>
        </p:spPr>
        <p:txBody>
          <a:bodyPr wrap="square" lIns="0" rIns="0" tIns="0" bIns="0" anchor="t">
            <a:spAutoFit/>
          </a:bodyPr>
          <a:lstStyle/>
          <a:p>
            <a:pPr algn="l"/>
            <a:r>
              <a:rPr sz="975" b="0">
                <a:solidFill>
                  <a:srgbClr val="E8F1F5"/>
                </a:solidFill>
                <a:latin typeface="Calibri"/>
              </a:rPr>
              <a:t>• Sentiment / text classification</a:t>
            </a:r>
          </a:p>
        </p:txBody>
      </p:sp>
      <p:sp>
        <p:nvSpPr>
          <p:cNvPr id="17" name="TextBox 16"/>
          <p:cNvSpPr txBox="1"/>
          <p:nvPr/>
        </p:nvSpPr>
        <p:spPr>
          <a:xfrm>
            <a:off x="4903470" y="3806190"/>
            <a:ext cx="3703320" cy="274320"/>
          </a:xfrm>
          <a:prstGeom prst="rect">
            <a:avLst/>
          </a:prstGeom>
          <a:noFill/>
        </p:spPr>
        <p:txBody>
          <a:bodyPr wrap="square" lIns="0" rIns="0" tIns="0" bIns="0" anchor="t">
            <a:spAutoFit/>
          </a:bodyPr>
          <a:lstStyle/>
          <a:p>
            <a:pPr algn="l"/>
            <a:r>
              <a:rPr sz="975" b="0">
                <a:solidFill>
                  <a:srgbClr val="E8F1F5"/>
                </a:solidFill>
                <a:latin typeface="Calibri"/>
              </a:rPr>
              <a:t>• Medical risk scoring</a:t>
            </a:r>
          </a:p>
        </p:txBody>
      </p:sp>
      <p:sp>
        <p:nvSpPr>
          <p:cNvPr id="18" name="TextBox 17"/>
          <p:cNvSpPr txBox="1"/>
          <p:nvPr/>
        </p:nvSpPr>
        <p:spPr>
          <a:xfrm>
            <a:off x="4903470" y="4080510"/>
            <a:ext cx="3703320" cy="274320"/>
          </a:xfrm>
          <a:prstGeom prst="rect">
            <a:avLst/>
          </a:prstGeom>
          <a:noFill/>
        </p:spPr>
        <p:txBody>
          <a:bodyPr wrap="square" lIns="0" rIns="0" tIns="0" bIns="0" anchor="t">
            <a:spAutoFit/>
          </a:bodyPr>
          <a:lstStyle/>
          <a:p>
            <a:pPr algn="l"/>
            <a:r>
              <a:rPr sz="975" b="0">
                <a:solidFill>
                  <a:srgbClr val="E8F1F5"/>
                </a:solidFill>
                <a:latin typeface="Calibri"/>
              </a:rPr>
              <a:t>• Image labelling (cat vs dog)</a:t>
            </a:r>
          </a:p>
        </p:txBody>
      </p:sp>
      <p:pic>
        <p:nvPicPr>
          <p:cNvPr id="20" name="Picture 19"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Category 2: Unsupervised Learning</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Inputs only — find structure</a:t>
            </a:r>
          </a:p>
        </p:txBody>
      </p:sp>
      <p:sp>
        <p:nvSpPr>
          <p:cNvPr id="5" name="Rectangle 4"/>
          <p:cNvSpPr/>
          <p:nvPr/>
        </p:nvSpPr>
        <p:spPr>
          <a:xfrm>
            <a:off x="411480" y="1234440"/>
            <a:ext cx="8298180" cy="8229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337310"/>
            <a:ext cx="7886700" cy="342900"/>
          </a:xfrm>
          <a:prstGeom prst="rect">
            <a:avLst/>
          </a:prstGeom>
          <a:noFill/>
        </p:spPr>
        <p:txBody>
          <a:bodyPr wrap="square" lIns="0" rIns="0" tIns="0" bIns="0" anchor="t">
            <a:spAutoFit/>
          </a:bodyPr>
          <a:lstStyle/>
          <a:p>
            <a:pPr algn="l"/>
            <a:r>
              <a:rPr sz="975" b="0">
                <a:solidFill>
                  <a:srgbClr val="E8F1F5"/>
                </a:solidFill>
                <a:latin typeface="Calibri"/>
              </a:rPr>
              <a:t>Plain English</a:t>
            </a:r>
          </a:p>
        </p:txBody>
      </p:sp>
      <p:sp>
        <p:nvSpPr>
          <p:cNvPr id="7" name="TextBox 6"/>
          <p:cNvSpPr txBox="1"/>
          <p:nvPr/>
        </p:nvSpPr>
        <p:spPr>
          <a:xfrm>
            <a:off x="617220" y="1611630"/>
            <a:ext cx="7886700" cy="480060"/>
          </a:xfrm>
          <a:prstGeom prst="rect">
            <a:avLst/>
          </a:prstGeom>
          <a:noFill/>
        </p:spPr>
        <p:txBody>
          <a:bodyPr wrap="square" lIns="0" rIns="0" tIns="0" bIns="0" anchor="t">
            <a:spAutoFit/>
          </a:bodyPr>
          <a:lstStyle/>
          <a:p>
            <a:pPr algn="l"/>
            <a:r>
              <a:rPr sz="1350" b="0">
                <a:solidFill>
                  <a:srgbClr val="FFFFFF"/>
                </a:solidFill>
                <a:latin typeface="Trebuchet MS"/>
              </a:rPr>
              <a:t>You give the model inputs with no answers. It finds groups, patterns, or anomalies on its own.</a:t>
            </a:r>
          </a:p>
        </p:txBody>
      </p:sp>
      <p:sp>
        <p:nvSpPr>
          <p:cNvPr id="8" name="Rectangle 7"/>
          <p:cNvSpPr/>
          <p:nvPr/>
        </p:nvSpPr>
        <p:spPr>
          <a:xfrm>
            <a:off x="411480" y="2194560"/>
            <a:ext cx="4114800" cy="23317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 y="2331720"/>
            <a:ext cx="3703320" cy="342900"/>
          </a:xfrm>
          <a:prstGeom prst="rect">
            <a:avLst/>
          </a:prstGeom>
          <a:noFill/>
        </p:spPr>
        <p:txBody>
          <a:bodyPr wrap="square" lIns="0" rIns="0" tIns="0" bIns="0" anchor="t">
            <a:spAutoFit/>
          </a:bodyPr>
          <a:lstStyle/>
          <a:p>
            <a:pPr algn="l"/>
            <a:r>
              <a:rPr sz="1125" b="1">
                <a:solidFill>
                  <a:srgbClr val="065A82"/>
                </a:solidFill>
                <a:latin typeface="Calibri"/>
              </a:rPr>
              <a:t>Real-world analogy</a:t>
            </a:r>
          </a:p>
        </p:txBody>
      </p:sp>
      <p:sp>
        <p:nvSpPr>
          <p:cNvPr id="10" name="TextBox 9"/>
          <p:cNvSpPr txBox="1"/>
          <p:nvPr/>
        </p:nvSpPr>
        <p:spPr>
          <a:xfrm>
            <a:off x="617220" y="2708910"/>
            <a:ext cx="3703320" cy="1714500"/>
          </a:xfrm>
          <a:prstGeom prst="rect">
            <a:avLst/>
          </a:prstGeom>
          <a:noFill/>
        </p:spPr>
        <p:txBody>
          <a:bodyPr wrap="square" lIns="0" rIns="0" tIns="0" bIns="0" anchor="t">
            <a:spAutoFit/>
          </a:bodyPr>
          <a:lstStyle/>
          <a:p>
            <a:pPr algn="l"/>
            <a:r>
              <a:rPr sz="975" b="0">
                <a:solidFill>
                  <a:srgbClr val="36454F"/>
                </a:solidFill>
                <a:latin typeface="Calibri"/>
              </a:rPr>
              <a:t>A librarian with a crate of unlabelled books.</a:t>
            </a:r>
          </a:p>
          <a:p>
            <a:pPr algn="l"/>
            <a:r>
              <a:rPr sz="975" b="0">
                <a:solidFill>
                  <a:srgbClr val="36454F"/>
                </a:solidFill>
                <a:latin typeface="Calibri"/>
              </a:rPr>
              <a:t>She groups them by 'these feel similar' — romance here, mystery there — without anyone telling her what the genres are.</a:t>
            </a:r>
          </a:p>
        </p:txBody>
      </p:sp>
      <p:sp>
        <p:nvSpPr>
          <p:cNvPr id="11" name="Rectangle 10"/>
          <p:cNvSpPr/>
          <p:nvPr/>
        </p:nvSpPr>
        <p:spPr>
          <a:xfrm>
            <a:off x="4697730" y="2194560"/>
            <a:ext cx="4114800" cy="23317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3470" y="2331720"/>
            <a:ext cx="3703320" cy="342900"/>
          </a:xfrm>
          <a:prstGeom prst="rect">
            <a:avLst/>
          </a:prstGeom>
          <a:noFill/>
        </p:spPr>
        <p:txBody>
          <a:bodyPr wrap="square" lIns="0" rIns="0" tIns="0" bIns="0" anchor="t">
            <a:spAutoFit/>
          </a:bodyPr>
          <a:lstStyle/>
          <a:p>
            <a:pPr algn="l"/>
            <a:r>
              <a:rPr sz="1125" b="1">
                <a:solidFill>
                  <a:srgbClr val="FFFFFF"/>
                </a:solidFill>
                <a:latin typeface="Calibri"/>
              </a:rPr>
              <a:t>Business use cases</a:t>
            </a:r>
          </a:p>
        </p:txBody>
      </p:sp>
      <p:sp>
        <p:nvSpPr>
          <p:cNvPr id="13" name="TextBox 12"/>
          <p:cNvSpPr txBox="1"/>
          <p:nvPr/>
        </p:nvSpPr>
        <p:spPr>
          <a:xfrm>
            <a:off x="4903470" y="2708910"/>
            <a:ext cx="3703320" cy="274320"/>
          </a:xfrm>
          <a:prstGeom prst="rect">
            <a:avLst/>
          </a:prstGeom>
          <a:noFill/>
        </p:spPr>
        <p:txBody>
          <a:bodyPr wrap="square" lIns="0" rIns="0" tIns="0" bIns="0" anchor="t">
            <a:spAutoFit/>
          </a:bodyPr>
          <a:lstStyle/>
          <a:p>
            <a:pPr algn="l"/>
            <a:r>
              <a:rPr sz="975" b="0">
                <a:solidFill>
                  <a:srgbClr val="E8F1F5"/>
                </a:solidFill>
                <a:latin typeface="Calibri"/>
              </a:rPr>
              <a:t>• Customer segmentation</a:t>
            </a:r>
          </a:p>
        </p:txBody>
      </p:sp>
      <p:sp>
        <p:nvSpPr>
          <p:cNvPr id="14" name="TextBox 13"/>
          <p:cNvSpPr txBox="1"/>
          <p:nvPr/>
        </p:nvSpPr>
        <p:spPr>
          <a:xfrm>
            <a:off x="4903470" y="2983230"/>
            <a:ext cx="3703320" cy="274320"/>
          </a:xfrm>
          <a:prstGeom prst="rect">
            <a:avLst/>
          </a:prstGeom>
          <a:noFill/>
        </p:spPr>
        <p:txBody>
          <a:bodyPr wrap="square" lIns="0" rIns="0" tIns="0" bIns="0" anchor="t">
            <a:spAutoFit/>
          </a:bodyPr>
          <a:lstStyle/>
          <a:p>
            <a:pPr algn="l"/>
            <a:r>
              <a:rPr sz="975" b="0">
                <a:solidFill>
                  <a:srgbClr val="E8F1F5"/>
                </a:solidFill>
                <a:latin typeface="Calibri"/>
              </a:rPr>
              <a:t>• Anomaly detection in logs</a:t>
            </a:r>
          </a:p>
        </p:txBody>
      </p:sp>
      <p:sp>
        <p:nvSpPr>
          <p:cNvPr id="15" name="TextBox 14"/>
          <p:cNvSpPr txBox="1"/>
          <p:nvPr/>
        </p:nvSpPr>
        <p:spPr>
          <a:xfrm>
            <a:off x="4903470" y="3257550"/>
            <a:ext cx="3703320" cy="274320"/>
          </a:xfrm>
          <a:prstGeom prst="rect">
            <a:avLst/>
          </a:prstGeom>
          <a:noFill/>
        </p:spPr>
        <p:txBody>
          <a:bodyPr wrap="square" lIns="0" rIns="0" tIns="0" bIns="0" anchor="t">
            <a:spAutoFit/>
          </a:bodyPr>
          <a:lstStyle/>
          <a:p>
            <a:pPr algn="l"/>
            <a:r>
              <a:rPr sz="975" b="0">
                <a:solidFill>
                  <a:srgbClr val="E8F1F5"/>
                </a:solidFill>
                <a:latin typeface="Calibri"/>
              </a:rPr>
              <a:t>• Topic discovery in reviews/tickets</a:t>
            </a:r>
          </a:p>
        </p:txBody>
      </p:sp>
      <p:sp>
        <p:nvSpPr>
          <p:cNvPr id="16" name="TextBox 15"/>
          <p:cNvSpPr txBox="1"/>
          <p:nvPr/>
        </p:nvSpPr>
        <p:spPr>
          <a:xfrm>
            <a:off x="4903470" y="3531870"/>
            <a:ext cx="3703320" cy="274320"/>
          </a:xfrm>
          <a:prstGeom prst="rect">
            <a:avLst/>
          </a:prstGeom>
          <a:noFill/>
        </p:spPr>
        <p:txBody>
          <a:bodyPr wrap="square" lIns="0" rIns="0" tIns="0" bIns="0" anchor="t">
            <a:spAutoFit/>
          </a:bodyPr>
          <a:lstStyle/>
          <a:p>
            <a:pPr algn="l"/>
            <a:r>
              <a:rPr sz="975" b="0">
                <a:solidFill>
                  <a:srgbClr val="E8F1F5"/>
                </a:solidFill>
                <a:latin typeface="Calibri"/>
              </a:rPr>
              <a:t>• Recommendation cohorts</a:t>
            </a:r>
          </a:p>
        </p:txBody>
      </p:sp>
      <p:sp>
        <p:nvSpPr>
          <p:cNvPr id="17" name="TextBox 16"/>
          <p:cNvSpPr txBox="1"/>
          <p:nvPr/>
        </p:nvSpPr>
        <p:spPr>
          <a:xfrm>
            <a:off x="4903470" y="3806190"/>
            <a:ext cx="3703320" cy="274320"/>
          </a:xfrm>
          <a:prstGeom prst="rect">
            <a:avLst/>
          </a:prstGeom>
          <a:noFill/>
        </p:spPr>
        <p:txBody>
          <a:bodyPr wrap="square" lIns="0" rIns="0" tIns="0" bIns="0" anchor="t">
            <a:spAutoFit/>
          </a:bodyPr>
          <a:lstStyle/>
          <a:p>
            <a:pPr algn="l"/>
            <a:r>
              <a:rPr sz="975" b="0">
                <a:solidFill>
                  <a:srgbClr val="E8F1F5"/>
                </a:solidFill>
                <a:latin typeface="Calibri"/>
              </a:rPr>
              <a:t>• Pre-processing for downstream supervised models</a:t>
            </a:r>
          </a:p>
        </p:txBody>
      </p:sp>
      <p:pic>
        <p:nvPicPr>
          <p:cNvPr id="19" name="Picture 18"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Category 3: Reinforcement Learning</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Take actions · get rewards · improve over time</a:t>
            </a:r>
          </a:p>
        </p:txBody>
      </p:sp>
      <p:sp>
        <p:nvSpPr>
          <p:cNvPr id="5" name="Rectangle 4"/>
          <p:cNvSpPr/>
          <p:nvPr/>
        </p:nvSpPr>
        <p:spPr>
          <a:xfrm>
            <a:off x="411480" y="1234440"/>
            <a:ext cx="8298180" cy="8229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337310"/>
            <a:ext cx="7886700" cy="342900"/>
          </a:xfrm>
          <a:prstGeom prst="rect">
            <a:avLst/>
          </a:prstGeom>
          <a:noFill/>
        </p:spPr>
        <p:txBody>
          <a:bodyPr wrap="square" lIns="0" rIns="0" tIns="0" bIns="0" anchor="t">
            <a:spAutoFit/>
          </a:bodyPr>
          <a:lstStyle/>
          <a:p>
            <a:pPr algn="l"/>
            <a:r>
              <a:rPr sz="975" b="0">
                <a:solidFill>
                  <a:srgbClr val="E8F1F5"/>
                </a:solidFill>
                <a:latin typeface="Calibri"/>
              </a:rPr>
              <a:t>Plain English</a:t>
            </a:r>
          </a:p>
        </p:txBody>
      </p:sp>
      <p:sp>
        <p:nvSpPr>
          <p:cNvPr id="7" name="TextBox 6"/>
          <p:cNvSpPr txBox="1"/>
          <p:nvPr/>
        </p:nvSpPr>
        <p:spPr>
          <a:xfrm>
            <a:off x="617220" y="1611630"/>
            <a:ext cx="7886700" cy="480060"/>
          </a:xfrm>
          <a:prstGeom prst="rect">
            <a:avLst/>
          </a:prstGeom>
          <a:noFill/>
        </p:spPr>
        <p:txBody>
          <a:bodyPr wrap="square" lIns="0" rIns="0" tIns="0" bIns="0" anchor="t">
            <a:spAutoFit/>
          </a:bodyPr>
          <a:lstStyle/>
          <a:p>
            <a:pPr algn="l"/>
            <a:r>
              <a:rPr sz="1350" b="0">
                <a:solidFill>
                  <a:srgbClr val="FFFFFF"/>
                </a:solidFill>
                <a:latin typeface="Trebuchet MS"/>
              </a:rPr>
              <a:t>An agent acts in an environment. It receives rewards or penalties. It learns the best policy by trial and error.</a:t>
            </a:r>
          </a:p>
        </p:txBody>
      </p:sp>
      <p:sp>
        <p:nvSpPr>
          <p:cNvPr id="8" name="Rectangle 7"/>
          <p:cNvSpPr/>
          <p:nvPr/>
        </p:nvSpPr>
        <p:spPr>
          <a:xfrm>
            <a:off x="411480" y="2194560"/>
            <a:ext cx="4114800" cy="23317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 y="2331720"/>
            <a:ext cx="3703320" cy="342900"/>
          </a:xfrm>
          <a:prstGeom prst="rect">
            <a:avLst/>
          </a:prstGeom>
          <a:noFill/>
        </p:spPr>
        <p:txBody>
          <a:bodyPr wrap="square" lIns="0" rIns="0" tIns="0" bIns="0" anchor="t">
            <a:spAutoFit/>
          </a:bodyPr>
          <a:lstStyle/>
          <a:p>
            <a:pPr algn="l"/>
            <a:r>
              <a:rPr sz="1125" b="1">
                <a:solidFill>
                  <a:srgbClr val="065A82"/>
                </a:solidFill>
                <a:latin typeface="Calibri"/>
              </a:rPr>
              <a:t>Real-world analogy</a:t>
            </a:r>
          </a:p>
        </p:txBody>
      </p:sp>
      <p:sp>
        <p:nvSpPr>
          <p:cNvPr id="10" name="TextBox 9"/>
          <p:cNvSpPr txBox="1"/>
          <p:nvPr/>
        </p:nvSpPr>
        <p:spPr>
          <a:xfrm>
            <a:off x="617220" y="2708910"/>
            <a:ext cx="3703320" cy="1714500"/>
          </a:xfrm>
          <a:prstGeom prst="rect">
            <a:avLst/>
          </a:prstGeom>
          <a:noFill/>
        </p:spPr>
        <p:txBody>
          <a:bodyPr wrap="square" lIns="0" rIns="0" tIns="0" bIns="0" anchor="t">
            <a:spAutoFit/>
          </a:bodyPr>
          <a:lstStyle/>
          <a:p>
            <a:pPr algn="l"/>
            <a:r>
              <a:rPr sz="975" b="0">
                <a:solidFill>
                  <a:srgbClr val="36454F"/>
                </a:solidFill>
                <a:latin typeface="Calibri"/>
              </a:rPr>
              <a:t>Training a dog with treats.</a:t>
            </a:r>
          </a:p>
          <a:p>
            <a:pPr algn="l"/>
            <a:r>
              <a:rPr sz="975" b="0">
                <a:solidFill>
                  <a:srgbClr val="36454F"/>
                </a:solidFill>
                <a:latin typeface="Calibri"/>
              </a:rPr>
              <a:t>Sit → treat. Bark at the mailman → no treat.</a:t>
            </a:r>
          </a:p>
          <a:p>
            <a:pPr algn="l"/>
            <a:r>
              <a:rPr sz="975" b="0">
                <a:solidFill>
                  <a:srgbClr val="36454F"/>
                </a:solidFill>
                <a:latin typeface="Calibri"/>
              </a:rPr>
              <a:t>Over time, the dog learns which actions pay off.</a:t>
            </a:r>
          </a:p>
        </p:txBody>
      </p:sp>
      <p:sp>
        <p:nvSpPr>
          <p:cNvPr id="11" name="Rectangle 10"/>
          <p:cNvSpPr/>
          <p:nvPr/>
        </p:nvSpPr>
        <p:spPr>
          <a:xfrm>
            <a:off x="4697730" y="2194560"/>
            <a:ext cx="4114800" cy="2331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3470" y="2331720"/>
            <a:ext cx="3703320" cy="342900"/>
          </a:xfrm>
          <a:prstGeom prst="rect">
            <a:avLst/>
          </a:prstGeom>
          <a:noFill/>
        </p:spPr>
        <p:txBody>
          <a:bodyPr wrap="square" lIns="0" rIns="0" tIns="0" bIns="0" anchor="t">
            <a:spAutoFit/>
          </a:bodyPr>
          <a:lstStyle/>
          <a:p>
            <a:pPr algn="l"/>
            <a:r>
              <a:rPr sz="1125" b="1">
                <a:solidFill>
                  <a:srgbClr val="FFFFFF"/>
                </a:solidFill>
                <a:latin typeface="Calibri"/>
              </a:rPr>
              <a:t>Where you see it</a:t>
            </a:r>
          </a:p>
        </p:txBody>
      </p:sp>
      <p:sp>
        <p:nvSpPr>
          <p:cNvPr id="13" name="TextBox 12"/>
          <p:cNvSpPr txBox="1"/>
          <p:nvPr/>
        </p:nvSpPr>
        <p:spPr>
          <a:xfrm>
            <a:off x="4903470" y="2708910"/>
            <a:ext cx="3703320" cy="274320"/>
          </a:xfrm>
          <a:prstGeom prst="rect">
            <a:avLst/>
          </a:prstGeom>
          <a:noFill/>
        </p:spPr>
        <p:txBody>
          <a:bodyPr wrap="square" lIns="0" rIns="0" tIns="0" bIns="0" anchor="t">
            <a:spAutoFit/>
          </a:bodyPr>
          <a:lstStyle/>
          <a:p>
            <a:pPr algn="l"/>
            <a:r>
              <a:rPr sz="975" b="0">
                <a:solidFill>
                  <a:srgbClr val="FFFFFF"/>
                </a:solidFill>
                <a:latin typeface="Calibri"/>
              </a:rPr>
              <a:t>• AlphaGo, chess-playing AIs</a:t>
            </a:r>
          </a:p>
        </p:txBody>
      </p:sp>
      <p:sp>
        <p:nvSpPr>
          <p:cNvPr id="14" name="TextBox 13"/>
          <p:cNvSpPr txBox="1"/>
          <p:nvPr/>
        </p:nvSpPr>
        <p:spPr>
          <a:xfrm>
            <a:off x="4903470" y="2983230"/>
            <a:ext cx="3703320" cy="274320"/>
          </a:xfrm>
          <a:prstGeom prst="rect">
            <a:avLst/>
          </a:prstGeom>
          <a:noFill/>
        </p:spPr>
        <p:txBody>
          <a:bodyPr wrap="square" lIns="0" rIns="0" tIns="0" bIns="0" anchor="t">
            <a:spAutoFit/>
          </a:bodyPr>
          <a:lstStyle/>
          <a:p>
            <a:pPr algn="l"/>
            <a:r>
              <a:rPr sz="975" b="0">
                <a:solidFill>
                  <a:srgbClr val="FFFFFF"/>
                </a:solidFill>
                <a:latin typeface="Calibri"/>
              </a:rPr>
              <a:t>• Robot control (warehouse pick-and-pack)</a:t>
            </a:r>
          </a:p>
        </p:txBody>
      </p:sp>
      <p:sp>
        <p:nvSpPr>
          <p:cNvPr id="15" name="TextBox 14"/>
          <p:cNvSpPr txBox="1"/>
          <p:nvPr/>
        </p:nvSpPr>
        <p:spPr>
          <a:xfrm>
            <a:off x="4903470" y="3257550"/>
            <a:ext cx="3703320" cy="274320"/>
          </a:xfrm>
          <a:prstGeom prst="rect">
            <a:avLst/>
          </a:prstGeom>
          <a:noFill/>
        </p:spPr>
        <p:txBody>
          <a:bodyPr wrap="square" lIns="0" rIns="0" tIns="0" bIns="0" anchor="t">
            <a:spAutoFit/>
          </a:bodyPr>
          <a:lstStyle/>
          <a:p>
            <a:pPr algn="l"/>
            <a:r>
              <a:rPr sz="975" b="0">
                <a:solidFill>
                  <a:srgbClr val="FFFFFF"/>
                </a:solidFill>
                <a:latin typeface="Calibri"/>
              </a:rPr>
              <a:t>• Large-scale recommendation engines</a:t>
            </a:r>
          </a:p>
        </p:txBody>
      </p:sp>
      <p:sp>
        <p:nvSpPr>
          <p:cNvPr id="16" name="TextBox 15"/>
          <p:cNvSpPr txBox="1"/>
          <p:nvPr/>
        </p:nvSpPr>
        <p:spPr>
          <a:xfrm>
            <a:off x="4903470" y="3531870"/>
            <a:ext cx="3703320" cy="274320"/>
          </a:xfrm>
          <a:prstGeom prst="rect">
            <a:avLst/>
          </a:prstGeom>
          <a:noFill/>
        </p:spPr>
        <p:txBody>
          <a:bodyPr wrap="square" lIns="0" rIns="0" tIns="0" bIns="0" anchor="t">
            <a:spAutoFit/>
          </a:bodyPr>
          <a:lstStyle/>
          <a:p>
            <a:pPr algn="l"/>
            <a:r>
              <a:rPr sz="975" b="0">
                <a:solidFill>
                  <a:srgbClr val="FFFFFF"/>
                </a:solidFill>
                <a:latin typeface="Calibri"/>
              </a:rPr>
              <a:t>• RLHF in modern LLMs</a:t>
            </a:r>
          </a:p>
        </p:txBody>
      </p:sp>
      <p:sp>
        <p:nvSpPr>
          <p:cNvPr id="17" name="TextBox 16"/>
          <p:cNvSpPr txBox="1"/>
          <p:nvPr/>
        </p:nvSpPr>
        <p:spPr>
          <a:xfrm>
            <a:off x="4903470" y="3806190"/>
            <a:ext cx="3703320" cy="274320"/>
          </a:xfrm>
          <a:prstGeom prst="rect">
            <a:avLst/>
          </a:prstGeom>
          <a:noFill/>
        </p:spPr>
        <p:txBody>
          <a:bodyPr wrap="square" lIns="0" rIns="0" tIns="0" bIns="0" anchor="t">
            <a:spAutoFit/>
          </a:bodyPr>
          <a:lstStyle/>
          <a:p>
            <a:pPr algn="l"/>
            <a:r>
              <a:rPr sz="975" b="0">
                <a:solidFill>
                  <a:srgbClr val="FFFFFF"/>
                </a:solidFill>
                <a:latin typeface="Calibri"/>
              </a:rPr>
              <a:t>• Game playing agents</a:t>
            </a:r>
          </a:p>
        </p:txBody>
      </p:sp>
      <p:sp>
        <p:nvSpPr>
          <p:cNvPr id="18" name="TextBox 17"/>
          <p:cNvSpPr txBox="1"/>
          <p:nvPr/>
        </p:nvSpPr>
        <p:spPr>
          <a:xfrm>
            <a:off x="4903470" y="4217670"/>
            <a:ext cx="3703320" cy="274320"/>
          </a:xfrm>
          <a:prstGeom prst="rect">
            <a:avLst/>
          </a:prstGeom>
          <a:noFill/>
        </p:spPr>
        <p:txBody>
          <a:bodyPr wrap="square" lIns="0" rIns="0" tIns="0" bIns="0" anchor="t">
            <a:spAutoFit/>
          </a:bodyPr>
          <a:lstStyle/>
          <a:p>
            <a:pPr algn="l"/>
            <a:r>
              <a:rPr sz="900" b="1">
                <a:solidFill>
                  <a:srgbClr val="FFFFFF"/>
                </a:solidFill>
                <a:latin typeface="Calibri"/>
              </a:rPr>
              <a:t>→ Not built in this course (recognise, don't implement).</a:t>
            </a:r>
          </a:p>
        </p:txBody>
      </p:sp>
      <p:pic>
        <p:nvPicPr>
          <p:cNvPr id="20" name="Picture 19"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2900" y="342900"/>
            <a:ext cx="8457971" cy="44577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8023860" cy="342900"/>
          </a:xfrm>
          <a:prstGeom prst="rect">
            <a:avLst/>
          </a:prstGeom>
          <a:noFill/>
        </p:spPr>
        <p:txBody>
          <a:bodyPr wrap="square" lIns="0" rIns="0" tIns="0" bIns="0" anchor="t">
            <a:spAutoFit/>
          </a:bodyPr>
          <a:lstStyle/>
          <a:p>
            <a:pPr algn="l"/>
            <a:r>
              <a:rPr sz="1200" b="1">
                <a:solidFill>
                  <a:srgbClr val="F9E795"/>
                </a:solidFill>
                <a:latin typeface="Calibri"/>
              </a:rPr>
              <a:t>💬  DISCUSSION</a:t>
            </a:r>
          </a:p>
        </p:txBody>
      </p:sp>
      <p:sp>
        <p:nvSpPr>
          <p:cNvPr id="5" name="TextBox 4"/>
          <p:cNvSpPr txBox="1"/>
          <p:nvPr/>
        </p:nvSpPr>
        <p:spPr>
          <a:xfrm>
            <a:off x="548640" y="1097280"/>
            <a:ext cx="8023860" cy="685800"/>
          </a:xfrm>
          <a:prstGeom prst="rect">
            <a:avLst/>
          </a:prstGeom>
          <a:noFill/>
        </p:spPr>
        <p:txBody>
          <a:bodyPr wrap="square" lIns="0" rIns="0" tIns="0" bIns="0" anchor="t">
            <a:spAutoFit/>
          </a:bodyPr>
          <a:lstStyle/>
          <a:p>
            <a:pPr algn="l"/>
            <a:r>
              <a:rPr sz="2550" b="1">
                <a:solidFill>
                  <a:srgbClr val="FFFFFF"/>
                </a:solidFill>
                <a:latin typeface="Consolas"/>
              </a:rPr>
              <a:t>Open: 03_three_categories.ipynb</a:t>
            </a:r>
          </a:p>
        </p:txBody>
      </p:sp>
      <p:sp>
        <p:nvSpPr>
          <p:cNvPr id="6" name="TextBox 5"/>
          <p:cNvSpPr txBox="1"/>
          <p:nvPr/>
        </p:nvSpPr>
        <p:spPr>
          <a:xfrm>
            <a:off x="548640" y="2125980"/>
            <a:ext cx="8023860" cy="411480"/>
          </a:xfrm>
          <a:prstGeom prst="rect">
            <a:avLst/>
          </a:prstGeom>
          <a:noFill/>
        </p:spPr>
        <p:txBody>
          <a:bodyPr wrap="square" lIns="0" rIns="0" tIns="0" bIns="0" anchor="t">
            <a:spAutoFit/>
          </a:bodyPr>
          <a:lstStyle/>
          <a:p>
            <a:pPr algn="l"/>
            <a:r>
              <a:rPr sz="1500" b="1">
                <a:solidFill>
                  <a:srgbClr val="E8F1F5"/>
                </a:solidFill>
                <a:latin typeface="Calibri"/>
              </a:rPr>
              <a:t>Read &amp; discuss</a:t>
            </a:r>
          </a:p>
        </p:txBody>
      </p:sp>
      <p:sp>
        <p:nvSpPr>
          <p:cNvPr id="7" name="TextBox 6"/>
          <p:cNvSpPr txBox="1"/>
          <p:nvPr/>
        </p:nvSpPr>
        <p:spPr>
          <a:xfrm>
            <a:off x="685800" y="2537460"/>
            <a:ext cx="7886700" cy="342900"/>
          </a:xfrm>
          <a:prstGeom prst="rect">
            <a:avLst/>
          </a:prstGeom>
          <a:noFill/>
        </p:spPr>
        <p:txBody>
          <a:bodyPr wrap="square" lIns="0" rIns="0" tIns="0" bIns="0" anchor="t">
            <a:spAutoFit/>
          </a:bodyPr>
          <a:lstStyle/>
          <a:p>
            <a:pPr algn="l"/>
            <a:r>
              <a:rPr sz="1125" b="0">
                <a:solidFill>
                  <a:srgbClr val="FFFFFF"/>
                </a:solidFill>
                <a:latin typeface="Calibri"/>
              </a:rPr>
              <a:t>→  Read the three category descriptions.</a:t>
            </a:r>
          </a:p>
        </p:txBody>
      </p:sp>
      <p:sp>
        <p:nvSpPr>
          <p:cNvPr id="8" name="TextBox 7"/>
          <p:cNvSpPr txBox="1"/>
          <p:nvPr/>
        </p:nvSpPr>
        <p:spPr>
          <a:xfrm>
            <a:off x="685800" y="2914650"/>
            <a:ext cx="7886700" cy="342900"/>
          </a:xfrm>
          <a:prstGeom prst="rect">
            <a:avLst/>
          </a:prstGeom>
          <a:noFill/>
        </p:spPr>
        <p:txBody>
          <a:bodyPr wrap="square" lIns="0" rIns="0" tIns="0" bIns="0" anchor="t">
            <a:spAutoFit/>
          </a:bodyPr>
          <a:lstStyle/>
          <a:p>
            <a:pPr algn="l"/>
            <a:r>
              <a:rPr sz="1125" b="0">
                <a:solidFill>
                  <a:srgbClr val="FFFFFF"/>
                </a:solidFill>
                <a:latin typeface="Calibri"/>
              </a:rPr>
              <a:t>→  Try the five business problems — match each to a category.</a:t>
            </a:r>
          </a:p>
        </p:txBody>
      </p:sp>
      <p:sp>
        <p:nvSpPr>
          <p:cNvPr id="9" name="TextBox 8"/>
          <p:cNvSpPr txBox="1"/>
          <p:nvPr/>
        </p:nvSpPr>
        <p:spPr>
          <a:xfrm>
            <a:off x="685800" y="3291840"/>
            <a:ext cx="7886700" cy="342900"/>
          </a:xfrm>
          <a:prstGeom prst="rect">
            <a:avLst/>
          </a:prstGeom>
          <a:noFill/>
        </p:spPr>
        <p:txBody>
          <a:bodyPr wrap="square" lIns="0" rIns="0" tIns="0" bIns="0" anchor="t">
            <a:spAutoFit/>
          </a:bodyPr>
          <a:lstStyle/>
          <a:p>
            <a:pPr algn="l"/>
            <a:r>
              <a:rPr sz="1125" b="0">
                <a:solidFill>
                  <a:srgbClr val="FFFFFF"/>
                </a:solidFill>
                <a:latin typeface="Calibri"/>
              </a:rPr>
              <a:t>→  Compare your answers with a neighbour before checking the key.</a:t>
            </a:r>
          </a:p>
        </p:txBody>
      </p:sp>
      <p:sp>
        <p:nvSpPr>
          <p:cNvPr id="10" name="Rectangle 9"/>
          <p:cNvSpPr/>
          <p:nvPr/>
        </p:nvSpPr>
        <p:spPr>
          <a:xfrm>
            <a:off x="548640" y="3909060"/>
            <a:ext cx="8023860"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046220"/>
            <a:ext cx="7886700" cy="480060"/>
          </a:xfrm>
          <a:prstGeom prst="rect">
            <a:avLst/>
          </a:prstGeom>
          <a:noFill/>
        </p:spPr>
        <p:txBody>
          <a:bodyPr wrap="square" lIns="0" rIns="0" tIns="0" bIns="0" anchor="t">
            <a:spAutoFit/>
          </a:bodyPr>
          <a:lstStyle/>
          <a:p>
            <a:pPr algn="l"/>
            <a:r>
              <a:rPr sz="1125" b="1">
                <a:solidFill>
                  <a:srgbClr val="FFFFFF"/>
                </a:solidFill>
                <a:latin typeface="Calibri"/>
              </a:rPr>
              <a:t>⏱  10 minutes  ·  Concept-only notebook (no Extension)  ·  Discuss freely</a:t>
            </a:r>
          </a:p>
        </p:txBody>
      </p:sp>
      <p:pic>
        <p:nvPicPr>
          <p:cNvPr id="12" name="Picture 1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The 7-Step ML Workflow</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The map every real project follows</a:t>
            </a:r>
          </a:p>
        </p:txBody>
      </p:sp>
      <p:sp>
        <p:nvSpPr>
          <p:cNvPr id="5" name="Rectangle 4"/>
          <p:cNvSpPr/>
          <p:nvPr/>
        </p:nvSpPr>
        <p:spPr>
          <a:xfrm>
            <a:off x="411480" y="1268730"/>
            <a:ext cx="445770" cy="4457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303020"/>
            <a:ext cx="445770" cy="377190"/>
          </a:xfrm>
          <a:prstGeom prst="rect">
            <a:avLst/>
          </a:prstGeom>
          <a:noFill/>
        </p:spPr>
        <p:txBody>
          <a:bodyPr wrap="square" lIns="0" rIns="0" tIns="0" bIns="0" anchor="t">
            <a:spAutoFit/>
          </a:bodyPr>
          <a:lstStyle/>
          <a:p>
            <a:pPr algn="ctr"/>
            <a:r>
              <a:rPr sz="1800" b="1">
                <a:solidFill>
                  <a:srgbClr val="FFFFFF"/>
                </a:solidFill>
                <a:latin typeface="Trebuchet MS"/>
              </a:rPr>
              <a:t>1</a:t>
            </a:r>
          </a:p>
        </p:txBody>
      </p:sp>
      <p:sp>
        <p:nvSpPr>
          <p:cNvPr id="7" name="Rectangle 6"/>
          <p:cNvSpPr/>
          <p:nvPr/>
        </p:nvSpPr>
        <p:spPr>
          <a:xfrm>
            <a:off x="960120" y="1268730"/>
            <a:ext cx="1783080" cy="44577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337310"/>
            <a:ext cx="1645920" cy="308610"/>
          </a:xfrm>
          <a:prstGeom prst="rect">
            <a:avLst/>
          </a:prstGeom>
          <a:noFill/>
        </p:spPr>
        <p:txBody>
          <a:bodyPr wrap="square" lIns="0" rIns="0" tIns="0" bIns="0" anchor="t">
            <a:spAutoFit/>
          </a:bodyPr>
          <a:lstStyle/>
          <a:p>
            <a:pPr algn="l"/>
            <a:r>
              <a:rPr sz="1200" b="1">
                <a:solidFill>
                  <a:srgbClr val="065A82"/>
                </a:solidFill>
                <a:latin typeface="Calibri"/>
              </a:rPr>
              <a:t>Frame</a:t>
            </a:r>
          </a:p>
        </p:txBody>
      </p:sp>
      <p:sp>
        <p:nvSpPr>
          <p:cNvPr id="9" name="TextBox 8"/>
          <p:cNvSpPr txBox="1"/>
          <p:nvPr/>
        </p:nvSpPr>
        <p:spPr>
          <a:xfrm>
            <a:off x="2880360" y="1337310"/>
            <a:ext cx="5829300" cy="308610"/>
          </a:xfrm>
          <a:prstGeom prst="rect">
            <a:avLst/>
          </a:prstGeom>
          <a:noFill/>
        </p:spPr>
        <p:txBody>
          <a:bodyPr wrap="square" lIns="0" rIns="0" tIns="0" bIns="0" anchor="t">
            <a:spAutoFit/>
          </a:bodyPr>
          <a:lstStyle/>
          <a:p>
            <a:pPr algn="l"/>
            <a:r>
              <a:rPr sz="1050" b="0">
                <a:solidFill>
                  <a:srgbClr val="36454F"/>
                </a:solidFill>
                <a:latin typeface="Calibri"/>
              </a:rPr>
              <a:t>Business question · success metric · who acts</a:t>
            </a:r>
          </a:p>
        </p:txBody>
      </p:sp>
      <p:sp>
        <p:nvSpPr>
          <p:cNvPr id="10" name="Rectangle 9"/>
          <p:cNvSpPr/>
          <p:nvPr/>
        </p:nvSpPr>
        <p:spPr>
          <a:xfrm>
            <a:off x="411480" y="1748790"/>
            <a:ext cx="445770" cy="4457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783080"/>
            <a:ext cx="445770" cy="377190"/>
          </a:xfrm>
          <a:prstGeom prst="rect">
            <a:avLst/>
          </a:prstGeom>
          <a:noFill/>
        </p:spPr>
        <p:txBody>
          <a:bodyPr wrap="square" lIns="0" rIns="0" tIns="0" bIns="0" anchor="t">
            <a:spAutoFit/>
          </a:bodyPr>
          <a:lstStyle/>
          <a:p>
            <a:pPr algn="ctr"/>
            <a:r>
              <a:rPr sz="1800" b="1">
                <a:solidFill>
                  <a:srgbClr val="FFFFFF"/>
                </a:solidFill>
                <a:latin typeface="Trebuchet MS"/>
              </a:rPr>
              <a:t>2</a:t>
            </a:r>
          </a:p>
        </p:txBody>
      </p:sp>
      <p:sp>
        <p:nvSpPr>
          <p:cNvPr id="12" name="Rectangle 11"/>
          <p:cNvSpPr/>
          <p:nvPr/>
        </p:nvSpPr>
        <p:spPr>
          <a:xfrm>
            <a:off x="960120" y="1748790"/>
            <a:ext cx="1783080" cy="44577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1817370"/>
            <a:ext cx="1645920" cy="308610"/>
          </a:xfrm>
          <a:prstGeom prst="rect">
            <a:avLst/>
          </a:prstGeom>
          <a:noFill/>
        </p:spPr>
        <p:txBody>
          <a:bodyPr wrap="square" lIns="0" rIns="0" tIns="0" bIns="0" anchor="t">
            <a:spAutoFit/>
          </a:bodyPr>
          <a:lstStyle/>
          <a:p>
            <a:pPr algn="l"/>
            <a:r>
              <a:rPr sz="1200" b="1">
                <a:solidFill>
                  <a:srgbClr val="065A82"/>
                </a:solidFill>
                <a:latin typeface="Calibri"/>
              </a:rPr>
              <a:t>Collect</a:t>
            </a:r>
          </a:p>
        </p:txBody>
      </p:sp>
      <p:sp>
        <p:nvSpPr>
          <p:cNvPr id="14" name="TextBox 13"/>
          <p:cNvSpPr txBox="1"/>
          <p:nvPr/>
        </p:nvSpPr>
        <p:spPr>
          <a:xfrm>
            <a:off x="2880360" y="1817370"/>
            <a:ext cx="5829300" cy="308610"/>
          </a:xfrm>
          <a:prstGeom prst="rect">
            <a:avLst/>
          </a:prstGeom>
          <a:noFill/>
        </p:spPr>
        <p:txBody>
          <a:bodyPr wrap="square" lIns="0" rIns="0" tIns="0" bIns="0" anchor="t">
            <a:spAutoFit/>
          </a:bodyPr>
          <a:lstStyle/>
          <a:p>
            <a:pPr algn="l"/>
            <a:r>
              <a:rPr sz="1050" b="0">
                <a:solidFill>
                  <a:srgbClr val="36454F"/>
                </a:solidFill>
                <a:latin typeface="Calibri"/>
              </a:rPr>
              <a:t>Where does the data live? How much? Labelled?</a:t>
            </a:r>
          </a:p>
        </p:txBody>
      </p:sp>
      <p:sp>
        <p:nvSpPr>
          <p:cNvPr id="15" name="Rectangle 14"/>
          <p:cNvSpPr/>
          <p:nvPr/>
        </p:nvSpPr>
        <p:spPr>
          <a:xfrm>
            <a:off x="411480" y="2228850"/>
            <a:ext cx="445770" cy="4457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2263140"/>
            <a:ext cx="445770" cy="377190"/>
          </a:xfrm>
          <a:prstGeom prst="rect">
            <a:avLst/>
          </a:prstGeom>
          <a:noFill/>
        </p:spPr>
        <p:txBody>
          <a:bodyPr wrap="square" lIns="0" rIns="0" tIns="0" bIns="0" anchor="t">
            <a:spAutoFit/>
          </a:bodyPr>
          <a:lstStyle/>
          <a:p>
            <a:pPr algn="ctr"/>
            <a:r>
              <a:rPr sz="1800" b="1">
                <a:solidFill>
                  <a:srgbClr val="FFFFFF"/>
                </a:solidFill>
                <a:latin typeface="Trebuchet MS"/>
              </a:rPr>
              <a:t>3</a:t>
            </a:r>
          </a:p>
        </p:txBody>
      </p:sp>
      <p:sp>
        <p:nvSpPr>
          <p:cNvPr id="17" name="Rectangle 16"/>
          <p:cNvSpPr/>
          <p:nvPr/>
        </p:nvSpPr>
        <p:spPr>
          <a:xfrm>
            <a:off x="960120" y="2228850"/>
            <a:ext cx="1783080" cy="44577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2297430"/>
            <a:ext cx="1645920" cy="308610"/>
          </a:xfrm>
          <a:prstGeom prst="rect">
            <a:avLst/>
          </a:prstGeom>
          <a:noFill/>
        </p:spPr>
        <p:txBody>
          <a:bodyPr wrap="square" lIns="0" rIns="0" tIns="0" bIns="0" anchor="t">
            <a:spAutoFit/>
          </a:bodyPr>
          <a:lstStyle/>
          <a:p>
            <a:pPr algn="l"/>
            <a:r>
              <a:rPr sz="1200" b="1">
                <a:solidFill>
                  <a:srgbClr val="065A82"/>
                </a:solidFill>
                <a:latin typeface="Calibri"/>
              </a:rPr>
              <a:t>Clean / Explore</a:t>
            </a:r>
          </a:p>
        </p:txBody>
      </p:sp>
      <p:sp>
        <p:nvSpPr>
          <p:cNvPr id="19" name="TextBox 18"/>
          <p:cNvSpPr txBox="1"/>
          <p:nvPr/>
        </p:nvSpPr>
        <p:spPr>
          <a:xfrm>
            <a:off x="2880360" y="2297430"/>
            <a:ext cx="5829300" cy="308610"/>
          </a:xfrm>
          <a:prstGeom prst="rect">
            <a:avLst/>
          </a:prstGeom>
          <a:noFill/>
        </p:spPr>
        <p:txBody>
          <a:bodyPr wrap="square" lIns="0" rIns="0" tIns="0" bIns="0" anchor="t">
            <a:spAutoFit/>
          </a:bodyPr>
          <a:lstStyle/>
          <a:p>
            <a:pPr algn="l"/>
            <a:r>
              <a:rPr sz="1050" b="0">
                <a:solidFill>
                  <a:srgbClr val="36454F"/>
                </a:solidFill>
                <a:latin typeface="Calibri"/>
              </a:rPr>
              <a:t>Missing, duplicates, bias — before modelling</a:t>
            </a:r>
          </a:p>
        </p:txBody>
      </p:sp>
      <p:sp>
        <p:nvSpPr>
          <p:cNvPr id="20" name="Rectangle 19"/>
          <p:cNvSpPr/>
          <p:nvPr/>
        </p:nvSpPr>
        <p:spPr>
          <a:xfrm>
            <a:off x="411480" y="2708909"/>
            <a:ext cx="445770" cy="4457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2743199"/>
            <a:ext cx="445770" cy="377190"/>
          </a:xfrm>
          <a:prstGeom prst="rect">
            <a:avLst/>
          </a:prstGeom>
          <a:noFill/>
        </p:spPr>
        <p:txBody>
          <a:bodyPr wrap="square" lIns="0" rIns="0" tIns="0" bIns="0" anchor="t">
            <a:spAutoFit/>
          </a:bodyPr>
          <a:lstStyle/>
          <a:p>
            <a:pPr algn="ctr"/>
            <a:r>
              <a:rPr sz="1800" b="1">
                <a:solidFill>
                  <a:srgbClr val="FFFFFF"/>
                </a:solidFill>
                <a:latin typeface="Trebuchet MS"/>
              </a:rPr>
              <a:t>4</a:t>
            </a:r>
          </a:p>
        </p:txBody>
      </p:sp>
      <p:sp>
        <p:nvSpPr>
          <p:cNvPr id="22" name="Rectangle 21"/>
          <p:cNvSpPr/>
          <p:nvPr/>
        </p:nvSpPr>
        <p:spPr>
          <a:xfrm>
            <a:off x="960120" y="2708909"/>
            <a:ext cx="1783080" cy="44577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2777489"/>
            <a:ext cx="1645920" cy="308610"/>
          </a:xfrm>
          <a:prstGeom prst="rect">
            <a:avLst/>
          </a:prstGeom>
          <a:noFill/>
        </p:spPr>
        <p:txBody>
          <a:bodyPr wrap="square" lIns="0" rIns="0" tIns="0" bIns="0" anchor="t">
            <a:spAutoFit/>
          </a:bodyPr>
          <a:lstStyle/>
          <a:p>
            <a:pPr algn="l"/>
            <a:r>
              <a:rPr sz="1200" b="1">
                <a:solidFill>
                  <a:srgbClr val="065A82"/>
                </a:solidFill>
                <a:latin typeface="Calibri"/>
              </a:rPr>
              <a:t>Train</a:t>
            </a:r>
          </a:p>
        </p:txBody>
      </p:sp>
      <p:sp>
        <p:nvSpPr>
          <p:cNvPr id="24" name="TextBox 23"/>
          <p:cNvSpPr txBox="1"/>
          <p:nvPr/>
        </p:nvSpPr>
        <p:spPr>
          <a:xfrm>
            <a:off x="2880360" y="2777489"/>
            <a:ext cx="5829300" cy="308610"/>
          </a:xfrm>
          <a:prstGeom prst="rect">
            <a:avLst/>
          </a:prstGeom>
          <a:noFill/>
        </p:spPr>
        <p:txBody>
          <a:bodyPr wrap="square" lIns="0" rIns="0" tIns="0" bIns="0" anchor="t">
            <a:spAutoFit/>
          </a:bodyPr>
          <a:lstStyle/>
          <a:p>
            <a:pPr algn="l"/>
            <a:r>
              <a:rPr sz="1050" b="0">
                <a:solidFill>
                  <a:srgbClr val="36454F"/>
                </a:solidFill>
                <a:latin typeface="Calibri"/>
              </a:rPr>
              <a:t>Fit a model — or reuse a pre-trained one</a:t>
            </a:r>
          </a:p>
        </p:txBody>
      </p:sp>
      <p:sp>
        <p:nvSpPr>
          <p:cNvPr id="25" name="Rectangle 24"/>
          <p:cNvSpPr/>
          <p:nvPr/>
        </p:nvSpPr>
        <p:spPr>
          <a:xfrm>
            <a:off x="411480" y="3188970"/>
            <a:ext cx="445770" cy="4457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3223260"/>
            <a:ext cx="445770" cy="377190"/>
          </a:xfrm>
          <a:prstGeom prst="rect">
            <a:avLst/>
          </a:prstGeom>
          <a:noFill/>
        </p:spPr>
        <p:txBody>
          <a:bodyPr wrap="square" lIns="0" rIns="0" tIns="0" bIns="0" anchor="t">
            <a:spAutoFit/>
          </a:bodyPr>
          <a:lstStyle/>
          <a:p>
            <a:pPr algn="ctr"/>
            <a:r>
              <a:rPr sz="1800" b="1">
                <a:solidFill>
                  <a:srgbClr val="FFFFFF"/>
                </a:solidFill>
                <a:latin typeface="Trebuchet MS"/>
              </a:rPr>
              <a:t>5</a:t>
            </a:r>
          </a:p>
        </p:txBody>
      </p:sp>
      <p:sp>
        <p:nvSpPr>
          <p:cNvPr id="27" name="Rectangle 26"/>
          <p:cNvSpPr/>
          <p:nvPr/>
        </p:nvSpPr>
        <p:spPr>
          <a:xfrm>
            <a:off x="960120" y="3188970"/>
            <a:ext cx="1783080" cy="44577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3257550"/>
            <a:ext cx="1645920" cy="308610"/>
          </a:xfrm>
          <a:prstGeom prst="rect">
            <a:avLst/>
          </a:prstGeom>
          <a:noFill/>
        </p:spPr>
        <p:txBody>
          <a:bodyPr wrap="square" lIns="0" rIns="0" tIns="0" bIns="0" anchor="t">
            <a:spAutoFit/>
          </a:bodyPr>
          <a:lstStyle/>
          <a:p>
            <a:pPr algn="l"/>
            <a:r>
              <a:rPr sz="1200" b="1">
                <a:solidFill>
                  <a:srgbClr val="065A82"/>
                </a:solidFill>
                <a:latin typeface="Calibri"/>
              </a:rPr>
              <a:t>Evaluate</a:t>
            </a:r>
          </a:p>
        </p:txBody>
      </p:sp>
      <p:sp>
        <p:nvSpPr>
          <p:cNvPr id="29" name="TextBox 28"/>
          <p:cNvSpPr txBox="1"/>
          <p:nvPr/>
        </p:nvSpPr>
        <p:spPr>
          <a:xfrm>
            <a:off x="2880360" y="3257550"/>
            <a:ext cx="5829300" cy="308610"/>
          </a:xfrm>
          <a:prstGeom prst="rect">
            <a:avLst/>
          </a:prstGeom>
          <a:noFill/>
        </p:spPr>
        <p:txBody>
          <a:bodyPr wrap="square" lIns="0" rIns="0" tIns="0" bIns="0" anchor="t">
            <a:spAutoFit/>
          </a:bodyPr>
          <a:lstStyle/>
          <a:p>
            <a:pPr algn="l"/>
            <a:r>
              <a:rPr sz="1050" b="0">
                <a:solidFill>
                  <a:srgbClr val="36454F"/>
                </a:solidFill>
                <a:latin typeface="Calibri"/>
              </a:rPr>
              <a:t>Hold-out test set · look at where it's wrong</a:t>
            </a:r>
          </a:p>
        </p:txBody>
      </p:sp>
      <p:sp>
        <p:nvSpPr>
          <p:cNvPr id="30" name="Rectangle 29"/>
          <p:cNvSpPr/>
          <p:nvPr/>
        </p:nvSpPr>
        <p:spPr>
          <a:xfrm>
            <a:off x="411480" y="3669030"/>
            <a:ext cx="445770" cy="4457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3703320"/>
            <a:ext cx="445770" cy="377190"/>
          </a:xfrm>
          <a:prstGeom prst="rect">
            <a:avLst/>
          </a:prstGeom>
          <a:noFill/>
        </p:spPr>
        <p:txBody>
          <a:bodyPr wrap="square" lIns="0" rIns="0" tIns="0" bIns="0" anchor="t">
            <a:spAutoFit/>
          </a:bodyPr>
          <a:lstStyle/>
          <a:p>
            <a:pPr algn="ctr"/>
            <a:r>
              <a:rPr sz="1800" b="1">
                <a:solidFill>
                  <a:srgbClr val="FFFFFF"/>
                </a:solidFill>
                <a:latin typeface="Trebuchet MS"/>
              </a:rPr>
              <a:t>6</a:t>
            </a:r>
          </a:p>
        </p:txBody>
      </p:sp>
      <p:sp>
        <p:nvSpPr>
          <p:cNvPr id="32" name="Rectangle 31"/>
          <p:cNvSpPr/>
          <p:nvPr/>
        </p:nvSpPr>
        <p:spPr>
          <a:xfrm>
            <a:off x="960120" y="3669030"/>
            <a:ext cx="1783080" cy="44577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3737610"/>
            <a:ext cx="1645920" cy="308610"/>
          </a:xfrm>
          <a:prstGeom prst="rect">
            <a:avLst/>
          </a:prstGeom>
          <a:noFill/>
        </p:spPr>
        <p:txBody>
          <a:bodyPr wrap="square" lIns="0" rIns="0" tIns="0" bIns="0" anchor="t">
            <a:spAutoFit/>
          </a:bodyPr>
          <a:lstStyle/>
          <a:p>
            <a:pPr algn="l"/>
            <a:r>
              <a:rPr sz="1200" b="1">
                <a:solidFill>
                  <a:srgbClr val="065A82"/>
                </a:solidFill>
                <a:latin typeface="Calibri"/>
              </a:rPr>
              <a:t>Deploy</a:t>
            </a:r>
          </a:p>
        </p:txBody>
      </p:sp>
      <p:sp>
        <p:nvSpPr>
          <p:cNvPr id="34" name="TextBox 33"/>
          <p:cNvSpPr txBox="1"/>
          <p:nvPr/>
        </p:nvSpPr>
        <p:spPr>
          <a:xfrm>
            <a:off x="2880360" y="3737610"/>
            <a:ext cx="5829300" cy="308610"/>
          </a:xfrm>
          <a:prstGeom prst="rect">
            <a:avLst/>
          </a:prstGeom>
          <a:noFill/>
        </p:spPr>
        <p:txBody>
          <a:bodyPr wrap="square" lIns="0" rIns="0" tIns="0" bIns="0" anchor="t">
            <a:spAutoFit/>
          </a:bodyPr>
          <a:lstStyle/>
          <a:p>
            <a:pPr algn="l"/>
            <a:r>
              <a:rPr sz="1050" b="0">
                <a:solidFill>
                  <a:srgbClr val="36454F"/>
                </a:solidFill>
                <a:latin typeface="Calibri"/>
              </a:rPr>
              <a:t>Pipeline, dashboard, or API — out of the notebook</a:t>
            </a:r>
          </a:p>
        </p:txBody>
      </p:sp>
      <p:sp>
        <p:nvSpPr>
          <p:cNvPr id="35" name="Rectangle 34"/>
          <p:cNvSpPr/>
          <p:nvPr/>
        </p:nvSpPr>
        <p:spPr>
          <a:xfrm>
            <a:off x="411480" y="4149089"/>
            <a:ext cx="445770" cy="4457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4183379"/>
            <a:ext cx="445770" cy="377190"/>
          </a:xfrm>
          <a:prstGeom prst="rect">
            <a:avLst/>
          </a:prstGeom>
          <a:noFill/>
        </p:spPr>
        <p:txBody>
          <a:bodyPr wrap="square" lIns="0" rIns="0" tIns="0" bIns="0" anchor="t">
            <a:spAutoFit/>
          </a:bodyPr>
          <a:lstStyle/>
          <a:p>
            <a:pPr algn="ctr"/>
            <a:r>
              <a:rPr sz="1800" b="1">
                <a:solidFill>
                  <a:srgbClr val="FFFFFF"/>
                </a:solidFill>
                <a:latin typeface="Trebuchet MS"/>
              </a:rPr>
              <a:t>7</a:t>
            </a:r>
          </a:p>
        </p:txBody>
      </p:sp>
      <p:sp>
        <p:nvSpPr>
          <p:cNvPr id="37" name="Rectangle 36"/>
          <p:cNvSpPr/>
          <p:nvPr/>
        </p:nvSpPr>
        <p:spPr>
          <a:xfrm>
            <a:off x="960120" y="4149089"/>
            <a:ext cx="1783080" cy="44577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4217669"/>
            <a:ext cx="1645920" cy="308610"/>
          </a:xfrm>
          <a:prstGeom prst="rect">
            <a:avLst/>
          </a:prstGeom>
          <a:noFill/>
        </p:spPr>
        <p:txBody>
          <a:bodyPr wrap="square" lIns="0" rIns="0" tIns="0" bIns="0" anchor="t">
            <a:spAutoFit/>
          </a:bodyPr>
          <a:lstStyle/>
          <a:p>
            <a:pPr algn="l"/>
            <a:r>
              <a:rPr sz="1200" b="1">
                <a:solidFill>
                  <a:srgbClr val="065A82"/>
                </a:solidFill>
                <a:latin typeface="Calibri"/>
              </a:rPr>
              <a:t>Monitor</a:t>
            </a:r>
          </a:p>
        </p:txBody>
      </p:sp>
      <p:sp>
        <p:nvSpPr>
          <p:cNvPr id="39" name="TextBox 38"/>
          <p:cNvSpPr txBox="1"/>
          <p:nvPr/>
        </p:nvSpPr>
        <p:spPr>
          <a:xfrm>
            <a:off x="2880360" y="4217669"/>
            <a:ext cx="5829300" cy="308610"/>
          </a:xfrm>
          <a:prstGeom prst="rect">
            <a:avLst/>
          </a:prstGeom>
          <a:noFill/>
        </p:spPr>
        <p:txBody>
          <a:bodyPr wrap="square" lIns="0" rIns="0" tIns="0" bIns="0" anchor="t">
            <a:spAutoFit/>
          </a:bodyPr>
          <a:lstStyle/>
          <a:p>
            <a:pPr algn="l"/>
            <a:r>
              <a:rPr sz="1050" b="0">
                <a:solidFill>
                  <a:srgbClr val="36454F"/>
                </a:solidFill>
                <a:latin typeface="Calibri"/>
              </a:rPr>
              <a:t>The world changes; the model decays</a:t>
            </a:r>
          </a:p>
        </p:txBody>
      </p:sp>
      <p:pic>
        <p:nvPicPr>
          <p:cNvPr id="41" name="Picture 4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Where the Time Actually Goes</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60-70% of a real project is BEFORE modelling</a:t>
            </a:r>
          </a:p>
        </p:txBody>
      </p:sp>
      <p:sp>
        <p:nvSpPr>
          <p:cNvPr id="5" name="TextBox 4"/>
          <p:cNvSpPr txBox="1"/>
          <p:nvPr/>
        </p:nvSpPr>
        <p:spPr>
          <a:xfrm>
            <a:off x="411480" y="1440180"/>
            <a:ext cx="1303020" cy="274320"/>
          </a:xfrm>
          <a:prstGeom prst="rect">
            <a:avLst/>
          </a:prstGeom>
          <a:noFill/>
        </p:spPr>
        <p:txBody>
          <a:bodyPr wrap="square" lIns="0" rIns="0" tIns="0" bIns="0" anchor="t">
            <a:spAutoFit/>
          </a:bodyPr>
          <a:lstStyle/>
          <a:p>
            <a:pPr algn="l"/>
            <a:r>
              <a:rPr sz="1200" b="1">
                <a:solidFill>
                  <a:srgbClr val="065A82"/>
                </a:solidFill>
                <a:latin typeface="Calibri"/>
              </a:rPr>
              <a:t>Steps 1-3</a:t>
            </a:r>
          </a:p>
        </p:txBody>
      </p:sp>
      <p:sp>
        <p:nvSpPr>
          <p:cNvPr id="6" name="TextBox 5"/>
          <p:cNvSpPr txBox="1"/>
          <p:nvPr/>
        </p:nvSpPr>
        <p:spPr>
          <a:xfrm>
            <a:off x="411480" y="1714500"/>
            <a:ext cx="1303020" cy="274320"/>
          </a:xfrm>
          <a:prstGeom prst="rect">
            <a:avLst/>
          </a:prstGeom>
          <a:noFill/>
        </p:spPr>
        <p:txBody>
          <a:bodyPr wrap="square" lIns="0" rIns="0" tIns="0" bIns="0" anchor="t">
            <a:spAutoFit/>
          </a:bodyPr>
          <a:lstStyle/>
          <a:p>
            <a:pPr algn="l"/>
            <a:r>
              <a:rPr sz="825" b="0">
                <a:solidFill>
                  <a:srgbClr val="36454F"/>
                </a:solidFill>
                <a:latin typeface="Calibri"/>
              </a:rPr>
              <a:t>Framing · Collect · Clean</a:t>
            </a:r>
          </a:p>
        </p:txBody>
      </p:sp>
      <p:sp>
        <p:nvSpPr>
          <p:cNvPr id="7" name="Rectangle 6"/>
          <p:cNvSpPr/>
          <p:nvPr/>
        </p:nvSpPr>
        <p:spPr>
          <a:xfrm>
            <a:off x="1714500" y="1371600"/>
            <a:ext cx="5829300" cy="6858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714500" y="1371600"/>
            <a:ext cx="3789045" cy="685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40705" y="1508760"/>
            <a:ext cx="1371600" cy="411480"/>
          </a:xfrm>
          <a:prstGeom prst="rect">
            <a:avLst/>
          </a:prstGeom>
          <a:noFill/>
        </p:spPr>
        <p:txBody>
          <a:bodyPr wrap="square" lIns="0" rIns="0" tIns="0" bIns="0" anchor="t">
            <a:spAutoFit/>
          </a:bodyPr>
          <a:lstStyle/>
          <a:p>
            <a:pPr algn="l"/>
            <a:r>
              <a:rPr sz="1800" b="1">
                <a:solidFill>
                  <a:srgbClr val="065A82"/>
                </a:solidFill>
                <a:latin typeface="Trebuchet MS"/>
              </a:rPr>
              <a:t>65%</a:t>
            </a:r>
          </a:p>
        </p:txBody>
      </p:sp>
      <p:sp>
        <p:nvSpPr>
          <p:cNvPr id="10" name="TextBox 9"/>
          <p:cNvSpPr txBox="1"/>
          <p:nvPr/>
        </p:nvSpPr>
        <p:spPr>
          <a:xfrm>
            <a:off x="411480" y="2468880"/>
            <a:ext cx="1303020" cy="274320"/>
          </a:xfrm>
          <a:prstGeom prst="rect">
            <a:avLst/>
          </a:prstGeom>
          <a:noFill/>
        </p:spPr>
        <p:txBody>
          <a:bodyPr wrap="square" lIns="0" rIns="0" tIns="0" bIns="0" anchor="t">
            <a:spAutoFit/>
          </a:bodyPr>
          <a:lstStyle/>
          <a:p>
            <a:pPr algn="l"/>
            <a:r>
              <a:rPr sz="1200" b="1">
                <a:solidFill>
                  <a:srgbClr val="065A82"/>
                </a:solidFill>
                <a:latin typeface="Calibri"/>
              </a:rPr>
              <a:t>Steps 4-5</a:t>
            </a:r>
          </a:p>
        </p:txBody>
      </p:sp>
      <p:sp>
        <p:nvSpPr>
          <p:cNvPr id="11" name="TextBox 10"/>
          <p:cNvSpPr txBox="1"/>
          <p:nvPr/>
        </p:nvSpPr>
        <p:spPr>
          <a:xfrm>
            <a:off x="411480" y="2743200"/>
            <a:ext cx="1303020" cy="274320"/>
          </a:xfrm>
          <a:prstGeom prst="rect">
            <a:avLst/>
          </a:prstGeom>
          <a:noFill/>
        </p:spPr>
        <p:txBody>
          <a:bodyPr wrap="square" lIns="0" rIns="0" tIns="0" bIns="0" anchor="t">
            <a:spAutoFit/>
          </a:bodyPr>
          <a:lstStyle/>
          <a:p>
            <a:pPr algn="l"/>
            <a:r>
              <a:rPr sz="825" b="0">
                <a:solidFill>
                  <a:srgbClr val="36454F"/>
                </a:solidFill>
                <a:latin typeface="Calibri"/>
              </a:rPr>
              <a:t>Train · Evaluate</a:t>
            </a:r>
          </a:p>
        </p:txBody>
      </p:sp>
      <p:sp>
        <p:nvSpPr>
          <p:cNvPr id="12" name="Rectangle 11"/>
          <p:cNvSpPr/>
          <p:nvPr/>
        </p:nvSpPr>
        <p:spPr>
          <a:xfrm>
            <a:off x="1714500" y="2400300"/>
            <a:ext cx="5829300" cy="6858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714500" y="2400300"/>
            <a:ext cx="874395"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26055" y="2537460"/>
            <a:ext cx="1371600" cy="411480"/>
          </a:xfrm>
          <a:prstGeom prst="rect">
            <a:avLst/>
          </a:prstGeom>
          <a:noFill/>
        </p:spPr>
        <p:txBody>
          <a:bodyPr wrap="square" lIns="0" rIns="0" tIns="0" bIns="0" anchor="t">
            <a:spAutoFit/>
          </a:bodyPr>
          <a:lstStyle/>
          <a:p>
            <a:pPr algn="l"/>
            <a:r>
              <a:rPr sz="1800" b="1">
                <a:solidFill>
                  <a:srgbClr val="1C7293"/>
                </a:solidFill>
                <a:latin typeface="Trebuchet MS"/>
              </a:rPr>
              <a:t>15%</a:t>
            </a:r>
          </a:p>
        </p:txBody>
      </p:sp>
      <p:sp>
        <p:nvSpPr>
          <p:cNvPr id="15" name="TextBox 14"/>
          <p:cNvSpPr txBox="1"/>
          <p:nvPr/>
        </p:nvSpPr>
        <p:spPr>
          <a:xfrm>
            <a:off x="411480" y="3497580"/>
            <a:ext cx="1303020" cy="274320"/>
          </a:xfrm>
          <a:prstGeom prst="rect">
            <a:avLst/>
          </a:prstGeom>
          <a:noFill/>
        </p:spPr>
        <p:txBody>
          <a:bodyPr wrap="square" lIns="0" rIns="0" tIns="0" bIns="0" anchor="t">
            <a:spAutoFit/>
          </a:bodyPr>
          <a:lstStyle/>
          <a:p>
            <a:pPr algn="l"/>
            <a:r>
              <a:rPr sz="1200" b="1">
                <a:solidFill>
                  <a:srgbClr val="065A82"/>
                </a:solidFill>
                <a:latin typeface="Calibri"/>
              </a:rPr>
              <a:t>Steps 6-7</a:t>
            </a:r>
          </a:p>
        </p:txBody>
      </p:sp>
      <p:sp>
        <p:nvSpPr>
          <p:cNvPr id="16" name="TextBox 15"/>
          <p:cNvSpPr txBox="1"/>
          <p:nvPr/>
        </p:nvSpPr>
        <p:spPr>
          <a:xfrm>
            <a:off x="411480" y="3771900"/>
            <a:ext cx="1303020" cy="274320"/>
          </a:xfrm>
          <a:prstGeom prst="rect">
            <a:avLst/>
          </a:prstGeom>
          <a:noFill/>
        </p:spPr>
        <p:txBody>
          <a:bodyPr wrap="square" lIns="0" rIns="0" tIns="0" bIns="0" anchor="t">
            <a:spAutoFit/>
          </a:bodyPr>
          <a:lstStyle/>
          <a:p>
            <a:pPr algn="l"/>
            <a:r>
              <a:rPr sz="825" b="0">
                <a:solidFill>
                  <a:srgbClr val="36454F"/>
                </a:solidFill>
                <a:latin typeface="Calibri"/>
              </a:rPr>
              <a:t>Deploy · Monitor</a:t>
            </a:r>
          </a:p>
        </p:txBody>
      </p:sp>
      <p:sp>
        <p:nvSpPr>
          <p:cNvPr id="17" name="Rectangle 16"/>
          <p:cNvSpPr/>
          <p:nvPr/>
        </p:nvSpPr>
        <p:spPr>
          <a:xfrm>
            <a:off x="1714500" y="3429000"/>
            <a:ext cx="5829300" cy="6858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714500" y="3429000"/>
            <a:ext cx="1165860" cy="6858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7520" y="3566160"/>
            <a:ext cx="1371600" cy="411480"/>
          </a:xfrm>
          <a:prstGeom prst="rect">
            <a:avLst/>
          </a:prstGeom>
          <a:noFill/>
        </p:spPr>
        <p:txBody>
          <a:bodyPr wrap="square" lIns="0" rIns="0" tIns="0" bIns="0" anchor="t">
            <a:spAutoFit/>
          </a:bodyPr>
          <a:lstStyle/>
          <a:p>
            <a:pPr algn="l"/>
            <a:r>
              <a:rPr sz="1800" b="1">
                <a:solidFill>
                  <a:srgbClr val="F96167"/>
                </a:solidFill>
                <a:latin typeface="Trebuchet MS"/>
              </a:rPr>
              <a:t>20%</a:t>
            </a:r>
          </a:p>
        </p:txBody>
      </p:sp>
      <p:pic>
        <p:nvPicPr>
          <p:cNvPr id="23" name="Picture 22"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The 7 Steps — Cheatsheet</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What happens · where beginners get stuck</a:t>
            </a:r>
          </a:p>
        </p:txBody>
      </p:sp>
      <p:sp>
        <p:nvSpPr>
          <p:cNvPr id="5" name="Rectangle 4"/>
          <p:cNvSpPr/>
          <p:nvPr/>
        </p:nvSpPr>
        <p:spPr>
          <a:xfrm>
            <a:off x="411480" y="1200150"/>
            <a:ext cx="1508760" cy="30861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20240" y="1200150"/>
            <a:ext cx="3703320" cy="30861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23559" y="1200150"/>
            <a:ext cx="3086100" cy="30861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55014"/>
            <a:ext cx="1371600" cy="274320"/>
          </a:xfrm>
          <a:prstGeom prst="rect">
            <a:avLst/>
          </a:prstGeom>
          <a:noFill/>
        </p:spPr>
        <p:txBody>
          <a:bodyPr wrap="square" lIns="0" rIns="0" tIns="0" bIns="0" anchor="t">
            <a:spAutoFit/>
          </a:bodyPr>
          <a:lstStyle/>
          <a:p>
            <a:pPr algn="l"/>
            <a:r>
              <a:rPr sz="1050" b="1">
                <a:solidFill>
                  <a:srgbClr val="FFFFFF"/>
                </a:solidFill>
                <a:latin typeface="Calibri"/>
              </a:rPr>
              <a:t>Step</a:t>
            </a:r>
          </a:p>
        </p:txBody>
      </p:sp>
      <p:sp>
        <p:nvSpPr>
          <p:cNvPr id="9" name="TextBox 8"/>
          <p:cNvSpPr txBox="1"/>
          <p:nvPr/>
        </p:nvSpPr>
        <p:spPr>
          <a:xfrm>
            <a:off x="2057400" y="1255014"/>
            <a:ext cx="3566160" cy="274320"/>
          </a:xfrm>
          <a:prstGeom prst="rect">
            <a:avLst/>
          </a:prstGeom>
          <a:noFill/>
        </p:spPr>
        <p:txBody>
          <a:bodyPr wrap="square" lIns="0" rIns="0" tIns="0" bIns="0" anchor="t">
            <a:spAutoFit/>
          </a:bodyPr>
          <a:lstStyle/>
          <a:p>
            <a:pPr algn="l"/>
            <a:r>
              <a:rPr sz="1050" b="1">
                <a:solidFill>
                  <a:srgbClr val="FFFFFF"/>
                </a:solidFill>
                <a:latin typeface="Calibri"/>
              </a:rPr>
              <a:t>What happens</a:t>
            </a:r>
          </a:p>
        </p:txBody>
      </p:sp>
      <p:sp>
        <p:nvSpPr>
          <p:cNvPr id="10" name="TextBox 9"/>
          <p:cNvSpPr txBox="1"/>
          <p:nvPr/>
        </p:nvSpPr>
        <p:spPr>
          <a:xfrm>
            <a:off x="5760720" y="1255014"/>
            <a:ext cx="2948940" cy="274320"/>
          </a:xfrm>
          <a:prstGeom prst="rect">
            <a:avLst/>
          </a:prstGeom>
          <a:noFill/>
        </p:spPr>
        <p:txBody>
          <a:bodyPr wrap="square" lIns="0" rIns="0" tIns="0" bIns="0" anchor="t">
            <a:spAutoFit/>
          </a:bodyPr>
          <a:lstStyle/>
          <a:p>
            <a:pPr algn="l"/>
            <a:r>
              <a:rPr sz="1050" b="1">
                <a:solidFill>
                  <a:srgbClr val="FFFFFF"/>
                </a:solidFill>
                <a:latin typeface="Calibri"/>
              </a:rPr>
              <a:t>Where beginners get stuck</a:t>
            </a:r>
          </a:p>
        </p:txBody>
      </p:sp>
      <p:sp>
        <p:nvSpPr>
          <p:cNvPr id="11" name="Rectangle 10"/>
          <p:cNvSpPr/>
          <p:nvPr/>
        </p:nvSpPr>
        <p:spPr>
          <a:xfrm>
            <a:off x="411480" y="1543050"/>
            <a:ext cx="150876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20240" y="1543050"/>
            <a:ext cx="370332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23559" y="1543050"/>
            <a:ext cx="308610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645920"/>
            <a:ext cx="1371600" cy="274320"/>
          </a:xfrm>
          <a:prstGeom prst="rect">
            <a:avLst/>
          </a:prstGeom>
          <a:noFill/>
        </p:spPr>
        <p:txBody>
          <a:bodyPr wrap="square" lIns="0" rIns="0" tIns="0" bIns="0" anchor="t">
            <a:spAutoFit/>
          </a:bodyPr>
          <a:lstStyle/>
          <a:p>
            <a:pPr algn="l"/>
            <a:r>
              <a:rPr sz="975" b="1">
                <a:solidFill>
                  <a:srgbClr val="065A82"/>
                </a:solidFill>
                <a:latin typeface="Calibri"/>
              </a:rPr>
              <a:t>1. Frame</a:t>
            </a:r>
          </a:p>
        </p:txBody>
      </p:sp>
      <p:sp>
        <p:nvSpPr>
          <p:cNvPr id="15" name="TextBox 14"/>
          <p:cNvSpPr txBox="1"/>
          <p:nvPr/>
        </p:nvSpPr>
        <p:spPr>
          <a:xfrm>
            <a:off x="2057400" y="1645920"/>
            <a:ext cx="3566160" cy="274320"/>
          </a:xfrm>
          <a:prstGeom prst="rect">
            <a:avLst/>
          </a:prstGeom>
          <a:noFill/>
        </p:spPr>
        <p:txBody>
          <a:bodyPr wrap="square" lIns="0" rIns="0" tIns="0" bIns="0" anchor="t">
            <a:spAutoFit/>
          </a:bodyPr>
          <a:lstStyle/>
          <a:p>
            <a:pPr algn="l"/>
            <a:r>
              <a:rPr sz="900" b="0">
                <a:solidFill>
                  <a:srgbClr val="36454F"/>
                </a:solidFill>
                <a:latin typeface="Calibri"/>
              </a:rPr>
              <a:t>Business question, success metric, cost of wrongness</a:t>
            </a:r>
          </a:p>
        </p:txBody>
      </p:sp>
      <p:sp>
        <p:nvSpPr>
          <p:cNvPr id="16" name="TextBox 15"/>
          <p:cNvSpPr txBox="1"/>
          <p:nvPr/>
        </p:nvSpPr>
        <p:spPr>
          <a:xfrm>
            <a:off x="5760720" y="1645920"/>
            <a:ext cx="2948940" cy="274320"/>
          </a:xfrm>
          <a:prstGeom prst="rect">
            <a:avLst/>
          </a:prstGeom>
          <a:noFill/>
        </p:spPr>
        <p:txBody>
          <a:bodyPr wrap="square" lIns="0" rIns="0" tIns="0" bIns="0" anchor="t">
            <a:spAutoFit/>
          </a:bodyPr>
          <a:lstStyle/>
          <a:p>
            <a:pPr algn="l"/>
            <a:r>
              <a:rPr sz="900" b="0">
                <a:solidFill>
                  <a:srgbClr val="F96167"/>
                </a:solidFill>
                <a:latin typeface="Calibri"/>
              </a:rPr>
              <a:t>Skipping it entirely</a:t>
            </a:r>
          </a:p>
        </p:txBody>
      </p:sp>
      <p:sp>
        <p:nvSpPr>
          <p:cNvPr id="17" name="Rectangle 16"/>
          <p:cNvSpPr/>
          <p:nvPr/>
        </p:nvSpPr>
        <p:spPr>
          <a:xfrm>
            <a:off x="411480" y="1988820"/>
            <a:ext cx="150876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920240" y="1988820"/>
            <a:ext cx="370332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23559" y="1988820"/>
            <a:ext cx="30861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091690"/>
            <a:ext cx="1371600" cy="274320"/>
          </a:xfrm>
          <a:prstGeom prst="rect">
            <a:avLst/>
          </a:prstGeom>
          <a:noFill/>
        </p:spPr>
        <p:txBody>
          <a:bodyPr wrap="square" lIns="0" rIns="0" tIns="0" bIns="0" anchor="t">
            <a:spAutoFit/>
          </a:bodyPr>
          <a:lstStyle/>
          <a:p>
            <a:pPr algn="l"/>
            <a:r>
              <a:rPr sz="975" b="1">
                <a:solidFill>
                  <a:srgbClr val="065A82"/>
                </a:solidFill>
                <a:latin typeface="Calibri"/>
              </a:rPr>
              <a:t>2. Collect</a:t>
            </a:r>
          </a:p>
        </p:txBody>
      </p:sp>
      <p:sp>
        <p:nvSpPr>
          <p:cNvPr id="21" name="TextBox 20"/>
          <p:cNvSpPr txBox="1"/>
          <p:nvPr/>
        </p:nvSpPr>
        <p:spPr>
          <a:xfrm>
            <a:off x="2057400" y="2091690"/>
            <a:ext cx="3566160" cy="274320"/>
          </a:xfrm>
          <a:prstGeom prst="rect">
            <a:avLst/>
          </a:prstGeom>
          <a:noFill/>
        </p:spPr>
        <p:txBody>
          <a:bodyPr wrap="square" lIns="0" rIns="0" tIns="0" bIns="0" anchor="t">
            <a:spAutoFit/>
          </a:bodyPr>
          <a:lstStyle/>
          <a:p>
            <a:pPr algn="l"/>
            <a:r>
              <a:rPr sz="900" b="0">
                <a:solidFill>
                  <a:srgbClr val="36454F"/>
                </a:solidFill>
                <a:latin typeface="Calibri"/>
              </a:rPr>
              <a:t>Gather features (and labels, if training)</a:t>
            </a:r>
          </a:p>
        </p:txBody>
      </p:sp>
      <p:sp>
        <p:nvSpPr>
          <p:cNvPr id="22" name="TextBox 21"/>
          <p:cNvSpPr txBox="1"/>
          <p:nvPr/>
        </p:nvSpPr>
        <p:spPr>
          <a:xfrm>
            <a:off x="5760720" y="2091690"/>
            <a:ext cx="2948940" cy="274320"/>
          </a:xfrm>
          <a:prstGeom prst="rect">
            <a:avLst/>
          </a:prstGeom>
          <a:noFill/>
        </p:spPr>
        <p:txBody>
          <a:bodyPr wrap="square" lIns="0" rIns="0" tIns="0" bIns="0" anchor="t">
            <a:spAutoFit/>
          </a:bodyPr>
          <a:lstStyle/>
          <a:p>
            <a:pPr algn="l"/>
            <a:r>
              <a:rPr sz="900" b="0">
                <a:solidFill>
                  <a:srgbClr val="F96167"/>
                </a:solidFill>
                <a:latin typeface="Calibri"/>
              </a:rPr>
              <a:t>Assuming data exists when it doesn't</a:t>
            </a:r>
          </a:p>
        </p:txBody>
      </p:sp>
      <p:sp>
        <p:nvSpPr>
          <p:cNvPr id="23" name="Rectangle 22"/>
          <p:cNvSpPr/>
          <p:nvPr/>
        </p:nvSpPr>
        <p:spPr>
          <a:xfrm>
            <a:off x="411480" y="2434590"/>
            <a:ext cx="150876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920240" y="2434590"/>
            <a:ext cx="370332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23559" y="2434590"/>
            <a:ext cx="308610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2537460"/>
            <a:ext cx="1371600" cy="274320"/>
          </a:xfrm>
          <a:prstGeom prst="rect">
            <a:avLst/>
          </a:prstGeom>
          <a:noFill/>
        </p:spPr>
        <p:txBody>
          <a:bodyPr wrap="square" lIns="0" rIns="0" tIns="0" bIns="0" anchor="t">
            <a:spAutoFit/>
          </a:bodyPr>
          <a:lstStyle/>
          <a:p>
            <a:pPr algn="l"/>
            <a:r>
              <a:rPr sz="975" b="1">
                <a:solidFill>
                  <a:srgbClr val="065A82"/>
                </a:solidFill>
                <a:latin typeface="Calibri"/>
              </a:rPr>
              <a:t>3. Clean</a:t>
            </a:r>
          </a:p>
        </p:txBody>
      </p:sp>
      <p:sp>
        <p:nvSpPr>
          <p:cNvPr id="27" name="TextBox 26"/>
          <p:cNvSpPr txBox="1"/>
          <p:nvPr/>
        </p:nvSpPr>
        <p:spPr>
          <a:xfrm>
            <a:off x="2057400" y="2537460"/>
            <a:ext cx="3566160" cy="274320"/>
          </a:xfrm>
          <a:prstGeom prst="rect">
            <a:avLst/>
          </a:prstGeom>
          <a:noFill/>
        </p:spPr>
        <p:txBody>
          <a:bodyPr wrap="square" lIns="0" rIns="0" tIns="0" bIns="0" anchor="t">
            <a:spAutoFit/>
          </a:bodyPr>
          <a:lstStyle/>
          <a:p>
            <a:pPr algn="l"/>
            <a:r>
              <a:rPr sz="900" b="0">
                <a:solidFill>
                  <a:srgbClr val="36454F"/>
                </a:solidFill>
                <a:latin typeface="Calibri"/>
              </a:rPr>
              <a:t>Fix missing, remove duplicates, check for bias</a:t>
            </a:r>
          </a:p>
        </p:txBody>
      </p:sp>
      <p:sp>
        <p:nvSpPr>
          <p:cNvPr id="28" name="TextBox 27"/>
          <p:cNvSpPr txBox="1"/>
          <p:nvPr/>
        </p:nvSpPr>
        <p:spPr>
          <a:xfrm>
            <a:off x="5760720" y="2537460"/>
            <a:ext cx="2948940" cy="274320"/>
          </a:xfrm>
          <a:prstGeom prst="rect">
            <a:avLst/>
          </a:prstGeom>
          <a:noFill/>
        </p:spPr>
        <p:txBody>
          <a:bodyPr wrap="square" lIns="0" rIns="0" tIns="0" bIns="0" anchor="t">
            <a:spAutoFit/>
          </a:bodyPr>
          <a:lstStyle/>
          <a:p>
            <a:pPr algn="l"/>
            <a:r>
              <a:rPr sz="900" b="0">
                <a:solidFill>
                  <a:srgbClr val="F96167"/>
                </a:solidFill>
                <a:latin typeface="Calibri"/>
              </a:rPr>
              <a:t>Underestimating how long this takes</a:t>
            </a:r>
          </a:p>
        </p:txBody>
      </p:sp>
      <p:sp>
        <p:nvSpPr>
          <p:cNvPr id="29" name="Rectangle 28"/>
          <p:cNvSpPr/>
          <p:nvPr/>
        </p:nvSpPr>
        <p:spPr>
          <a:xfrm>
            <a:off x="411480" y="2880360"/>
            <a:ext cx="150876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920240" y="2880360"/>
            <a:ext cx="370332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23559" y="2880360"/>
            <a:ext cx="30861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2983230"/>
            <a:ext cx="1371600" cy="274320"/>
          </a:xfrm>
          <a:prstGeom prst="rect">
            <a:avLst/>
          </a:prstGeom>
          <a:noFill/>
        </p:spPr>
        <p:txBody>
          <a:bodyPr wrap="square" lIns="0" rIns="0" tIns="0" bIns="0" anchor="t">
            <a:spAutoFit/>
          </a:bodyPr>
          <a:lstStyle/>
          <a:p>
            <a:pPr algn="l"/>
            <a:r>
              <a:rPr sz="975" b="1">
                <a:solidFill>
                  <a:srgbClr val="065A82"/>
                </a:solidFill>
                <a:latin typeface="Calibri"/>
              </a:rPr>
              <a:t>4. Train</a:t>
            </a:r>
          </a:p>
        </p:txBody>
      </p:sp>
      <p:sp>
        <p:nvSpPr>
          <p:cNvPr id="33" name="TextBox 32"/>
          <p:cNvSpPr txBox="1"/>
          <p:nvPr/>
        </p:nvSpPr>
        <p:spPr>
          <a:xfrm>
            <a:off x="2057400" y="2983230"/>
            <a:ext cx="3566160" cy="274320"/>
          </a:xfrm>
          <a:prstGeom prst="rect">
            <a:avLst/>
          </a:prstGeom>
          <a:noFill/>
        </p:spPr>
        <p:txBody>
          <a:bodyPr wrap="square" lIns="0" rIns="0" tIns="0" bIns="0" anchor="t">
            <a:spAutoFit/>
          </a:bodyPr>
          <a:lstStyle/>
          <a:p>
            <a:pPr algn="l"/>
            <a:r>
              <a:rPr sz="900" b="0">
                <a:solidFill>
                  <a:srgbClr val="36454F"/>
                </a:solidFill>
                <a:latin typeface="Calibri"/>
              </a:rPr>
              <a:t>Fit a model — or reuse a pre-trained one</a:t>
            </a:r>
          </a:p>
        </p:txBody>
      </p:sp>
      <p:sp>
        <p:nvSpPr>
          <p:cNvPr id="34" name="TextBox 33"/>
          <p:cNvSpPr txBox="1"/>
          <p:nvPr/>
        </p:nvSpPr>
        <p:spPr>
          <a:xfrm>
            <a:off x="5760720" y="2983230"/>
            <a:ext cx="2948940" cy="274320"/>
          </a:xfrm>
          <a:prstGeom prst="rect">
            <a:avLst/>
          </a:prstGeom>
          <a:noFill/>
        </p:spPr>
        <p:txBody>
          <a:bodyPr wrap="square" lIns="0" rIns="0" tIns="0" bIns="0" anchor="t">
            <a:spAutoFit/>
          </a:bodyPr>
          <a:lstStyle/>
          <a:p>
            <a:pPr algn="l"/>
            <a:r>
              <a:rPr sz="900" b="0">
                <a:solidFill>
                  <a:srgbClr val="F96167"/>
                </a:solidFill>
                <a:latin typeface="Calibri"/>
              </a:rPr>
              <a:t>Training from scratch when one exists</a:t>
            </a:r>
          </a:p>
        </p:txBody>
      </p:sp>
      <p:sp>
        <p:nvSpPr>
          <p:cNvPr id="35" name="Rectangle 34"/>
          <p:cNvSpPr/>
          <p:nvPr/>
        </p:nvSpPr>
        <p:spPr>
          <a:xfrm>
            <a:off x="411480" y="3326130"/>
            <a:ext cx="150876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920240" y="3326130"/>
            <a:ext cx="370332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23559" y="3326130"/>
            <a:ext cx="308610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3429000"/>
            <a:ext cx="1371600" cy="274320"/>
          </a:xfrm>
          <a:prstGeom prst="rect">
            <a:avLst/>
          </a:prstGeom>
          <a:noFill/>
        </p:spPr>
        <p:txBody>
          <a:bodyPr wrap="square" lIns="0" rIns="0" tIns="0" bIns="0" anchor="t">
            <a:spAutoFit/>
          </a:bodyPr>
          <a:lstStyle/>
          <a:p>
            <a:pPr algn="l"/>
            <a:r>
              <a:rPr sz="975" b="1">
                <a:solidFill>
                  <a:srgbClr val="065A82"/>
                </a:solidFill>
                <a:latin typeface="Calibri"/>
              </a:rPr>
              <a:t>5. Evaluate</a:t>
            </a:r>
          </a:p>
        </p:txBody>
      </p:sp>
      <p:sp>
        <p:nvSpPr>
          <p:cNvPr id="39" name="TextBox 38"/>
          <p:cNvSpPr txBox="1"/>
          <p:nvPr/>
        </p:nvSpPr>
        <p:spPr>
          <a:xfrm>
            <a:off x="2057400" y="3429000"/>
            <a:ext cx="3566160" cy="274320"/>
          </a:xfrm>
          <a:prstGeom prst="rect">
            <a:avLst/>
          </a:prstGeom>
          <a:noFill/>
        </p:spPr>
        <p:txBody>
          <a:bodyPr wrap="square" lIns="0" rIns="0" tIns="0" bIns="0" anchor="t">
            <a:spAutoFit/>
          </a:bodyPr>
          <a:lstStyle/>
          <a:p>
            <a:pPr algn="l"/>
            <a:r>
              <a:rPr sz="900" b="0">
                <a:solidFill>
                  <a:srgbClr val="36454F"/>
                </a:solidFill>
                <a:latin typeface="Calibri"/>
              </a:rPr>
              <a:t>Hold-out test · check WHERE it's wrong</a:t>
            </a:r>
          </a:p>
        </p:txBody>
      </p:sp>
      <p:sp>
        <p:nvSpPr>
          <p:cNvPr id="40" name="TextBox 39"/>
          <p:cNvSpPr txBox="1"/>
          <p:nvPr/>
        </p:nvSpPr>
        <p:spPr>
          <a:xfrm>
            <a:off x="5760720" y="3429000"/>
            <a:ext cx="2948940" cy="274320"/>
          </a:xfrm>
          <a:prstGeom prst="rect">
            <a:avLst/>
          </a:prstGeom>
          <a:noFill/>
        </p:spPr>
        <p:txBody>
          <a:bodyPr wrap="square" lIns="0" rIns="0" tIns="0" bIns="0" anchor="t">
            <a:spAutoFit/>
          </a:bodyPr>
          <a:lstStyle/>
          <a:p>
            <a:pPr algn="l"/>
            <a:r>
              <a:rPr sz="900" b="0">
                <a:solidFill>
                  <a:srgbClr val="F96167"/>
                </a:solidFill>
                <a:latin typeface="Calibri"/>
              </a:rPr>
              <a:t>Reporting one accuracy number</a:t>
            </a:r>
          </a:p>
        </p:txBody>
      </p:sp>
      <p:sp>
        <p:nvSpPr>
          <p:cNvPr id="41" name="Rectangle 40"/>
          <p:cNvSpPr/>
          <p:nvPr/>
        </p:nvSpPr>
        <p:spPr>
          <a:xfrm>
            <a:off x="411480" y="3771900"/>
            <a:ext cx="150876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20240" y="3771900"/>
            <a:ext cx="370332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23559" y="3771900"/>
            <a:ext cx="30861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3874770"/>
            <a:ext cx="1371600" cy="274320"/>
          </a:xfrm>
          <a:prstGeom prst="rect">
            <a:avLst/>
          </a:prstGeom>
          <a:noFill/>
        </p:spPr>
        <p:txBody>
          <a:bodyPr wrap="square" lIns="0" rIns="0" tIns="0" bIns="0" anchor="t">
            <a:spAutoFit/>
          </a:bodyPr>
          <a:lstStyle/>
          <a:p>
            <a:pPr algn="l"/>
            <a:r>
              <a:rPr sz="975" b="1">
                <a:solidFill>
                  <a:srgbClr val="065A82"/>
                </a:solidFill>
                <a:latin typeface="Calibri"/>
              </a:rPr>
              <a:t>6. Deploy</a:t>
            </a:r>
          </a:p>
        </p:txBody>
      </p:sp>
      <p:sp>
        <p:nvSpPr>
          <p:cNvPr id="45" name="TextBox 44"/>
          <p:cNvSpPr txBox="1"/>
          <p:nvPr/>
        </p:nvSpPr>
        <p:spPr>
          <a:xfrm>
            <a:off x="2057400" y="3874770"/>
            <a:ext cx="3566160" cy="274320"/>
          </a:xfrm>
          <a:prstGeom prst="rect">
            <a:avLst/>
          </a:prstGeom>
          <a:noFill/>
        </p:spPr>
        <p:txBody>
          <a:bodyPr wrap="square" lIns="0" rIns="0" tIns="0" bIns="0" anchor="t">
            <a:spAutoFit/>
          </a:bodyPr>
          <a:lstStyle/>
          <a:p>
            <a:pPr algn="l"/>
            <a:r>
              <a:rPr sz="900" b="0">
                <a:solidFill>
                  <a:srgbClr val="36454F"/>
                </a:solidFill>
                <a:latin typeface="Calibri"/>
              </a:rPr>
              <a:t>Pipeline · dashboard · API</a:t>
            </a:r>
          </a:p>
        </p:txBody>
      </p:sp>
      <p:sp>
        <p:nvSpPr>
          <p:cNvPr id="46" name="TextBox 45"/>
          <p:cNvSpPr txBox="1"/>
          <p:nvPr/>
        </p:nvSpPr>
        <p:spPr>
          <a:xfrm>
            <a:off x="5760720" y="3874770"/>
            <a:ext cx="2948940" cy="274320"/>
          </a:xfrm>
          <a:prstGeom prst="rect">
            <a:avLst/>
          </a:prstGeom>
          <a:noFill/>
        </p:spPr>
        <p:txBody>
          <a:bodyPr wrap="square" lIns="0" rIns="0" tIns="0" bIns="0" anchor="t">
            <a:spAutoFit/>
          </a:bodyPr>
          <a:lstStyle/>
          <a:p>
            <a:pPr algn="l"/>
            <a:r>
              <a:rPr sz="900" b="0">
                <a:solidFill>
                  <a:srgbClr val="F96167"/>
                </a:solidFill>
                <a:latin typeface="Calibri"/>
              </a:rPr>
              <a:t>Leaving the model stuck in a notebook</a:t>
            </a:r>
          </a:p>
        </p:txBody>
      </p:sp>
      <p:sp>
        <p:nvSpPr>
          <p:cNvPr id="47" name="Rectangle 46"/>
          <p:cNvSpPr/>
          <p:nvPr/>
        </p:nvSpPr>
        <p:spPr>
          <a:xfrm>
            <a:off x="411480" y="4217670"/>
            <a:ext cx="150876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920240" y="4217670"/>
            <a:ext cx="370332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623559" y="4217670"/>
            <a:ext cx="3086100" cy="411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Step 1 Is Where Projects Live or Die</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Framing is the only step you can't skip and recover from</a:t>
            </a:r>
          </a:p>
        </p:txBody>
      </p:sp>
      <p:sp>
        <p:nvSpPr>
          <p:cNvPr id="5" name="Rectangle 4"/>
          <p:cNvSpPr/>
          <p:nvPr/>
        </p:nvSpPr>
        <p:spPr>
          <a:xfrm>
            <a:off x="411480" y="1303020"/>
            <a:ext cx="8298180" cy="12344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08760"/>
            <a:ext cx="7749540" cy="1028700"/>
          </a:xfrm>
          <a:prstGeom prst="rect">
            <a:avLst/>
          </a:prstGeom>
          <a:noFill/>
        </p:spPr>
        <p:txBody>
          <a:bodyPr wrap="square" lIns="0" rIns="0" tIns="0" bIns="0" anchor="t">
            <a:spAutoFit/>
          </a:bodyPr>
          <a:lstStyle/>
          <a:p>
            <a:pPr algn="ctr"/>
            <a:r>
              <a:rPr sz="1800" b="0">
                <a:solidFill>
                  <a:srgbClr val="FFFFFF"/>
                </a:solidFill>
                <a:latin typeface="Trebuchet MS"/>
              </a:rPr>
              <a:t>"A beautifully trained model that solves the wrong problem</a:t>
            </a:r>
          </a:p>
          <a:p>
            <a:pPr algn="ctr"/>
            <a:r>
              <a:rPr sz="1800" b="0">
                <a:solidFill>
                  <a:srgbClr val="FFFFFF"/>
                </a:solidFill>
                <a:latin typeface="Trebuchet MS"/>
              </a:rPr>
              <a:t>is worth zero."</a:t>
            </a:r>
          </a:p>
        </p:txBody>
      </p:sp>
      <p:sp>
        <p:nvSpPr>
          <p:cNvPr id="7" name="TextBox 6"/>
          <p:cNvSpPr txBox="1"/>
          <p:nvPr/>
        </p:nvSpPr>
        <p:spPr>
          <a:xfrm>
            <a:off x="411480" y="2743200"/>
            <a:ext cx="8229600" cy="342900"/>
          </a:xfrm>
          <a:prstGeom prst="rect">
            <a:avLst/>
          </a:prstGeom>
          <a:noFill/>
        </p:spPr>
        <p:txBody>
          <a:bodyPr wrap="square" lIns="0" rIns="0" tIns="0" bIns="0" anchor="t">
            <a:spAutoFit/>
          </a:bodyPr>
          <a:lstStyle/>
          <a:p>
            <a:pPr algn="l"/>
            <a:r>
              <a:rPr sz="1125" b="1">
                <a:solidFill>
                  <a:srgbClr val="1C7293"/>
                </a:solidFill>
                <a:latin typeface="Calibri"/>
              </a:rPr>
              <a:t>The four questions every project must answer BEFORE touching data:</a:t>
            </a:r>
          </a:p>
        </p:txBody>
      </p:sp>
      <p:sp>
        <p:nvSpPr>
          <p:cNvPr id="8" name="TextBox 7"/>
          <p:cNvSpPr txBox="1"/>
          <p:nvPr/>
        </p:nvSpPr>
        <p:spPr>
          <a:xfrm>
            <a:off x="411480" y="3120390"/>
            <a:ext cx="274320" cy="342900"/>
          </a:xfrm>
          <a:prstGeom prst="rect">
            <a:avLst/>
          </a:prstGeom>
          <a:noFill/>
        </p:spPr>
        <p:txBody>
          <a:bodyPr wrap="square" lIns="0" rIns="0" tIns="0" bIns="0" anchor="t">
            <a:spAutoFit/>
          </a:bodyPr>
          <a:lstStyle/>
          <a:p>
            <a:pPr algn="l"/>
            <a:r>
              <a:rPr sz="1050" b="1">
                <a:solidFill>
                  <a:srgbClr val="F96167"/>
                </a:solidFill>
                <a:latin typeface="Calibri"/>
              </a:rPr>
              <a:t>1.</a:t>
            </a:r>
          </a:p>
        </p:txBody>
      </p:sp>
      <p:sp>
        <p:nvSpPr>
          <p:cNvPr id="9" name="TextBox 8"/>
          <p:cNvSpPr txBox="1"/>
          <p:nvPr/>
        </p:nvSpPr>
        <p:spPr>
          <a:xfrm>
            <a:off x="685800" y="3120390"/>
            <a:ext cx="2400300" cy="342900"/>
          </a:xfrm>
          <a:prstGeom prst="rect">
            <a:avLst/>
          </a:prstGeom>
          <a:noFill/>
        </p:spPr>
        <p:txBody>
          <a:bodyPr wrap="square" lIns="0" rIns="0" tIns="0" bIns="0" anchor="t">
            <a:spAutoFit/>
          </a:bodyPr>
          <a:lstStyle/>
          <a:p>
            <a:pPr algn="l"/>
            <a:r>
              <a:rPr sz="1050" b="1">
                <a:solidFill>
                  <a:srgbClr val="065A82"/>
                </a:solidFill>
                <a:latin typeface="Calibri"/>
              </a:rPr>
              <a:t>What is the question?</a:t>
            </a:r>
          </a:p>
        </p:txBody>
      </p:sp>
      <p:sp>
        <p:nvSpPr>
          <p:cNvPr id="10" name="TextBox 9"/>
          <p:cNvSpPr txBox="1"/>
          <p:nvPr/>
        </p:nvSpPr>
        <p:spPr>
          <a:xfrm>
            <a:off x="3154680" y="3120390"/>
            <a:ext cx="5623559" cy="342900"/>
          </a:xfrm>
          <a:prstGeom prst="rect">
            <a:avLst/>
          </a:prstGeom>
          <a:noFill/>
        </p:spPr>
        <p:txBody>
          <a:bodyPr wrap="square" lIns="0" rIns="0" tIns="0" bIns="0" anchor="t">
            <a:spAutoFit/>
          </a:bodyPr>
          <a:lstStyle/>
          <a:p>
            <a:pPr algn="l"/>
            <a:r>
              <a:rPr sz="900" b="0">
                <a:solidFill>
                  <a:srgbClr val="36454F"/>
                </a:solidFill>
                <a:latin typeface="Calibri"/>
              </a:rPr>
              <a:t>Be precise. "Reduce churn" isn't a question. "Predict which customers will cancel within 30 days" is.</a:t>
            </a:r>
          </a:p>
        </p:txBody>
      </p:sp>
      <p:sp>
        <p:nvSpPr>
          <p:cNvPr id="11" name="TextBox 10"/>
          <p:cNvSpPr txBox="1"/>
          <p:nvPr/>
        </p:nvSpPr>
        <p:spPr>
          <a:xfrm>
            <a:off x="411480" y="3497580"/>
            <a:ext cx="274320" cy="342900"/>
          </a:xfrm>
          <a:prstGeom prst="rect">
            <a:avLst/>
          </a:prstGeom>
          <a:noFill/>
        </p:spPr>
        <p:txBody>
          <a:bodyPr wrap="square" lIns="0" rIns="0" tIns="0" bIns="0" anchor="t">
            <a:spAutoFit/>
          </a:bodyPr>
          <a:lstStyle/>
          <a:p>
            <a:pPr algn="l"/>
            <a:r>
              <a:rPr sz="1050" b="1">
                <a:solidFill>
                  <a:srgbClr val="F96167"/>
                </a:solidFill>
                <a:latin typeface="Calibri"/>
              </a:rPr>
              <a:t>2.</a:t>
            </a:r>
          </a:p>
        </p:txBody>
      </p:sp>
      <p:sp>
        <p:nvSpPr>
          <p:cNvPr id="12" name="TextBox 11"/>
          <p:cNvSpPr txBox="1"/>
          <p:nvPr/>
        </p:nvSpPr>
        <p:spPr>
          <a:xfrm>
            <a:off x="685800" y="3497580"/>
            <a:ext cx="2400300" cy="342900"/>
          </a:xfrm>
          <a:prstGeom prst="rect">
            <a:avLst/>
          </a:prstGeom>
          <a:noFill/>
        </p:spPr>
        <p:txBody>
          <a:bodyPr wrap="square" lIns="0" rIns="0" tIns="0" bIns="0" anchor="t">
            <a:spAutoFit/>
          </a:bodyPr>
          <a:lstStyle/>
          <a:p>
            <a:pPr algn="l"/>
            <a:r>
              <a:rPr sz="1050" b="1">
                <a:solidFill>
                  <a:srgbClr val="065A82"/>
                </a:solidFill>
                <a:latin typeface="Calibri"/>
              </a:rPr>
              <a:t>Who acts on the answer?</a:t>
            </a:r>
          </a:p>
        </p:txBody>
      </p:sp>
      <p:sp>
        <p:nvSpPr>
          <p:cNvPr id="13" name="TextBox 12"/>
          <p:cNvSpPr txBox="1"/>
          <p:nvPr/>
        </p:nvSpPr>
        <p:spPr>
          <a:xfrm>
            <a:off x="3154680" y="3497580"/>
            <a:ext cx="5623559" cy="342900"/>
          </a:xfrm>
          <a:prstGeom prst="rect">
            <a:avLst/>
          </a:prstGeom>
          <a:noFill/>
        </p:spPr>
        <p:txBody>
          <a:bodyPr wrap="square" lIns="0" rIns="0" tIns="0" bIns="0" anchor="t">
            <a:spAutoFit/>
          </a:bodyPr>
          <a:lstStyle/>
          <a:p>
            <a:pPr algn="l"/>
            <a:r>
              <a:rPr sz="900" b="0">
                <a:solidFill>
                  <a:srgbClr val="36454F"/>
                </a:solidFill>
                <a:latin typeface="Calibri"/>
              </a:rPr>
              <a:t>If nobody acts, no model matters. The action defines what 'good' means.</a:t>
            </a:r>
          </a:p>
        </p:txBody>
      </p:sp>
      <p:sp>
        <p:nvSpPr>
          <p:cNvPr id="14" name="TextBox 13"/>
          <p:cNvSpPr txBox="1"/>
          <p:nvPr/>
        </p:nvSpPr>
        <p:spPr>
          <a:xfrm>
            <a:off x="411480" y="3874770"/>
            <a:ext cx="274320" cy="342900"/>
          </a:xfrm>
          <a:prstGeom prst="rect">
            <a:avLst/>
          </a:prstGeom>
          <a:noFill/>
        </p:spPr>
        <p:txBody>
          <a:bodyPr wrap="square" lIns="0" rIns="0" tIns="0" bIns="0" anchor="t">
            <a:spAutoFit/>
          </a:bodyPr>
          <a:lstStyle/>
          <a:p>
            <a:pPr algn="l"/>
            <a:r>
              <a:rPr sz="1050" b="1">
                <a:solidFill>
                  <a:srgbClr val="F96167"/>
                </a:solidFill>
                <a:latin typeface="Calibri"/>
              </a:rPr>
              <a:t>3.</a:t>
            </a:r>
          </a:p>
        </p:txBody>
      </p:sp>
      <p:sp>
        <p:nvSpPr>
          <p:cNvPr id="15" name="TextBox 14"/>
          <p:cNvSpPr txBox="1"/>
          <p:nvPr/>
        </p:nvSpPr>
        <p:spPr>
          <a:xfrm>
            <a:off x="685800" y="3874770"/>
            <a:ext cx="2400300" cy="342900"/>
          </a:xfrm>
          <a:prstGeom prst="rect">
            <a:avLst/>
          </a:prstGeom>
          <a:noFill/>
        </p:spPr>
        <p:txBody>
          <a:bodyPr wrap="square" lIns="0" rIns="0" tIns="0" bIns="0" anchor="t">
            <a:spAutoFit/>
          </a:bodyPr>
          <a:lstStyle/>
          <a:p>
            <a:pPr algn="l"/>
            <a:r>
              <a:rPr sz="1050" b="1">
                <a:solidFill>
                  <a:srgbClr val="065A82"/>
                </a:solidFill>
                <a:latin typeface="Calibri"/>
              </a:rPr>
              <a:t>What's the success metric?</a:t>
            </a:r>
          </a:p>
        </p:txBody>
      </p:sp>
      <p:sp>
        <p:nvSpPr>
          <p:cNvPr id="16" name="TextBox 15"/>
          <p:cNvSpPr txBox="1"/>
          <p:nvPr/>
        </p:nvSpPr>
        <p:spPr>
          <a:xfrm>
            <a:off x="3154680" y="3874770"/>
            <a:ext cx="5623559" cy="342900"/>
          </a:xfrm>
          <a:prstGeom prst="rect">
            <a:avLst/>
          </a:prstGeom>
          <a:noFill/>
        </p:spPr>
        <p:txBody>
          <a:bodyPr wrap="square" lIns="0" rIns="0" tIns="0" bIns="0" anchor="t">
            <a:spAutoFit/>
          </a:bodyPr>
          <a:lstStyle/>
          <a:p>
            <a:pPr algn="l"/>
            <a:r>
              <a:rPr sz="900" b="0">
                <a:solidFill>
                  <a:srgbClr val="36454F"/>
                </a:solidFill>
                <a:latin typeface="Calibri"/>
              </a:rPr>
              <a:t>Define it before you build. Choose one. Resist temptation to add more later.</a:t>
            </a:r>
          </a:p>
        </p:txBody>
      </p:sp>
      <p:sp>
        <p:nvSpPr>
          <p:cNvPr id="17" name="TextBox 16"/>
          <p:cNvSpPr txBox="1"/>
          <p:nvPr/>
        </p:nvSpPr>
        <p:spPr>
          <a:xfrm>
            <a:off x="411480" y="4251960"/>
            <a:ext cx="274320" cy="342900"/>
          </a:xfrm>
          <a:prstGeom prst="rect">
            <a:avLst/>
          </a:prstGeom>
          <a:noFill/>
        </p:spPr>
        <p:txBody>
          <a:bodyPr wrap="square" lIns="0" rIns="0" tIns="0" bIns="0" anchor="t">
            <a:spAutoFit/>
          </a:bodyPr>
          <a:lstStyle/>
          <a:p>
            <a:pPr algn="l"/>
            <a:r>
              <a:rPr sz="1050" b="1">
                <a:solidFill>
                  <a:srgbClr val="F96167"/>
                </a:solidFill>
                <a:latin typeface="Calibri"/>
              </a:rPr>
              <a:t>4.</a:t>
            </a:r>
          </a:p>
        </p:txBody>
      </p:sp>
      <p:sp>
        <p:nvSpPr>
          <p:cNvPr id="18" name="TextBox 17"/>
          <p:cNvSpPr txBox="1"/>
          <p:nvPr/>
        </p:nvSpPr>
        <p:spPr>
          <a:xfrm>
            <a:off x="685800" y="4251960"/>
            <a:ext cx="2400300" cy="342900"/>
          </a:xfrm>
          <a:prstGeom prst="rect">
            <a:avLst/>
          </a:prstGeom>
          <a:noFill/>
        </p:spPr>
        <p:txBody>
          <a:bodyPr wrap="square" lIns="0" rIns="0" tIns="0" bIns="0" anchor="t">
            <a:spAutoFit/>
          </a:bodyPr>
          <a:lstStyle/>
          <a:p>
            <a:pPr algn="l"/>
            <a:r>
              <a:rPr sz="1050" b="1">
                <a:solidFill>
                  <a:srgbClr val="065A82"/>
                </a:solidFill>
                <a:latin typeface="Calibri"/>
              </a:rPr>
              <a:t>What's the cost of being wrong?</a:t>
            </a:r>
          </a:p>
        </p:txBody>
      </p:sp>
      <p:sp>
        <p:nvSpPr>
          <p:cNvPr id="19" name="TextBox 18"/>
          <p:cNvSpPr txBox="1"/>
          <p:nvPr/>
        </p:nvSpPr>
        <p:spPr>
          <a:xfrm>
            <a:off x="3154680" y="4251960"/>
            <a:ext cx="5623559" cy="342900"/>
          </a:xfrm>
          <a:prstGeom prst="rect">
            <a:avLst/>
          </a:prstGeom>
          <a:noFill/>
        </p:spPr>
        <p:txBody>
          <a:bodyPr wrap="square" lIns="0" rIns="0" tIns="0" bIns="0" anchor="t">
            <a:spAutoFit/>
          </a:bodyPr>
          <a:lstStyle/>
          <a:p>
            <a:pPr algn="l"/>
            <a:r>
              <a:rPr sz="900" b="0">
                <a:solidFill>
                  <a:srgbClr val="36454F"/>
                </a:solidFill>
                <a:latin typeface="Calibri"/>
              </a:rPr>
              <a:t>Is a false positive worse than a false negative? Most domains have asymmetric costs.</a:t>
            </a:r>
          </a:p>
        </p:txBody>
      </p:sp>
      <p:pic>
        <p:nvPicPr>
          <p:cNvPr id="21" name="Picture 2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2900" y="342900"/>
            <a:ext cx="8457971" cy="44577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8023860" cy="342900"/>
          </a:xfrm>
          <a:prstGeom prst="rect">
            <a:avLst/>
          </a:prstGeom>
          <a:noFill/>
        </p:spPr>
        <p:txBody>
          <a:bodyPr wrap="square" lIns="0" rIns="0" tIns="0" bIns="0" anchor="t">
            <a:spAutoFit/>
          </a:bodyPr>
          <a:lstStyle/>
          <a:p>
            <a:pPr algn="l"/>
            <a:r>
              <a:rPr sz="1200" b="1">
                <a:solidFill>
                  <a:srgbClr val="21C39A"/>
                </a:solidFill>
                <a:latin typeface="Calibri"/>
              </a:rPr>
              <a:t>🟢  CODE-ALONG</a:t>
            </a:r>
          </a:p>
        </p:txBody>
      </p:sp>
      <p:sp>
        <p:nvSpPr>
          <p:cNvPr id="5" name="TextBox 4"/>
          <p:cNvSpPr txBox="1"/>
          <p:nvPr/>
        </p:nvSpPr>
        <p:spPr>
          <a:xfrm>
            <a:off x="548640" y="1097280"/>
            <a:ext cx="8023860" cy="685800"/>
          </a:xfrm>
          <a:prstGeom prst="rect">
            <a:avLst/>
          </a:prstGeom>
          <a:noFill/>
        </p:spPr>
        <p:txBody>
          <a:bodyPr wrap="square" lIns="0" rIns="0" tIns="0" bIns="0" anchor="t">
            <a:spAutoFit/>
          </a:bodyPr>
          <a:lstStyle/>
          <a:p>
            <a:pPr algn="l"/>
            <a:r>
              <a:rPr sz="2550" b="1">
                <a:solidFill>
                  <a:srgbClr val="FFFFFF"/>
                </a:solidFill>
                <a:latin typeface="Consolas"/>
              </a:rPr>
              <a:t>Open: 04_ml_workflow.ipynb</a:t>
            </a:r>
          </a:p>
        </p:txBody>
      </p:sp>
      <p:sp>
        <p:nvSpPr>
          <p:cNvPr id="6" name="TextBox 5"/>
          <p:cNvSpPr txBox="1"/>
          <p:nvPr/>
        </p:nvSpPr>
        <p:spPr>
          <a:xfrm>
            <a:off x="548640" y="2125980"/>
            <a:ext cx="8023860" cy="411480"/>
          </a:xfrm>
          <a:prstGeom prst="rect">
            <a:avLst/>
          </a:prstGeom>
          <a:noFill/>
        </p:spPr>
        <p:txBody>
          <a:bodyPr wrap="square" lIns="0" rIns="0" tIns="0" bIns="0" anchor="t">
            <a:spAutoFit/>
          </a:bodyPr>
          <a:lstStyle/>
          <a:p>
            <a:pPr algn="l"/>
            <a:r>
              <a:rPr sz="1500" b="1">
                <a:solidFill>
                  <a:srgbClr val="E8F1F5"/>
                </a:solidFill>
                <a:latin typeface="Calibri"/>
              </a:rPr>
              <a:t>What you'll do</a:t>
            </a:r>
          </a:p>
        </p:txBody>
      </p:sp>
      <p:sp>
        <p:nvSpPr>
          <p:cNvPr id="7" name="TextBox 6"/>
          <p:cNvSpPr txBox="1"/>
          <p:nvPr/>
        </p:nvSpPr>
        <p:spPr>
          <a:xfrm>
            <a:off x="685800" y="2537460"/>
            <a:ext cx="7886700" cy="342900"/>
          </a:xfrm>
          <a:prstGeom prst="rect">
            <a:avLst/>
          </a:prstGeom>
          <a:noFill/>
        </p:spPr>
        <p:txBody>
          <a:bodyPr wrap="square" lIns="0" rIns="0" tIns="0" bIns="0" anchor="t">
            <a:spAutoFit/>
          </a:bodyPr>
          <a:lstStyle/>
          <a:p>
            <a:pPr algn="l"/>
            <a:r>
              <a:rPr sz="1125" b="0">
                <a:solidFill>
                  <a:srgbClr val="FFFFFF"/>
                </a:solidFill>
                <a:latin typeface="Calibri"/>
              </a:rPr>
              <a:t>1.  Run Sarah's sentiment project through each of the 7 workflow steps.</a:t>
            </a:r>
          </a:p>
        </p:txBody>
      </p:sp>
      <p:sp>
        <p:nvSpPr>
          <p:cNvPr id="8" name="TextBox 7"/>
          <p:cNvSpPr txBox="1"/>
          <p:nvPr/>
        </p:nvSpPr>
        <p:spPr>
          <a:xfrm>
            <a:off x="685800" y="2914650"/>
            <a:ext cx="7886700" cy="342900"/>
          </a:xfrm>
          <a:prstGeom prst="rect">
            <a:avLst/>
          </a:prstGeom>
          <a:noFill/>
        </p:spPr>
        <p:txBody>
          <a:bodyPr wrap="square" lIns="0" rIns="0" tIns="0" bIns="0" anchor="t">
            <a:spAutoFit/>
          </a:bodyPr>
          <a:lstStyle/>
          <a:p>
            <a:pPr algn="l"/>
            <a:r>
              <a:rPr sz="1125" b="0">
                <a:solidFill>
                  <a:srgbClr val="FFFFFF"/>
                </a:solidFill>
                <a:latin typeface="Calibri"/>
              </a:rPr>
              <a:t>2.  Identify the 5 questions she should have asked at Step 1.</a:t>
            </a:r>
          </a:p>
        </p:txBody>
      </p:sp>
      <p:sp>
        <p:nvSpPr>
          <p:cNvPr id="9" name="TextBox 8"/>
          <p:cNvSpPr txBox="1"/>
          <p:nvPr/>
        </p:nvSpPr>
        <p:spPr>
          <a:xfrm>
            <a:off x="685800" y="3291840"/>
            <a:ext cx="7886700" cy="342900"/>
          </a:xfrm>
          <a:prstGeom prst="rect">
            <a:avLst/>
          </a:prstGeom>
          <a:noFill/>
        </p:spPr>
        <p:txBody>
          <a:bodyPr wrap="square" lIns="0" rIns="0" tIns="0" bIns="0" anchor="t">
            <a:spAutoFit/>
          </a:bodyPr>
          <a:lstStyle/>
          <a:p>
            <a:pPr algn="l"/>
            <a:r>
              <a:rPr sz="1125" b="0">
                <a:solidFill>
                  <a:srgbClr val="FFFFFF"/>
                </a:solidFill>
                <a:latin typeface="Calibri"/>
              </a:rPr>
              <a:t>3.  Spot-check the model against Sarah's hand-labels on 15 reviews.</a:t>
            </a:r>
          </a:p>
        </p:txBody>
      </p:sp>
      <p:sp>
        <p:nvSpPr>
          <p:cNvPr id="10" name="Rectangle 9"/>
          <p:cNvSpPr/>
          <p:nvPr/>
        </p:nvSpPr>
        <p:spPr>
          <a:xfrm>
            <a:off x="548640" y="3909060"/>
            <a:ext cx="8023860"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046220"/>
            <a:ext cx="7886700" cy="480060"/>
          </a:xfrm>
          <a:prstGeom prst="rect">
            <a:avLst/>
          </a:prstGeom>
          <a:noFill/>
        </p:spPr>
        <p:txBody>
          <a:bodyPr wrap="square" lIns="0" rIns="0" tIns="0" bIns="0" anchor="t">
            <a:spAutoFit/>
          </a:bodyPr>
          <a:lstStyle/>
          <a:p>
            <a:pPr algn="l"/>
            <a:r>
              <a:rPr sz="1125" b="1">
                <a:solidFill>
                  <a:srgbClr val="FFFFFF"/>
                </a:solidFill>
                <a:latin typeface="Calibri"/>
              </a:rPr>
              <a:t>⏱  20 minutes  ·  Stop at the 🟡 Extension marker  ·  Hospital exercise is post-class</a:t>
            </a:r>
          </a:p>
        </p:txBody>
      </p:sp>
      <p:pic>
        <p:nvPicPr>
          <p:cNvPr id="12" name="Picture 1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23860" cy="342900"/>
          </a:xfrm>
          <a:prstGeom prst="rect">
            <a:avLst/>
          </a:prstGeom>
          <a:noFill/>
        </p:spPr>
        <p:txBody>
          <a:bodyPr wrap="square" lIns="0" rIns="0" tIns="0" bIns="0" anchor="t">
            <a:spAutoFit/>
          </a:bodyPr>
          <a:lstStyle/>
          <a:p>
            <a:pPr algn="l"/>
            <a:r>
              <a:rPr sz="1350" b="1">
                <a:solidFill>
                  <a:srgbClr val="E8F1F5"/>
                </a:solidFill>
                <a:latin typeface="Calibri"/>
              </a:rPr>
              <a:t>Friday Morning — Priya's Question</a:t>
            </a:r>
          </a:p>
        </p:txBody>
      </p:sp>
      <p:sp>
        <p:nvSpPr>
          <p:cNvPr id="4" name="Rectangle 3"/>
          <p:cNvSpPr/>
          <p:nvPr/>
        </p:nvSpPr>
        <p:spPr>
          <a:xfrm>
            <a:off x="685800" y="1371600"/>
            <a:ext cx="7749540" cy="20574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1540" y="1577340"/>
            <a:ext cx="7338060" cy="342900"/>
          </a:xfrm>
          <a:prstGeom prst="rect">
            <a:avLst/>
          </a:prstGeom>
          <a:noFill/>
        </p:spPr>
        <p:txBody>
          <a:bodyPr wrap="square" lIns="0" rIns="0" tIns="0" bIns="0" anchor="t">
            <a:spAutoFit/>
          </a:bodyPr>
          <a:lstStyle/>
          <a:p>
            <a:pPr algn="l"/>
            <a:r>
              <a:rPr sz="1050" b="0">
                <a:solidFill>
                  <a:srgbClr val="E8F1F5"/>
                </a:solidFill>
                <a:latin typeface="Calibri"/>
              </a:rPr>
              <a:t>Priya, after seeing Sarah's numbers:</a:t>
            </a:r>
          </a:p>
        </p:txBody>
      </p:sp>
      <p:sp>
        <p:nvSpPr>
          <p:cNvPr id="6" name="TextBox 5"/>
          <p:cNvSpPr txBox="1"/>
          <p:nvPr/>
        </p:nvSpPr>
        <p:spPr>
          <a:xfrm>
            <a:off x="891540" y="1988820"/>
            <a:ext cx="7338060" cy="1371600"/>
          </a:xfrm>
          <a:prstGeom prst="rect">
            <a:avLst/>
          </a:prstGeom>
          <a:noFill/>
        </p:spPr>
        <p:txBody>
          <a:bodyPr wrap="square" lIns="0" rIns="0" tIns="0" bIns="0" anchor="t">
            <a:spAutoFit/>
          </a:bodyPr>
          <a:lstStyle/>
          <a:p>
            <a:pPr algn="l"/>
            <a:r>
              <a:rPr sz="1500" b="0">
                <a:solidFill>
                  <a:srgbClr val="FFFFFF"/>
                </a:solidFill>
                <a:latin typeface="Trebuchet MS"/>
              </a:rPr>
              <a:t>"Sarah — the numbers look great.</a:t>
            </a:r>
          </a:p>
          <a:p>
            <a:pPr algn="l"/>
            <a:r>
              <a:rPr sz="1500" b="0">
                <a:solidFill>
                  <a:srgbClr val="FFFFFF"/>
                </a:solidFill>
                <a:latin typeface="Trebuchet MS"/>
              </a:rPr>
              <a:t/>
            </a:r>
          </a:p>
          <a:p>
            <a:pPr algn="l"/>
            <a:r>
              <a:rPr sz="1500" b="0">
                <a:solidFill>
                  <a:srgbClr val="FFFFFF"/>
                </a:solidFill>
                <a:latin typeface="Trebuchet MS"/>
              </a:rPr>
              <a:t>But HOW SURE ARE WE?</a:t>
            </a:r>
          </a:p>
          <a:p>
            <a:pPr algn="l"/>
            <a:r>
              <a:rPr sz="1500" b="0">
                <a:solidFill>
                  <a:srgbClr val="FFFFFF"/>
                </a:solidFill>
                <a:latin typeface="Trebuchet MS"/>
              </a:rPr>
              <a:t/>
            </a:r>
          </a:p>
          <a:p>
            <a:pPr algn="l"/>
            <a:r>
              <a:rPr sz="1500" b="0">
                <a:solidFill>
                  <a:srgbClr val="FFFFFF"/>
                </a:solidFill>
                <a:latin typeface="Trebuchet MS"/>
              </a:rPr>
              <a:t>The model put a label on every review. How do we know it isn't confidently wrong in ways we can't see from this deck?"</a:t>
            </a:r>
          </a:p>
        </p:txBody>
      </p:sp>
      <p:sp>
        <p:nvSpPr>
          <p:cNvPr id="7" name="TextBox 6"/>
          <p:cNvSpPr txBox="1"/>
          <p:nvPr/>
        </p:nvSpPr>
        <p:spPr>
          <a:xfrm>
            <a:off x="685800" y="3771900"/>
            <a:ext cx="7749540" cy="342900"/>
          </a:xfrm>
          <a:prstGeom prst="rect">
            <a:avLst/>
          </a:prstGeom>
          <a:noFill/>
        </p:spPr>
        <p:txBody>
          <a:bodyPr wrap="square" lIns="0" rIns="0" tIns="0" bIns="0" anchor="t">
            <a:spAutoFit/>
          </a:bodyPr>
          <a:lstStyle/>
          <a:p>
            <a:pPr algn="l"/>
            <a:r>
              <a:rPr sz="1350" b="1">
                <a:solidFill>
                  <a:srgbClr val="E8F1F5"/>
                </a:solidFill>
                <a:latin typeface="Calibri"/>
              </a:rPr>
              <a:t>Lesson 2 — Probability &amp; Statistics</a:t>
            </a:r>
          </a:p>
        </p:txBody>
      </p:sp>
      <p:sp>
        <p:nvSpPr>
          <p:cNvPr id="8" name="TextBox 7"/>
          <p:cNvSpPr txBox="1"/>
          <p:nvPr/>
        </p:nvSpPr>
        <p:spPr>
          <a:xfrm>
            <a:off x="685800" y="4114800"/>
            <a:ext cx="7749540" cy="342900"/>
          </a:xfrm>
          <a:prstGeom prst="rect">
            <a:avLst/>
          </a:prstGeom>
          <a:noFill/>
        </p:spPr>
        <p:txBody>
          <a:bodyPr wrap="square" lIns="0" rIns="0" tIns="0" bIns="0" anchor="t">
            <a:spAutoFit/>
          </a:bodyPr>
          <a:lstStyle/>
          <a:p>
            <a:pPr algn="l"/>
            <a:r>
              <a:rPr sz="1125" b="0">
                <a:solidFill>
                  <a:srgbClr val="E8F1F5"/>
                </a:solidFill>
                <a:latin typeface="Calibri"/>
              </a:rPr>
              <a:t>Distribution · Confidence Intervals · Hypothesis Testing — all in service of answering Priya.</a:t>
            </a:r>
          </a:p>
        </p:txBody>
      </p:sp>
      <p:pic>
        <p:nvPicPr>
          <p:cNvPr id="10" name="Picture 9"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400" b="1">
                <a:solidFill>
                  <a:srgbClr val="065A82"/>
                </a:solidFill>
                <a:latin typeface="Trebuchet MS"/>
              </a:rPr>
              <a:t>Assignment Preview &amp; Q&amp;A</a:t>
            </a:r>
          </a:p>
        </p:txBody>
      </p:sp>
      <p:sp>
        <p:nvSpPr>
          <p:cNvPr id="4" name="TextBox 3"/>
          <p:cNvSpPr txBox="1"/>
          <p:nvPr/>
        </p:nvSpPr>
        <p:spPr>
          <a:xfrm>
            <a:off x="411480" y="720090"/>
            <a:ext cx="8229600" cy="342900"/>
          </a:xfrm>
          <a:prstGeom prst="rect">
            <a:avLst/>
          </a:prstGeom>
          <a:noFill/>
        </p:spPr>
        <p:txBody>
          <a:bodyPr wrap="square" lIns="0" rIns="0" tIns="0" bIns="0" anchor="t">
            <a:spAutoFit/>
          </a:bodyPr>
          <a:lstStyle/>
          <a:p>
            <a:pPr algn="l"/>
            <a:r>
              <a:rPr sz="1050" b="0">
                <a:solidFill>
                  <a:srgbClr val="36454F"/>
                </a:solidFill>
                <a:latin typeface="Calibri"/>
              </a:rPr>
              <a:t>Same workflow · new client · new domain</a:t>
            </a:r>
          </a:p>
        </p:txBody>
      </p:sp>
      <p:sp>
        <p:nvSpPr>
          <p:cNvPr id="5" name="Rectangle 4"/>
          <p:cNvSpPr/>
          <p:nvPr/>
        </p:nvSpPr>
        <p:spPr>
          <a:xfrm>
            <a:off x="411480" y="1303020"/>
            <a:ext cx="4114800" cy="3429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40180"/>
            <a:ext cx="3771900" cy="342900"/>
          </a:xfrm>
          <a:prstGeom prst="rect">
            <a:avLst/>
          </a:prstGeom>
          <a:noFill/>
        </p:spPr>
        <p:txBody>
          <a:bodyPr wrap="square" lIns="0" rIns="0" tIns="0" bIns="0" anchor="t">
            <a:spAutoFit/>
          </a:bodyPr>
          <a:lstStyle/>
          <a:p>
            <a:pPr algn="l"/>
            <a:r>
              <a:rPr sz="1350" b="1">
                <a:solidFill>
                  <a:srgbClr val="065A82"/>
                </a:solidFill>
                <a:latin typeface="Calibri"/>
              </a:rPr>
              <a:t>📝  Assignment</a:t>
            </a:r>
          </a:p>
        </p:txBody>
      </p:sp>
      <p:sp>
        <p:nvSpPr>
          <p:cNvPr id="7" name="TextBox 6"/>
          <p:cNvSpPr txBox="1"/>
          <p:nvPr/>
        </p:nvSpPr>
        <p:spPr>
          <a:xfrm>
            <a:off x="617220" y="1851660"/>
            <a:ext cx="3771900" cy="342900"/>
          </a:xfrm>
          <a:prstGeom prst="rect">
            <a:avLst/>
          </a:prstGeom>
          <a:noFill/>
        </p:spPr>
        <p:txBody>
          <a:bodyPr wrap="square" lIns="0" rIns="0" tIns="0" bIns="0" anchor="t">
            <a:spAutoFit/>
          </a:bodyPr>
          <a:lstStyle/>
          <a:p>
            <a:pPr algn="l"/>
            <a:r>
              <a:rPr sz="1050" b="0">
                <a:solidFill>
                  <a:srgbClr val="1C7293"/>
                </a:solidFill>
                <a:latin typeface="Consolas"/>
              </a:rPr>
              <a:t>Open: notebooks/assignment.ipynb</a:t>
            </a:r>
          </a:p>
        </p:txBody>
      </p:sp>
      <p:sp>
        <p:nvSpPr>
          <p:cNvPr id="8" name="TextBox 7"/>
          <p:cNvSpPr txBox="1"/>
          <p:nvPr/>
        </p:nvSpPr>
        <p:spPr>
          <a:xfrm>
            <a:off x="685800" y="2331720"/>
            <a:ext cx="3703320" cy="342900"/>
          </a:xfrm>
          <a:prstGeom prst="rect">
            <a:avLst/>
          </a:prstGeom>
          <a:noFill/>
        </p:spPr>
        <p:txBody>
          <a:bodyPr wrap="square" lIns="0" rIns="0" tIns="0" bIns="0" anchor="t">
            <a:spAutoFit/>
          </a:bodyPr>
          <a:lstStyle/>
          <a:p>
            <a:pPr algn="l"/>
            <a:r>
              <a:rPr sz="975" b="0">
                <a:solidFill>
                  <a:srgbClr val="36454F"/>
                </a:solidFill>
                <a:latin typeface="Calibri"/>
              </a:rPr>
              <a:t>• Sarah's next Monday — Lakeside Bank.</a:t>
            </a:r>
          </a:p>
        </p:txBody>
      </p:sp>
      <p:sp>
        <p:nvSpPr>
          <p:cNvPr id="9" name="TextBox 8"/>
          <p:cNvSpPr txBox="1"/>
          <p:nvPr/>
        </p:nvSpPr>
        <p:spPr>
          <a:xfrm>
            <a:off x="685800" y="2674620"/>
            <a:ext cx="3703320" cy="342900"/>
          </a:xfrm>
          <a:prstGeom prst="rect">
            <a:avLst/>
          </a:prstGeom>
          <a:noFill/>
        </p:spPr>
        <p:txBody>
          <a:bodyPr wrap="square" lIns="0" rIns="0" tIns="0" bIns="0" anchor="t">
            <a:spAutoFit/>
          </a:bodyPr>
          <a:lstStyle/>
          <a:p>
            <a:pPr algn="l"/>
            <a:r>
              <a:rPr sz="975" b="0">
                <a:solidFill>
                  <a:srgbClr val="36454F"/>
                </a:solidFill>
                <a:latin typeface="Calibri"/>
              </a:rPr>
              <a:t>• Tom Bradley has 8,000 unlabelled complaints.</a:t>
            </a:r>
          </a:p>
        </p:txBody>
      </p:sp>
      <p:sp>
        <p:nvSpPr>
          <p:cNvPr id="10" name="TextBox 9"/>
          <p:cNvSpPr txBox="1"/>
          <p:nvPr/>
        </p:nvSpPr>
        <p:spPr>
          <a:xfrm>
            <a:off x="685800" y="3017520"/>
            <a:ext cx="3703320" cy="342900"/>
          </a:xfrm>
          <a:prstGeom prst="rect">
            <a:avLst/>
          </a:prstGeom>
          <a:noFill/>
        </p:spPr>
        <p:txBody>
          <a:bodyPr wrap="square" lIns="0" rIns="0" tIns="0" bIns="0" anchor="t">
            <a:spAutoFit/>
          </a:bodyPr>
          <a:lstStyle/>
          <a:p>
            <a:pPr algn="l"/>
            <a:r>
              <a:rPr sz="975" b="0">
                <a:solidFill>
                  <a:srgbClr val="36454F"/>
                </a:solidFill>
                <a:latin typeface="Calibri"/>
              </a:rPr>
              <a:t>• Apply the 7-step workflow to a new domain.</a:t>
            </a:r>
          </a:p>
        </p:txBody>
      </p:sp>
      <p:sp>
        <p:nvSpPr>
          <p:cNvPr id="11" name="TextBox 10"/>
          <p:cNvSpPr txBox="1"/>
          <p:nvPr/>
        </p:nvSpPr>
        <p:spPr>
          <a:xfrm>
            <a:off x="685800" y="3360420"/>
            <a:ext cx="3703320" cy="342900"/>
          </a:xfrm>
          <a:prstGeom prst="rect">
            <a:avLst/>
          </a:prstGeom>
          <a:noFill/>
        </p:spPr>
        <p:txBody>
          <a:bodyPr wrap="square" lIns="0" rIns="0" tIns="0" bIns="0" anchor="t">
            <a:spAutoFit/>
          </a:bodyPr>
          <a:lstStyle/>
          <a:p>
            <a:pPr algn="l"/>
            <a:r>
              <a:rPr sz="975" b="0">
                <a:solidFill>
                  <a:srgbClr val="36454F"/>
                </a:solidFill>
                <a:latin typeface="Calibri"/>
              </a:rPr>
              <a:t>• Three tiers — Guided · Partial · Open.</a:t>
            </a:r>
          </a:p>
        </p:txBody>
      </p:sp>
      <p:sp>
        <p:nvSpPr>
          <p:cNvPr id="12" name="TextBox 11"/>
          <p:cNvSpPr txBox="1"/>
          <p:nvPr/>
        </p:nvSpPr>
        <p:spPr>
          <a:xfrm>
            <a:off x="685800" y="3703320"/>
            <a:ext cx="3703320" cy="342900"/>
          </a:xfrm>
          <a:prstGeom prst="rect">
            <a:avLst/>
          </a:prstGeom>
          <a:noFill/>
        </p:spPr>
        <p:txBody>
          <a:bodyPr wrap="square" lIns="0" rIns="0" tIns="0" bIns="0" anchor="t">
            <a:spAutoFit/>
          </a:bodyPr>
          <a:lstStyle/>
          <a:p>
            <a:pPr algn="l"/>
            <a:r>
              <a:rPr sz="975" b="0">
                <a:solidFill>
                  <a:srgbClr val="36454F"/>
                </a:solidFill>
                <a:latin typeface="Calibri"/>
              </a:rPr>
              <a:t>• Sample solutions at the bottom.</a:t>
            </a:r>
          </a:p>
        </p:txBody>
      </p:sp>
      <p:sp>
        <p:nvSpPr>
          <p:cNvPr id="13" name="TextBox 12"/>
          <p:cNvSpPr txBox="1"/>
          <p:nvPr/>
        </p:nvSpPr>
        <p:spPr>
          <a:xfrm>
            <a:off x="617220" y="4114800"/>
            <a:ext cx="3771900" cy="274320"/>
          </a:xfrm>
          <a:prstGeom prst="rect">
            <a:avLst/>
          </a:prstGeom>
          <a:noFill/>
        </p:spPr>
        <p:txBody>
          <a:bodyPr wrap="square" lIns="0" rIns="0" tIns="0" bIns="0" anchor="t">
            <a:spAutoFit/>
          </a:bodyPr>
          <a:lstStyle/>
          <a:p>
            <a:pPr algn="l"/>
            <a:r>
              <a:rPr sz="975" b="1">
                <a:solidFill>
                  <a:srgbClr val="F96167"/>
                </a:solidFill>
                <a:latin typeface="Calibri"/>
              </a:rPr>
              <a:t>Due: before L02 session.</a:t>
            </a:r>
          </a:p>
        </p:txBody>
      </p:sp>
      <p:sp>
        <p:nvSpPr>
          <p:cNvPr id="14" name="Rectangle 13"/>
          <p:cNvSpPr/>
          <p:nvPr/>
        </p:nvSpPr>
        <p:spPr>
          <a:xfrm>
            <a:off x="4697730" y="1303020"/>
            <a:ext cx="3977640" cy="3429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03470" y="1440180"/>
            <a:ext cx="3703320" cy="342900"/>
          </a:xfrm>
          <a:prstGeom prst="rect">
            <a:avLst/>
          </a:prstGeom>
          <a:noFill/>
        </p:spPr>
        <p:txBody>
          <a:bodyPr wrap="square" lIns="0" rIns="0" tIns="0" bIns="0" anchor="t">
            <a:spAutoFit/>
          </a:bodyPr>
          <a:lstStyle/>
          <a:p>
            <a:pPr algn="l"/>
            <a:r>
              <a:rPr sz="1350" b="1">
                <a:solidFill>
                  <a:srgbClr val="FFFFFF"/>
                </a:solidFill>
                <a:latin typeface="Calibri"/>
              </a:rPr>
              <a:t>💬  Q&amp;A</a:t>
            </a:r>
          </a:p>
        </p:txBody>
      </p:sp>
      <p:sp>
        <p:nvSpPr>
          <p:cNvPr id="16" name="TextBox 15"/>
          <p:cNvSpPr txBox="1"/>
          <p:nvPr/>
        </p:nvSpPr>
        <p:spPr>
          <a:xfrm>
            <a:off x="4903470" y="1851660"/>
            <a:ext cx="3703320" cy="2400300"/>
          </a:xfrm>
          <a:prstGeom prst="rect">
            <a:avLst/>
          </a:prstGeom>
          <a:noFill/>
        </p:spPr>
        <p:txBody>
          <a:bodyPr wrap="square" lIns="0" rIns="0" tIns="0" bIns="0" anchor="t">
            <a:spAutoFit/>
          </a:bodyPr>
          <a:lstStyle/>
          <a:p>
            <a:pPr algn="l"/>
            <a:r>
              <a:rPr sz="975" b="0">
                <a:solidFill>
                  <a:srgbClr val="E8F1F5"/>
                </a:solidFill>
                <a:latin typeface="Calibri"/>
              </a:rPr>
              <a:t>Common questions:</a:t>
            </a:r>
          </a:p>
          <a:p>
            <a:pPr algn="l"/>
            <a:r>
              <a:rPr sz="975" b="0">
                <a:solidFill>
                  <a:srgbClr val="E8F1F5"/>
                </a:solidFill>
                <a:latin typeface="Calibri"/>
              </a:rPr>
              <a:t/>
            </a:r>
          </a:p>
          <a:p>
            <a:pPr algn="l"/>
            <a:r>
              <a:rPr sz="975" b="0">
                <a:solidFill>
                  <a:srgbClr val="E8F1F5"/>
                </a:solidFill>
                <a:latin typeface="Calibri"/>
              </a:rPr>
              <a:t>• Why use a pre-trained model vs train your own?</a:t>
            </a:r>
          </a:p>
          <a:p>
            <a:pPr algn="l"/>
            <a:r>
              <a:rPr sz="975" b="0">
                <a:solidFill>
                  <a:srgbClr val="E8F1F5"/>
                </a:solidFill>
                <a:latin typeface="Calibri"/>
              </a:rPr>
              <a:t/>
            </a:r>
          </a:p>
          <a:p>
            <a:pPr algn="l"/>
            <a:r>
              <a:rPr sz="975" b="0">
                <a:solidFill>
                  <a:srgbClr val="E8F1F5"/>
                </a:solidFill>
                <a:latin typeface="Calibri"/>
              </a:rPr>
              <a:t>• When should I trust the confidence score?</a:t>
            </a:r>
          </a:p>
          <a:p>
            <a:pPr algn="l"/>
            <a:r>
              <a:rPr sz="975" b="0">
                <a:solidFill>
                  <a:srgbClr val="E8F1F5"/>
                </a:solidFill>
                <a:latin typeface="Calibri"/>
              </a:rPr>
              <a:t/>
            </a:r>
          </a:p>
          <a:p>
            <a:pPr algn="l"/>
            <a:r>
              <a:rPr sz="975" b="0">
                <a:solidFill>
                  <a:srgbClr val="E8F1F5"/>
                </a:solidFill>
                <a:latin typeface="Calibri"/>
              </a:rPr>
              <a:t>• What if my problem doesn't fit any of the three categories?</a:t>
            </a:r>
          </a:p>
          <a:p>
            <a:pPr algn="l"/>
            <a:r>
              <a:rPr sz="975" b="0">
                <a:solidFill>
                  <a:srgbClr val="E8F1F5"/>
                </a:solidFill>
                <a:latin typeface="Calibri"/>
              </a:rPr>
              <a:t/>
            </a:r>
          </a:p>
          <a:p>
            <a:pPr algn="l"/>
            <a:r>
              <a:rPr sz="975" b="0">
                <a:solidFill>
                  <a:srgbClr val="E8F1F5"/>
                </a:solidFill>
                <a:latin typeface="Calibri"/>
              </a:rPr>
              <a:t>• Will we train neural networks in this course?</a:t>
            </a:r>
          </a:p>
        </p:txBody>
      </p:sp>
      <p:sp>
        <p:nvSpPr>
          <p:cNvPr id="17" name="TextBox 16"/>
          <p:cNvSpPr txBox="1"/>
          <p:nvPr/>
        </p:nvSpPr>
        <p:spPr>
          <a:xfrm>
            <a:off x="4903470" y="4114800"/>
            <a:ext cx="3703320" cy="342900"/>
          </a:xfrm>
          <a:prstGeom prst="rect">
            <a:avLst/>
          </a:prstGeom>
          <a:noFill/>
        </p:spPr>
        <p:txBody>
          <a:bodyPr wrap="square" lIns="0" rIns="0" tIns="0" bIns="0" anchor="t">
            <a:spAutoFit/>
          </a:bodyPr>
          <a:lstStyle/>
          <a:p>
            <a:pPr algn="l"/>
            <a:r>
              <a:rPr sz="975" b="1">
                <a:solidFill>
                  <a:srgbClr val="F9E795"/>
                </a:solidFill>
                <a:latin typeface="Calibri"/>
              </a:rPr>
              <a:t>Bring your own — every question helps the room.</a:t>
            </a:r>
          </a:p>
        </p:txBody>
      </p:sp>
      <p:pic>
        <p:nvPicPr>
          <p:cNvPr id="19" name="Picture 18"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AIA_1920x1080_1" id="{AE813658-6506-A745-B494-E9623D69A84F}" vid="{98D95D8B-1F05-BF49-9671-2CF52C7BA5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