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Lesson 1 of Module 3. ~90 min slides + ~90 min hands-on. Leave with a working mental model of ML and a model run end-to-end.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M1 summarised the past. M2 moved data. M3 changes the question: produce answers for data nobody has seen.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defining sentence of M3. Python, SQL, statistics carry forward; the engine that's new is learning from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Sarah Chen, second week as a Customer Experience Analyst. USB drive with 10,000 reviews. Every concept this lesson grounds in a moment from her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83 hours to hand-read 10,000 reviews. Sarah's first instinct: rule-based keyword matching. We'll see why it fails.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Rule-based: hand-code the answer. Feels concrete, but only handles what you anticipated.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Short, readable code. Works on simple reviews. Breaks on negation, sarcasm, mixed sentiment.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 blindness · negation · whack-a-mole. Three reasons rule-based NLP breaks at scale.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Paradigm flip — examples in, rules out. Training data becomes the new bottleneck.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Hugging Face etc — pre-trained models for common tasks. Start there before training your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code-along. Open 02_what_is_ml.ipynb. ~30 minutes. Stop at the 🟡 Extension marker.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Supervised — inputs AND correct answers. Sarah's sentiment task is supervised. L03 and L04 go deep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Unsupervised — no labels. Model finds structure. Customer segmentation is canonical. L05 covers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Reinforcement — agent + reward. Behind AlphaGo, RLHF. We recognise it; we don't build one in M3.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10-minute discussion notebook. Five business problems → categories. Discuss with neighbour.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steps, in order. Framing and data dominate the calendar — not training.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Beginners expect to spend their time training. Real projects spend 60-70% on framing/data.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Condensed cheatsheet. Use for every ML project — what happens + the most common mistake.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succeeds or fails at Step 1. A perfect model on the wrong question is worth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code-along. 04_ml_workflow.ipynb. About 20 minutes. Walk Sarah's project through the 7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Priya's question. ‘How SURE are we?’ → entire engine of L02.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Assignment moves Sarah to Lakeside Bank — same workflow, new domain. Q&amp;A: bring your 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NANYANG TECHNOLOGICAL UNIVERSITY  ·  (SCTP) ADVANCED PROFESSIONAL CERTIFICATE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Module 3  ·  Machine Learning &amp; GenAI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109728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0" spc="-100" kern="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How Machines
</a:t>
            </a:r>
            <a:pPr indent="0" marL="0">
              <a:buNone/>
            </a:pPr>
            <a:r>
              <a:rPr lang="en-US" sz="7800" b="1" spc="-1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Learn.</a:t>
            </a:r>
            <a:endParaRPr lang="en-US" sz="7800" dirty="0"/>
          </a:p>
        </p:txBody>
      </p:sp>
      <p:sp>
        <p:nvSpPr>
          <p:cNvPr id="7" name="Text 5"/>
          <p:cNvSpPr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FFFF">
                    <a:alpha val="8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Sarah's Week at NorthStar Retail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>
                    <a:alpha val="6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Format:  ~90 min slides  ·  ~90 min hands-on  ·  self-paced extensions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Where Does Machine Learning Fit?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2/22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I.  A BRIDGE FROM M1 → M2 → M3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Same toolkit. Fundamentally new question.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611880" cy="45720"/>
          </a:xfrm>
          <a:prstGeom prst="rect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240280"/>
            <a:ext cx="3611880" cy="3977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359152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M1  ·  Data Analytics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26974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Summarise the past.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77240" y="3429000"/>
            <a:ext cx="31546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Describe what happened.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892040"/>
            <a:ext cx="3154680" cy="114300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892040"/>
            <a:ext cx="45720" cy="1143000"/>
          </a:xfrm>
          <a:prstGeom prst="rect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983480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SARAH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5230368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“Reviews dropped 12% last month.”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279392" y="2194560"/>
            <a:ext cx="3611880" cy="4572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79392" y="2240280"/>
            <a:ext cx="3611880" cy="3977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07992" y="2359152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E749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M2  ·  Data Engineering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07992" y="26974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Move &amp; store reliably.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4507992" y="3429000"/>
            <a:ext cx="31546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Build the pipes between systems.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507992" y="4892040"/>
            <a:ext cx="3154680" cy="114300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07992" y="4892040"/>
            <a:ext cx="45720" cy="11430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45152" y="4983480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E749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SARAH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45152" y="5230368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“Reviews land in the warehouse every night.”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010144" y="2194560"/>
            <a:ext cx="361188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10144" y="2240280"/>
            <a:ext cx="3611880" cy="3977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10144" y="1901952"/>
            <a:ext cx="3611880" cy="2743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10144" y="1901952"/>
            <a:ext cx="3611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0" kern="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ARE HERE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38744" y="2359152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M3  ·  Machine Learning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238744" y="2697480"/>
            <a:ext cx="3154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Predict the unseen.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8238744" y="3429000"/>
            <a:ext cx="31546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Label or forecast things no human has seen yet.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8238744" y="4892040"/>
            <a:ext cx="3154680" cy="114300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38744" y="4892040"/>
            <a:ext cx="45720" cy="1143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75904" y="4983480"/>
            <a:ext cx="2971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SARAH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375904" y="5230368"/>
            <a:ext cx="29718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“Label 10,000 reviews — positive or negative.”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Shift in M3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3/22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II.  THE DEFINING SHIFT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Same toolkit (Python, SQL, stats) — fundamentally new question.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11091672" cy="137160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194560"/>
            <a:ext cx="45720" cy="13716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28600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DEFINING SHIFT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260604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“Instead of describing data that already has answers, you are asking a computer to </a:t>
            </a:r>
            <a:pPr indent="0" marL="0">
              <a:buNone/>
            </a:pPr>
            <a:r>
              <a:rPr lang="en-US" sz="2200" b="1" i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produce answers for data the team has never seen.</a:t>
            </a:r>
            <a:pPr indent="0" marL="0">
              <a:buNone/>
            </a:pPr>
            <a:r>
              <a:rPr lang="en-US" sz="22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”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5440680" cy="45720"/>
          </a:xfrm>
          <a:prstGeom prst="rect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977640"/>
            <a:ext cx="544068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11480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YOU ALREADY HAVE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4526280"/>
            <a:ext cx="498348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  Python · SQL · pandas · matplotlib · descriptive statistics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  Reading data, joining tables, cleaning columns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  Producing charts and dashboards that summarise the past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72200" y="3931920"/>
            <a:ext cx="544068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3977640"/>
            <a:ext cx="544068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411480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IS GENUINELY NEW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0" y="4526280"/>
            <a:ext cx="498348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 </a:t>
            </a:r>
            <a:pPr indent="0" marL="0"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Learning from examples — the engine that lets a computer handle scale no team could process by hand.
</a:t>
            </a:r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+  </a:t>
            </a:r>
            <a:pPr indent="0" marL="0"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new vocabulary: training · inference · features · labels · supervised vs unsupervised.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Meet Sarah Chen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4/22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III.  A NORTHSTAR RETAIL CASE STUDY  ·  WEEK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Meet Sarah Chen.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Customer Experience Analyst, NorthStar Retail — our protagonist for all of M3.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384048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331720"/>
            <a:ext cx="3840480" cy="3977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91640" y="2606040"/>
            <a:ext cx="1554480" cy="15544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91640" y="2606040"/>
            <a:ext cx="1554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822960" y="42976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Sarah Chen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22960" y="47548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Customer Experience Analyst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51206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NORTHSTAR RETAIL  ·  2ND WEEK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5532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Smart, motivated, a little nervous.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First real ML task this week.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54880" y="2286000"/>
            <a:ext cx="6858000" cy="402336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54880" y="2286000"/>
            <a:ext cx="45720" cy="40233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0" y="2514600"/>
            <a:ext cx="6309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HER FIRST BIG ASK, DROPPED ON HER DESK: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0" y="2926080"/>
            <a:ext cx="63093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“By Friday, I need to know which of these </a:t>
            </a:r>
            <a:pPr indent="0" marL="0">
              <a:buNone/>
            </a:pPr>
            <a:r>
              <a:rPr lang="en-US" sz="2000" b="1" i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10,000 customer reviews</a:t>
            </a:r>
            <a:pPr indent="0" marL="0">
              <a:buNone/>
            </a:pPr>
            <a:r>
              <a:rPr lang="en-US" sz="20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are positive and which are negative.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Hand-reading them would take a full work-week.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Figure something out.”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029200" y="5806440"/>
            <a:ext cx="6309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4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— Priya  ·  Sarah's manager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Scale Problem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5/22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IV.  WHY SARAH CAN'T JUST READ THEM ALL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10,000 reviews. Five days. Do the maths.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2606040" cy="45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33172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514600"/>
            <a:ext cx="2606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10,000</a:t>
            </a:r>
            <a:endParaRPr lang="en-US" sz="5000" dirty="0"/>
          </a:p>
        </p:txBody>
      </p:sp>
      <p:sp>
        <p:nvSpPr>
          <p:cNvPr id="11" name="Text 9"/>
          <p:cNvSpPr/>
          <p:nvPr/>
        </p:nvSpPr>
        <p:spPr>
          <a:xfrm>
            <a:off x="731520" y="35204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Customer reviews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91840" y="2286000"/>
            <a:ext cx="2606040" cy="45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233172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2514600"/>
            <a:ext cx="2606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~30s</a:t>
            </a:r>
            <a:endParaRPr lang="en-US" sz="5000" dirty="0"/>
          </a:p>
        </p:txBody>
      </p:sp>
      <p:sp>
        <p:nvSpPr>
          <p:cNvPr id="15" name="Text 13"/>
          <p:cNvSpPr/>
          <p:nvPr/>
        </p:nvSpPr>
        <p:spPr>
          <a:xfrm>
            <a:off x="3474720" y="35204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 read each carefully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035040" y="2286000"/>
            <a:ext cx="260604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35040" y="233172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0" y="2514600"/>
            <a:ext cx="2606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83 hrs</a:t>
            </a:r>
            <a:endParaRPr lang="en-US" sz="5000" dirty="0"/>
          </a:p>
        </p:txBody>
      </p:sp>
      <p:sp>
        <p:nvSpPr>
          <p:cNvPr id="19" name="Text 17"/>
          <p:cNvSpPr/>
          <p:nvPr/>
        </p:nvSpPr>
        <p:spPr>
          <a:xfrm>
            <a:off x="6217920" y="35204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 read them all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778240" y="2286000"/>
            <a:ext cx="2606040" cy="45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78240" y="233172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0" y="2514600"/>
            <a:ext cx="2606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 days</a:t>
            </a:r>
            <a:endParaRPr lang="en-US" sz="5000" dirty="0"/>
          </a:p>
        </p:txBody>
      </p:sp>
      <p:sp>
        <p:nvSpPr>
          <p:cNvPr id="23" name="Text 21"/>
          <p:cNvSpPr/>
          <p:nvPr/>
        </p:nvSpPr>
        <p:spPr>
          <a:xfrm>
            <a:off x="8961120" y="35204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Until Priya's meeting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572000"/>
            <a:ext cx="11091672" cy="164592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572000"/>
            <a:ext cx="45720" cy="16459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70916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SARAH'S FIRST THOUGHT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7240" y="498348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“What if I just look for </a:t>
            </a:r>
            <a:pPr indent="0" marL="0">
              <a:buNone/>
            </a:pPr>
            <a:r>
              <a:rPr lang="en-US" sz="1800" b="1" i="1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happy words</a:t>
            </a:r>
            <a:pPr indent="0" marL="0">
              <a:buNone/>
            </a:pPr>
            <a:r>
              <a:rPr lang="en-US" sz="18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and </a:t>
            </a:r>
            <a:pPr indent="0" marL="0">
              <a:buNone/>
            </a:pPr>
            <a:r>
              <a:rPr lang="en-US" sz="1800" b="1" i="1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sad words</a:t>
            </a:r>
            <a:pPr indent="0" marL="0">
              <a:buNone/>
            </a:pPr>
            <a:r>
              <a:rPr lang="en-US" sz="18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?  Tally them up?”
</a:t>
            </a:r>
            <a:pPr indent="0" marL="0">
              <a:buNone/>
            </a:pPr>
            <a:r>
              <a:rPr lang="en-US" sz="1800" b="1" i="1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  That's rule-based programming. Let's try it.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Approach 1: Rule-Based Programming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6/22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V.  THE WAY PROGRAMMING WORKED BEFORE ML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Approach 1 — Rule-based programming.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5943600" cy="45720"/>
          </a:xfrm>
          <a:prstGeom prst="rect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331720"/>
            <a:ext cx="5943600" cy="3977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4688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PLAN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2971800"/>
            <a:ext cx="320040" cy="32004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34440" y="2926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List positive words:  love, perfect, great, nice…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22960" y="3685032"/>
            <a:ext cx="320040" cy="32004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68503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34440" y="3639312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List negative words:  terrible, cheap, bad, awful…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22960" y="4398264"/>
            <a:ext cx="320040" cy="32004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3982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4352544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 each review, count hits on each list.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22960" y="5111496"/>
            <a:ext cx="320040" cy="320040"/>
          </a:xfrm>
          <a:prstGeom prst="ellipse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11149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34440" y="5065776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Whichever count is bigger wins.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720840" y="2286000"/>
            <a:ext cx="4919472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20840" y="2331720"/>
            <a:ext cx="4919472" cy="3977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95160" y="2468880"/>
            <a:ext cx="44622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HALLMARKS OF RULE-BASED CODE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95160" y="29718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6B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360920" y="2926080"/>
            <a:ext cx="4096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write the rules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995160" y="34290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6B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360920" y="3383280"/>
            <a:ext cx="4096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Computer follows them exactly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995160" y="38862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6B3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360920" y="3840480"/>
            <a:ext cx="4096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Deterministic — same input, same output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95160" y="43434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✗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7360920" y="4297680"/>
            <a:ext cx="4096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Only handles cases the rules covered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995160" y="48006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✗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7360920" y="4754880"/>
            <a:ext cx="4096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Maintenance is whack-a-mole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995160" y="52578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✗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360920" y="5212080"/>
            <a:ext cx="4096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 notion of ‘confidence’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Rule-Based Code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7/22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VI.  SIMPLE, SHORT, AND BRITTLE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code itself: short, readable — and quietly fragile.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3474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011680"/>
            <a:ext cx="54864" cy="3474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43032" y="21488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PYTHON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2331720"/>
            <a:ext cx="10543032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positive_words = ["love", "perfect", "great", "nice", "soft"]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negative_words = ["terrible", "cheap", "disappointed", "bad", "late"]</a:t>
            </a:r>
            <a:endParaRPr lang="en-US" sz="1450" dirty="0"/>
          </a:p>
          <a:p>
            <a:pPr indent="0" marL="0">
              <a:buNone/>
            </a:pP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rule_based_sentiment(review):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review.lower()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pos_hits = sum(1 for w in positive_words if w in text)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neg_hits = sum(1 for w in negative_words if w in text)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pos_hits &gt; neg_hits:   return "POSITIVE"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neg_hits &gt; pos_hits: return "NEGATIVE"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                     return "NEUTRAL"</a:t>
            </a:r>
            <a:endParaRPr lang="en-US" sz="1450" dirty="0"/>
          </a:p>
          <a:p>
            <a:pPr indent="0" marL="0">
              <a:buNone/>
            </a:pP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 in reviews: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print(f"{rule_based_sentiment(r):&gt;9} | {r}")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48640" y="5669280"/>
            <a:ext cx="11091672" cy="77724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5669280"/>
            <a:ext cx="45720" cy="7772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715000"/>
            <a:ext cx="105430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QUESTION  </a:t>
            </a:r>
            <a:pPr indent="0" marL="0">
              <a:buNone/>
            </a:pPr>
            <a:r>
              <a:rPr lang="en-US" sz="150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·  How well does this handle  </a:t>
            </a:r>
            <a:pPr indent="0" marL="0">
              <a:buNone/>
            </a:pPr>
            <a:r>
              <a:rPr lang="en-US" sz="1500" b="1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"Terrible shipping — product itself is fine"</a:t>
            </a:r>
            <a:pPr indent="0" marL="0">
              <a:buNone/>
            </a:pPr>
            <a:r>
              <a:rPr lang="en-US" sz="150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?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Why Rule-Based Fails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8/22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VII.  THREE FAILURE MODES — AND THEY COMPOUND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Three ways rules quietly break.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70332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240280"/>
            <a:ext cx="3703320" cy="3886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774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#1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22960" y="297180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Context blindness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22960" y="3566160"/>
            <a:ext cx="31546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“Terrible shipping — product itself is fine.”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466344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Rules see ‘terrible’ and ‘fine’ but don't know what each word refers to.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5669280"/>
            <a:ext cx="3703320" cy="45720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66928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Result: Incorrectly tagged NEGATIVE.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61688" y="2194560"/>
            <a:ext cx="370332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61688" y="2240280"/>
            <a:ext cx="3703320" cy="3886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36008" y="23774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#2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4636008" y="297180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Negation flips meaning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636008" y="3566160"/>
            <a:ext cx="31546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“Not what I expected — actually really nice in person!”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636008" y="466344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‘not’ inverts the sentiment of the next phrase. Word-counting misses this.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361688" y="5669280"/>
            <a:ext cx="3703320" cy="45720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36008" y="566928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Result: Rules tag NEUTRAL or NEGATIVE.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74736" y="2194560"/>
            <a:ext cx="370332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74736" y="2240280"/>
            <a:ext cx="3703320" cy="3886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49056" y="23774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#3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8449056" y="297180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Endless whack-a-mole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8449056" y="3566160"/>
            <a:ext cx="31546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Every new review surfaces a new edge case.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449056" y="4663440"/>
            <a:ext cx="31546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rule list grows 10 → 100 → 1,000 — and conflicts start.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174736" y="5669280"/>
            <a:ext cx="3703320" cy="45720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49056" y="566928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Result: Maintenance cost balloons.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Approach 2: Machine Learning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9/22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VIII.  THE PARADIGM FLIP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Stop writing rules. Start providing examples.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5440680" cy="45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240280"/>
            <a:ext cx="54406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3774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TRADITIONAL PROGRAMMING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2788920"/>
            <a:ext cx="4983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write the rules.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Computer follows them.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77240" y="4023360"/>
            <a:ext cx="4983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spc="500" kern="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INPUT  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rules + data
</a:t>
            </a:r>
            <a:pPr indent="0" marL="0">
              <a:spcAft>
                <a:spcPts val="600"/>
              </a:spcAft>
              <a:buNone/>
            </a:pPr>
            <a:r>
              <a:rPr lang="en-US" sz="1500" b="1" spc="500" kern="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OUTPUT 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deterministic answer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2200" y="2194560"/>
            <a:ext cx="544068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2240280"/>
            <a:ext cx="54406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23774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0" y="2788920"/>
            <a:ext cx="4983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provide the examples.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Computer discovers the rules.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400800" y="4023360"/>
            <a:ext cx="4983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INPUT  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examples (data + correct answers)
</a:t>
            </a:r>
            <a:pPr indent="0" marL="0">
              <a:spcAft>
                <a:spcPts val="600"/>
              </a:spcAft>
              <a:buNone/>
            </a:pPr>
            <a:r>
              <a:rPr lang="en-US" sz="15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OUTPUT 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prediction + confidence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486400"/>
            <a:ext cx="11091672" cy="100584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5486400"/>
            <a:ext cx="45720" cy="10058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57784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“In traditional programming, you write the </a:t>
            </a:r>
            <a:pPr indent="0" marL="0">
              <a:buNone/>
            </a:pPr>
            <a:r>
              <a:rPr lang="en-US" sz="1800" b="1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rules</a:t>
            </a:r>
            <a:pPr indent="0" marL="0">
              <a:buNone/>
            </a:pPr>
            <a:r>
              <a:rPr lang="en-US" sz="18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 In ML, you write the </a:t>
            </a:r>
            <a:pPr indent="0" marL="0">
              <a:buNone/>
            </a:pPr>
            <a:r>
              <a:rPr lang="en-US" sz="1800" b="1" i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examples</a:t>
            </a:r>
            <a:pPr indent="0" marL="0">
              <a:buNone/>
            </a:pPr>
            <a:r>
              <a:rPr lang="en-US" sz="18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— and the computer discovers the rules.”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Pre-trained Models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10/22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IX.  THE SHORTCUT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Someone has often already trained the model for you.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11091672" cy="109728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011680"/>
            <a:ext cx="45720" cy="10972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10312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INSIGHT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237744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 common tasks (sentiment, translation, image classification) — </a:t>
            </a:r>
            <a:pPr indent="0" marL="0">
              <a:buNone/>
            </a:pPr>
            <a:r>
              <a:rPr lang="en-US" sz="1600" b="1" i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someone has already trained a great model.</a:t>
            </a:r>
            <a:pPr indent="0" marL="0">
              <a:buNone/>
            </a:pPr>
            <a:r>
              <a:rPr lang="en-US" sz="16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Load it. Use it. Don't train from scratch unless your task is genuinely unique.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474720"/>
            <a:ext cx="5440680" cy="45720"/>
          </a:xfrm>
          <a:prstGeom prst="rect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520440"/>
            <a:ext cx="5440680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65760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WHERE THEY COME FROM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4069080"/>
            <a:ext cx="49834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Hugging Face — open repository (hundreds of models)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OpenAI, Anthropic, Google — large hosted models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Industry-specific repos (medical, legal, finance)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Research labs — published with each new paper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72200" y="3474720"/>
            <a:ext cx="544068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72200" y="3520440"/>
            <a:ext cx="5440680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365760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SARAH GETS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0" y="4069080"/>
            <a:ext cx="49834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  A POSITIVE / NEGATIVE label for every review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  A confidence score (e.g. 97% POSITIVE)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  Can filter to ‘NEGATIVE with &gt;90% confidence’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✓  Runs in minutes — not a workweek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448495" y="63550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FFFFFF">
                    <a:alpha val="6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11/22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CODE-ALONG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651760" y="6400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HANDS-ON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Open:  02_what_is_ml.ipynb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you'll do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411480" cy="4114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063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30175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>
                    <a:alpha val="9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Run the rule-based sentiment function on 5 reviews — see exactly where it fails.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411480" cy="4114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657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361188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>
                    <a:alpha val="9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Load a pre-trained sentiment model and re-run on the same 5 reviews.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48640" y="4251960"/>
            <a:ext cx="411480" cy="4114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51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420624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>
                    <a:alpha val="9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Notice the confidence score — and what it signals about ambiguous reviews.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5212080"/>
            <a:ext cx="11091672" cy="914400"/>
          </a:xfrm>
          <a:prstGeom prst="rect">
            <a:avLst/>
          </a:prstGeom>
          <a:solidFill>
            <a:srgbClr val="1E3054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21208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⏱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1645920" y="5212080"/>
            <a:ext cx="98115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30 minutes</a:t>
            </a:r>
            <a:pPr indent="0" marL="0">
              <a:buNone/>
            </a:pPr>
            <a:r>
              <a:rPr lang="en-US" sz="140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  ·    Stop at the 🟡 Extension marker    ·    Extension is self-paced after class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Category 1: Supervised Learning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12/22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X.  THREE CATEGORIES OF ML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143000"/>
            <a:ext cx="1188720" cy="365760"/>
          </a:xfrm>
          <a:prstGeom prst="rect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#1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28800" y="10515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Supervised Learning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548640" y="1828800"/>
            <a:ext cx="11091672" cy="118872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828800"/>
            <a:ext cx="45720" cy="1188720"/>
          </a:xfrm>
          <a:prstGeom prst="rect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92024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PLAIN ENGLISH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21945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give the model inputs and correct answers. It learns to map new inputs to answers it hasn't seen yet.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5440680" cy="45720"/>
          </a:xfrm>
          <a:prstGeom prst="rect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337560"/>
            <a:ext cx="5440680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47472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REAL-WORLD ANALOGY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886200"/>
            <a:ext cx="49834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student studying past exam papers with answer keys. Many questions, many correct answers. Over time the student learns the patterns and can answer new questions on their own.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72200" y="3291840"/>
            <a:ext cx="5440680" cy="45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3337560"/>
            <a:ext cx="5440680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347472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BUSINESS USE CASES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0" y="3886200"/>
            <a:ext cx="49834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Churn prediction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Fraud detection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Demand forecasting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Sentiment / text classification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Medical risk scoring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Image labelling (cat vs dog)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Category 2: Unsupervised Learning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13/22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XI.  THREE CATEGORIES OF ML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143000"/>
            <a:ext cx="1188720" cy="365760"/>
          </a:xfrm>
          <a:prstGeom prst="rect">
            <a:avLst/>
          </a:prstGeom>
          <a:solidFill>
            <a:srgbClr val="6B4C9A"/>
          </a:solidFill>
          <a:ln w="12700">
            <a:solidFill>
              <a:srgbClr val="6B4C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#2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28800" y="10515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Unsupervised Learning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548640" y="1828800"/>
            <a:ext cx="11091672" cy="118872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828800"/>
            <a:ext cx="45720" cy="1188720"/>
          </a:xfrm>
          <a:prstGeom prst="rect">
            <a:avLst/>
          </a:prstGeom>
          <a:solidFill>
            <a:srgbClr val="6B4C9A"/>
          </a:solidFill>
          <a:ln w="12700">
            <a:solidFill>
              <a:srgbClr val="6B4C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92024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6B4C9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PLAIN ENGLISH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21945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 give the model inputs with no answers. It finds groups, patterns, or anomalies on its own.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5440680" cy="45720"/>
          </a:xfrm>
          <a:prstGeom prst="rect">
            <a:avLst/>
          </a:prstGeom>
          <a:solidFill>
            <a:srgbClr val="6B4C9A"/>
          </a:solidFill>
          <a:ln w="12700">
            <a:solidFill>
              <a:srgbClr val="6B4C9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337560"/>
            <a:ext cx="5440680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47472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6B4C9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REAL-WORLD ANALOGY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886200"/>
            <a:ext cx="49834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librarian with a crate of unlabelled books. She groups them by 'these feel similar' — romance here, mystery there — without anyone telling her what the genres are.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72200" y="3291840"/>
            <a:ext cx="5440680" cy="45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3337560"/>
            <a:ext cx="5440680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347472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BUSINESS USE CASES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0" y="3886200"/>
            <a:ext cx="49834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Customer segmentation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Anomaly detection in logs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Topic discovery in reviews/tickets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Recommendation cohorts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Pre-processing for downstream supervised models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Category 3: Reinforcement Learning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14/22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XII.  THREE CATEGORIES OF ML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143000"/>
            <a:ext cx="1188720" cy="3657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430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#3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28800" y="10515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Reinforcement Learning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548640" y="1828800"/>
            <a:ext cx="11091672" cy="118872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828800"/>
            <a:ext cx="45720" cy="118872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92024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2410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PLAIN ENGLISH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7240" y="219456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 agent acts in an environment. It receives rewards or penalties. It learns the best policy by trial and error.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5440680" cy="4572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337560"/>
            <a:ext cx="5440680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47472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2410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REAL-WORLD ANALOGY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886200"/>
            <a:ext cx="49834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Training a dog with treats. Sit → treat. Bark at the mailman → no treat. Over time the dog learns which actions pay off.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72200" y="3291840"/>
            <a:ext cx="5440680" cy="457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3337560"/>
            <a:ext cx="5440680" cy="2971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347472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BUSINESS USE CASES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0" y="3886200"/>
            <a:ext cx="49834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AlphaGo, chess-playing AIs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Robot control (warehouse pick-and-pack)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Large-scale recommendation engines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RLHF in modern LLMs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Game-playing agents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→ Not built in this course (recognise, don't implement).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448495" y="63550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FFFFFF">
                    <a:alpha val="6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15/22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DISCUSSION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651760" y="6400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CONCEPT CHECK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6D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Open:  03_three_categories.ipynb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Read &amp; discuss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411480" cy="411480"/>
          </a:xfrm>
          <a:prstGeom prst="ellipse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063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30175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>
                    <a:alpha val="9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Read the three category descriptions.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411480" cy="411480"/>
          </a:xfrm>
          <a:prstGeom prst="ellipse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657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97280" y="361188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>
                    <a:alpha val="9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Try the five business problems — match each to a category.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48640" y="4251960"/>
            <a:ext cx="411480" cy="411480"/>
          </a:xfrm>
          <a:prstGeom prst="ellipse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51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97280" y="420624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>
                    <a:alpha val="9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Compare your answers with a neighbour before checking the key.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5212080"/>
            <a:ext cx="11091672" cy="914400"/>
          </a:xfrm>
          <a:prstGeom prst="rect">
            <a:avLst/>
          </a:prstGeom>
          <a:solidFill>
            <a:srgbClr val="1E3054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21208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3D6DB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⏱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1645920" y="5212080"/>
            <a:ext cx="98115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 minutes</a:t>
            </a:r>
            <a:pPr indent="0" marL="0">
              <a:buNone/>
            </a:pPr>
            <a:r>
              <a:rPr lang="en-US" sz="140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  ·    Concept-only notebook (no Extension)    ·    Discuss freely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7-Step ML Workflow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16/22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XIII.  THE MAP EVERY REAL PROJECT FOLLOWS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Seven steps. In order. Every time.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1537498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340864"/>
            <a:ext cx="1537498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468880"/>
            <a:ext cx="126317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685800" y="3383280"/>
            <a:ext cx="1263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Frame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5800" y="3840480"/>
            <a:ext cx="126317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Question · success metric · who acts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141002" y="2286000"/>
            <a:ext cx="1537498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41002" y="2340864"/>
            <a:ext cx="1537498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78162" y="2468880"/>
            <a:ext cx="126317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2278162" y="3383280"/>
            <a:ext cx="1263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Collect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278162" y="3840480"/>
            <a:ext cx="126317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Where does the data live?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733365" y="2286000"/>
            <a:ext cx="1537498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33365" y="2340864"/>
            <a:ext cx="1537498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70525" y="2468880"/>
            <a:ext cx="126317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5400" dirty="0"/>
          </a:p>
        </p:txBody>
      </p:sp>
      <p:sp>
        <p:nvSpPr>
          <p:cNvPr id="21" name="Text 19"/>
          <p:cNvSpPr/>
          <p:nvPr/>
        </p:nvSpPr>
        <p:spPr>
          <a:xfrm>
            <a:off x="3870525" y="3383280"/>
            <a:ext cx="1263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Clean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870525" y="3840480"/>
            <a:ext cx="126317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Missing · duplicates · bias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25727" y="2286000"/>
            <a:ext cx="1537498" cy="5486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25727" y="2340864"/>
            <a:ext cx="1537498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62887" y="2468880"/>
            <a:ext cx="126317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5400" dirty="0"/>
          </a:p>
        </p:txBody>
      </p:sp>
      <p:sp>
        <p:nvSpPr>
          <p:cNvPr id="26" name="Text 24"/>
          <p:cNvSpPr/>
          <p:nvPr/>
        </p:nvSpPr>
        <p:spPr>
          <a:xfrm>
            <a:off x="5462887" y="3383280"/>
            <a:ext cx="1263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62887" y="3840480"/>
            <a:ext cx="126317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Fit or reuse a model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18089" y="2286000"/>
            <a:ext cx="1537498" cy="5486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18089" y="2340864"/>
            <a:ext cx="1537498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55249" y="2468880"/>
            <a:ext cx="126317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</a:t>
            </a:r>
            <a:endParaRPr lang="en-US" sz="5400" dirty="0"/>
          </a:p>
        </p:txBody>
      </p:sp>
      <p:sp>
        <p:nvSpPr>
          <p:cNvPr id="31" name="Text 29"/>
          <p:cNvSpPr/>
          <p:nvPr/>
        </p:nvSpPr>
        <p:spPr>
          <a:xfrm>
            <a:off x="7055249" y="3383280"/>
            <a:ext cx="1263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Evaluate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055249" y="3840480"/>
            <a:ext cx="126317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Hold-out test · where wrong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510451" y="2286000"/>
            <a:ext cx="1537498" cy="54864"/>
          </a:xfrm>
          <a:prstGeom prst="rect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510451" y="2340864"/>
            <a:ext cx="1537498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647611" y="2468880"/>
            <a:ext cx="126317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</a:t>
            </a:r>
            <a:endParaRPr lang="en-US" sz="5400" dirty="0"/>
          </a:p>
        </p:txBody>
      </p:sp>
      <p:sp>
        <p:nvSpPr>
          <p:cNvPr id="36" name="Text 34"/>
          <p:cNvSpPr/>
          <p:nvPr/>
        </p:nvSpPr>
        <p:spPr>
          <a:xfrm>
            <a:off x="8647611" y="3383280"/>
            <a:ext cx="1263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Deploy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647611" y="3840480"/>
            <a:ext cx="126317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Pipeline · dashboard · API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0102814" y="2286000"/>
            <a:ext cx="1537498" cy="54864"/>
          </a:xfrm>
          <a:prstGeom prst="rect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102814" y="2340864"/>
            <a:ext cx="1537498" cy="36027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239974" y="2468880"/>
            <a:ext cx="126317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</a:t>
            </a:r>
            <a:endParaRPr lang="en-US" sz="5400" dirty="0"/>
          </a:p>
        </p:txBody>
      </p:sp>
      <p:sp>
        <p:nvSpPr>
          <p:cNvPr id="41" name="Text 39"/>
          <p:cNvSpPr/>
          <p:nvPr/>
        </p:nvSpPr>
        <p:spPr>
          <a:xfrm>
            <a:off x="10239974" y="3383280"/>
            <a:ext cx="12631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Monitor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0239974" y="3840480"/>
            <a:ext cx="126317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world changes; models decay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12648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■ </a:t>
            </a:r>
            <a:pPr algn="ctr" indent="0" marL="0">
              <a:buNone/>
            </a:pPr>
            <a:r>
              <a:rPr lang="en-US" sz="1300" b="1" spc="2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Frame · Collect · Clean (≈65%)        </a:t>
            </a:r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■ </a:t>
            </a:r>
            <a:pPr algn="ctr" indent="0" marL="0">
              <a:buNone/>
            </a:pPr>
            <a:r>
              <a:rPr lang="en-US" sz="1300" b="1" spc="2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 · Evaluate (≈18%)        </a:t>
            </a:r>
            <a:pPr algn="ctr" indent="0" marL="0">
              <a:buNone/>
            </a:pPr>
            <a:r>
              <a:rPr lang="en-US" sz="1300" b="1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■ </a:t>
            </a:r>
            <a:pPr algn="ctr" indent="0" marL="0">
              <a:buNone/>
            </a:pPr>
            <a:r>
              <a:rPr lang="en-US" sz="1300" b="1" spc="2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Deploy · Monitor (≈17%)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Where the Time Actually Goes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17/22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XIV.  60–70% OF A REAL PROJECT IS BEFORE MODELLING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Beginners expect the opposite. They're wrong.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22860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Steps 1-3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2651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Frame · Collect · Clean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17520" y="2331720"/>
            <a:ext cx="7434072" cy="54864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17520" y="2331720"/>
            <a:ext cx="4832147" cy="5486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51592" y="228600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60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65%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48640" y="34290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Steps 4-5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3794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Train · Evaluate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017520" y="3474720"/>
            <a:ext cx="7434072" cy="54864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17520" y="3474720"/>
            <a:ext cx="1115111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451592" y="342900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6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15%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548640" y="45720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Steps 6-7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48640" y="4937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Deploy · Monitor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017520" y="4617720"/>
            <a:ext cx="7434072" cy="54864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17520" y="4617720"/>
            <a:ext cx="1486814" cy="548640"/>
          </a:xfrm>
          <a:prstGeom prst="rect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51592" y="457200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60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20%</a:t>
            </a:r>
            <a:endParaRPr lang="en-US" sz="3600" dirty="0"/>
          </a:p>
        </p:txBody>
      </p:sp>
      <p:sp>
        <p:nvSpPr>
          <p:cNvPr id="23" name="Shape 21"/>
          <p:cNvSpPr/>
          <p:nvPr/>
        </p:nvSpPr>
        <p:spPr>
          <a:xfrm>
            <a:off x="548640" y="5852160"/>
            <a:ext cx="11091672" cy="731520"/>
          </a:xfrm>
          <a:prstGeom prst="rect">
            <a:avLst/>
          </a:prstGeom>
          <a:solidFill>
            <a:srgbClr val="F4F5F7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5852160"/>
            <a:ext cx="45720" cy="7315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89788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Senior practitioners earn their keep at </a:t>
            </a:r>
            <a:pPr indent="0" marL="0">
              <a:buNone/>
            </a:pPr>
            <a:r>
              <a:rPr lang="en-US" sz="1700" b="1" i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 1.</a:t>
            </a:r>
            <a:pPr indent="0" marL="0">
              <a:buNone/>
            </a:pPr>
            <a:r>
              <a:rPr lang="en-US" sz="17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Not at Step 4.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7 Steps — Cheatsheet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18/22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XV.  WHAT HAPPENS  ·  WHERE BEGINNERS GET STUCK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 this as your checklist. Every project.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167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572000"/>
                <a:gridCol w="42336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spc="400" kern="0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STEP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spc="400" kern="0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WHAT HAPPENS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spc="400" kern="0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WHERE BEGINNERS GET STUCK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8102E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1. Frame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D4D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Business question, success metric, cost of wrongness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i="1" dirty="0">
                          <a:solidFill>
                            <a:srgbClr val="C8102E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Skipping it entirely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8102E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 Collect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D4D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Gather features (and labels, if training)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i="1" dirty="0">
                          <a:solidFill>
                            <a:srgbClr val="C8102E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Assuming data exists when it doesn't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8102E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 Clean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D4D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Fix missing, remove duplicates, check for bias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i="1" dirty="0">
                          <a:solidFill>
                            <a:srgbClr val="C8102E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Underestimating how long this takes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4. Train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D4D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Fit a model — or reuse a pre-trained one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i="1" dirty="0">
                          <a:solidFill>
                            <a:srgbClr val="C8102E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 from scratch when one exists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A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5. Evaluate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D4D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Hold-out test · check WHERE it's wrong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i="1" dirty="0">
                          <a:solidFill>
                            <a:srgbClr val="C8102E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Reporting one accuracy number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5697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6. Deploy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D4D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Pipeline · dashboard · API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i="1" dirty="0">
                          <a:solidFill>
                            <a:srgbClr val="C8102E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Leaving the model stuck in a notebook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C5697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7. Monitor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33D4D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Track performance over time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i="1" dirty="0">
                          <a:solidFill>
                            <a:srgbClr val="C8102E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Assuming ‘trained once = good forever’</a:t>
                      </a:r>
                      <a:endParaRPr lang="en-US" sz="14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Step 1 Is Where Projects Live or Die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19/22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XVI.  FRAMING IS THE ONLY STEP YOU CAN'T SKIP AND RECOVER FROM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143000"/>
            <a:ext cx="1109167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“A beautifully trained model that solves the
</a:t>
            </a:r>
            <a:pPr indent="0" marL="0">
              <a:buNone/>
            </a:pPr>
            <a:r>
              <a:rPr lang="en-US" sz="3200" i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wrong problem </a:t>
            </a:r>
            <a:pPr indent="0" marL="0">
              <a:buNone/>
            </a:pPr>
            <a:r>
              <a:rPr lang="en-US" sz="3200" b="1" i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 worth zero.”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48640" y="278892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5F6B7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four questions every project must answer BEFORE touching data: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246120"/>
            <a:ext cx="544068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291840"/>
            <a:ext cx="54406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474720"/>
            <a:ext cx="548640" cy="54864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74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463040" y="342900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is the question?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3886200"/>
            <a:ext cx="4343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Be precise. ‘Reduce churn’ isn't a question. ‘Predict which customers cancel within 30 days’ is.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3246120"/>
            <a:ext cx="544068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72200" y="3291840"/>
            <a:ext cx="54406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3474720"/>
            <a:ext cx="548640" cy="54864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3474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086600" y="342900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Who acts on the answer?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086600" y="3886200"/>
            <a:ext cx="4343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If nobody acts, no model matters. The action defines what ‘good’ means.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800600"/>
            <a:ext cx="544068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846320"/>
            <a:ext cx="54406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7240" y="5029200"/>
            <a:ext cx="548640" cy="54864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5029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463040" y="498348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What's the success metric?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463040" y="5440680"/>
            <a:ext cx="4343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Define it before you build. Choose one. Resist adding more later.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172200" y="4800600"/>
            <a:ext cx="544068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72200" y="4846320"/>
            <a:ext cx="54406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0" y="5029200"/>
            <a:ext cx="548640" cy="54864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0" y="5029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7086600" y="4983480"/>
            <a:ext cx="4343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What's the cost of being wrong?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086600" y="5440680"/>
            <a:ext cx="4343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 a false positive worse than a false negative? Most domains have asymmetric costs.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448495" y="63550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FFFFFF">
                    <a:alpha val="6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20/22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48640" y="6400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CODE-ALONG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651760" y="6400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HANDS-ON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Open:  04_ml_workflow.ipynb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What you'll do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411480" cy="4114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063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30175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>
                    <a:alpha val="9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Run Sarah's sentiment project through each of the 7 workflow steps.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411480" cy="4114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657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361188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>
                    <a:alpha val="9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Identify the 5 questions she should have asked at Step 1.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48640" y="4251960"/>
            <a:ext cx="411480" cy="41148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51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420624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>
                    <a:alpha val="9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Spot-check the model against Sarah's hand-labels on 15 reviews.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5212080"/>
            <a:ext cx="11091672" cy="914400"/>
          </a:xfrm>
          <a:prstGeom prst="rect">
            <a:avLst/>
          </a:prstGeom>
          <a:solidFill>
            <a:srgbClr val="1E3054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21208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⏱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1645920" y="5212080"/>
            <a:ext cx="98115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 minutes</a:t>
            </a:r>
            <a:pPr indent="0" marL="0">
              <a:buNone/>
            </a:pPr>
            <a:r>
              <a:rPr lang="en-US" sz="140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   ·    Stop at the 🟡 Extension marker    ·    Hospital exercise is post-class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448495" y="63550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FFFFFF">
                    <a:alpha val="6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21/22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BRIDGE TO L02  ·  FRIDAY MORNING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>
                    <a:alpha val="75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Priya, after seeing Sarah's numbers…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1091672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“Sarah — the numbers look great.
</a:t>
            </a:r>
            <a:pPr indent="0" marL="0">
              <a:buNone/>
            </a:pPr>
            <a:r>
              <a:rPr lang="en-US" sz="2800" b="1" i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But HOW SURE are we?</a:t>
            </a:r>
            <a:pPr indent="0" marL="0">
              <a:buNone/>
            </a:pPr>
            <a:endParaRPr lang="en-US" sz="2800" dirty="0"/>
          </a:p>
          <a:p>
            <a:pPr indent="0" marL="0">
              <a:buNone/>
            </a:pPr>
            <a:endParaRPr lang="en-US" sz="2800" dirty="0"/>
          </a:p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model put a label on every review. How do we know it isn't </a:t>
            </a:r>
            <a:endParaRPr lang="en-US" sz="2800" dirty="0"/>
          </a:p>
          <a:p>
            <a:pPr indent="0" marL="0">
              <a:buNone/>
            </a:pPr>
            <a:r>
              <a:rPr lang="en-US" sz="2800" b="1" i="1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confidently wrong</a:t>
            </a:r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in ways we can't see from this deck?”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5212080"/>
            <a:ext cx="11091672" cy="1280160"/>
          </a:xfrm>
          <a:prstGeom prst="rect">
            <a:avLst/>
          </a:prstGeom>
          <a:solidFill>
            <a:srgbClr val="1E3054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5212080"/>
            <a:ext cx="54864" cy="12801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5349240"/>
            <a:ext cx="10634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LESSON 02  ·  PROBABILITY &amp; STATISTICS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5669280"/>
            <a:ext cx="10634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Distribution · Confidence Intervals · Hypothesis Testing — all in service of answering Priya.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68680" y="6080760"/>
            <a:ext cx="10634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Come to L02 ready to help Sarah answer the question.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Assignment Preview &amp; Q&amp;A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905695" y="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FFFFF">
                    <a:alpha val="70000"/>
                  </a:srgbClr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L01 · Slide 22/22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XVII.  SAME WORKFLOW · NEW CLIENT · NEW DOMAIN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Take Sarah's playbook to Lakeside Bank.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5440680" cy="4572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148840"/>
            <a:ext cx="5440680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28600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📝   ASSIGNMENT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2697480"/>
            <a:ext cx="4983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Open: notebooks/assignment.ipynb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" y="3246120"/>
            <a:ext cx="498348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Sarah's next Monday — </a:t>
            </a:r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Lakeside Bank.
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Tom Bradley has 8,000 unlabelled complaints.
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Apply the 7-step workflow to a new domain.
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Three tiers — </a:t>
            </a:r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Guided · Partial · Open.
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Sample solutions at the bottom.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77240" y="58064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C8102E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DUE  ·  BEFORE L02 SESSION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72200" y="2103120"/>
            <a:ext cx="5440680" cy="45720"/>
          </a:xfrm>
          <a:prstGeom prst="rect">
            <a:avLst/>
          </a:prstGeom>
          <a:solidFill>
            <a:srgbClr val="2C5697"/>
          </a:solidFill>
          <a:ln w="12700">
            <a:solidFill>
              <a:srgbClr val="2C569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2148840"/>
            <a:ext cx="5440680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228600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💬   Q&amp;A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2697480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Common questions: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0" y="3108960"/>
            <a:ext cx="49834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Why use a pre-trained model vs train your own?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When should I trust the confidence score?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What if my problem doesn't fit any of the three categories?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333D4D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 Will we train neural networks in this course?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0" y="58064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2C5697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BRING YOUR OWN  ·  EVERY QUESTION HELPS THE ROOM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L01 — Introduction to Machine Learning (NTU SCTP)</dc:title>
  <dc:subject>PptxGenJS Presentation</dc:subject>
  <dc:creator>NTU SCTP · Advanced Professional Certificate</dc:creator>
  <cp:lastModifiedBy>NTU SCTP · Advanced Professional Certificate</cp:lastModifiedBy>
  <cp:revision>1</cp:revision>
  <dcterms:created xsi:type="dcterms:W3CDTF">2026-06-08T12:15:52Z</dcterms:created>
  <dcterms:modified xsi:type="dcterms:W3CDTF">2026-06-08T12:15:52Z</dcterms:modified>
</cp:coreProperties>
</file>