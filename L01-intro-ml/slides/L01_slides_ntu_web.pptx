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to Lesson 1 of Module 3. ~90 min slides + ~90 min hands-on. Leave with a working mental model of ML and a model run end-to-end.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M1 summarised the past. M2 moved data. M3 changes the question: produce answers for data nobody has seen.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defining sentence of M3. Python, SQL, statistics carry forward; the engine that's new is learning from examples.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Sarah Chen, second week as a Customer Experience Analyst. USB drive with 10,000 reviews. Every concept this lesson grounds in a moment from her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83 hours to hand-read 10,000 reviews. Sarah's first instinct: rule-based keyword matching. We'll see why it fails.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Rule-based: hand-code the answer. Feels concrete, but only handles what you anticipated.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Short, readable code. Works on simple reviews. Breaks on negation, sarcasm, mixed sentiment.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blindness · negation · whack-a-mole. Three reasons rule-based NLP breaks at scale.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Paradigm flip — examples in, rules out. Training data becomes the new bottleneck.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Hugging Face etc — pre-trained models for common tasks. Start there before training your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code-along. Open 02_what_is_ml.ipynb. ~30 minutes. Stop at the 🟡 Extension marker.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Supervised — inputs AND correct answers. Sarah's sentiment task is supervised. L03 and L04 go deep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Unsupervised — no labels. Model finds structure. Customer segmentation is canonical. L05 covers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Reinforcement — agent + reward. Behind AlphaGo, RLHF. We recognise it; we don't build one in M3.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10-minute discussion notebook. Five business problems → categories. Discuss with neighbour.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steps, in order. Framing and data dominate the calendar — not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Beginners expect to spend their time training. Real projects spend 60-70% on framing/data.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Condensed cheatsheet. Use for every ML project — what happens + the most common mistake.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Project succeeds or fails at Step 1. A perfect model on the wrong question is worth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code-along. 04_ml_workflow.ipynb. About 20 minutes. Walk Sarah's project through the 7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Priya's question. ‘How SURE are we?’ → entire engine of L02.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Assignment moves Sarah to Lakeside Bank — same workflow, new domain. Q&amp;A: bring your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600" kern="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NANYANG TECHNOLOGICAL UNIVERSITY  ·  (SCTP) ADVANCED PROFESSIONAL CERTIFICATE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4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3  ·  Machine Learning &amp; GenAI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L01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109728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0" spc="-1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Machines
</a:t>
            </a:r>
            <a:pPr indent="0" marL="0">
              <a:buNone/>
            </a:pPr>
            <a:r>
              <a:rPr lang="en-US" sz="7800" b="1" spc="-1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Learn.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>
                    <a:alpha val="8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Sarah's Week at NorthStar Retail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6126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Format:  ~90 min slides  ·  ~90 min hands-on  ·  self-paced extensions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Where Does Machine Learning Fit?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905695" y="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L01 · Slide 2/22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I.  A BRIDGE FROM M1 → M2 → M3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Same toolkit. Fundamentally new question.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611880" cy="45720"/>
          </a:xfrm>
          <a:prstGeom prst="rect">
            <a:avLst/>
          </a:prstGeom>
          <a:solidFill>
            <a:srgbClr val="2C5697"/>
          </a:solidFill>
          <a:ln w="12700">
            <a:solidFill>
              <a:srgbClr val="2C569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40280"/>
            <a:ext cx="361188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591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C56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M1  ·  Data Analytics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Summarise the past.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77240" y="342900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Describe what happened.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77240" y="4892040"/>
            <a:ext cx="3154680" cy="1143000"/>
          </a:xfrm>
          <a:prstGeom prst="rect">
            <a:avLst/>
          </a:prstGeom>
          <a:solidFill>
            <a:srgbClr val="F4F5F7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4892040"/>
            <a:ext cx="45720" cy="1143000"/>
          </a:xfrm>
          <a:prstGeom prst="rect">
            <a:avLst/>
          </a:prstGeom>
          <a:solidFill>
            <a:srgbClr val="2C5697"/>
          </a:solidFill>
          <a:ln w="12700">
            <a:solidFill>
              <a:srgbClr val="2C569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98348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2C56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SARAH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5230368"/>
            <a:ext cx="29718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“Reviews dropped 12% last month.”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279392" y="2194560"/>
            <a:ext cx="3611880" cy="4572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79392" y="2240280"/>
            <a:ext cx="361188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992" y="23591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E749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M2  ·  Data Engineering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07992" y="26974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Move &amp; store reliably.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507992" y="342900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the pipes between systems.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507992" y="4892040"/>
            <a:ext cx="3154680" cy="1143000"/>
          </a:xfrm>
          <a:prstGeom prst="rect">
            <a:avLst/>
          </a:prstGeom>
          <a:solidFill>
            <a:srgbClr val="F4F5F7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07992" y="4892040"/>
            <a:ext cx="45720" cy="114300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45152" y="498348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749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SARAH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45152" y="5230368"/>
            <a:ext cx="29718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“Reviews land in the warehouse every night.”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8010144" y="2194560"/>
            <a:ext cx="361188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10144" y="2240280"/>
            <a:ext cx="361188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10144" y="1901952"/>
            <a:ext cx="3611880" cy="2743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10144" y="1901952"/>
            <a:ext cx="3611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ARE HERE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238744" y="235915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M3  ·  Machine Learning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38744" y="26974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 the unseen.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238744" y="3429000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Label or forecast things no human has seen yet.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8238744" y="4892040"/>
            <a:ext cx="3154680" cy="1143000"/>
          </a:xfrm>
          <a:prstGeom prst="rect">
            <a:avLst/>
          </a:prstGeom>
          <a:solidFill>
            <a:srgbClr val="F4F5F7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38744" y="4892040"/>
            <a:ext cx="45720" cy="1143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75904" y="498348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SARAH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75904" y="5230368"/>
            <a:ext cx="29718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“Label 10,000 reviews — positive or negative.”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Shift in M3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905695" y="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L01 · Slide 3/22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II.  THE DEFINING SHIFT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Same toolkit (Python, SQL, stats) — fundamentally new question.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1091672" cy="1371600"/>
          </a:xfrm>
          <a:prstGeom prst="rect">
            <a:avLst/>
          </a:prstGeom>
          <a:solidFill>
            <a:srgbClr val="F4F5F7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94560"/>
            <a:ext cx="45720" cy="13716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860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DEFINING SHIFT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6060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“Instead of describing data that already has answers, you are asking a computer to </a:t>
            </a:r>
            <a:pPr indent="0" marL="0">
              <a:buNone/>
            </a:pPr>
            <a:r>
              <a:rPr lang="en-US" sz="2200" b="1" i="1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produce answers for data the team has never seen.</a:t>
            </a:r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”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440680" cy="45720"/>
          </a:xfrm>
          <a:prstGeom prst="rect">
            <a:avLst/>
          </a:prstGeom>
          <a:solidFill>
            <a:srgbClr val="2C5697"/>
          </a:solidFill>
          <a:ln w="12700">
            <a:solidFill>
              <a:srgbClr val="2C569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977640"/>
            <a:ext cx="54406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11480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2C56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YOU ALREADY HAVE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526280"/>
            <a:ext cx="4983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Python · SQL · pandas · matplotlib · descriptive statistics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Reading data, joining tables, cleaning columns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Producing charts and dashboards that summarise the past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172200" y="3931920"/>
            <a:ext cx="544068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977640"/>
            <a:ext cx="544068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411480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IS GENUINELY NEW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4526280"/>
            <a:ext cx="4983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 </a:t>
            </a:r>
            <a:pPr indent="0" marL="0"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Learning from examples — the engine that lets a computer handle scale no team could process by hand.
</a:t>
            </a:r>
            <a:pPr indent="0" marL="0">
              <a:buNone/>
            </a:pPr>
            <a:r>
              <a:rPr lang="en-US" sz="1700" b="1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+  </a:t>
            </a:r>
            <a:pPr indent="0" marL="0"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new vocabulary: training · inference · features · labels · supervised vs unsupervised.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Meet Sarah Chen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905695" y="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L01 · Slide 4/22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III.  A NORTHSTAR RETAIL CASE STUDY  ·  WEEK 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Meet Sarah Chen.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5F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Experience Analyst, NorthStar Retail — our protagonist for all of M3.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84048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331720"/>
            <a:ext cx="384048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2606040"/>
            <a:ext cx="1554480" cy="15544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2606040"/>
            <a:ext cx="1554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</a:t>
            </a:r>
            <a:endParaRPr lang="en-US" sz="5000" dirty="0"/>
          </a:p>
        </p:txBody>
      </p:sp>
      <p:sp>
        <p:nvSpPr>
          <p:cNvPr id="13" name="Text 11"/>
          <p:cNvSpPr/>
          <p:nvPr/>
        </p:nvSpPr>
        <p:spPr>
          <a:xfrm>
            <a:off x="822960" y="4297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Sarah Chen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2960" y="4754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Experience Analyst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" y="51206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NORTHSTAR RETAIL  ·  2ND WEEK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F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Smart, motivated, a little nervous.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5F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First real ML task this week.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286000"/>
            <a:ext cx="6858000" cy="4023360"/>
          </a:xfrm>
          <a:prstGeom prst="rect">
            <a:avLst/>
          </a:prstGeom>
          <a:solidFill>
            <a:srgbClr val="F4F5F7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0" y="2286000"/>
            <a:ext cx="45720" cy="4023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51460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HER FIRST BIG ASK, DROPPED ON HER DESK: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2926080"/>
            <a:ext cx="6309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“By Friday, I need to know which of these </a:t>
            </a:r>
            <a:pPr indent="0" marL="0">
              <a:buNone/>
            </a:pPr>
            <a:r>
              <a:rPr lang="en-US" sz="2000" b="1" i="1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10,000 customer reviews</a:t>
            </a:r>
            <a:pPr indent="0" marL="0">
              <a:buNone/>
            </a:pPr>
            <a:r>
              <a:rPr lang="en-US" sz="2000" i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are positive and which are negative.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Hand-reading them would take a full work-week.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i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Figure something out.”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029200" y="5806440"/>
            <a:ext cx="6309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spc="400" kern="0" dirty="0">
                <a:solidFill>
                  <a:srgbClr val="5F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— Priya  ·  Sarah's manager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Scale Problem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905695" y="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L01 · Slide 5/22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IV.  WHY SARAH CAN'T JUST READ THEM ALL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10,000 reviews. Five days. Do the maths.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606040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3172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1460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10,000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5F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reviews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2286000"/>
            <a:ext cx="2606040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233172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51460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~30s</a:t>
            </a:r>
            <a:endParaRPr lang="en-US" sz="5000" dirty="0"/>
          </a:p>
        </p:txBody>
      </p:sp>
      <p:sp>
        <p:nvSpPr>
          <p:cNvPr id="15" name="Text 13"/>
          <p:cNvSpPr/>
          <p:nvPr/>
        </p:nvSpPr>
        <p:spPr>
          <a:xfrm>
            <a:off x="3474720" y="3520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5F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read each carefully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035040" y="2286000"/>
            <a:ext cx="260604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35040" y="233172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0" y="251460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83 hrs</a:t>
            </a:r>
            <a:endParaRPr lang="en-US" sz="5000" dirty="0"/>
          </a:p>
        </p:txBody>
      </p:sp>
      <p:sp>
        <p:nvSpPr>
          <p:cNvPr id="19" name="Text 17"/>
          <p:cNvSpPr/>
          <p:nvPr/>
        </p:nvSpPr>
        <p:spPr>
          <a:xfrm>
            <a:off x="6217920" y="3520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5F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 read them all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78240" y="2286000"/>
            <a:ext cx="2606040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0" y="2331720"/>
            <a:ext cx="260604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0" y="251460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 days</a:t>
            </a:r>
            <a:endParaRPr lang="en-US" sz="5000" dirty="0"/>
          </a:p>
        </p:txBody>
      </p:sp>
      <p:sp>
        <p:nvSpPr>
          <p:cNvPr id="23" name="Text 21"/>
          <p:cNvSpPr/>
          <p:nvPr/>
        </p:nvSpPr>
        <p:spPr>
          <a:xfrm>
            <a:off x="8961120" y="35204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5F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Until Priya's meeting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11091672" cy="1645920"/>
          </a:xfrm>
          <a:prstGeom prst="rect">
            <a:avLst/>
          </a:prstGeom>
          <a:solidFill>
            <a:srgbClr val="F4F5F7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572000"/>
            <a:ext cx="45720" cy="1645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7091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SARAH'S FIRST THOUGHT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498348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“What if I just look for </a:t>
            </a:r>
            <a:pPr indent="0" marL="0">
              <a:buNone/>
            </a:pPr>
            <a:r>
              <a:rPr lang="en-US" sz="1800" b="1" i="1" dirty="0">
                <a:solidFill>
                  <a:srgbClr val="2C56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happy words</a:t>
            </a:r>
            <a:pPr indent="0" marL="0">
              <a:buNone/>
            </a:pPr>
            <a:r>
              <a:rPr lang="en-US" sz="1800" i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pPr indent="0" marL="0">
              <a:buNone/>
            </a:pPr>
            <a:r>
              <a:rPr lang="en-US" sz="1800" b="1" i="1" dirty="0">
                <a:solidFill>
                  <a:srgbClr val="2C56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sad words</a:t>
            </a:r>
            <a:pPr indent="0" marL="0">
              <a:buNone/>
            </a:pPr>
            <a:r>
              <a:rPr lang="en-US" sz="1800" i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?  Tally them up?”
</a:t>
            </a:r>
            <a:pPr indent="0" marL="0">
              <a:buNone/>
            </a:pPr>
            <a:r>
              <a:rPr lang="en-US" sz="1800" b="1" i="1" dirty="0">
                <a:solidFill>
                  <a:srgbClr val="5F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  That's rule-based programming. Let's try it.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Approach 1: Rule-Based Programming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905695" y="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L01 · Slide 6/22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V.  THE WAY PROGRAMMING WORKED BEFORE ML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Approach 1 — Rule-based programming.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943600" cy="45720"/>
          </a:xfrm>
          <a:prstGeom prst="rect">
            <a:avLst/>
          </a:prstGeom>
          <a:solidFill>
            <a:srgbClr val="2C5697"/>
          </a:solidFill>
          <a:ln w="12700">
            <a:solidFill>
              <a:srgbClr val="2C569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31720"/>
            <a:ext cx="5943600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68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C56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PLAN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971800"/>
            <a:ext cx="320040" cy="3200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234440" y="29260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 positive words:  love, perfect, great, nice…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3685032"/>
            <a:ext cx="320040" cy="3200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685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34440" y="363931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 negative words:  terrible, cheap, bad, awful…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22960" y="4398264"/>
            <a:ext cx="320040" cy="3200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3982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34440" y="435254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each review, count hits on each list.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2960" y="5111496"/>
            <a:ext cx="320040" cy="32004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11149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234440" y="506577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Whichever count is bigger wins.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720840" y="2286000"/>
            <a:ext cx="4919472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0840" y="2331720"/>
            <a:ext cx="4919472" cy="3977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95160" y="2468880"/>
            <a:ext cx="4462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HALLMARKS OF RULE-BASED CODE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95160" y="29718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B3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60920" y="2926080"/>
            <a:ext cx="4096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write the rules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995160" y="34290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B3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360920" y="3383280"/>
            <a:ext cx="4096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Computer follows them exactly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995160" y="38862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B3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360920" y="3840480"/>
            <a:ext cx="4096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Deterministic — same input, same output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6995160" y="43434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✗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360920" y="4297680"/>
            <a:ext cx="4096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F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handles cases the rules covered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995160" y="48006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✗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360920" y="4754880"/>
            <a:ext cx="4096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F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Maintenance is whack-a-mole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995160" y="525780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✗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360920" y="5212080"/>
            <a:ext cx="4096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F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notion of ‘confidence’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Rule-Based Code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905695" y="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L01 · Slide 7/22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VI.  SIMPLE, SHORT, AND BRITTLE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code itself: short, readable — and quietly fragile.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1874520"/>
            <a:ext cx="11091672" cy="42976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874520"/>
            <a:ext cx="54864" cy="42976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43032" y="20116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spc="5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PYTHON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194560"/>
            <a:ext cx="10543032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positive_words = ["love", "perfect", "great", "nice", "soft"]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negative_words = ["terrible", "cheap", "disappointed", "bad", "late"]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rule_based_sentiment(review):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review.lower()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pos_hits = sum(1 for w in positive_words if w in text)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neg_hits = sum(1 for w in negative_words if w in text)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pos_hits &gt; neg_hits:   return "POSITIVE"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elif neg_hits &gt; pos_hits: return "NEGATIVE"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                     return "NEUTRAL"</a:t>
            </a:r>
            <a:endParaRPr lang="en-US" sz="1700" dirty="0"/>
          </a:p>
          <a:p>
            <a:pPr indent="0" marL="0">
              <a:buNone/>
            </a:pP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r in reviews: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print(f"{rule_based_sentiment(r):&gt;9} | {r}")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6355080"/>
            <a:ext cx="11091672" cy="502920"/>
          </a:xfrm>
          <a:prstGeom prst="rect">
            <a:avLst/>
          </a:prstGeom>
          <a:solidFill>
            <a:srgbClr val="F4F5F7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6355080"/>
            <a:ext cx="45720" cy="5029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6382512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  </a:t>
            </a:r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·  How well does this handle  </a:t>
            </a:r>
            <a:pPr indent="0" marL="0">
              <a:buNone/>
            </a:pPr>
            <a:r>
              <a:rPr lang="en-US" sz="1300" b="1" i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"Terrible shipping — product itself is fine"</a:t>
            </a:r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Why Rule-Based Fails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905695" y="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L01 · Slide 8/22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VII.  THREE FAILURE MODES — AND THEY COMPOUND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Three ways rules quietly break.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70332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40280"/>
            <a:ext cx="370332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22960" y="29718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Context blindness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356616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“Terrible shipping — product itself is fine.”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46634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Rules see ‘terrible’ and ‘fine’ but don't know what each word refers to.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669280"/>
            <a:ext cx="3703320" cy="457200"/>
          </a:xfrm>
          <a:prstGeom prst="rect">
            <a:avLst/>
          </a:prstGeom>
          <a:solidFill>
            <a:srgbClr val="F4F5F7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56692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Result: Incorrectly tagged NEGATIVE.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61688" y="2194560"/>
            <a:ext cx="370332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1688" y="2240280"/>
            <a:ext cx="370332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#2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636008" y="29718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Negation flips meaning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36008" y="356616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“Not what I expected — actually really nice in person!”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4636008" y="46634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‘not’ inverts the sentiment of the next phrase. Word-counting misses this.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61688" y="5669280"/>
            <a:ext cx="3703320" cy="457200"/>
          </a:xfrm>
          <a:prstGeom prst="rect">
            <a:avLst/>
          </a:prstGeom>
          <a:solidFill>
            <a:srgbClr val="F4F5F7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56692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Result: Rules tag NEUTRAL or NEGATIVE.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74736" y="2194560"/>
            <a:ext cx="370332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74736" y="2240280"/>
            <a:ext cx="3703320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49056" y="23774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#3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8449056" y="29718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Endless whack-a-mole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449056" y="3566160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Every new review surfaces a new edge case.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449056" y="466344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Your rule list grows 10 → 100 → 1,000 — and conflicts start.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174736" y="5669280"/>
            <a:ext cx="3703320" cy="457200"/>
          </a:xfrm>
          <a:prstGeom prst="rect">
            <a:avLst/>
          </a:prstGeom>
          <a:solidFill>
            <a:srgbClr val="F4F5F7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49056" y="566928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Result: Maintenance cost balloons.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Approach 2: Machine Learning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905695" y="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L01 · Slide 9/22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VIII.  THE PARADIGM FLIP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Stop writing rules. Start providing examples.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440680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240280"/>
            <a:ext cx="544068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3774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PROGRAMMING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78892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write the rules.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Computer follows them.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240" y="402336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spc="500" kern="0" dirty="0">
                <a:solidFill>
                  <a:srgbClr val="2C56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  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rules + data
</a:t>
            </a:r>
            <a:pPr indent="0" marL="0">
              <a:spcAft>
                <a:spcPts val="600"/>
              </a:spcAft>
              <a:buNone/>
            </a:pPr>
            <a:r>
              <a:rPr lang="en-US" sz="1700" b="1" spc="500" kern="0" dirty="0">
                <a:solidFill>
                  <a:srgbClr val="2C56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OUTPUT 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deterministic answer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72200" y="2194560"/>
            <a:ext cx="544068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2240280"/>
            <a:ext cx="5440680" cy="30632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23774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2788920"/>
            <a:ext cx="4983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provide the examples.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Computer discovers the rules.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800" y="4023360"/>
            <a:ext cx="4983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spc="5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INPUT  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examples (data + correct answers)
</a:t>
            </a:r>
            <a:pPr indent="0" marL="0">
              <a:spcAft>
                <a:spcPts val="600"/>
              </a:spcAft>
              <a:buNone/>
            </a:pPr>
            <a:r>
              <a:rPr lang="en-US" sz="1700" b="1" spc="5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OUTPUT 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prediction + confidence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5486400"/>
            <a:ext cx="11091672" cy="1005840"/>
          </a:xfrm>
          <a:prstGeom prst="rect">
            <a:avLst/>
          </a:prstGeom>
          <a:solidFill>
            <a:srgbClr val="F4F5F7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486400"/>
            <a:ext cx="45720" cy="10058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57784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“In traditional programming, you write the </a:t>
            </a:r>
            <a:pPr indent="0" marL="0">
              <a:buNone/>
            </a:pPr>
            <a:r>
              <a:rPr lang="en-US" sz="1800" b="1" i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rules</a:t>
            </a:r>
            <a:pPr indent="0" marL="0">
              <a:buNone/>
            </a:pPr>
            <a:r>
              <a:rPr lang="en-US" sz="1800" i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In ML, you write the </a:t>
            </a:r>
            <a:pPr indent="0" marL="0">
              <a:buNone/>
            </a:pPr>
            <a:r>
              <a:rPr lang="en-US" sz="1800" b="1" i="1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examples</a:t>
            </a:r>
            <a:pPr indent="0" marL="0">
              <a:buNone/>
            </a:pPr>
            <a:r>
              <a:rPr lang="en-US" sz="1800" i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and the computer discovers the rules.”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Pre-trained Models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905695" y="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L01 · Slide 10/22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IX.  THE SHORTCUT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Someone has often already trained the model for you.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1091672" cy="1097280"/>
          </a:xfrm>
          <a:prstGeom prst="rect">
            <a:avLst/>
          </a:prstGeom>
          <a:solidFill>
            <a:srgbClr val="F4F5F7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011680"/>
            <a:ext cx="45720" cy="10972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10312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 common tasks (sentiment, translation, image classification) — </a:t>
            </a:r>
            <a:pPr indent="0" marL="0">
              <a:buNone/>
            </a:pPr>
            <a:r>
              <a:rPr lang="en-US" sz="1700" b="1" i="1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someone has already trained a great model.</a:t>
            </a:r>
            <a:pPr indent="0" marL="0">
              <a:buNone/>
            </a:pPr>
            <a:r>
              <a:rPr lang="en-US" sz="1700" i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Load it. Use it. Don't train from scratch unless your task is genuinely unique.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5440680" cy="45720"/>
          </a:xfrm>
          <a:prstGeom prst="rect">
            <a:avLst/>
          </a:prstGeom>
          <a:solidFill>
            <a:srgbClr val="2C5697"/>
          </a:solidFill>
          <a:ln w="12700">
            <a:solidFill>
              <a:srgbClr val="2C569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520440"/>
            <a:ext cx="544068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65760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C56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WHERE THEY COME FROM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4069080"/>
            <a:ext cx="4983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Hugging Face — open repository (hundreds of models)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OpenAI, Anthropic, Google — large hosted models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Industry-specific repos (medical, legal, finance)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Research labs — published with each new paper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172200" y="3474720"/>
            <a:ext cx="544068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3520440"/>
            <a:ext cx="544068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65760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SARAH GETS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4069080"/>
            <a:ext cx="4983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A POSITIVE / NEGATIVE label for every review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A confidence score (e.g. 97% POSITIVE)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Can filter to ‘NEGATIVE with &gt;90% confidence’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✓  Runs in minutes — not a workweek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448495" y="6355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FFFFFF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L01 · Slide 11/22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CODE-ALONG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51760" y="640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HANDS-ON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Open:  02_what_is_ml.ipynb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you'll do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411480" cy="4114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97280" y="30175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the rule-based sentiment function on 5 reviews — see exactly where it fails.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97280" y="36118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Load a pre-trained sentiment model and re-run on the same 5 reviews.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411480" cy="4114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97280" y="42062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Notice the confidence score — and what it signals about ambiguous reviews.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11091672" cy="914400"/>
          </a:xfrm>
          <a:prstGeom prst="rect">
            <a:avLst/>
          </a:prstGeom>
          <a:solidFill>
            <a:srgbClr val="1E3054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21208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⏱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645920" y="5212080"/>
            <a:ext cx="9811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30 minutes</a:t>
            </a:r>
            <a:pPr indent="0" marL="0">
              <a:buNone/>
            </a:pPr>
            <a:r>
              <a:rPr lang="en-US" sz="170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·    Stop at the 🟡 Extension marker    ·    Extension is self-paced after class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Category 1: Supervised Learning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905695" y="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L01 · Slide 12/22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X.  THREE CATEGORIES OF ML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143000"/>
            <a:ext cx="1188720" cy="365760"/>
          </a:xfrm>
          <a:prstGeom prst="rect">
            <a:avLst/>
          </a:prstGeom>
          <a:solidFill>
            <a:srgbClr val="2C5697"/>
          </a:solidFill>
          <a:ln w="12700">
            <a:solidFill>
              <a:srgbClr val="2C56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828800" y="1051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Supervised Learning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11091672" cy="1188720"/>
          </a:xfrm>
          <a:prstGeom prst="rect">
            <a:avLst/>
          </a:prstGeom>
          <a:solidFill>
            <a:srgbClr val="F4F5F7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28800"/>
            <a:ext cx="45720" cy="1188720"/>
          </a:xfrm>
          <a:prstGeom prst="rect">
            <a:avLst/>
          </a:prstGeom>
          <a:solidFill>
            <a:srgbClr val="2C5697"/>
          </a:solidFill>
          <a:ln w="12700">
            <a:solidFill>
              <a:srgbClr val="2C56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9202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C56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PLAIN ENGLISH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1945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give the model inputs and correct answers. It learns to map new inputs to answers it hasn't seen yet.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5440680" cy="45720"/>
          </a:xfrm>
          <a:prstGeom prst="rect">
            <a:avLst/>
          </a:prstGeom>
          <a:solidFill>
            <a:srgbClr val="2C5697"/>
          </a:solidFill>
          <a:ln w="12700">
            <a:solidFill>
              <a:srgbClr val="2C569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337560"/>
            <a:ext cx="544068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747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C56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REAL-WORLD ANALOGY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886200"/>
            <a:ext cx="4983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student studying past exam papers with answer keys. Many questions, many correct answers. Over time the student learns the patterns and can answer new questions on their own.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172200" y="3291840"/>
            <a:ext cx="5440680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3337560"/>
            <a:ext cx="544068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4747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USE CASES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886200"/>
            <a:ext cx="4983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Churn prediction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Fraud detection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Demand forecasting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Sentiment / text classification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Medical risk scoring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Image labelling (cat vs dog)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Category 2: Unsupervised Learning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905695" y="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L01 · Slide 13/22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XI.  THREE CATEGORIES OF ML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143000"/>
            <a:ext cx="1188720" cy="365760"/>
          </a:xfrm>
          <a:prstGeom prst="rect">
            <a:avLst/>
          </a:prstGeom>
          <a:solidFill>
            <a:srgbClr val="6B4C9A"/>
          </a:solidFill>
          <a:ln w="12700">
            <a:solidFill>
              <a:srgbClr val="6B4C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#2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828800" y="1051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Unsupervised Learning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11091672" cy="1188720"/>
          </a:xfrm>
          <a:prstGeom prst="rect">
            <a:avLst/>
          </a:prstGeom>
          <a:solidFill>
            <a:srgbClr val="F4F5F7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28800"/>
            <a:ext cx="45720" cy="1188720"/>
          </a:xfrm>
          <a:prstGeom prst="rect">
            <a:avLst/>
          </a:prstGeom>
          <a:solidFill>
            <a:srgbClr val="6B4C9A"/>
          </a:solidFill>
          <a:ln w="12700">
            <a:solidFill>
              <a:srgbClr val="6B4C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9202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6B4C9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PLAIN ENGLISH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1945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 give the model inputs with no answers. It finds groups, patterns, or anomalies on its own.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5440680" cy="45720"/>
          </a:xfrm>
          <a:prstGeom prst="rect">
            <a:avLst/>
          </a:prstGeom>
          <a:solidFill>
            <a:srgbClr val="6B4C9A"/>
          </a:solidFill>
          <a:ln w="12700">
            <a:solidFill>
              <a:srgbClr val="6B4C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337560"/>
            <a:ext cx="544068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747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6B4C9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REAL-WORLD ANALOGY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886200"/>
            <a:ext cx="4983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librarian with a crate of unlabelled books. She groups them by 'these feel similar' — romance here, mystery there — without anyone telling her what the genres are.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172200" y="3291840"/>
            <a:ext cx="5440680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3337560"/>
            <a:ext cx="544068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4747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USE CASES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886200"/>
            <a:ext cx="4983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Customer segmentation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Anomaly detection in logs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Topic discovery in reviews/tickets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Recommendation cohorts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Pre-processing for downstream supervised models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Category 3: Reinforcement Learning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905695" y="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L01 · Slide 14/22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XII.  THREE CATEGORIES OF ML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143000"/>
            <a:ext cx="1188720" cy="365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430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#3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828800" y="1051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Reinforcement Learning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11091672" cy="1188720"/>
          </a:xfrm>
          <a:prstGeom prst="rect">
            <a:avLst/>
          </a:prstGeom>
          <a:solidFill>
            <a:srgbClr val="F4F5F7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828800"/>
            <a:ext cx="45720" cy="1188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9202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2410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PLAIN ENGLISH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1945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agent acts in an environment. It receives rewards or penalties. It learns the best policy by trial and error.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3291840"/>
            <a:ext cx="5440680" cy="457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337560"/>
            <a:ext cx="544068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747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2410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REAL-WORLD ANALOGY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3886200"/>
            <a:ext cx="4983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Training a dog with treats. Sit → treat. Bark at the mailman → no treat. Over time the dog learns which actions pay off.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172200" y="3291840"/>
            <a:ext cx="5440680" cy="457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3337560"/>
            <a:ext cx="5440680" cy="2971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47472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BUSINESS USE CASES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3886200"/>
            <a:ext cx="49834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AlphaGo, chess-playing AIs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Robot control (warehouse pick-and-pack)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Large-scale recommendation engines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RLHF in modern LLMs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Game-playing agents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→ Not built in this course (recognise, don't implement).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448495" y="6355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FFFFFF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L01 · Slide 15/22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2C5697"/>
          </a:solidFill>
          <a:ln w="12700">
            <a:solidFill>
              <a:srgbClr val="2C569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51760" y="640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CONCEPT CHECK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D6D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Open:  03_three_categories.ipynb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 &amp; discuss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411480" cy="411480"/>
          </a:xfrm>
          <a:prstGeom prst="ellipse">
            <a:avLst/>
          </a:prstGeom>
          <a:solidFill>
            <a:srgbClr val="2C5697"/>
          </a:solidFill>
          <a:ln w="12700">
            <a:solidFill>
              <a:srgbClr val="2C56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97280" y="30175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 the three category descriptions.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2C5697"/>
          </a:solidFill>
          <a:ln w="12700">
            <a:solidFill>
              <a:srgbClr val="2C569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97280" y="36118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Try the five business problems — match each to a category.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411480" cy="411480"/>
          </a:xfrm>
          <a:prstGeom prst="ellipse">
            <a:avLst/>
          </a:prstGeom>
          <a:solidFill>
            <a:srgbClr val="2C5697"/>
          </a:solidFill>
          <a:ln w="12700">
            <a:solidFill>
              <a:srgbClr val="2C569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97280" y="42062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 your answers with a neighbour before checking the key.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11091672" cy="914400"/>
          </a:xfrm>
          <a:prstGeom prst="rect">
            <a:avLst/>
          </a:prstGeom>
          <a:solidFill>
            <a:srgbClr val="1E3054"/>
          </a:solidFill>
          <a:ln w="12700">
            <a:solidFill>
              <a:srgbClr val="2C56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21208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3D6DB5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⏱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645920" y="5212080"/>
            <a:ext cx="9811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10 minutes</a:t>
            </a:r>
            <a:pPr indent="0" marL="0">
              <a:buNone/>
            </a:pPr>
            <a:r>
              <a:rPr lang="en-US" sz="170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·    Concept-only notebook (no Extension)    ·    Discuss freely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7-Step ML Workflow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905695" y="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L01 · Slide 16/22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XIII.  THE MAP EVERY REAL PROJECT FOLLOWS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Seven steps. In order. Every time.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537498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340864"/>
            <a:ext cx="1537498" cy="3602736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68880"/>
            <a:ext cx="126317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685800" y="3383280"/>
            <a:ext cx="1263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Frame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3840480"/>
            <a:ext cx="126317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Question · success metric · who acts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41002" y="2286000"/>
            <a:ext cx="1537498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41002" y="2340864"/>
            <a:ext cx="1537498" cy="3602736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78162" y="2468880"/>
            <a:ext cx="126317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2278162" y="3383280"/>
            <a:ext cx="1263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Collect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278162" y="3840480"/>
            <a:ext cx="126317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Where does the data live?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33365" y="2286000"/>
            <a:ext cx="1537498" cy="54864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3365" y="2340864"/>
            <a:ext cx="1537498" cy="3602736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70525" y="2468880"/>
            <a:ext cx="126317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3870525" y="3383280"/>
            <a:ext cx="1263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70525" y="3840480"/>
            <a:ext cx="126317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Missing · duplicates · bias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325727" y="2286000"/>
            <a:ext cx="1537498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25727" y="2340864"/>
            <a:ext cx="1537498" cy="3602736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62887" y="2468880"/>
            <a:ext cx="126317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5400" dirty="0"/>
          </a:p>
        </p:txBody>
      </p:sp>
      <p:sp>
        <p:nvSpPr>
          <p:cNvPr id="26" name="Text 24"/>
          <p:cNvSpPr/>
          <p:nvPr/>
        </p:nvSpPr>
        <p:spPr>
          <a:xfrm>
            <a:off x="5462887" y="3383280"/>
            <a:ext cx="1263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62887" y="3840480"/>
            <a:ext cx="126317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Fit or reuse a model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918089" y="2286000"/>
            <a:ext cx="1537498" cy="5486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18089" y="2340864"/>
            <a:ext cx="1537498" cy="3602736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55249" y="2468880"/>
            <a:ext cx="126317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</a:t>
            </a:r>
            <a:endParaRPr lang="en-US" sz="5400" dirty="0"/>
          </a:p>
        </p:txBody>
      </p:sp>
      <p:sp>
        <p:nvSpPr>
          <p:cNvPr id="31" name="Text 29"/>
          <p:cNvSpPr/>
          <p:nvPr/>
        </p:nvSpPr>
        <p:spPr>
          <a:xfrm>
            <a:off x="7055249" y="3383280"/>
            <a:ext cx="1263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Evaluate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055249" y="3840480"/>
            <a:ext cx="126317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Hold-out test · where wrong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510451" y="2286000"/>
            <a:ext cx="1537498" cy="54864"/>
          </a:xfrm>
          <a:prstGeom prst="rect">
            <a:avLst/>
          </a:prstGeom>
          <a:solidFill>
            <a:srgbClr val="2C5697"/>
          </a:solidFill>
          <a:ln w="12700">
            <a:solidFill>
              <a:srgbClr val="2C569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10451" y="2340864"/>
            <a:ext cx="1537498" cy="3602736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47611" y="2468880"/>
            <a:ext cx="126317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2C56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</a:t>
            </a:r>
            <a:endParaRPr lang="en-US" sz="5400" dirty="0"/>
          </a:p>
        </p:txBody>
      </p:sp>
      <p:sp>
        <p:nvSpPr>
          <p:cNvPr id="36" name="Text 34"/>
          <p:cNvSpPr/>
          <p:nvPr/>
        </p:nvSpPr>
        <p:spPr>
          <a:xfrm>
            <a:off x="8647611" y="3383280"/>
            <a:ext cx="1263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8647611" y="3840480"/>
            <a:ext cx="126317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Pipeline · dashboard · API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10102814" y="2286000"/>
            <a:ext cx="1537498" cy="54864"/>
          </a:xfrm>
          <a:prstGeom prst="rect">
            <a:avLst/>
          </a:prstGeom>
          <a:solidFill>
            <a:srgbClr val="2C5697"/>
          </a:solidFill>
          <a:ln w="12700">
            <a:solidFill>
              <a:srgbClr val="2C569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02814" y="2340864"/>
            <a:ext cx="1537498" cy="3602736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39974" y="2468880"/>
            <a:ext cx="126317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2C56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</a:t>
            </a:r>
            <a:endParaRPr lang="en-US" sz="5400" dirty="0"/>
          </a:p>
        </p:txBody>
      </p:sp>
      <p:sp>
        <p:nvSpPr>
          <p:cNvPr id="41" name="Text 39"/>
          <p:cNvSpPr/>
          <p:nvPr/>
        </p:nvSpPr>
        <p:spPr>
          <a:xfrm>
            <a:off x="10239974" y="3383280"/>
            <a:ext cx="12631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0239974" y="3840480"/>
            <a:ext cx="126317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world changes; models decay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61264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 </a:t>
            </a:r>
            <a:pPr algn="ctr" indent="0" marL="0">
              <a:buNone/>
            </a:pPr>
            <a:r>
              <a:rPr lang="en-US" sz="1300" b="1" spc="200" kern="0" dirty="0">
                <a:solidFill>
                  <a:srgbClr val="5F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Frame · Collect · Clean (≈65%)        </a:t>
            </a:r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 </a:t>
            </a:r>
            <a:pPr algn="ctr" indent="0" marL="0">
              <a:buNone/>
            </a:pPr>
            <a:r>
              <a:rPr lang="en-US" sz="1300" b="1" spc="200" kern="0" dirty="0">
                <a:solidFill>
                  <a:srgbClr val="5F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 · Evaluate (≈18%)        </a:t>
            </a:r>
            <a:pPr algn="ctr" indent="0" marL="0">
              <a:buNone/>
            </a:pPr>
            <a:r>
              <a:rPr lang="en-US" sz="1300" b="1" dirty="0">
                <a:solidFill>
                  <a:srgbClr val="2C56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■ </a:t>
            </a:r>
            <a:pPr algn="ctr" indent="0" marL="0">
              <a:buNone/>
            </a:pPr>
            <a:r>
              <a:rPr lang="en-US" sz="1300" b="1" spc="200" kern="0" dirty="0">
                <a:solidFill>
                  <a:srgbClr val="5F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 · Monitor (≈17%)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Where the Time Actually Goes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905695" y="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L01 · Slide 17/22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XIV.  60–70% OF A REAL PROJECT IS BEFORE MODELLING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Beginners expect the opposite. They're wrong.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5F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Steps 1-3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Frame · Collect · Clean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2331720"/>
            <a:ext cx="7434072" cy="548640"/>
          </a:xfrm>
          <a:prstGeom prst="rect">
            <a:avLst/>
          </a:prstGeom>
          <a:solidFill>
            <a:srgbClr val="F4F5F7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2331720"/>
            <a:ext cx="4832147" cy="548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51592" y="22860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65%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48640" y="3429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5F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Steps 4-5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48640" y="3794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Train · Evaluate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17520" y="3474720"/>
            <a:ext cx="7434072" cy="548640"/>
          </a:xfrm>
          <a:prstGeom prst="rect">
            <a:avLst/>
          </a:prstGeom>
          <a:solidFill>
            <a:srgbClr val="F4F5F7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0" y="3474720"/>
            <a:ext cx="1115111" cy="5486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51592" y="34290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15%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48640" y="4572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5F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Steps 6-7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48640" y="4937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5F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Deploy · Monitor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017520" y="4617720"/>
            <a:ext cx="7434072" cy="548640"/>
          </a:xfrm>
          <a:prstGeom prst="rect">
            <a:avLst/>
          </a:prstGeom>
          <a:solidFill>
            <a:srgbClr val="F4F5F7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4617720"/>
            <a:ext cx="1486814" cy="548640"/>
          </a:xfrm>
          <a:prstGeom prst="rect">
            <a:avLst/>
          </a:prstGeom>
          <a:solidFill>
            <a:srgbClr val="2C5697"/>
          </a:solidFill>
          <a:ln w="12700">
            <a:solidFill>
              <a:srgbClr val="2C56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51592" y="457200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dirty="0">
                <a:solidFill>
                  <a:srgbClr val="2C56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20%</a:t>
            </a:r>
            <a:endParaRPr lang="en-US" sz="3600" dirty="0"/>
          </a:p>
        </p:txBody>
      </p:sp>
      <p:sp>
        <p:nvSpPr>
          <p:cNvPr id="23" name="Shape 21"/>
          <p:cNvSpPr/>
          <p:nvPr/>
        </p:nvSpPr>
        <p:spPr>
          <a:xfrm>
            <a:off x="548640" y="5852160"/>
            <a:ext cx="11091672" cy="731520"/>
          </a:xfrm>
          <a:prstGeom prst="rect">
            <a:avLst/>
          </a:prstGeom>
          <a:solidFill>
            <a:srgbClr val="F4F5F7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852160"/>
            <a:ext cx="45720" cy="7315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Senior practitioners earn their keep at </a:t>
            </a:r>
            <a:pPr indent="0" marL="0">
              <a:buNone/>
            </a:pPr>
            <a:r>
              <a:rPr lang="en-US" sz="1700" b="1" i="1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1.</a:t>
            </a:r>
            <a:pPr indent="0" marL="0">
              <a:buNone/>
            </a:pPr>
            <a:r>
              <a:rPr lang="en-US" sz="1700" i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Not at Step 4.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7 Steps — Cheatsheet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905695" y="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L01 · Slide 18/22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XV.  WHAT HAPPENS  ·  WHERE BEGINNERS GET STUCK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 this as your checklist. Every project.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42336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spc="400" kern="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STEP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spc="400" kern="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WHAT HAPPENS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spc="400" kern="0" dirty="0">
                          <a:solidFill>
                            <a:srgbClr val="FFFFFF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WHERE BEGINNERS GET STUCK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C8102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1. Frame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33D4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Business question, success metric, cost of wrongness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i="1" dirty="0">
                          <a:solidFill>
                            <a:srgbClr val="C8102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Skipping it entirely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C8102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2. Collect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33D4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Gather features (and labels, if training)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i="1" dirty="0">
                          <a:solidFill>
                            <a:srgbClr val="C8102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Assuming data exists when it doesn't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C8102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3. Clean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33D4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Fix missing, remove duplicates, check for bias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i="1" dirty="0">
                          <a:solidFill>
                            <a:srgbClr val="C8102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Underestimating how long this takes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4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4. Train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33D4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Fit a model — or reuse a pre-trained one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i="1" dirty="0">
                          <a:solidFill>
                            <a:srgbClr val="C8102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Training from scratch when one exists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B2A4A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5. Evaluate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33D4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Hold-out test · check WHERE it's wrong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i="1" dirty="0">
                          <a:solidFill>
                            <a:srgbClr val="C8102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Reporting one accuracy number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C5697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6. Deploy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33D4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Pipeline · dashboard · API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i="1" dirty="0">
                          <a:solidFill>
                            <a:srgbClr val="C8102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Leaving the model stuck in a notebook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C5697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7. Monitor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333D4D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Track performance over time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i="1" dirty="0">
                          <a:solidFill>
                            <a:srgbClr val="C8102E"/>
                          </a:solidFill>
                          <a:latin typeface="Open Sans" pitchFamily="34" charset="0"/>
                          <a:ea typeface="Open Sans" pitchFamily="34" charset="-122"/>
                          <a:cs typeface="Open Sans" pitchFamily="34" charset="-120"/>
                        </a:rPr>
                        <a:t>Assuming ‘trained once = good forever’</a:t>
                      </a:r>
                      <a:endParaRPr lang="en-US" sz="1700" dirty="0"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Step 1 Is Where Projects Live or Die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905695" y="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L01 · Slide 19/22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XVI.  FRAMING IS THE ONLY STEP YOU CAN'T SKIP AND RECOVER FROM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43000"/>
            <a:ext cx="110916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i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“A beautifully trained model that solves the
</a:t>
            </a:r>
            <a:pPr indent="0" marL="0">
              <a:buNone/>
            </a:pPr>
            <a:r>
              <a:rPr lang="en-US" sz="3200" i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wrong problem </a:t>
            </a:r>
            <a:pPr indent="0" marL="0">
              <a:buNone/>
            </a:pPr>
            <a:r>
              <a:rPr lang="en-US" sz="3200" b="1" i="1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 worth zero.”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78892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spc="300" kern="0" dirty="0">
                <a:solidFill>
                  <a:srgbClr val="5F6B7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four questions every project must answer BEFORE touching data: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544068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29184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474720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34290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is the question?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886200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 precise. ‘Reduce churn’ isn't a question. ‘Predict which customers cancel within 30 days’ is.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3246120"/>
            <a:ext cx="544068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329184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3474720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474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86600" y="342900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Who acts on the answer?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86600" y="3886200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If nobody acts, no model matters. The action defines what ‘good’ means.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544068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84632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5029200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029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463040" y="498348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What's the success metric?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63040" y="5440680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Define it before you build. Choose one. Resist adding more later.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72200" y="4800600"/>
            <a:ext cx="544068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4846320"/>
            <a:ext cx="544068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0" y="5029200"/>
            <a:ext cx="548640" cy="54864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5029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086600" y="498348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What's the cost of being wrong?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086600" y="5440680"/>
            <a:ext cx="43434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Is a false positive worse than a false negative? Most domains have asymmetric costs.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448495" y="6355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FFFFFF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L01 · Slide 20/22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6400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640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CODE-ALONG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51760" y="640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HANDS-ON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Open:  04_ml_workflow.ipynb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 you'll do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411480" cy="4114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632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97280" y="30175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Sarah's sentiment project through each of the 7 workflow steps.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97280" y="361188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the 5 questions she should have asked at Step 1.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251960"/>
            <a:ext cx="411480" cy="41148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97280" y="42062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>
                    <a:alpha val="9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Spot-check the model against Sarah's hand-labels on 15 reviews.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548640" y="5212080"/>
            <a:ext cx="11091672" cy="914400"/>
          </a:xfrm>
          <a:prstGeom prst="rect">
            <a:avLst/>
          </a:prstGeom>
          <a:solidFill>
            <a:srgbClr val="1E3054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21208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⏱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645920" y="5212080"/>
            <a:ext cx="98115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 minutes</a:t>
            </a:r>
            <a:pPr indent="0" marL="0">
              <a:buNone/>
            </a:pPr>
            <a:r>
              <a:rPr lang="en-US" sz="170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·    Stop at the 🟡 Extension marker    ·    Hospital exercise is post-class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448495" y="63550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spc="300" kern="0" dirty="0">
                <a:solidFill>
                  <a:srgbClr val="FFFFFF">
                    <a:alpha val="6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L01 · Slide 21/22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BRIDGE TO L02  ·  FRIDAY MORNING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>
                    <a:alpha val="75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Priya, after seeing Sarah's numbers…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91672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“Sarah — the numbers look great.
</a:t>
            </a:r>
            <a:pPr indent="0" marL="0">
              <a:buNone/>
            </a:pPr>
            <a:r>
              <a:rPr lang="en-US" sz="2800" b="1" i="1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But HOW SURE are we?</a:t>
            </a:r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model put a label on every review. How do we know it isn't </a:t>
            </a:r>
            <a:endParaRPr lang="en-US" sz="2800" dirty="0"/>
          </a:p>
          <a:p>
            <a:pPr indent="0" marL="0">
              <a:buNone/>
            </a:pPr>
            <a:r>
              <a:rPr lang="en-US" sz="2800" b="1" i="1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confidently wrong</a:t>
            </a:r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ways we can't see from this deck?”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5212080"/>
            <a:ext cx="11091672" cy="1280160"/>
          </a:xfrm>
          <a:prstGeom prst="rect">
            <a:avLst/>
          </a:prstGeom>
          <a:solidFill>
            <a:srgbClr val="1E3054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5212080"/>
            <a:ext cx="54864" cy="12801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349240"/>
            <a:ext cx="10634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LESSON 02  ·  PROBABILITY &amp; STATISTICS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5669280"/>
            <a:ext cx="10634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Distribution · Confidence Intervals · Hypothesis Testing — all in service of answering Priya.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6080760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Come to L02 ready to help Sarah answer the question.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Assignment Preview &amp; Q&amp;A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9905695" y="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FFFFFF">
                    <a:alpha val="70000"/>
                  </a:srgb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L01 · Slide 22/22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XVII.  SAME WORKFLOW · NEW CLIENT · NEW DOMAIN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Take Sarah's playbook to Lakeside Bank.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440680" cy="4572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148840"/>
            <a:ext cx="544068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28600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📝   ASSIGNMENT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69748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Open: notebooks/assignment.ipynb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77240" y="3246120"/>
            <a:ext cx="49834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Sarah's next Monday — </a:t>
            </a:r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Lakeside Bank.
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Tom Bradley has 8,000 unlabelled complaints.
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Apply the 7-step workflow to a new domain.
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Three tiers — </a:t>
            </a:r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Guided · Partial · Open.
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Sample solutions at the bottom.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77240" y="58064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C8102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DUE  ·  BEFORE L02 SESSION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2103120"/>
            <a:ext cx="5440680" cy="45720"/>
          </a:xfrm>
          <a:prstGeom prst="rect">
            <a:avLst/>
          </a:prstGeom>
          <a:solidFill>
            <a:srgbClr val="2C5697"/>
          </a:solidFill>
          <a:ln w="12700">
            <a:solidFill>
              <a:srgbClr val="2C569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2148840"/>
            <a:ext cx="544068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DDE1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228600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2C56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💬   Q&amp;A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2697480"/>
            <a:ext cx="4983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Common questions: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00800" y="3108960"/>
            <a:ext cx="4983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Why use a pre-trained model vs train your own?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When should I trust the confidence score?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What if my problem doesn't fit any of the three categories?</a:t>
            </a:r>
            <a:endParaRPr lang="en-US" sz="17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333D4D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•  Will we train neural networks in this course?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0" y="58064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2C569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BRING YOUR OWN  ·  EVERY QUESTION HELPS THE ROOM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L01 — Introduction to Machine Learning (NTU SCTP)</dc:title>
  <dc:subject>PptxGenJS Presentation</dc:subject>
  <dc:creator>NTU SCTP · Advanced Professional Certificate</dc:creator>
  <cp:lastModifiedBy>NTU SCTP · Advanced Professional Certificate</cp:lastModifiedBy>
  <cp:revision>1</cp:revision>
  <dcterms:created xsi:type="dcterms:W3CDTF">2026-06-08T12:30:36Z</dcterms:created>
  <dcterms:modified xsi:type="dcterms:W3CDTF">2026-06-08T12:30:36Z</dcterms:modified>
</cp:coreProperties>
</file>