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Lesson 2 of Module 3 — Probability and Statistics. Today's question is the one Priya asked Sarah at the end of L01: 'how SURE are we?' We'll learn to bracket every number Sarah quotes with confidence intervals and p-values. Same structure as last week: ~90 minutes of slides, ~90 minutes of hands-on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from Friday of L01. Sarah's deck looked great, but Priya's question — 'how sure are we?' — exposed the gap. The model put a label on every review. We have no measure of confidence on individual predictions, no measure of confidence on the aggregate. That's what L02 fixes. Three statistical tools, one for each of the three numbers Sarah quoted.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Monday morning. Sarah pulls all 10,000 polarity scores from the L01 sentiment run and plots a histogram. She expects a bell curve. Instead she sees something lopsided — more mildly positive than strongly positive, a long tail. She freezes: 'How do I describe this shape to Priya?' This is where distribution analysis becomes useful. The shape of the data IS the answer to a lot of business questions.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setup, different angle. Once Sarah names the shape — 'right-skewed' — she can choose the right summary statistic. Mean is sensitive to the long tail; median is robust. This single decision changes the headline number she shows Priya. The professional move is to show both and explain why the median is more representative.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Shape 1 of 3: Normal (Bell Curve). Symmetric , Peak in the middle , Thin tails. The classic examples are Heights of adults , Test scores , Measurement errors. The rule of thumb that matters most for picking a summary statistic: Mean ≈ Median.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Shape 2 of 3: Right-Skewed. Peak on the LEFT , Long tail to the RIGHT. The classic examples are Incomes , House prices , Review lengths , Hospital stays. The rule of thumb that matters most for picking a summary statistic: Mean &gt; Median  (mean is pulled up by the tail).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Shape 3 of 3: Left-Skewed. Peak on the RIGHT , Long tail to the LEFT. The classic examples are Easy exam scores , Age at retirement , Lifetime of products. The rule of thumb that matters most for picking a summary statistic: Mean &lt; Median  (mean is pulled down by the tail).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practical takeaway from distribution theory: knowing when to quote mean vs median. With symmetric data, they're interchangeable. With skewed data, they diverge — sometimes dramatically. Incomes are the canonical example: a few high earners pull the mean way above the median. Always check both before quoting either.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this matter for Sarah? Because if she quotes 'average polarity is 0.12, mostly positive!' she's hiding the long tail. Priya might miss that thousands of reviews sit near 0 (lukewarm) and a few hundred are very negative. Median + a chart of the distribution is the honest report.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Z-scores translate any value into 'standard deviations from the mean'. A Z of 0 is exactly average. A Z of 2 means 'two standard deviations above average'. A Z of -3 means 'three standard deviations below — an outlier worth investigating'. This single transformation is the foundation of feature standardisation in ML and of outlier detection in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Z-scores matter in ML. First, they're how outlier detection works at scale: anything with |Z| &gt; 3 is worth a human look. Second, they're how feature standardisation works before training: every numeric feature gets transformed to mean=0, std=1 so the model treats them on equal footing. We'll see this in every supervised learning lesson from L03 onward.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30-minute code-along on 02_distributions.ipynb. Open the notebook and work through the Core section. Stop at the 🟡 marker — Extension content is for self-study. Raise your hand if you get stuck.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Wednesday morning. Sarah hand-labels 200 reviews and finds the model agrees on 167 — about 84% accuracy. She's pleased. But Priya immediately asks: 'is it EXACTLY 84%?' Sarah pauses. If she'd labelled a different 200, would she still get 84%? Or could it be 79%? Or 90%? This is the sampling problem — any number from a sample carries uncertainty. We need a way to bracket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answer this question with code. Take the same 200-review experiment, repeat it 1,000 times under the same underlying truth, plot all the accuracy estimates. The spread you see is the uncertainty around Sarah's 84%. A picture is worth a thousand words here — and once you've seen the spread, you'll never again quote an accuracy number without a bracket.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Limit Theorem explains why the histogram you just saw is bell-shaped — even though the underlying data is binary (correct/incorrect, not normal). The CLT says: averages from many samples follow a normal distribution. This is the deepest result in statistics and the reason confidence intervals work on essentially any kind of accuracy or rate metric you'll ever compute.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Skittles analogy that makes CLT click. A jar of Skittles has unequal colour proportions — nothing remotely normal. Take a handful of 30, count the reds, return them, repeat 1,000 times. Plot the red-count per handful. You get a bell curve — even though the JAR isn't a bell curve. That's the CLT. The raw data doesn't have to be normal. Only the sample averages 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visual proof of the CLT in action. Roll one die — the distribution of single rolls is flat: every value 1-6 is equally likely. Roll 5 dice and average them — already humped. Roll 30 dice and average — indistinguishable from a normal distribution. This is the demo that runs in the notebook in 5 lines of numpy. We'll let learners run it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get to the practical pay-off. A confidence interval is a range that probably contains the true value. For a 95% CI: if we repeated this experiment many times and computed the interval each time, 95% of those intervals would contain the true value. The interval IS the bracket Sarah needs around 84%.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common CI mis-reading — and the one that turns up in news articles, executive memos, and even academic papers. A 95% CI does NOT mean 'there's a 95% probability the truth is in this range.' The truth is a fixed number; it doesn't have a probability of being in a range. What has the 95% property is the METHOD across many imagined repetitions of the experiment.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30-minute code-along on 03_confidence_intervals.ipynb. Open the notebook and work through the Core section. Stop at the 🟡 marker — Extension content is for self-study. Raise your hand if you get stuck.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Thursday. Aisha walks in with the apology coupon idea — automatically send a 10% coupon to anyone the model tags NEGATIVE. Sarah agrees it could work. Then Marcus, the CTO, stops by: 'thousands of pounds a week — will this actually reduce churn, or are we adding ops complexity for noise?' The question needs an A/B test.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Designing the A/B test. Before any data, Sarah writes down four things: null hypothesis (no effect), alternative (coupon reduces complaints), outcome metric (30-day complaint rate), and groups (control vs treatment, ~400 each). This framing IS the test — once it's clear, the rest is mechanical.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p-value is the probability of seeing results AT LEAST THIS EXTREME, assuming the null hypothesis is true. If p is small (typically &lt; 0.05), the observed data would be unlikely under H₀, so we reject H₀. The two-proportion z-test is the right tool for comparing rates between two groups — control and treatment. The formula is in lesson.md; the notebook computes it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Mis-reading 1: 'p = 0.03 means there's a 3% chance the null hypothesis is true'. NO. The p-value is P(data | H₀), not P(H₀ | data). The second form requires Bayesian reasoning. Mis-reading 2: 'p &lt; 0.05 means the effect is large and important'. Statistical significance and practical (or economic) significance are separate. With a giant n, even tiny effects become statistically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Mis-reading 3 — the most consequential. 'p = 0.08, not significant — so the coupon doesn't work.' Wrong. 'Failed to reject H₀' is not the same as 'H₀ is true.' The effect might be real but undetectable at this sample size. Absence of evidence is not evidence of absence. This single mistake has killed more good interventions than any other in A/B testing.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20-minute code-along on 04_ab_testing.ipynb. Open the notebook and work through the Core section. Stop at the 🟡 marker — Extension content is for self-study. Raise your hand if you get stuck.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Friday. Sarah walks into the leadership meeting with exactly three numbers — and three statistical tools to defend each one. Distribution analysis for the 60%, confidence interval for the 84%, A/B test + p-value for the coupon effect. Priya nods. Marcus nods. The model — and Sarah's process — survive their first real test.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Marcus's new question — 'can you train your OWN model on NorthStar data?' — is the engine of Lesson 3. L03 introduces the supervised learning workflow proper: train/test split, preprocessing, linear and logistic regression, and the metrics that tell you whether your model is good. Come ready to build your first model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and Q&amp;A. Three minutes of common-question summary, then the floor is open. Questions about p-values, CIs, distributions, the assignment, or anything else are welcome. The assignment notebook is the Lakeside Bank case — same statistical workflow, new domain. Due before L03.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jpg"/>
          <p:cNvPicPr>
            <a:picLocks noChangeAspect="1"/>
          </p:cNvPicPr>
          <p:nvPr/>
        </p:nvPicPr>
        <p:blipFill>
          <a:blip r:embed="rId4"/>
          <a:stretch>
            <a:fillRect/>
          </a:stretch>
        </p:blipFill>
        <p:spPr>
          <a:xfrm>
            <a:off x="0" y="0"/>
            <a:ext cx="9144000" cy="5143500"/>
          </a:xfrm>
          <a:prstGeom prst="rect">
            <a:avLst/>
          </a:prstGeom>
        </p:spPr>
      </p:pic>
      <p:sp>
        <p:nvSpPr>
          <p:cNvPr id="3" name="TextBox 2"/>
          <p:cNvSpPr txBox="1"/>
          <p:nvPr/>
        </p:nvSpPr>
        <p:spPr>
          <a:xfrm>
            <a:off x="365760" y="1417320"/>
            <a:ext cx="5349240" cy="1371600"/>
          </a:xfrm>
          <a:prstGeom prst="rect">
            <a:avLst/>
          </a:prstGeom>
          <a:noFill/>
        </p:spPr>
        <p:txBody>
          <a:bodyPr wrap="square" lIns="0" rIns="0" tIns="0" bIns="0">
            <a:spAutoFit/>
          </a:bodyPr>
          <a:lstStyle/>
          <a:p>
            <a:pPr algn="l"/>
            <a:r>
              <a:rPr sz="2800" b="1">
                <a:solidFill>
                  <a:srgbClr val="FFFFFF"/>
                </a:solidFill>
                <a:latin typeface="Arial"/>
              </a:rPr>
              <a:t>L02 — How Sure Are We?</a:t>
            </a:r>
          </a:p>
        </p:txBody>
      </p:sp>
      <p:sp>
        <p:nvSpPr>
          <p:cNvPr id="4" name="TextBox 3"/>
          <p:cNvSpPr txBox="1"/>
          <p:nvPr/>
        </p:nvSpPr>
        <p:spPr>
          <a:xfrm>
            <a:off x="365760" y="2926080"/>
            <a:ext cx="5029200" cy="1371600"/>
          </a:xfrm>
          <a:prstGeom prst="rect">
            <a:avLst/>
          </a:prstGeom>
          <a:noFill/>
        </p:spPr>
        <p:txBody>
          <a:bodyPr wrap="square" lIns="0" rIns="0" tIns="0" bIns="0">
            <a:spAutoFit/>
          </a:bodyPr>
          <a:lstStyle/>
          <a:p>
            <a:pPr algn="l"/>
            <a:r>
              <a:rPr sz="1400">
                <a:solidFill>
                  <a:srgbClr val="FFFFFF"/>
                </a:solidFill>
                <a:latin typeface="Arial"/>
              </a:rPr>
              <a:t>Probability &amp; Statistics for ML</a:t>
            </a:r>
          </a:p>
          <a:p>
            <a:pPr algn="l"/>
            <a:r>
              <a:rPr sz="1400">
                <a:solidFill>
                  <a:srgbClr val="FFFFFF"/>
                </a:solidFill>
                <a:latin typeface="Arial"/>
              </a:rPr>
              <a:t/>
            </a:r>
          </a:p>
          <a:p>
            <a:pPr algn="l"/>
            <a:r>
              <a:rPr sz="1400">
                <a:solidFill>
                  <a:srgbClr val="FFFFFF"/>
                </a:solidFill>
                <a:latin typeface="Arial"/>
              </a:rPr>
              <a:t>Sarah's week of defending every number</a:t>
            </a:r>
          </a:p>
        </p:txBody>
      </p:sp>
      <p:pic>
        <p:nvPicPr>
          <p:cNvPr id="5" name="Picture 4" descr="image.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Where We Left Off</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Priya's question is the engine of this lesson</a:t>
            </a:r>
          </a:p>
        </p:txBody>
      </p:sp>
      <p:sp>
        <p:nvSpPr>
          <p:cNvPr id="5" name="Rectangle 4"/>
          <p:cNvSpPr/>
          <p:nvPr/>
        </p:nvSpPr>
        <p:spPr>
          <a:xfrm>
            <a:off x="411480" y="1234440"/>
            <a:ext cx="8298180" cy="13716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371600"/>
            <a:ext cx="7886700" cy="274320"/>
          </a:xfrm>
          <a:prstGeom prst="rect">
            <a:avLst/>
          </a:prstGeom>
          <a:noFill/>
        </p:spPr>
        <p:txBody>
          <a:bodyPr wrap="square" lIns="0" rIns="0" tIns="0" bIns="0" anchor="t">
            <a:spAutoFit/>
          </a:bodyPr>
          <a:lstStyle/>
          <a:p>
            <a:pPr algn="l"/>
            <a:r>
              <a:rPr sz="1050" b="0">
                <a:solidFill>
                  <a:srgbClr val="E8F1F5"/>
                </a:solidFill>
                <a:latin typeface="Calibri"/>
              </a:rPr>
              <a:t>Priya, at the end of L01:</a:t>
            </a:r>
          </a:p>
        </p:txBody>
      </p:sp>
      <p:sp>
        <p:nvSpPr>
          <p:cNvPr id="7" name="TextBox 6"/>
          <p:cNvSpPr txBox="1"/>
          <p:nvPr/>
        </p:nvSpPr>
        <p:spPr>
          <a:xfrm>
            <a:off x="617220" y="1714500"/>
            <a:ext cx="7886700" cy="822960"/>
          </a:xfrm>
          <a:prstGeom prst="rect">
            <a:avLst/>
          </a:prstGeom>
          <a:noFill/>
        </p:spPr>
        <p:txBody>
          <a:bodyPr wrap="square" lIns="0" rIns="0" tIns="0" bIns="0" anchor="t">
            <a:spAutoFit/>
          </a:bodyPr>
          <a:lstStyle/>
          <a:p>
            <a:pPr algn="l"/>
            <a:r>
              <a:rPr sz="1500" b="0">
                <a:solidFill>
                  <a:srgbClr val="FFFFFF"/>
                </a:solidFill>
                <a:latin typeface="Trebuchet MS"/>
              </a:rPr>
              <a:t>"How sure are we? The model put a label on every review.</a:t>
            </a:r>
          </a:p>
          <a:p>
            <a:pPr algn="l"/>
            <a:r>
              <a:rPr sz="1500" b="0">
                <a:solidFill>
                  <a:srgbClr val="FFFFFF"/>
                </a:solidFill>
                <a:latin typeface="Trebuchet MS"/>
              </a:rPr>
              <a:t>How do we know it isn't confidently wrong in ways we can't see?"</a:t>
            </a:r>
          </a:p>
        </p:txBody>
      </p:sp>
      <p:sp>
        <p:nvSpPr>
          <p:cNvPr id="8" name="TextBox 7"/>
          <p:cNvSpPr txBox="1"/>
          <p:nvPr/>
        </p:nvSpPr>
        <p:spPr>
          <a:xfrm>
            <a:off x="411480" y="2811779"/>
            <a:ext cx="8298180" cy="342900"/>
          </a:xfrm>
          <a:prstGeom prst="rect">
            <a:avLst/>
          </a:prstGeom>
          <a:noFill/>
        </p:spPr>
        <p:txBody>
          <a:bodyPr wrap="square" lIns="0" rIns="0" tIns="0" bIns="0" anchor="t">
            <a:spAutoFit/>
          </a:bodyPr>
          <a:lstStyle/>
          <a:p>
            <a:pPr algn="l"/>
            <a:r>
              <a:rPr sz="1125" b="1">
                <a:solidFill>
                  <a:srgbClr val="1C7293"/>
                </a:solidFill>
                <a:latin typeface="Calibri"/>
              </a:rPr>
              <a:t>Three numbers Sarah needs to defend by Friday:</a:t>
            </a:r>
          </a:p>
        </p:txBody>
      </p:sp>
      <p:sp>
        <p:nvSpPr>
          <p:cNvPr id="9" name="Rectangle 8"/>
          <p:cNvSpPr/>
          <p:nvPr/>
        </p:nvSpPr>
        <p:spPr>
          <a:xfrm>
            <a:off x="411480" y="3223260"/>
            <a:ext cx="1508760" cy="37719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3257550"/>
            <a:ext cx="1508760" cy="308610"/>
          </a:xfrm>
          <a:prstGeom prst="rect">
            <a:avLst/>
          </a:prstGeom>
          <a:noFill/>
        </p:spPr>
        <p:txBody>
          <a:bodyPr wrap="square" lIns="0" rIns="0" tIns="0" bIns="0" anchor="t">
            <a:spAutoFit/>
          </a:bodyPr>
          <a:lstStyle/>
          <a:p>
            <a:pPr algn="ctr"/>
            <a:r>
              <a:rPr sz="1650" b="1">
                <a:solidFill>
                  <a:srgbClr val="FFFFFF"/>
                </a:solidFill>
                <a:latin typeface="Trebuchet MS"/>
              </a:rPr>
              <a:t>60%</a:t>
            </a:r>
          </a:p>
        </p:txBody>
      </p:sp>
      <p:sp>
        <p:nvSpPr>
          <p:cNvPr id="11" name="TextBox 10"/>
          <p:cNvSpPr txBox="1"/>
          <p:nvPr/>
        </p:nvSpPr>
        <p:spPr>
          <a:xfrm>
            <a:off x="2023110" y="3305556"/>
            <a:ext cx="2743200" cy="274320"/>
          </a:xfrm>
          <a:prstGeom prst="rect">
            <a:avLst/>
          </a:prstGeom>
          <a:noFill/>
        </p:spPr>
        <p:txBody>
          <a:bodyPr wrap="square" lIns="0" rIns="0" tIns="0" bIns="0" anchor="t">
            <a:spAutoFit/>
          </a:bodyPr>
          <a:lstStyle/>
          <a:p>
            <a:pPr algn="l"/>
            <a:r>
              <a:rPr sz="1050" b="0">
                <a:solidFill>
                  <a:srgbClr val="36454F"/>
                </a:solidFill>
                <a:latin typeface="Calibri"/>
              </a:rPr>
              <a:t>of reviews are positive</a:t>
            </a:r>
          </a:p>
        </p:txBody>
      </p:sp>
      <p:sp>
        <p:nvSpPr>
          <p:cNvPr id="12" name="TextBox 11"/>
          <p:cNvSpPr txBox="1"/>
          <p:nvPr/>
        </p:nvSpPr>
        <p:spPr>
          <a:xfrm>
            <a:off x="4869180" y="3305556"/>
            <a:ext cx="3771900" cy="274320"/>
          </a:xfrm>
          <a:prstGeom prst="rect">
            <a:avLst/>
          </a:prstGeom>
          <a:noFill/>
        </p:spPr>
        <p:txBody>
          <a:bodyPr wrap="square" lIns="0" rIns="0" tIns="0" bIns="0" anchor="t">
            <a:spAutoFit/>
          </a:bodyPr>
          <a:lstStyle/>
          <a:p>
            <a:pPr algn="l"/>
            <a:r>
              <a:rPr sz="1050" b="1">
                <a:solidFill>
                  <a:srgbClr val="1C7293"/>
                </a:solidFill>
                <a:latin typeface="Calibri"/>
              </a:rPr>
              <a:t>→ Distribution analysis (Tuesday)</a:t>
            </a:r>
          </a:p>
        </p:txBody>
      </p:sp>
      <p:sp>
        <p:nvSpPr>
          <p:cNvPr id="13" name="Rectangle 12"/>
          <p:cNvSpPr/>
          <p:nvPr/>
        </p:nvSpPr>
        <p:spPr>
          <a:xfrm>
            <a:off x="411480" y="3703320"/>
            <a:ext cx="1508760" cy="37719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737610"/>
            <a:ext cx="1508760" cy="308610"/>
          </a:xfrm>
          <a:prstGeom prst="rect">
            <a:avLst/>
          </a:prstGeom>
          <a:noFill/>
        </p:spPr>
        <p:txBody>
          <a:bodyPr wrap="square" lIns="0" rIns="0" tIns="0" bIns="0" anchor="t">
            <a:spAutoFit/>
          </a:bodyPr>
          <a:lstStyle/>
          <a:p>
            <a:pPr algn="ctr"/>
            <a:r>
              <a:rPr sz="1650" b="1">
                <a:solidFill>
                  <a:srgbClr val="FFFFFF"/>
                </a:solidFill>
                <a:latin typeface="Trebuchet MS"/>
              </a:rPr>
              <a:t>84%</a:t>
            </a:r>
          </a:p>
        </p:txBody>
      </p:sp>
      <p:sp>
        <p:nvSpPr>
          <p:cNvPr id="15" name="TextBox 14"/>
          <p:cNvSpPr txBox="1"/>
          <p:nvPr/>
        </p:nvSpPr>
        <p:spPr>
          <a:xfrm>
            <a:off x="2023110" y="3785616"/>
            <a:ext cx="2743200" cy="274320"/>
          </a:xfrm>
          <a:prstGeom prst="rect">
            <a:avLst/>
          </a:prstGeom>
          <a:noFill/>
        </p:spPr>
        <p:txBody>
          <a:bodyPr wrap="square" lIns="0" rIns="0" tIns="0" bIns="0" anchor="t">
            <a:spAutoFit/>
          </a:bodyPr>
          <a:lstStyle/>
          <a:p>
            <a:pPr algn="l"/>
            <a:r>
              <a:rPr sz="1050" b="0">
                <a:solidFill>
                  <a:srgbClr val="36454F"/>
                </a:solidFill>
                <a:latin typeface="Calibri"/>
              </a:rPr>
              <a:t>model accuracy</a:t>
            </a:r>
          </a:p>
        </p:txBody>
      </p:sp>
      <p:sp>
        <p:nvSpPr>
          <p:cNvPr id="16" name="TextBox 15"/>
          <p:cNvSpPr txBox="1"/>
          <p:nvPr/>
        </p:nvSpPr>
        <p:spPr>
          <a:xfrm>
            <a:off x="4869180" y="3785616"/>
            <a:ext cx="3771900" cy="274320"/>
          </a:xfrm>
          <a:prstGeom prst="rect">
            <a:avLst/>
          </a:prstGeom>
          <a:noFill/>
        </p:spPr>
        <p:txBody>
          <a:bodyPr wrap="square" lIns="0" rIns="0" tIns="0" bIns="0" anchor="t">
            <a:spAutoFit/>
          </a:bodyPr>
          <a:lstStyle/>
          <a:p>
            <a:pPr algn="l"/>
            <a:r>
              <a:rPr sz="1050" b="1">
                <a:solidFill>
                  <a:srgbClr val="1C7293"/>
                </a:solidFill>
                <a:latin typeface="Calibri"/>
              </a:rPr>
              <a:t>→ Confidence interval (Wednesday)</a:t>
            </a:r>
          </a:p>
        </p:txBody>
      </p:sp>
      <p:sp>
        <p:nvSpPr>
          <p:cNvPr id="17" name="Rectangle 16"/>
          <p:cNvSpPr/>
          <p:nvPr/>
        </p:nvSpPr>
        <p:spPr>
          <a:xfrm>
            <a:off x="411480" y="4183380"/>
            <a:ext cx="1508760" cy="37719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4217670"/>
            <a:ext cx="1508760" cy="308610"/>
          </a:xfrm>
          <a:prstGeom prst="rect">
            <a:avLst/>
          </a:prstGeom>
          <a:noFill/>
        </p:spPr>
        <p:txBody>
          <a:bodyPr wrap="square" lIns="0" rIns="0" tIns="0" bIns="0" anchor="t">
            <a:spAutoFit/>
          </a:bodyPr>
          <a:lstStyle/>
          <a:p>
            <a:pPr algn="ctr"/>
            <a:r>
              <a:rPr sz="1650" b="1">
                <a:solidFill>
                  <a:srgbClr val="FFFFFF"/>
                </a:solidFill>
                <a:latin typeface="Trebuchet MS"/>
              </a:rPr>
              <a:t>?</a:t>
            </a:r>
          </a:p>
        </p:txBody>
      </p:sp>
      <p:sp>
        <p:nvSpPr>
          <p:cNvPr id="19" name="TextBox 18"/>
          <p:cNvSpPr txBox="1"/>
          <p:nvPr/>
        </p:nvSpPr>
        <p:spPr>
          <a:xfrm>
            <a:off x="2023110" y="4265676"/>
            <a:ext cx="2743200" cy="274320"/>
          </a:xfrm>
          <a:prstGeom prst="rect">
            <a:avLst/>
          </a:prstGeom>
          <a:noFill/>
        </p:spPr>
        <p:txBody>
          <a:bodyPr wrap="square" lIns="0" rIns="0" tIns="0" bIns="0" anchor="t">
            <a:spAutoFit/>
          </a:bodyPr>
          <a:lstStyle/>
          <a:p>
            <a:pPr algn="l"/>
            <a:r>
              <a:rPr sz="1050" b="0">
                <a:solidFill>
                  <a:srgbClr val="36454F"/>
                </a:solidFill>
                <a:latin typeface="Calibri"/>
              </a:rPr>
              <a:t>coupon reduces churn</a:t>
            </a:r>
          </a:p>
        </p:txBody>
      </p:sp>
      <p:sp>
        <p:nvSpPr>
          <p:cNvPr id="20" name="TextBox 19"/>
          <p:cNvSpPr txBox="1"/>
          <p:nvPr/>
        </p:nvSpPr>
        <p:spPr>
          <a:xfrm>
            <a:off x="4869180" y="4265676"/>
            <a:ext cx="3771900" cy="274320"/>
          </a:xfrm>
          <a:prstGeom prst="rect">
            <a:avLst/>
          </a:prstGeom>
          <a:noFill/>
        </p:spPr>
        <p:txBody>
          <a:bodyPr wrap="square" lIns="0" rIns="0" tIns="0" bIns="0" anchor="t">
            <a:spAutoFit/>
          </a:bodyPr>
          <a:lstStyle/>
          <a:p>
            <a:pPr algn="l"/>
            <a:r>
              <a:rPr sz="1050" b="1">
                <a:solidFill>
                  <a:srgbClr val="1C7293"/>
                </a:solidFill>
                <a:latin typeface="Calibri"/>
              </a:rPr>
              <a:t>→ A/B test + p-value (Thursday)</a:t>
            </a:r>
          </a:p>
        </p:txBody>
      </p:sp>
      <p:pic>
        <p:nvPicPr>
          <p:cNvPr id="22" name="Picture 2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Sarah's Monday — The Polarity Histogram</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Reading the shape of 10,000 reviews</a:t>
            </a:r>
          </a:p>
        </p:txBody>
      </p:sp>
      <p:sp>
        <p:nvSpPr>
          <p:cNvPr id="5" name="Rectangle 4"/>
          <p:cNvSpPr/>
          <p:nvPr/>
        </p:nvSpPr>
        <p:spPr>
          <a:xfrm>
            <a:off x="411480" y="1234440"/>
            <a:ext cx="493776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371600"/>
            <a:ext cx="4594860" cy="342900"/>
          </a:xfrm>
          <a:prstGeom prst="rect">
            <a:avLst/>
          </a:prstGeom>
          <a:noFill/>
        </p:spPr>
        <p:txBody>
          <a:bodyPr wrap="square" lIns="0" rIns="0" tIns="0" bIns="0" anchor="t">
            <a:spAutoFit/>
          </a:bodyPr>
          <a:lstStyle/>
          <a:p>
            <a:pPr algn="l"/>
            <a:r>
              <a:rPr sz="1125" b="1">
                <a:solidFill>
                  <a:srgbClr val="065A82"/>
                </a:solidFill>
                <a:latin typeface="Calibri"/>
              </a:rPr>
              <a:t>What Sarah sees:</a:t>
            </a:r>
          </a:p>
        </p:txBody>
      </p:sp>
      <p:sp>
        <p:nvSpPr>
          <p:cNvPr id="7" name="Rectangle 6"/>
          <p:cNvSpPr/>
          <p:nvPr/>
        </p:nvSpPr>
        <p:spPr>
          <a:xfrm>
            <a:off x="685800" y="3703320"/>
            <a:ext cx="22932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0120" y="3154680"/>
            <a:ext cx="22932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34440" y="2537460"/>
            <a:ext cx="229320" cy="14401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08760" y="2194560"/>
            <a:ext cx="229320" cy="1783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83080" y="2674620"/>
            <a:ext cx="229320" cy="13030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57400" y="3154680"/>
            <a:ext cx="22932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497580"/>
            <a:ext cx="229320" cy="4800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6040" y="3634740"/>
            <a:ext cx="229320" cy="3429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0360" y="3703320"/>
            <a:ext cx="22932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54680" y="3737610"/>
            <a:ext cx="229320" cy="24003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29000" y="3771900"/>
            <a:ext cx="229320" cy="2057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703320" y="3806190"/>
            <a:ext cx="229320" cy="17145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977640" y="3840480"/>
            <a:ext cx="229320" cy="137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51960" y="3874770"/>
            <a:ext cx="229320" cy="1028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26280" y="3909060"/>
            <a:ext cx="229320" cy="685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2930" y="4114800"/>
            <a:ext cx="4594860" cy="274320"/>
          </a:xfrm>
          <a:prstGeom prst="rect">
            <a:avLst/>
          </a:prstGeom>
          <a:noFill/>
        </p:spPr>
        <p:txBody>
          <a:bodyPr wrap="square" lIns="0" rIns="0" tIns="0" bIns="0" anchor="t">
            <a:spAutoFit/>
          </a:bodyPr>
          <a:lstStyle/>
          <a:p>
            <a:pPr algn="l"/>
            <a:r>
              <a:rPr sz="900" b="0">
                <a:solidFill>
                  <a:srgbClr val="36454F"/>
                </a:solidFill>
                <a:latin typeface="Calibri"/>
              </a:rPr>
              <a:t>Most scores cluster in the mildly-positive range,</a:t>
            </a:r>
          </a:p>
        </p:txBody>
      </p:sp>
      <p:sp>
        <p:nvSpPr>
          <p:cNvPr id="24" name="Rectangle 23"/>
          <p:cNvSpPr/>
          <p:nvPr/>
        </p:nvSpPr>
        <p:spPr>
          <a:xfrm>
            <a:off x="5486400" y="1234440"/>
            <a:ext cx="3223260" cy="3429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57850" y="1371600"/>
            <a:ext cx="2880360" cy="342900"/>
          </a:xfrm>
          <a:prstGeom prst="rect">
            <a:avLst/>
          </a:prstGeom>
          <a:noFill/>
        </p:spPr>
        <p:txBody>
          <a:bodyPr wrap="square" lIns="0" rIns="0" tIns="0" bIns="0" anchor="t">
            <a:spAutoFit/>
          </a:bodyPr>
          <a:lstStyle/>
          <a:p>
            <a:pPr algn="l"/>
            <a:r>
              <a:rPr sz="1125" b="1">
                <a:solidFill>
                  <a:srgbClr val="E8F1F5"/>
                </a:solidFill>
                <a:latin typeface="Calibri"/>
              </a:rPr>
              <a:t>Sarah's first reaction:</a:t>
            </a:r>
          </a:p>
        </p:txBody>
      </p:sp>
      <p:sp>
        <p:nvSpPr>
          <p:cNvPr id="26" name="TextBox 25"/>
          <p:cNvSpPr txBox="1"/>
          <p:nvPr/>
        </p:nvSpPr>
        <p:spPr>
          <a:xfrm>
            <a:off x="5657850" y="1783080"/>
            <a:ext cx="2880360" cy="1714500"/>
          </a:xfrm>
          <a:prstGeom prst="rect">
            <a:avLst/>
          </a:prstGeom>
          <a:noFill/>
        </p:spPr>
        <p:txBody>
          <a:bodyPr wrap="square" lIns="0" rIns="0" tIns="0" bIns="0" anchor="t">
            <a:spAutoFit/>
          </a:bodyPr>
          <a:lstStyle/>
          <a:p>
            <a:pPr algn="l"/>
            <a:r>
              <a:rPr sz="1050" b="0">
                <a:solidFill>
                  <a:srgbClr val="FFFFFF"/>
                </a:solidFill>
                <a:latin typeface="Trebuchet MS"/>
              </a:rPr>
              <a:t>"It's not a bell curve. There's a hump on the left, a long tail to the right.</a:t>
            </a:r>
          </a:p>
          <a:p>
            <a:pPr algn="l"/>
            <a:r>
              <a:rPr sz="1050" b="0">
                <a:solidFill>
                  <a:srgbClr val="FFFFFF"/>
                </a:solidFill>
                <a:latin typeface="Trebuchet MS"/>
              </a:rPr>
              <a:t/>
            </a:r>
          </a:p>
          <a:p>
            <a:pPr algn="l"/>
            <a:r>
              <a:rPr sz="1050" b="0">
                <a:solidFill>
                  <a:srgbClr val="FFFFFF"/>
                </a:solidFill>
                <a:latin typeface="Trebuchet MS"/>
              </a:rPr>
              <a:t>How do I describe this to Priya in a way that's honest?"</a:t>
            </a:r>
          </a:p>
        </p:txBody>
      </p:sp>
      <p:sp>
        <p:nvSpPr>
          <p:cNvPr id="27" name="TextBox 26"/>
          <p:cNvSpPr txBox="1"/>
          <p:nvPr/>
        </p:nvSpPr>
        <p:spPr>
          <a:xfrm>
            <a:off x="5657850" y="3771900"/>
            <a:ext cx="2880360" cy="342900"/>
          </a:xfrm>
          <a:prstGeom prst="rect">
            <a:avLst/>
          </a:prstGeom>
          <a:noFill/>
        </p:spPr>
        <p:txBody>
          <a:bodyPr wrap="square" lIns="0" rIns="0" tIns="0" bIns="0" anchor="t">
            <a:spAutoFit/>
          </a:bodyPr>
          <a:lstStyle/>
          <a:p>
            <a:pPr algn="l"/>
            <a:r>
              <a:rPr sz="975" b="1">
                <a:solidFill>
                  <a:srgbClr val="E8F1F5"/>
                </a:solidFill>
                <a:latin typeface="Calibri"/>
              </a:rPr>
              <a:t>The vocabulary she needs:</a:t>
            </a:r>
          </a:p>
        </p:txBody>
      </p:sp>
      <p:sp>
        <p:nvSpPr>
          <p:cNvPr id="28" name="TextBox 27"/>
          <p:cNvSpPr txBox="1"/>
          <p:nvPr/>
        </p:nvSpPr>
        <p:spPr>
          <a:xfrm>
            <a:off x="5657850" y="4080510"/>
            <a:ext cx="2880360" cy="548640"/>
          </a:xfrm>
          <a:prstGeom prst="rect">
            <a:avLst/>
          </a:prstGeom>
          <a:noFill/>
        </p:spPr>
        <p:txBody>
          <a:bodyPr wrap="square" lIns="0" rIns="0" tIns="0" bIns="0" anchor="t">
            <a:spAutoFit/>
          </a:bodyPr>
          <a:lstStyle/>
          <a:p>
            <a:pPr algn="l"/>
            <a:r>
              <a:rPr sz="975" b="0">
                <a:solidFill>
                  <a:srgbClr val="F9E795"/>
                </a:solidFill>
                <a:latin typeface="Calibri"/>
              </a:rPr>
              <a:t>• Skewness</a:t>
            </a:r>
          </a:p>
          <a:p>
            <a:pPr algn="l"/>
            <a:r>
              <a:rPr sz="975" b="0">
                <a:solidFill>
                  <a:srgbClr val="F9E795"/>
                </a:solidFill>
                <a:latin typeface="Calibri"/>
              </a:rPr>
              <a:t>• Mean vs Median</a:t>
            </a:r>
          </a:p>
          <a:p>
            <a:pPr algn="l"/>
            <a:r>
              <a:rPr sz="975" b="0">
                <a:solidFill>
                  <a:srgbClr val="F9E795"/>
                </a:solidFill>
                <a:latin typeface="Calibri"/>
              </a:rPr>
              <a:t>• Z-scores</a:t>
            </a:r>
          </a:p>
        </p:txBody>
      </p:sp>
      <p:pic>
        <p:nvPicPr>
          <p:cNvPr id="30" name="Picture 29"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Why This Matters For Sarah's Report</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Shape determines which summary number to quote</a:t>
            </a:r>
          </a:p>
        </p:txBody>
      </p:sp>
      <p:sp>
        <p:nvSpPr>
          <p:cNvPr id="5" name="Rectangle 4"/>
          <p:cNvSpPr/>
          <p:nvPr/>
        </p:nvSpPr>
        <p:spPr>
          <a:xfrm>
            <a:off x="411480" y="1303020"/>
            <a:ext cx="8298180" cy="10287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342900"/>
          </a:xfrm>
          <a:prstGeom prst="rect">
            <a:avLst/>
          </a:prstGeom>
          <a:noFill/>
        </p:spPr>
        <p:txBody>
          <a:bodyPr wrap="square" lIns="0" rIns="0" tIns="0" bIns="0" anchor="t">
            <a:spAutoFit/>
          </a:bodyPr>
          <a:lstStyle/>
          <a:p>
            <a:pPr algn="l"/>
            <a:r>
              <a:rPr sz="1050" b="0">
                <a:solidFill>
                  <a:srgbClr val="E8F1F5"/>
                </a:solidFill>
                <a:latin typeface="Calibri"/>
              </a:rPr>
              <a:t>Sarah's choice point</a:t>
            </a:r>
          </a:p>
        </p:txBody>
      </p:sp>
      <p:sp>
        <p:nvSpPr>
          <p:cNvPr id="7" name="TextBox 6"/>
          <p:cNvSpPr txBox="1"/>
          <p:nvPr/>
        </p:nvSpPr>
        <p:spPr>
          <a:xfrm>
            <a:off x="617220" y="1748790"/>
            <a:ext cx="7886700" cy="548640"/>
          </a:xfrm>
          <a:prstGeom prst="rect">
            <a:avLst/>
          </a:prstGeom>
          <a:noFill/>
        </p:spPr>
        <p:txBody>
          <a:bodyPr wrap="square" lIns="0" rIns="0" tIns="0" bIns="0" anchor="t">
            <a:spAutoFit/>
          </a:bodyPr>
          <a:lstStyle/>
          <a:p>
            <a:pPr algn="l"/>
            <a:r>
              <a:rPr sz="1275" b="0">
                <a:solidFill>
                  <a:srgbClr val="FFFFFF"/>
                </a:solidFill>
                <a:latin typeface="Trebuchet MS"/>
              </a:rPr>
              <a:t>"Do I report the MEAN positivity (pulled up by the long tail) — or the MEDIAN (more representative of a typical review)?"</a:t>
            </a:r>
          </a:p>
        </p:txBody>
      </p:sp>
      <p:sp>
        <p:nvSpPr>
          <p:cNvPr id="8" name="Rectangle 7"/>
          <p:cNvSpPr/>
          <p:nvPr/>
        </p:nvSpPr>
        <p:spPr>
          <a:xfrm>
            <a:off x="411480" y="2537460"/>
            <a:ext cx="205740" cy="8229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 y="2537460"/>
            <a:ext cx="8092440" cy="8229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670" y="2640330"/>
            <a:ext cx="7749540" cy="274320"/>
          </a:xfrm>
          <a:prstGeom prst="rect">
            <a:avLst/>
          </a:prstGeom>
          <a:noFill/>
        </p:spPr>
        <p:txBody>
          <a:bodyPr wrap="square" lIns="0" rIns="0" tIns="0" bIns="0" anchor="t">
            <a:spAutoFit/>
          </a:bodyPr>
          <a:lstStyle/>
          <a:p>
            <a:pPr algn="l"/>
            <a:r>
              <a:rPr sz="1200" b="1">
                <a:solidFill>
                  <a:srgbClr val="065A82"/>
                </a:solidFill>
                <a:latin typeface="Calibri"/>
              </a:rPr>
              <a:t>Report the MEAN</a:t>
            </a:r>
          </a:p>
        </p:txBody>
      </p:sp>
      <p:sp>
        <p:nvSpPr>
          <p:cNvPr id="11" name="TextBox 10"/>
          <p:cNvSpPr txBox="1"/>
          <p:nvPr/>
        </p:nvSpPr>
        <p:spPr>
          <a:xfrm>
            <a:off x="788670" y="2914650"/>
            <a:ext cx="7749540" cy="274320"/>
          </a:xfrm>
          <a:prstGeom prst="rect">
            <a:avLst/>
          </a:prstGeom>
          <a:noFill/>
        </p:spPr>
        <p:txBody>
          <a:bodyPr wrap="square" lIns="0" rIns="0" tIns="0" bIns="0" anchor="t">
            <a:spAutoFit/>
          </a:bodyPr>
          <a:lstStyle/>
          <a:p>
            <a:pPr algn="l"/>
            <a:r>
              <a:rPr sz="900" b="0">
                <a:solidFill>
                  <a:srgbClr val="36454F"/>
                </a:solidFill>
                <a:latin typeface="Calibri"/>
              </a:rPr>
              <a:t>Sensitive to extremes. The long tail pulls it up.</a:t>
            </a:r>
          </a:p>
        </p:txBody>
      </p:sp>
      <p:sp>
        <p:nvSpPr>
          <p:cNvPr id="12" name="TextBox 11"/>
          <p:cNvSpPr txBox="1"/>
          <p:nvPr/>
        </p:nvSpPr>
        <p:spPr>
          <a:xfrm>
            <a:off x="788670" y="3154680"/>
            <a:ext cx="7749540" cy="274320"/>
          </a:xfrm>
          <a:prstGeom prst="rect">
            <a:avLst/>
          </a:prstGeom>
          <a:noFill/>
        </p:spPr>
        <p:txBody>
          <a:bodyPr wrap="square" lIns="0" rIns="0" tIns="0" bIns="0" anchor="t">
            <a:spAutoFit/>
          </a:bodyPr>
          <a:lstStyle/>
          <a:p>
            <a:pPr algn="l"/>
            <a:r>
              <a:rPr sz="900" b="1">
                <a:solidFill>
                  <a:srgbClr val="F96167"/>
                </a:solidFill>
                <a:latin typeface="Calibri"/>
              </a:rPr>
              <a:t>✗  Overstates how positive 'typical' reviews are</a:t>
            </a:r>
          </a:p>
        </p:txBody>
      </p:sp>
      <p:sp>
        <p:nvSpPr>
          <p:cNvPr id="13" name="Rectangle 12"/>
          <p:cNvSpPr/>
          <p:nvPr/>
        </p:nvSpPr>
        <p:spPr>
          <a:xfrm>
            <a:off x="411480" y="3497580"/>
            <a:ext cx="20574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 y="3497580"/>
            <a:ext cx="8092440" cy="8229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8670" y="3600450"/>
            <a:ext cx="7749540" cy="274320"/>
          </a:xfrm>
          <a:prstGeom prst="rect">
            <a:avLst/>
          </a:prstGeom>
          <a:noFill/>
        </p:spPr>
        <p:txBody>
          <a:bodyPr wrap="square" lIns="0" rIns="0" tIns="0" bIns="0" anchor="t">
            <a:spAutoFit/>
          </a:bodyPr>
          <a:lstStyle/>
          <a:p>
            <a:pPr algn="l"/>
            <a:r>
              <a:rPr sz="1200" b="1">
                <a:solidFill>
                  <a:srgbClr val="065A82"/>
                </a:solidFill>
                <a:latin typeface="Calibri"/>
              </a:rPr>
              <a:t>Report the MEDIAN</a:t>
            </a:r>
          </a:p>
        </p:txBody>
      </p:sp>
      <p:sp>
        <p:nvSpPr>
          <p:cNvPr id="16" name="TextBox 15"/>
          <p:cNvSpPr txBox="1"/>
          <p:nvPr/>
        </p:nvSpPr>
        <p:spPr>
          <a:xfrm>
            <a:off x="788670" y="3874770"/>
            <a:ext cx="7749540" cy="274320"/>
          </a:xfrm>
          <a:prstGeom prst="rect">
            <a:avLst/>
          </a:prstGeom>
          <a:noFill/>
        </p:spPr>
        <p:txBody>
          <a:bodyPr wrap="square" lIns="0" rIns="0" tIns="0" bIns="0" anchor="t">
            <a:spAutoFit/>
          </a:bodyPr>
          <a:lstStyle/>
          <a:p>
            <a:pPr algn="l"/>
            <a:r>
              <a:rPr sz="900" b="0">
                <a:solidFill>
                  <a:srgbClr val="36454F"/>
                </a:solidFill>
                <a:latin typeface="Calibri"/>
              </a:rPr>
              <a:t>Robust to extremes. The 50% mark.</a:t>
            </a:r>
          </a:p>
        </p:txBody>
      </p:sp>
      <p:sp>
        <p:nvSpPr>
          <p:cNvPr id="17" name="TextBox 16"/>
          <p:cNvSpPr txBox="1"/>
          <p:nvPr/>
        </p:nvSpPr>
        <p:spPr>
          <a:xfrm>
            <a:off x="788670" y="4114800"/>
            <a:ext cx="7749540" cy="274320"/>
          </a:xfrm>
          <a:prstGeom prst="rect">
            <a:avLst/>
          </a:prstGeom>
          <a:noFill/>
        </p:spPr>
        <p:txBody>
          <a:bodyPr wrap="square" lIns="0" rIns="0" tIns="0" bIns="0" anchor="t">
            <a:spAutoFit/>
          </a:bodyPr>
          <a:lstStyle/>
          <a:p>
            <a:pPr algn="l"/>
            <a:r>
              <a:rPr sz="900" b="1">
                <a:solidFill>
                  <a:srgbClr val="065A82"/>
                </a:solidFill>
                <a:latin typeface="Calibri"/>
              </a:rPr>
              <a:t>✓  Better representation of a 'typical' review for skewed data</a:t>
            </a:r>
          </a:p>
        </p:txBody>
      </p:sp>
      <p:pic>
        <p:nvPicPr>
          <p:cNvPr id="19" name="Picture 1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Distribution Shape 1: Normal (Bell Curve)</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Symmetric · Peak in the middle · Thin tails</a:t>
            </a:r>
          </a:p>
        </p:txBody>
      </p:sp>
      <p:sp>
        <p:nvSpPr>
          <p:cNvPr id="5" name="Rectangle 4"/>
          <p:cNvSpPr/>
          <p:nvPr/>
        </p:nvSpPr>
        <p:spPr>
          <a:xfrm>
            <a:off x="411480" y="1371600"/>
            <a:ext cx="7886700" cy="2057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3154680"/>
            <a:ext cx="591510" cy="685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37310" y="3017520"/>
            <a:ext cx="591510" cy="2057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88820" y="2811780"/>
            <a:ext cx="59151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40330" y="2400300"/>
            <a:ext cx="59151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91840" y="1851660"/>
            <a:ext cx="59151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943350" y="1508760"/>
            <a:ext cx="591510" cy="17145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94860" y="1851660"/>
            <a:ext cx="59151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46370" y="2400300"/>
            <a:ext cx="59151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97880" y="2811780"/>
            <a:ext cx="59151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49390" y="3017520"/>
            <a:ext cx="591510" cy="2057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00900" y="3154680"/>
            <a:ext cx="591510" cy="685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3257550"/>
            <a:ext cx="7200900" cy="27432"/>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703320"/>
            <a:ext cx="4080510" cy="9601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2930" y="3806190"/>
            <a:ext cx="3771900" cy="274320"/>
          </a:xfrm>
          <a:prstGeom prst="rect">
            <a:avLst/>
          </a:prstGeom>
          <a:noFill/>
        </p:spPr>
        <p:txBody>
          <a:bodyPr wrap="square" lIns="0" rIns="0" tIns="0" bIns="0" anchor="t">
            <a:spAutoFit/>
          </a:bodyPr>
          <a:lstStyle/>
          <a:p>
            <a:pPr algn="l"/>
            <a:r>
              <a:rPr sz="1050" b="1">
                <a:solidFill>
                  <a:srgbClr val="E8F1F5"/>
                </a:solidFill>
                <a:latin typeface="Calibri"/>
              </a:rPr>
              <a:t>Real-world examples</a:t>
            </a:r>
          </a:p>
        </p:txBody>
      </p:sp>
      <p:sp>
        <p:nvSpPr>
          <p:cNvPr id="20" name="TextBox 19"/>
          <p:cNvSpPr txBox="1"/>
          <p:nvPr/>
        </p:nvSpPr>
        <p:spPr>
          <a:xfrm>
            <a:off x="582930" y="4114800"/>
            <a:ext cx="3771900" cy="548640"/>
          </a:xfrm>
          <a:prstGeom prst="rect">
            <a:avLst/>
          </a:prstGeom>
          <a:noFill/>
        </p:spPr>
        <p:txBody>
          <a:bodyPr wrap="square" lIns="0" rIns="0" tIns="0" bIns="0" anchor="t">
            <a:spAutoFit/>
          </a:bodyPr>
          <a:lstStyle/>
          <a:p>
            <a:pPr algn="l"/>
            <a:r>
              <a:rPr sz="975" b="0">
                <a:solidFill>
                  <a:srgbClr val="FFFFFF"/>
                </a:solidFill>
                <a:latin typeface="Calibri"/>
              </a:rPr>
              <a:t>Heights of adults · Test scores · Measurement errors</a:t>
            </a:r>
          </a:p>
        </p:txBody>
      </p:sp>
      <p:sp>
        <p:nvSpPr>
          <p:cNvPr id="21" name="Rectangle 20"/>
          <p:cNvSpPr/>
          <p:nvPr/>
        </p:nvSpPr>
        <p:spPr>
          <a:xfrm>
            <a:off x="4629150" y="3703320"/>
            <a:ext cx="4080510" cy="960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806190"/>
            <a:ext cx="3771900" cy="274320"/>
          </a:xfrm>
          <a:prstGeom prst="rect">
            <a:avLst/>
          </a:prstGeom>
          <a:noFill/>
        </p:spPr>
        <p:txBody>
          <a:bodyPr wrap="square" lIns="0" rIns="0" tIns="0" bIns="0" anchor="t">
            <a:spAutoFit/>
          </a:bodyPr>
          <a:lstStyle/>
          <a:p>
            <a:pPr algn="l"/>
            <a:r>
              <a:rPr sz="1050" b="1">
                <a:solidFill>
                  <a:srgbClr val="E8F1F5"/>
                </a:solidFill>
                <a:latin typeface="Calibri"/>
              </a:rPr>
              <a:t>Rule of thumb</a:t>
            </a:r>
          </a:p>
        </p:txBody>
      </p:sp>
      <p:sp>
        <p:nvSpPr>
          <p:cNvPr id="23" name="TextBox 22"/>
          <p:cNvSpPr txBox="1"/>
          <p:nvPr/>
        </p:nvSpPr>
        <p:spPr>
          <a:xfrm>
            <a:off x="4800600" y="4114800"/>
            <a:ext cx="3771900" cy="548640"/>
          </a:xfrm>
          <a:prstGeom prst="rect">
            <a:avLst/>
          </a:prstGeom>
          <a:noFill/>
        </p:spPr>
        <p:txBody>
          <a:bodyPr wrap="square" lIns="0" rIns="0" tIns="0" bIns="0" anchor="t">
            <a:spAutoFit/>
          </a:bodyPr>
          <a:lstStyle/>
          <a:p>
            <a:pPr algn="l"/>
            <a:r>
              <a:rPr sz="1125" b="1">
                <a:solidFill>
                  <a:srgbClr val="F9E795"/>
                </a:solidFill>
                <a:latin typeface="Trebuchet MS"/>
              </a:rPr>
              <a:t>Mean ≈ Median</a:t>
            </a:r>
          </a:p>
        </p:txBody>
      </p:sp>
      <p:pic>
        <p:nvPicPr>
          <p:cNvPr id="25" name="Picture 24"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Distribution Shape 2: Right-Skewed</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Peak on the LEFT · Long tail to the RIGHT</a:t>
            </a:r>
          </a:p>
        </p:txBody>
      </p:sp>
      <p:sp>
        <p:nvSpPr>
          <p:cNvPr id="5" name="Rectangle 4"/>
          <p:cNvSpPr/>
          <p:nvPr/>
        </p:nvSpPr>
        <p:spPr>
          <a:xfrm>
            <a:off x="411480" y="1371600"/>
            <a:ext cx="7886700" cy="2057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3017520"/>
            <a:ext cx="591510" cy="2057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37310" y="2194560"/>
            <a:ext cx="591510" cy="1028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88820" y="1508760"/>
            <a:ext cx="591510" cy="17145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40330" y="1851660"/>
            <a:ext cx="59151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91840" y="2263140"/>
            <a:ext cx="591510" cy="960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943350" y="2537460"/>
            <a:ext cx="591510" cy="685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94860" y="2743200"/>
            <a:ext cx="591510" cy="4800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46370" y="2880360"/>
            <a:ext cx="591510" cy="3429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97880" y="2983230"/>
            <a:ext cx="591510" cy="24003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49390" y="3051810"/>
            <a:ext cx="591510" cy="17145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00900" y="3120390"/>
            <a:ext cx="591510" cy="1028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3257550"/>
            <a:ext cx="7200900" cy="27432"/>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703320"/>
            <a:ext cx="4080510" cy="9601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2930" y="3806190"/>
            <a:ext cx="3771900" cy="274320"/>
          </a:xfrm>
          <a:prstGeom prst="rect">
            <a:avLst/>
          </a:prstGeom>
          <a:noFill/>
        </p:spPr>
        <p:txBody>
          <a:bodyPr wrap="square" lIns="0" rIns="0" tIns="0" bIns="0" anchor="t">
            <a:spAutoFit/>
          </a:bodyPr>
          <a:lstStyle/>
          <a:p>
            <a:pPr algn="l"/>
            <a:r>
              <a:rPr sz="1050" b="1">
                <a:solidFill>
                  <a:srgbClr val="E8F1F5"/>
                </a:solidFill>
                <a:latin typeface="Calibri"/>
              </a:rPr>
              <a:t>Real-world examples</a:t>
            </a:r>
          </a:p>
        </p:txBody>
      </p:sp>
      <p:sp>
        <p:nvSpPr>
          <p:cNvPr id="20" name="TextBox 19"/>
          <p:cNvSpPr txBox="1"/>
          <p:nvPr/>
        </p:nvSpPr>
        <p:spPr>
          <a:xfrm>
            <a:off x="582930" y="4114800"/>
            <a:ext cx="3771900" cy="548640"/>
          </a:xfrm>
          <a:prstGeom prst="rect">
            <a:avLst/>
          </a:prstGeom>
          <a:noFill/>
        </p:spPr>
        <p:txBody>
          <a:bodyPr wrap="square" lIns="0" rIns="0" tIns="0" bIns="0" anchor="t">
            <a:spAutoFit/>
          </a:bodyPr>
          <a:lstStyle/>
          <a:p>
            <a:pPr algn="l"/>
            <a:r>
              <a:rPr sz="975" b="0">
                <a:solidFill>
                  <a:srgbClr val="FFFFFF"/>
                </a:solidFill>
                <a:latin typeface="Calibri"/>
              </a:rPr>
              <a:t>Incomes · House prices · Review lengths · Hospital stays</a:t>
            </a:r>
          </a:p>
        </p:txBody>
      </p:sp>
      <p:sp>
        <p:nvSpPr>
          <p:cNvPr id="21" name="Rectangle 20"/>
          <p:cNvSpPr/>
          <p:nvPr/>
        </p:nvSpPr>
        <p:spPr>
          <a:xfrm>
            <a:off x="4629150" y="3703320"/>
            <a:ext cx="4080510" cy="960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806190"/>
            <a:ext cx="3771900" cy="274320"/>
          </a:xfrm>
          <a:prstGeom prst="rect">
            <a:avLst/>
          </a:prstGeom>
          <a:noFill/>
        </p:spPr>
        <p:txBody>
          <a:bodyPr wrap="square" lIns="0" rIns="0" tIns="0" bIns="0" anchor="t">
            <a:spAutoFit/>
          </a:bodyPr>
          <a:lstStyle/>
          <a:p>
            <a:pPr algn="l"/>
            <a:r>
              <a:rPr sz="1050" b="1">
                <a:solidFill>
                  <a:srgbClr val="E8F1F5"/>
                </a:solidFill>
                <a:latin typeface="Calibri"/>
              </a:rPr>
              <a:t>Rule of thumb</a:t>
            </a:r>
          </a:p>
        </p:txBody>
      </p:sp>
      <p:sp>
        <p:nvSpPr>
          <p:cNvPr id="23" name="TextBox 22"/>
          <p:cNvSpPr txBox="1"/>
          <p:nvPr/>
        </p:nvSpPr>
        <p:spPr>
          <a:xfrm>
            <a:off x="4800600" y="4114800"/>
            <a:ext cx="3771900" cy="548640"/>
          </a:xfrm>
          <a:prstGeom prst="rect">
            <a:avLst/>
          </a:prstGeom>
          <a:noFill/>
        </p:spPr>
        <p:txBody>
          <a:bodyPr wrap="square" lIns="0" rIns="0" tIns="0" bIns="0" anchor="t">
            <a:spAutoFit/>
          </a:bodyPr>
          <a:lstStyle/>
          <a:p>
            <a:pPr algn="l"/>
            <a:r>
              <a:rPr sz="1125" b="1">
                <a:solidFill>
                  <a:srgbClr val="F9E795"/>
                </a:solidFill>
                <a:latin typeface="Trebuchet MS"/>
              </a:rPr>
              <a:t>Mean &gt; Median  (mean is pulled up by the tail)</a:t>
            </a:r>
          </a:p>
        </p:txBody>
      </p:sp>
      <p:pic>
        <p:nvPicPr>
          <p:cNvPr id="25" name="Picture 24"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Distribution Shape 3: Left-Skewed</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Peak on the RIGHT · Long tail to the LEFT</a:t>
            </a:r>
          </a:p>
        </p:txBody>
      </p:sp>
      <p:sp>
        <p:nvSpPr>
          <p:cNvPr id="5" name="Rectangle 4"/>
          <p:cNvSpPr/>
          <p:nvPr/>
        </p:nvSpPr>
        <p:spPr>
          <a:xfrm>
            <a:off x="411480" y="1371600"/>
            <a:ext cx="7886700" cy="2057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3120390"/>
            <a:ext cx="591510" cy="1028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37310" y="3051810"/>
            <a:ext cx="591510" cy="17145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88820" y="2983230"/>
            <a:ext cx="591510" cy="24003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40330" y="2880360"/>
            <a:ext cx="591510" cy="3429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91840" y="2743200"/>
            <a:ext cx="591510" cy="4800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943350" y="2537460"/>
            <a:ext cx="591510" cy="685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94860" y="2263140"/>
            <a:ext cx="591510" cy="960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46370" y="1851660"/>
            <a:ext cx="59151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97880" y="1508760"/>
            <a:ext cx="591510" cy="17145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49390" y="2194560"/>
            <a:ext cx="591510" cy="1028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00900" y="3017520"/>
            <a:ext cx="591510" cy="2057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3257550"/>
            <a:ext cx="7200900" cy="27432"/>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703320"/>
            <a:ext cx="4080510" cy="9601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2930" y="3806190"/>
            <a:ext cx="3771900" cy="274320"/>
          </a:xfrm>
          <a:prstGeom prst="rect">
            <a:avLst/>
          </a:prstGeom>
          <a:noFill/>
        </p:spPr>
        <p:txBody>
          <a:bodyPr wrap="square" lIns="0" rIns="0" tIns="0" bIns="0" anchor="t">
            <a:spAutoFit/>
          </a:bodyPr>
          <a:lstStyle/>
          <a:p>
            <a:pPr algn="l"/>
            <a:r>
              <a:rPr sz="1050" b="1">
                <a:solidFill>
                  <a:srgbClr val="E8F1F5"/>
                </a:solidFill>
                <a:latin typeface="Calibri"/>
              </a:rPr>
              <a:t>Real-world examples</a:t>
            </a:r>
          </a:p>
        </p:txBody>
      </p:sp>
      <p:sp>
        <p:nvSpPr>
          <p:cNvPr id="20" name="TextBox 19"/>
          <p:cNvSpPr txBox="1"/>
          <p:nvPr/>
        </p:nvSpPr>
        <p:spPr>
          <a:xfrm>
            <a:off x="582930" y="4114800"/>
            <a:ext cx="3771900" cy="548640"/>
          </a:xfrm>
          <a:prstGeom prst="rect">
            <a:avLst/>
          </a:prstGeom>
          <a:noFill/>
        </p:spPr>
        <p:txBody>
          <a:bodyPr wrap="square" lIns="0" rIns="0" tIns="0" bIns="0" anchor="t">
            <a:spAutoFit/>
          </a:bodyPr>
          <a:lstStyle/>
          <a:p>
            <a:pPr algn="l"/>
            <a:r>
              <a:rPr sz="975" b="0">
                <a:solidFill>
                  <a:srgbClr val="FFFFFF"/>
                </a:solidFill>
                <a:latin typeface="Calibri"/>
              </a:rPr>
              <a:t>Easy exam scores · Age at retirement · Lifetime of products</a:t>
            </a:r>
          </a:p>
        </p:txBody>
      </p:sp>
      <p:sp>
        <p:nvSpPr>
          <p:cNvPr id="21" name="Rectangle 20"/>
          <p:cNvSpPr/>
          <p:nvPr/>
        </p:nvSpPr>
        <p:spPr>
          <a:xfrm>
            <a:off x="4629150" y="3703320"/>
            <a:ext cx="4080510" cy="960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806190"/>
            <a:ext cx="3771900" cy="274320"/>
          </a:xfrm>
          <a:prstGeom prst="rect">
            <a:avLst/>
          </a:prstGeom>
          <a:noFill/>
        </p:spPr>
        <p:txBody>
          <a:bodyPr wrap="square" lIns="0" rIns="0" tIns="0" bIns="0" anchor="t">
            <a:spAutoFit/>
          </a:bodyPr>
          <a:lstStyle/>
          <a:p>
            <a:pPr algn="l"/>
            <a:r>
              <a:rPr sz="1050" b="1">
                <a:solidFill>
                  <a:srgbClr val="E8F1F5"/>
                </a:solidFill>
                <a:latin typeface="Calibri"/>
              </a:rPr>
              <a:t>Rule of thumb</a:t>
            </a:r>
          </a:p>
        </p:txBody>
      </p:sp>
      <p:sp>
        <p:nvSpPr>
          <p:cNvPr id="23" name="TextBox 22"/>
          <p:cNvSpPr txBox="1"/>
          <p:nvPr/>
        </p:nvSpPr>
        <p:spPr>
          <a:xfrm>
            <a:off x="4800600" y="4114800"/>
            <a:ext cx="3771900" cy="548640"/>
          </a:xfrm>
          <a:prstGeom prst="rect">
            <a:avLst/>
          </a:prstGeom>
          <a:noFill/>
        </p:spPr>
        <p:txBody>
          <a:bodyPr wrap="square" lIns="0" rIns="0" tIns="0" bIns="0" anchor="t">
            <a:spAutoFit/>
          </a:bodyPr>
          <a:lstStyle/>
          <a:p>
            <a:pPr algn="l"/>
            <a:r>
              <a:rPr sz="1125" b="1">
                <a:solidFill>
                  <a:srgbClr val="F9E795"/>
                </a:solidFill>
                <a:latin typeface="Trebuchet MS"/>
              </a:rPr>
              <a:t>Mean &lt; Median  (mean is pulled down by the tail)</a:t>
            </a:r>
          </a:p>
        </p:txBody>
      </p:sp>
      <p:pic>
        <p:nvPicPr>
          <p:cNvPr id="25" name="Picture 24"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Mean vs Median</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The gap tells you about the skew</a:t>
            </a:r>
          </a:p>
        </p:txBody>
      </p:sp>
      <p:sp>
        <p:nvSpPr>
          <p:cNvPr id="5" name="Rectangle 4"/>
          <p:cNvSpPr/>
          <p:nvPr/>
        </p:nvSpPr>
        <p:spPr>
          <a:xfrm>
            <a:off x="411480" y="1234440"/>
            <a:ext cx="8298180" cy="17145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371600"/>
            <a:ext cx="7886700" cy="342900"/>
          </a:xfrm>
          <a:prstGeom prst="rect">
            <a:avLst/>
          </a:prstGeom>
          <a:noFill/>
        </p:spPr>
        <p:txBody>
          <a:bodyPr wrap="square" lIns="0" rIns="0" tIns="0" bIns="0" anchor="t">
            <a:spAutoFit/>
          </a:bodyPr>
          <a:lstStyle/>
          <a:p>
            <a:pPr algn="l"/>
            <a:r>
              <a:rPr sz="1125" b="1">
                <a:solidFill>
                  <a:srgbClr val="065A82"/>
                </a:solidFill>
                <a:latin typeface="Calibri"/>
              </a:rPr>
              <a:t>Worked example — UK household income (right-skewed)</a:t>
            </a:r>
          </a:p>
        </p:txBody>
      </p:sp>
      <p:sp>
        <p:nvSpPr>
          <p:cNvPr id="7" name="TextBox 6"/>
          <p:cNvSpPr txBox="1"/>
          <p:nvPr/>
        </p:nvSpPr>
        <p:spPr>
          <a:xfrm>
            <a:off x="1371600" y="1851660"/>
            <a:ext cx="2743200" cy="617220"/>
          </a:xfrm>
          <a:prstGeom prst="rect">
            <a:avLst/>
          </a:prstGeom>
          <a:noFill/>
        </p:spPr>
        <p:txBody>
          <a:bodyPr wrap="square" lIns="0" rIns="0" tIns="0" bIns="0" anchor="t">
            <a:spAutoFit/>
          </a:bodyPr>
          <a:lstStyle/>
          <a:p>
            <a:pPr algn="ctr"/>
            <a:r>
              <a:rPr sz="4200" b="1">
                <a:solidFill>
                  <a:srgbClr val="065A82"/>
                </a:solidFill>
                <a:latin typeface="Trebuchet MS"/>
              </a:rPr>
              <a:t>£35k</a:t>
            </a:r>
          </a:p>
        </p:txBody>
      </p:sp>
      <p:sp>
        <p:nvSpPr>
          <p:cNvPr id="8" name="TextBox 7"/>
          <p:cNvSpPr txBox="1"/>
          <p:nvPr/>
        </p:nvSpPr>
        <p:spPr>
          <a:xfrm>
            <a:off x="1371600" y="2537460"/>
            <a:ext cx="2743200" cy="274320"/>
          </a:xfrm>
          <a:prstGeom prst="rect">
            <a:avLst/>
          </a:prstGeom>
          <a:noFill/>
        </p:spPr>
        <p:txBody>
          <a:bodyPr wrap="square" lIns="0" rIns="0" tIns="0" bIns="0" anchor="t">
            <a:spAutoFit/>
          </a:bodyPr>
          <a:lstStyle/>
          <a:p>
            <a:pPr algn="ctr"/>
            <a:r>
              <a:rPr sz="1200" b="1">
                <a:solidFill>
                  <a:srgbClr val="065A82"/>
                </a:solidFill>
                <a:latin typeface="Calibri"/>
              </a:rPr>
              <a:t>Median</a:t>
            </a:r>
          </a:p>
        </p:txBody>
      </p:sp>
      <p:sp>
        <p:nvSpPr>
          <p:cNvPr id="9" name="TextBox 8"/>
          <p:cNvSpPr txBox="1"/>
          <p:nvPr/>
        </p:nvSpPr>
        <p:spPr>
          <a:xfrm>
            <a:off x="5074920" y="1851660"/>
            <a:ext cx="2743200" cy="617220"/>
          </a:xfrm>
          <a:prstGeom prst="rect">
            <a:avLst/>
          </a:prstGeom>
          <a:noFill/>
        </p:spPr>
        <p:txBody>
          <a:bodyPr wrap="square" lIns="0" rIns="0" tIns="0" bIns="0" anchor="t">
            <a:spAutoFit/>
          </a:bodyPr>
          <a:lstStyle/>
          <a:p>
            <a:pPr algn="ctr"/>
            <a:r>
              <a:rPr sz="4200" b="1">
                <a:solidFill>
                  <a:srgbClr val="F96167"/>
                </a:solidFill>
                <a:latin typeface="Trebuchet MS"/>
              </a:rPr>
              <a:t>£52k</a:t>
            </a:r>
          </a:p>
        </p:txBody>
      </p:sp>
      <p:sp>
        <p:nvSpPr>
          <p:cNvPr id="10" name="TextBox 9"/>
          <p:cNvSpPr txBox="1"/>
          <p:nvPr/>
        </p:nvSpPr>
        <p:spPr>
          <a:xfrm>
            <a:off x="5074920" y="2537460"/>
            <a:ext cx="2743200" cy="274320"/>
          </a:xfrm>
          <a:prstGeom prst="rect">
            <a:avLst/>
          </a:prstGeom>
          <a:noFill/>
        </p:spPr>
        <p:txBody>
          <a:bodyPr wrap="square" lIns="0" rIns="0" tIns="0" bIns="0" anchor="t">
            <a:spAutoFit/>
          </a:bodyPr>
          <a:lstStyle/>
          <a:p>
            <a:pPr algn="ctr"/>
            <a:r>
              <a:rPr sz="1200" b="1">
                <a:solidFill>
                  <a:srgbClr val="F96167"/>
                </a:solidFill>
                <a:latin typeface="Calibri"/>
              </a:rPr>
              <a:t>Mean</a:t>
            </a:r>
          </a:p>
        </p:txBody>
      </p:sp>
      <p:sp>
        <p:nvSpPr>
          <p:cNvPr id="11" name="TextBox 10"/>
          <p:cNvSpPr txBox="1"/>
          <p:nvPr/>
        </p:nvSpPr>
        <p:spPr>
          <a:xfrm>
            <a:off x="411480" y="3154680"/>
            <a:ext cx="8298180" cy="342900"/>
          </a:xfrm>
          <a:prstGeom prst="rect">
            <a:avLst/>
          </a:prstGeom>
          <a:noFill/>
        </p:spPr>
        <p:txBody>
          <a:bodyPr wrap="square" lIns="0" rIns="0" tIns="0" bIns="0" anchor="t">
            <a:spAutoFit/>
          </a:bodyPr>
          <a:lstStyle/>
          <a:p>
            <a:pPr algn="l"/>
            <a:r>
              <a:rPr sz="1200" b="1">
                <a:solidFill>
                  <a:srgbClr val="1C7293"/>
                </a:solidFill>
                <a:latin typeface="Calibri"/>
              </a:rPr>
              <a:t>Three quick rules</a:t>
            </a:r>
          </a:p>
        </p:txBody>
      </p:sp>
      <p:sp>
        <p:nvSpPr>
          <p:cNvPr id="12" name="TextBox 11"/>
          <p:cNvSpPr txBox="1"/>
          <p:nvPr/>
        </p:nvSpPr>
        <p:spPr>
          <a:xfrm>
            <a:off x="617220" y="3566160"/>
            <a:ext cx="2400300" cy="274320"/>
          </a:xfrm>
          <a:prstGeom prst="rect">
            <a:avLst/>
          </a:prstGeom>
          <a:noFill/>
        </p:spPr>
        <p:txBody>
          <a:bodyPr wrap="square" lIns="0" rIns="0" tIns="0" bIns="0" anchor="t">
            <a:spAutoFit/>
          </a:bodyPr>
          <a:lstStyle/>
          <a:p>
            <a:pPr algn="l"/>
            <a:r>
              <a:rPr sz="1050" b="1">
                <a:solidFill>
                  <a:srgbClr val="065A82"/>
                </a:solidFill>
                <a:latin typeface="Consolas"/>
              </a:rPr>
              <a:t>Mean = Median</a:t>
            </a:r>
          </a:p>
        </p:txBody>
      </p:sp>
      <p:sp>
        <p:nvSpPr>
          <p:cNvPr id="13" name="TextBox 12"/>
          <p:cNvSpPr txBox="1"/>
          <p:nvPr/>
        </p:nvSpPr>
        <p:spPr>
          <a:xfrm>
            <a:off x="3154680" y="3566160"/>
            <a:ext cx="5486400" cy="274320"/>
          </a:xfrm>
          <a:prstGeom prst="rect">
            <a:avLst/>
          </a:prstGeom>
          <a:noFill/>
        </p:spPr>
        <p:txBody>
          <a:bodyPr wrap="square" lIns="0" rIns="0" tIns="0" bIns="0" anchor="t">
            <a:spAutoFit/>
          </a:bodyPr>
          <a:lstStyle/>
          <a:p>
            <a:pPr algn="l"/>
            <a:r>
              <a:rPr sz="1050" b="0">
                <a:solidFill>
                  <a:srgbClr val="36454F"/>
                </a:solidFill>
                <a:latin typeface="Calibri"/>
              </a:rPr>
              <a:t>→  Data is symmetric.  Quote either.</a:t>
            </a:r>
          </a:p>
        </p:txBody>
      </p:sp>
      <p:sp>
        <p:nvSpPr>
          <p:cNvPr id="14" name="TextBox 13"/>
          <p:cNvSpPr txBox="1"/>
          <p:nvPr/>
        </p:nvSpPr>
        <p:spPr>
          <a:xfrm>
            <a:off x="617220" y="3874770"/>
            <a:ext cx="2400300" cy="274320"/>
          </a:xfrm>
          <a:prstGeom prst="rect">
            <a:avLst/>
          </a:prstGeom>
          <a:noFill/>
        </p:spPr>
        <p:txBody>
          <a:bodyPr wrap="square" lIns="0" rIns="0" tIns="0" bIns="0" anchor="t">
            <a:spAutoFit/>
          </a:bodyPr>
          <a:lstStyle/>
          <a:p>
            <a:pPr algn="l"/>
            <a:r>
              <a:rPr sz="1050" b="1">
                <a:solidFill>
                  <a:srgbClr val="065A82"/>
                </a:solidFill>
                <a:latin typeface="Consolas"/>
              </a:rPr>
              <a:t>Mean &gt; Median</a:t>
            </a:r>
          </a:p>
        </p:txBody>
      </p:sp>
      <p:sp>
        <p:nvSpPr>
          <p:cNvPr id="15" name="TextBox 14"/>
          <p:cNvSpPr txBox="1"/>
          <p:nvPr/>
        </p:nvSpPr>
        <p:spPr>
          <a:xfrm>
            <a:off x="3154680" y="3874770"/>
            <a:ext cx="5486400" cy="274320"/>
          </a:xfrm>
          <a:prstGeom prst="rect">
            <a:avLst/>
          </a:prstGeom>
          <a:noFill/>
        </p:spPr>
        <p:txBody>
          <a:bodyPr wrap="square" lIns="0" rIns="0" tIns="0" bIns="0" anchor="t">
            <a:spAutoFit/>
          </a:bodyPr>
          <a:lstStyle/>
          <a:p>
            <a:pPr algn="l"/>
            <a:r>
              <a:rPr sz="1050" b="0">
                <a:solidFill>
                  <a:srgbClr val="36454F"/>
                </a:solidFill>
                <a:latin typeface="Calibri"/>
              </a:rPr>
              <a:t>→  Right-skewed.  Quote MEDIAN for 'typical'; quote MEAN for 'total income generated'.</a:t>
            </a:r>
          </a:p>
        </p:txBody>
      </p:sp>
      <p:sp>
        <p:nvSpPr>
          <p:cNvPr id="16" name="TextBox 15"/>
          <p:cNvSpPr txBox="1"/>
          <p:nvPr/>
        </p:nvSpPr>
        <p:spPr>
          <a:xfrm>
            <a:off x="617220" y="4183380"/>
            <a:ext cx="2400300" cy="274320"/>
          </a:xfrm>
          <a:prstGeom prst="rect">
            <a:avLst/>
          </a:prstGeom>
          <a:noFill/>
        </p:spPr>
        <p:txBody>
          <a:bodyPr wrap="square" lIns="0" rIns="0" tIns="0" bIns="0" anchor="t">
            <a:spAutoFit/>
          </a:bodyPr>
          <a:lstStyle/>
          <a:p>
            <a:pPr algn="l"/>
            <a:r>
              <a:rPr sz="1050" b="1">
                <a:solidFill>
                  <a:srgbClr val="065A82"/>
                </a:solidFill>
                <a:latin typeface="Consolas"/>
              </a:rPr>
              <a:t>Mean &lt; Median</a:t>
            </a:r>
          </a:p>
        </p:txBody>
      </p:sp>
      <p:sp>
        <p:nvSpPr>
          <p:cNvPr id="17" name="TextBox 16"/>
          <p:cNvSpPr txBox="1"/>
          <p:nvPr/>
        </p:nvSpPr>
        <p:spPr>
          <a:xfrm>
            <a:off x="3154680" y="4183380"/>
            <a:ext cx="5486400" cy="274320"/>
          </a:xfrm>
          <a:prstGeom prst="rect">
            <a:avLst/>
          </a:prstGeom>
          <a:noFill/>
        </p:spPr>
        <p:txBody>
          <a:bodyPr wrap="square" lIns="0" rIns="0" tIns="0" bIns="0" anchor="t">
            <a:spAutoFit/>
          </a:bodyPr>
          <a:lstStyle/>
          <a:p>
            <a:pPr algn="l"/>
            <a:r>
              <a:rPr sz="1050" b="0">
                <a:solidFill>
                  <a:srgbClr val="36454F"/>
                </a:solidFill>
                <a:latin typeface="Calibri"/>
              </a:rPr>
              <a:t>→  Left-skewed.  Same logic, flipped.</a:t>
            </a:r>
          </a:p>
        </p:txBody>
      </p:sp>
      <p:pic>
        <p:nvPicPr>
          <p:cNvPr id="19" name="Picture 1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Back to Sarah's Reviews</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Why the choice matters for her Friday deck</a:t>
            </a:r>
          </a:p>
        </p:txBody>
      </p:sp>
      <p:sp>
        <p:nvSpPr>
          <p:cNvPr id="5" name="Rectangle 4"/>
          <p:cNvSpPr/>
          <p:nvPr/>
        </p:nvSpPr>
        <p:spPr>
          <a:xfrm>
            <a:off x="411480" y="1303020"/>
            <a:ext cx="829818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40180"/>
            <a:ext cx="7886700" cy="342900"/>
          </a:xfrm>
          <a:prstGeom prst="rect">
            <a:avLst/>
          </a:prstGeom>
          <a:noFill/>
        </p:spPr>
        <p:txBody>
          <a:bodyPr wrap="square" lIns="0" rIns="0" tIns="0" bIns="0" anchor="t">
            <a:spAutoFit/>
          </a:bodyPr>
          <a:lstStyle/>
          <a:p>
            <a:pPr algn="l"/>
            <a:r>
              <a:rPr sz="1200" b="1">
                <a:solidFill>
                  <a:srgbClr val="F96167"/>
                </a:solidFill>
                <a:latin typeface="Calibri"/>
              </a:rPr>
              <a:t>If Sarah quotes only the mean…</a:t>
            </a:r>
          </a:p>
        </p:txBody>
      </p:sp>
      <p:sp>
        <p:nvSpPr>
          <p:cNvPr id="7" name="TextBox 6"/>
          <p:cNvSpPr txBox="1"/>
          <p:nvPr/>
        </p:nvSpPr>
        <p:spPr>
          <a:xfrm>
            <a:off x="617220" y="1783080"/>
            <a:ext cx="7886700" cy="617220"/>
          </a:xfrm>
          <a:prstGeom prst="rect">
            <a:avLst/>
          </a:prstGeom>
          <a:noFill/>
        </p:spPr>
        <p:txBody>
          <a:bodyPr wrap="square" lIns="0" rIns="0" tIns="0" bIns="0" anchor="t">
            <a:spAutoFit/>
          </a:bodyPr>
          <a:lstStyle/>
          <a:p>
            <a:pPr algn="l"/>
            <a:r>
              <a:rPr sz="1050" b="0">
                <a:solidFill>
                  <a:srgbClr val="36454F"/>
                </a:solidFill>
                <a:latin typeface="Trebuchet MS"/>
              </a:rPr>
              <a:t>"Average polarity is +0.12 — mostly positive."</a:t>
            </a:r>
          </a:p>
          <a:p>
            <a:pPr algn="l"/>
            <a:r>
              <a:rPr sz="1050" b="0">
                <a:solidFill>
                  <a:srgbClr val="36454F"/>
                </a:solidFill>
                <a:latin typeface="Trebuchet MS"/>
              </a:rPr>
              <a:t>→ Priya thinks customers are happy. Hides the long left tail of complaints.</a:t>
            </a:r>
          </a:p>
        </p:txBody>
      </p:sp>
      <p:sp>
        <p:nvSpPr>
          <p:cNvPr id="8" name="TextBox 7"/>
          <p:cNvSpPr txBox="1"/>
          <p:nvPr/>
        </p:nvSpPr>
        <p:spPr>
          <a:xfrm>
            <a:off x="617220" y="2743200"/>
            <a:ext cx="7886700" cy="342900"/>
          </a:xfrm>
          <a:prstGeom prst="rect">
            <a:avLst/>
          </a:prstGeom>
          <a:noFill/>
        </p:spPr>
        <p:txBody>
          <a:bodyPr wrap="square" lIns="0" rIns="0" tIns="0" bIns="0" anchor="t">
            <a:spAutoFit/>
          </a:bodyPr>
          <a:lstStyle/>
          <a:p>
            <a:pPr algn="l"/>
            <a:r>
              <a:rPr sz="1200" b="1">
                <a:solidFill>
                  <a:srgbClr val="065A82"/>
                </a:solidFill>
                <a:latin typeface="Calibri"/>
              </a:rPr>
              <a:t>If Sarah quotes the median + shows the distribution…</a:t>
            </a:r>
          </a:p>
        </p:txBody>
      </p:sp>
      <p:sp>
        <p:nvSpPr>
          <p:cNvPr id="9" name="TextBox 8"/>
          <p:cNvSpPr txBox="1"/>
          <p:nvPr/>
        </p:nvSpPr>
        <p:spPr>
          <a:xfrm>
            <a:off x="617220" y="3086100"/>
            <a:ext cx="7886700" cy="1371600"/>
          </a:xfrm>
          <a:prstGeom prst="rect">
            <a:avLst/>
          </a:prstGeom>
          <a:noFill/>
        </p:spPr>
        <p:txBody>
          <a:bodyPr wrap="square" lIns="0" rIns="0" tIns="0" bIns="0" anchor="t">
            <a:spAutoFit/>
          </a:bodyPr>
          <a:lstStyle/>
          <a:p>
            <a:pPr algn="l"/>
            <a:r>
              <a:rPr sz="1050" b="0">
                <a:solidFill>
                  <a:srgbClr val="065A82"/>
                </a:solidFill>
                <a:latin typeface="Trebuchet MS"/>
              </a:rPr>
              <a:t>"Median polarity is +0.06 — slightly positive.</a:t>
            </a:r>
          </a:p>
          <a:p>
            <a:pPr algn="l"/>
            <a:r>
              <a:rPr sz="1050" b="0">
                <a:solidFill>
                  <a:srgbClr val="065A82"/>
                </a:solidFill>
                <a:latin typeface="Trebuchet MS"/>
              </a:rPr>
              <a:t>The distribution has a long tail of very positive reviews,</a:t>
            </a:r>
          </a:p>
          <a:p>
            <a:pPr algn="l"/>
            <a:r>
              <a:rPr sz="1050" b="0">
                <a:solidFill>
                  <a:srgbClr val="065A82"/>
                </a:solidFill>
                <a:latin typeface="Trebuchet MS"/>
              </a:rPr>
              <a:t>but about 40% sit near 0 (lukewarm) and several hundred are strongly negative.</a:t>
            </a:r>
          </a:p>
          <a:p>
            <a:pPr algn="l"/>
            <a:r>
              <a:rPr sz="1050" b="0">
                <a:solidFill>
                  <a:srgbClr val="065A82"/>
                </a:solidFill>
                <a:latin typeface="Trebuchet MS"/>
              </a:rPr>
              <a:t>Those are the ones we should look at."</a:t>
            </a:r>
          </a:p>
          <a:p>
            <a:pPr algn="l"/>
            <a:r>
              <a:rPr sz="1050" b="0">
                <a:solidFill>
                  <a:srgbClr val="065A82"/>
                </a:solidFill>
                <a:latin typeface="Trebuchet MS"/>
              </a:rPr>
              <a:t/>
            </a:r>
          </a:p>
          <a:p>
            <a:pPr algn="l"/>
            <a:r>
              <a:rPr sz="1050" b="0">
                <a:solidFill>
                  <a:srgbClr val="065A82"/>
                </a:solidFill>
                <a:latin typeface="Trebuchet MS"/>
              </a:rPr>
              <a:t>→ Priya understands the actual shape. Sarah's judgement is credible.</a:t>
            </a:r>
          </a:p>
        </p:txBody>
      </p:sp>
      <p:pic>
        <p:nvPicPr>
          <p:cNvPr id="11" name="Picture 1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Z-scores — Putting Values in Context</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How many standard deviations from average?</a:t>
            </a:r>
          </a:p>
        </p:txBody>
      </p:sp>
      <p:sp>
        <p:nvSpPr>
          <p:cNvPr id="5" name="Rectangle 4"/>
          <p:cNvSpPr/>
          <p:nvPr/>
        </p:nvSpPr>
        <p:spPr>
          <a:xfrm>
            <a:off x="411480" y="1303020"/>
            <a:ext cx="8298180" cy="8229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274320"/>
          </a:xfrm>
          <a:prstGeom prst="rect">
            <a:avLst/>
          </a:prstGeom>
          <a:noFill/>
        </p:spPr>
        <p:txBody>
          <a:bodyPr wrap="square" lIns="0" rIns="0" tIns="0" bIns="0" anchor="t">
            <a:spAutoFit/>
          </a:bodyPr>
          <a:lstStyle/>
          <a:p>
            <a:pPr algn="l"/>
            <a:r>
              <a:rPr sz="1050" b="0">
                <a:solidFill>
                  <a:srgbClr val="E8F1F5"/>
                </a:solidFill>
                <a:latin typeface="Calibri"/>
              </a:rPr>
              <a:t>Formula</a:t>
            </a:r>
          </a:p>
        </p:txBody>
      </p:sp>
      <p:sp>
        <p:nvSpPr>
          <p:cNvPr id="7" name="TextBox 6"/>
          <p:cNvSpPr txBox="1"/>
          <p:nvPr/>
        </p:nvSpPr>
        <p:spPr>
          <a:xfrm>
            <a:off x="617220" y="1680210"/>
            <a:ext cx="7886700" cy="548640"/>
          </a:xfrm>
          <a:prstGeom prst="rect">
            <a:avLst/>
          </a:prstGeom>
          <a:noFill/>
        </p:spPr>
        <p:txBody>
          <a:bodyPr wrap="square" lIns="0" rIns="0" tIns="0" bIns="0" anchor="t">
            <a:spAutoFit/>
          </a:bodyPr>
          <a:lstStyle/>
          <a:p>
            <a:pPr algn="ctr"/>
            <a:r>
              <a:rPr sz="2100" b="1">
                <a:solidFill>
                  <a:srgbClr val="F9E795"/>
                </a:solidFill>
                <a:latin typeface="Consolas"/>
              </a:rPr>
              <a:t>z  =  (value − mean) / standard deviation</a:t>
            </a:r>
          </a:p>
        </p:txBody>
      </p:sp>
      <p:sp>
        <p:nvSpPr>
          <p:cNvPr id="8" name="Rectangle 7"/>
          <p:cNvSpPr/>
          <p:nvPr/>
        </p:nvSpPr>
        <p:spPr>
          <a:xfrm>
            <a:off x="411480" y="2263140"/>
            <a:ext cx="8298180" cy="24003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 y="2400300"/>
            <a:ext cx="7886700" cy="342900"/>
          </a:xfrm>
          <a:prstGeom prst="rect">
            <a:avLst/>
          </a:prstGeom>
          <a:noFill/>
        </p:spPr>
        <p:txBody>
          <a:bodyPr wrap="square" lIns="0" rIns="0" tIns="0" bIns="0" anchor="t">
            <a:spAutoFit/>
          </a:bodyPr>
          <a:lstStyle/>
          <a:p>
            <a:pPr algn="l"/>
            <a:r>
              <a:rPr sz="1200" b="1">
                <a:solidFill>
                  <a:srgbClr val="065A82"/>
                </a:solidFill>
                <a:latin typeface="Calibri"/>
              </a:rPr>
              <a:t>Worked example — Sarah's exam score</a:t>
            </a:r>
          </a:p>
        </p:txBody>
      </p:sp>
      <p:sp>
        <p:nvSpPr>
          <p:cNvPr id="10" name="TextBox 9"/>
          <p:cNvSpPr txBox="1"/>
          <p:nvPr/>
        </p:nvSpPr>
        <p:spPr>
          <a:xfrm>
            <a:off x="617220" y="2743200"/>
            <a:ext cx="7886700" cy="274320"/>
          </a:xfrm>
          <a:prstGeom prst="rect">
            <a:avLst/>
          </a:prstGeom>
          <a:noFill/>
        </p:spPr>
        <p:txBody>
          <a:bodyPr wrap="square" lIns="0" rIns="0" tIns="0" bIns="0" anchor="t">
            <a:spAutoFit/>
          </a:bodyPr>
          <a:lstStyle/>
          <a:p>
            <a:pPr algn="l"/>
            <a:r>
              <a:rPr sz="1050" b="0">
                <a:solidFill>
                  <a:srgbClr val="36454F"/>
                </a:solidFill>
                <a:latin typeface="Calibri"/>
              </a:rPr>
              <a:t>Sarah scored 85 on a test. Is that good?</a:t>
            </a:r>
          </a:p>
        </p:txBody>
      </p:sp>
      <p:sp>
        <p:nvSpPr>
          <p:cNvPr id="11" name="TextBox 10"/>
          <p:cNvSpPr txBox="1"/>
          <p:nvPr/>
        </p:nvSpPr>
        <p:spPr>
          <a:xfrm>
            <a:off x="617220" y="3154680"/>
            <a:ext cx="3086100" cy="342900"/>
          </a:xfrm>
          <a:prstGeom prst="rect">
            <a:avLst/>
          </a:prstGeom>
          <a:noFill/>
        </p:spPr>
        <p:txBody>
          <a:bodyPr wrap="square" lIns="0" rIns="0" tIns="0" bIns="0" anchor="t">
            <a:spAutoFit/>
          </a:bodyPr>
          <a:lstStyle/>
          <a:p>
            <a:pPr algn="l"/>
            <a:r>
              <a:rPr sz="1050" b="0">
                <a:solidFill>
                  <a:srgbClr val="36454F"/>
                </a:solidFill>
                <a:latin typeface="Calibri"/>
              </a:rPr>
              <a:t>If class average = 60, std = 10</a:t>
            </a:r>
          </a:p>
        </p:txBody>
      </p:sp>
      <p:sp>
        <p:nvSpPr>
          <p:cNvPr id="12" name="TextBox 11"/>
          <p:cNvSpPr txBox="1"/>
          <p:nvPr/>
        </p:nvSpPr>
        <p:spPr>
          <a:xfrm>
            <a:off x="3703320" y="3154680"/>
            <a:ext cx="2400300" cy="342900"/>
          </a:xfrm>
          <a:prstGeom prst="rect">
            <a:avLst/>
          </a:prstGeom>
          <a:noFill/>
        </p:spPr>
        <p:txBody>
          <a:bodyPr wrap="square" lIns="0" rIns="0" tIns="0" bIns="0" anchor="t">
            <a:spAutoFit/>
          </a:bodyPr>
          <a:lstStyle/>
          <a:p>
            <a:pPr algn="l"/>
            <a:r>
              <a:rPr sz="1050" b="1">
                <a:solidFill>
                  <a:srgbClr val="065A82"/>
                </a:solidFill>
                <a:latin typeface="Consolas"/>
              </a:rPr>
              <a:t>z = (85−60)/10 = 2.5</a:t>
            </a:r>
          </a:p>
        </p:txBody>
      </p:sp>
      <p:sp>
        <p:nvSpPr>
          <p:cNvPr id="13" name="TextBox 12"/>
          <p:cNvSpPr txBox="1"/>
          <p:nvPr/>
        </p:nvSpPr>
        <p:spPr>
          <a:xfrm>
            <a:off x="6240780" y="3154680"/>
            <a:ext cx="2400300" cy="342900"/>
          </a:xfrm>
          <a:prstGeom prst="rect">
            <a:avLst/>
          </a:prstGeom>
          <a:noFill/>
        </p:spPr>
        <p:txBody>
          <a:bodyPr wrap="square" lIns="0" rIns="0" tIns="0" bIns="0" anchor="t">
            <a:spAutoFit/>
          </a:bodyPr>
          <a:lstStyle/>
          <a:p>
            <a:pPr algn="l"/>
            <a:r>
              <a:rPr sz="1050" b="1">
                <a:solidFill>
                  <a:srgbClr val="065A82"/>
                </a:solidFill>
                <a:latin typeface="Calibri"/>
              </a:rPr>
              <a:t>→  Top ~1% of the class</a:t>
            </a:r>
          </a:p>
        </p:txBody>
      </p:sp>
      <p:sp>
        <p:nvSpPr>
          <p:cNvPr id="14" name="TextBox 13"/>
          <p:cNvSpPr txBox="1"/>
          <p:nvPr/>
        </p:nvSpPr>
        <p:spPr>
          <a:xfrm>
            <a:off x="617220" y="3737609"/>
            <a:ext cx="3086100" cy="342900"/>
          </a:xfrm>
          <a:prstGeom prst="rect">
            <a:avLst/>
          </a:prstGeom>
          <a:noFill/>
        </p:spPr>
        <p:txBody>
          <a:bodyPr wrap="square" lIns="0" rIns="0" tIns="0" bIns="0" anchor="t">
            <a:spAutoFit/>
          </a:bodyPr>
          <a:lstStyle/>
          <a:p>
            <a:pPr algn="l"/>
            <a:r>
              <a:rPr sz="1050" b="0">
                <a:solidFill>
                  <a:srgbClr val="36454F"/>
                </a:solidFill>
                <a:latin typeface="Calibri"/>
              </a:rPr>
              <a:t>If class average = 82, std = 2</a:t>
            </a:r>
          </a:p>
        </p:txBody>
      </p:sp>
      <p:sp>
        <p:nvSpPr>
          <p:cNvPr id="15" name="TextBox 14"/>
          <p:cNvSpPr txBox="1"/>
          <p:nvPr/>
        </p:nvSpPr>
        <p:spPr>
          <a:xfrm>
            <a:off x="3703320" y="3737609"/>
            <a:ext cx="2400300" cy="342900"/>
          </a:xfrm>
          <a:prstGeom prst="rect">
            <a:avLst/>
          </a:prstGeom>
          <a:noFill/>
        </p:spPr>
        <p:txBody>
          <a:bodyPr wrap="square" lIns="0" rIns="0" tIns="0" bIns="0" anchor="t">
            <a:spAutoFit/>
          </a:bodyPr>
          <a:lstStyle/>
          <a:p>
            <a:pPr algn="l"/>
            <a:r>
              <a:rPr sz="1050" b="1">
                <a:solidFill>
                  <a:srgbClr val="065A82"/>
                </a:solidFill>
                <a:latin typeface="Consolas"/>
              </a:rPr>
              <a:t>z = (85−82)/2 = 1.5</a:t>
            </a:r>
          </a:p>
        </p:txBody>
      </p:sp>
      <p:sp>
        <p:nvSpPr>
          <p:cNvPr id="16" name="TextBox 15"/>
          <p:cNvSpPr txBox="1"/>
          <p:nvPr/>
        </p:nvSpPr>
        <p:spPr>
          <a:xfrm>
            <a:off x="6240780" y="3737609"/>
            <a:ext cx="2400300" cy="342900"/>
          </a:xfrm>
          <a:prstGeom prst="rect">
            <a:avLst/>
          </a:prstGeom>
          <a:noFill/>
        </p:spPr>
        <p:txBody>
          <a:bodyPr wrap="square" lIns="0" rIns="0" tIns="0" bIns="0" anchor="t">
            <a:spAutoFit/>
          </a:bodyPr>
          <a:lstStyle/>
          <a:p>
            <a:pPr algn="l"/>
            <a:r>
              <a:rPr sz="1050" b="1">
                <a:solidFill>
                  <a:srgbClr val="1C7293"/>
                </a:solidFill>
                <a:latin typeface="Calibri"/>
              </a:rPr>
              <a:t>→  Above average, not exceptional</a:t>
            </a:r>
          </a:p>
        </p:txBody>
      </p:sp>
      <p:pic>
        <p:nvPicPr>
          <p:cNvPr id="19" name="Picture 1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Two Ways Z-scores Show Up in ML</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Outlier detection · Feature standardisation</a:t>
            </a:r>
          </a:p>
        </p:txBody>
      </p:sp>
      <p:sp>
        <p:nvSpPr>
          <p:cNvPr id="5" name="Rectangle 4"/>
          <p:cNvSpPr/>
          <p:nvPr/>
        </p:nvSpPr>
        <p:spPr>
          <a:xfrm>
            <a:off x="411480" y="1303020"/>
            <a:ext cx="4114800" cy="31546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40180"/>
            <a:ext cx="3771900" cy="342900"/>
          </a:xfrm>
          <a:prstGeom prst="rect">
            <a:avLst/>
          </a:prstGeom>
          <a:noFill/>
        </p:spPr>
        <p:txBody>
          <a:bodyPr wrap="square" lIns="0" rIns="0" tIns="0" bIns="0" anchor="t">
            <a:spAutoFit/>
          </a:bodyPr>
          <a:lstStyle/>
          <a:p>
            <a:pPr algn="l"/>
            <a:r>
              <a:rPr sz="1350" b="1">
                <a:solidFill>
                  <a:srgbClr val="FFFFFF"/>
                </a:solidFill>
                <a:latin typeface="Calibri"/>
              </a:rPr>
              <a:t>1.  Outlier detection</a:t>
            </a:r>
          </a:p>
        </p:txBody>
      </p:sp>
      <p:sp>
        <p:nvSpPr>
          <p:cNvPr id="7" name="TextBox 6"/>
          <p:cNvSpPr txBox="1"/>
          <p:nvPr/>
        </p:nvSpPr>
        <p:spPr>
          <a:xfrm>
            <a:off x="582930" y="1851660"/>
            <a:ext cx="3771900" cy="2400300"/>
          </a:xfrm>
          <a:prstGeom prst="rect">
            <a:avLst/>
          </a:prstGeom>
          <a:noFill/>
        </p:spPr>
        <p:txBody>
          <a:bodyPr wrap="square" lIns="0" rIns="0" tIns="0" bIns="0" anchor="t">
            <a:spAutoFit/>
          </a:bodyPr>
          <a:lstStyle/>
          <a:p>
            <a:pPr algn="l"/>
            <a:r>
              <a:rPr sz="975" b="0">
                <a:solidFill>
                  <a:srgbClr val="E8F1F5"/>
                </a:solidFill>
                <a:latin typeface="Calibri"/>
              </a:rPr>
              <a:t>Rule of thumb: |Z| &gt; 3 = investigate.</a:t>
            </a:r>
          </a:p>
          <a:p>
            <a:pPr algn="l"/>
            <a:r>
              <a:rPr sz="975" b="0">
                <a:solidFill>
                  <a:srgbClr val="E8F1F5"/>
                </a:solidFill>
                <a:latin typeface="Calibri"/>
              </a:rPr>
              <a:t/>
            </a:r>
          </a:p>
          <a:p>
            <a:pPr algn="l"/>
            <a:r>
              <a:rPr sz="975" b="0">
                <a:solidFill>
                  <a:srgbClr val="E8F1F5"/>
                </a:solidFill>
                <a:latin typeface="Calibri"/>
              </a:rPr>
              <a:t>For Sarah's reviews:</a:t>
            </a:r>
          </a:p>
          <a:p>
            <a:pPr algn="l"/>
            <a:r>
              <a:rPr sz="975" b="0">
                <a:solidFill>
                  <a:srgbClr val="E8F1F5"/>
                </a:solidFill>
                <a:latin typeface="Calibri"/>
              </a:rPr>
              <a:t>  Z &lt; −3 → an unusually NEGATIVE review.</a:t>
            </a:r>
          </a:p>
          <a:p>
            <a:pPr algn="l"/>
            <a:r>
              <a:rPr sz="975" b="0">
                <a:solidFill>
                  <a:srgbClr val="E8F1F5"/>
                </a:solidFill>
                <a:latin typeface="Calibri"/>
              </a:rPr>
              <a:t>            Route to customer service.</a:t>
            </a:r>
          </a:p>
          <a:p>
            <a:pPr algn="l"/>
            <a:r>
              <a:rPr sz="975" b="0">
                <a:solidFill>
                  <a:srgbClr val="E8F1F5"/>
                </a:solidFill>
                <a:latin typeface="Calibri"/>
              </a:rPr>
              <a:t>  Z &gt; +3 → an unusually POSITIVE review.</a:t>
            </a:r>
          </a:p>
          <a:p>
            <a:pPr algn="l"/>
            <a:r>
              <a:rPr sz="975" b="0">
                <a:solidFill>
                  <a:srgbClr val="E8F1F5"/>
                </a:solidFill>
                <a:latin typeface="Calibri"/>
              </a:rPr>
              <a:t>            Maybe a sycophant or a bot.</a:t>
            </a:r>
          </a:p>
          <a:p>
            <a:pPr algn="l"/>
            <a:r>
              <a:rPr sz="975" b="0">
                <a:solidFill>
                  <a:srgbClr val="E8F1F5"/>
                </a:solidFill>
                <a:latin typeface="Calibri"/>
              </a:rPr>
              <a:t/>
            </a:r>
          </a:p>
          <a:p>
            <a:pPr algn="l"/>
            <a:r>
              <a:rPr sz="975" b="0">
                <a:solidFill>
                  <a:srgbClr val="E8F1F5"/>
                </a:solidFill>
                <a:latin typeface="Calibri"/>
              </a:rPr>
              <a:t>Works on any quantitative variable — model accuracy across stores, transaction amounts, log latencies.</a:t>
            </a:r>
          </a:p>
        </p:txBody>
      </p:sp>
      <p:sp>
        <p:nvSpPr>
          <p:cNvPr id="8" name="Rectangle 7"/>
          <p:cNvSpPr/>
          <p:nvPr/>
        </p:nvSpPr>
        <p:spPr>
          <a:xfrm>
            <a:off x="4629150" y="1303020"/>
            <a:ext cx="4114800" cy="31546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1440180"/>
            <a:ext cx="3771900" cy="342900"/>
          </a:xfrm>
          <a:prstGeom prst="rect">
            <a:avLst/>
          </a:prstGeom>
          <a:noFill/>
        </p:spPr>
        <p:txBody>
          <a:bodyPr wrap="square" lIns="0" rIns="0" tIns="0" bIns="0" anchor="t">
            <a:spAutoFit/>
          </a:bodyPr>
          <a:lstStyle/>
          <a:p>
            <a:pPr algn="l"/>
            <a:r>
              <a:rPr sz="1350" b="1">
                <a:solidFill>
                  <a:srgbClr val="FFFFFF"/>
                </a:solidFill>
                <a:latin typeface="Calibri"/>
              </a:rPr>
              <a:t>2.  Feature standardisation</a:t>
            </a:r>
          </a:p>
        </p:txBody>
      </p:sp>
      <p:sp>
        <p:nvSpPr>
          <p:cNvPr id="10" name="TextBox 9"/>
          <p:cNvSpPr txBox="1"/>
          <p:nvPr/>
        </p:nvSpPr>
        <p:spPr>
          <a:xfrm>
            <a:off x="4800600" y="1851660"/>
            <a:ext cx="3771900" cy="2400300"/>
          </a:xfrm>
          <a:prstGeom prst="rect">
            <a:avLst/>
          </a:prstGeom>
          <a:noFill/>
        </p:spPr>
        <p:txBody>
          <a:bodyPr wrap="square" lIns="0" rIns="0" tIns="0" bIns="0" anchor="t">
            <a:spAutoFit/>
          </a:bodyPr>
          <a:lstStyle/>
          <a:p>
            <a:pPr algn="l"/>
            <a:r>
              <a:rPr sz="975" b="0">
                <a:solidFill>
                  <a:srgbClr val="E8F1F5"/>
                </a:solidFill>
                <a:latin typeface="Calibri"/>
              </a:rPr>
              <a:t>Before training a model, transform every numeric feature:</a:t>
            </a:r>
          </a:p>
          <a:p>
            <a:pPr algn="l"/>
            <a:r>
              <a:rPr sz="975" b="0">
                <a:solidFill>
                  <a:srgbClr val="E8F1F5"/>
                </a:solidFill>
                <a:latin typeface="Calibri"/>
              </a:rPr>
              <a:t>  age, income, days-since-last-login, …</a:t>
            </a:r>
          </a:p>
          <a:p>
            <a:pPr algn="l"/>
            <a:r>
              <a:rPr sz="975" b="0">
                <a:solidFill>
                  <a:srgbClr val="E8F1F5"/>
                </a:solidFill>
                <a:latin typeface="Calibri"/>
              </a:rPr>
              <a:t/>
            </a:r>
          </a:p>
          <a:p>
            <a:pPr algn="l"/>
            <a:r>
              <a:rPr sz="975" b="0">
                <a:solidFill>
                  <a:srgbClr val="E8F1F5"/>
                </a:solidFill>
                <a:latin typeface="Calibri"/>
              </a:rPr>
              <a:t>Each becomes mean=0, std=1.</a:t>
            </a:r>
          </a:p>
          <a:p>
            <a:pPr algn="l"/>
            <a:r>
              <a:rPr sz="975" b="0">
                <a:solidFill>
                  <a:srgbClr val="E8F1F5"/>
                </a:solidFill>
                <a:latin typeface="Calibri"/>
              </a:rPr>
              <a:t/>
            </a:r>
          </a:p>
          <a:p>
            <a:pPr algn="l"/>
            <a:r>
              <a:rPr sz="975" b="0">
                <a:solidFill>
                  <a:srgbClr val="E8F1F5"/>
                </a:solidFill>
                <a:latin typeface="Calibri"/>
              </a:rPr>
              <a:t>Why? Many algorithms (linear regression, k-NN, neural nets) assume features are on similar scales.</a:t>
            </a:r>
          </a:p>
          <a:p>
            <a:pPr algn="l"/>
            <a:r>
              <a:rPr sz="975" b="0">
                <a:solidFill>
                  <a:srgbClr val="E8F1F5"/>
                </a:solidFill>
                <a:latin typeface="Calibri"/>
              </a:rPr>
              <a:t/>
            </a:r>
          </a:p>
          <a:p>
            <a:pPr algn="l"/>
            <a:r>
              <a:rPr sz="975" b="0">
                <a:solidFill>
                  <a:srgbClr val="E8F1F5"/>
                </a:solidFill>
                <a:latin typeface="Calibri"/>
              </a:rPr>
              <a:t>In sklearn: StandardScaler().fit_transform(X)</a:t>
            </a:r>
          </a:p>
          <a:p>
            <a:pPr algn="l"/>
            <a:r>
              <a:rPr sz="975" b="0">
                <a:solidFill>
                  <a:srgbClr val="E8F1F5"/>
                </a:solidFill>
                <a:latin typeface="Calibri"/>
              </a:rPr>
              <a:t/>
            </a:r>
          </a:p>
          <a:p>
            <a:pPr algn="l"/>
            <a:r>
              <a:rPr sz="975" b="0">
                <a:solidFill>
                  <a:srgbClr val="E8F1F5"/>
                </a:solidFill>
                <a:latin typeface="Calibri"/>
              </a:rPr>
              <a:t>We'll use this in L03 onward.</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21C39A"/>
                </a:solidFill>
                <a:latin typeface="Calibri"/>
              </a:rPr>
              <a:t>🟢  CODE-ALONG</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550" b="1">
                <a:solidFill>
                  <a:srgbClr val="FFFFFF"/>
                </a:solidFill>
                <a:latin typeface="Consolas"/>
              </a:rPr>
              <a:t>Open: 02_distributions.ipynb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What you'll do</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1.  Plot Sarah's polarity &amp; review-length distributions side-by-side.</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2.  Identify the shape and compute mean vs median for each.</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3.  Spot which summary statistic to quote for which question.</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30 minutes  ·  Stop at the 🟡 Extension marker  ·  Extension is self-paced after class</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Sarah's Wednesday — 84% From 200 Reviews</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Is it 'exactly' 84%? Or is that just one sample's answer?</a:t>
            </a:r>
          </a:p>
        </p:txBody>
      </p:sp>
      <p:sp>
        <p:nvSpPr>
          <p:cNvPr id="5" name="Rectangle 4"/>
          <p:cNvSpPr/>
          <p:nvPr/>
        </p:nvSpPr>
        <p:spPr>
          <a:xfrm>
            <a:off x="411480" y="1303020"/>
            <a:ext cx="8298180" cy="9601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342900"/>
          </a:xfrm>
          <a:prstGeom prst="rect">
            <a:avLst/>
          </a:prstGeom>
          <a:noFill/>
        </p:spPr>
        <p:txBody>
          <a:bodyPr wrap="square" lIns="0" rIns="0" tIns="0" bIns="0" anchor="t">
            <a:spAutoFit/>
          </a:bodyPr>
          <a:lstStyle/>
          <a:p>
            <a:pPr algn="l"/>
            <a:r>
              <a:rPr sz="1050" b="1">
                <a:solidFill>
                  <a:srgbClr val="065A82"/>
                </a:solidFill>
                <a:latin typeface="Calibri"/>
              </a:rPr>
              <a:t>Sarah's plan to validate the L01 sentiment model:</a:t>
            </a:r>
          </a:p>
        </p:txBody>
      </p:sp>
      <p:sp>
        <p:nvSpPr>
          <p:cNvPr id="7" name="TextBox 6"/>
          <p:cNvSpPr txBox="1"/>
          <p:nvPr/>
        </p:nvSpPr>
        <p:spPr>
          <a:xfrm>
            <a:off x="617220" y="1748790"/>
            <a:ext cx="7886700" cy="480060"/>
          </a:xfrm>
          <a:prstGeom prst="rect">
            <a:avLst/>
          </a:prstGeom>
          <a:noFill/>
        </p:spPr>
        <p:txBody>
          <a:bodyPr wrap="square" lIns="0" rIns="0" tIns="0" bIns="0" anchor="t">
            <a:spAutoFit/>
          </a:bodyPr>
          <a:lstStyle/>
          <a:p>
            <a:pPr algn="l"/>
            <a:r>
              <a:rPr sz="1050" b="0">
                <a:solidFill>
                  <a:srgbClr val="36454F"/>
                </a:solidFill>
                <a:latin typeface="Calibri"/>
              </a:rPr>
              <a:t>Hand-label 200 reviews herself. Compare to the model's predictions. Report agreement rate.</a:t>
            </a:r>
          </a:p>
        </p:txBody>
      </p:sp>
      <p:sp>
        <p:nvSpPr>
          <p:cNvPr id="8" name="Rectangle 7"/>
          <p:cNvSpPr/>
          <p:nvPr/>
        </p:nvSpPr>
        <p:spPr>
          <a:xfrm>
            <a:off x="411480" y="2400300"/>
            <a:ext cx="4080510" cy="22631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 y="2537460"/>
            <a:ext cx="3771900" cy="342900"/>
          </a:xfrm>
          <a:prstGeom prst="rect">
            <a:avLst/>
          </a:prstGeom>
          <a:noFill/>
        </p:spPr>
        <p:txBody>
          <a:bodyPr wrap="square" lIns="0" rIns="0" tIns="0" bIns="0" anchor="t">
            <a:spAutoFit/>
          </a:bodyPr>
          <a:lstStyle/>
          <a:p>
            <a:pPr algn="l"/>
            <a:r>
              <a:rPr sz="1125" b="1">
                <a:solidFill>
                  <a:srgbClr val="E8F1F5"/>
                </a:solidFill>
                <a:latin typeface="Calibri"/>
              </a:rPr>
              <a:t>The result</a:t>
            </a:r>
          </a:p>
        </p:txBody>
      </p:sp>
      <p:sp>
        <p:nvSpPr>
          <p:cNvPr id="10" name="TextBox 9"/>
          <p:cNvSpPr txBox="1"/>
          <p:nvPr/>
        </p:nvSpPr>
        <p:spPr>
          <a:xfrm>
            <a:off x="617220" y="2880360"/>
            <a:ext cx="3771900" cy="1714500"/>
          </a:xfrm>
          <a:prstGeom prst="rect">
            <a:avLst/>
          </a:prstGeom>
          <a:noFill/>
        </p:spPr>
        <p:txBody>
          <a:bodyPr wrap="square" lIns="0" rIns="0" tIns="0" bIns="0" anchor="t">
            <a:spAutoFit/>
          </a:bodyPr>
          <a:lstStyle/>
          <a:p>
            <a:pPr algn="l"/>
            <a:r>
              <a:rPr sz="1050" b="0">
                <a:solidFill>
                  <a:srgbClr val="FFFFFF"/>
                </a:solidFill>
                <a:latin typeface="Calibri"/>
              </a:rPr>
              <a:t>167 of 200 reviews agreed.</a:t>
            </a:r>
          </a:p>
          <a:p>
            <a:pPr algn="l"/>
            <a:r>
              <a:rPr sz="1050" b="0">
                <a:solidFill>
                  <a:srgbClr val="FFFFFF"/>
                </a:solidFill>
                <a:latin typeface="Calibri"/>
              </a:rPr>
              <a:t/>
            </a:r>
          </a:p>
          <a:p>
            <a:pPr algn="l"/>
            <a:r>
              <a:rPr sz="1050" b="0">
                <a:solidFill>
                  <a:srgbClr val="FFFFFF"/>
                </a:solidFill>
                <a:latin typeface="Calibri"/>
              </a:rPr>
              <a:t>That's 83.5% — rounded to:</a:t>
            </a:r>
          </a:p>
        </p:txBody>
      </p:sp>
      <p:sp>
        <p:nvSpPr>
          <p:cNvPr id="11" name="TextBox 10"/>
          <p:cNvSpPr txBox="1"/>
          <p:nvPr/>
        </p:nvSpPr>
        <p:spPr>
          <a:xfrm>
            <a:off x="617220" y="3771900"/>
            <a:ext cx="3771900" cy="685800"/>
          </a:xfrm>
          <a:prstGeom prst="rect">
            <a:avLst/>
          </a:prstGeom>
          <a:noFill/>
        </p:spPr>
        <p:txBody>
          <a:bodyPr wrap="square" lIns="0" rIns="0" tIns="0" bIns="0" anchor="t">
            <a:spAutoFit/>
          </a:bodyPr>
          <a:lstStyle/>
          <a:p>
            <a:pPr algn="ctr"/>
            <a:r>
              <a:rPr sz="5400" b="1">
                <a:solidFill>
                  <a:srgbClr val="F9E795"/>
                </a:solidFill>
                <a:latin typeface="Trebuchet MS"/>
              </a:rPr>
              <a:t>84%</a:t>
            </a:r>
          </a:p>
        </p:txBody>
      </p:sp>
      <p:sp>
        <p:nvSpPr>
          <p:cNvPr id="12" name="Rectangle 11"/>
          <p:cNvSpPr/>
          <p:nvPr/>
        </p:nvSpPr>
        <p:spPr>
          <a:xfrm>
            <a:off x="4629150" y="2400300"/>
            <a:ext cx="4080510" cy="22631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537460"/>
            <a:ext cx="3771900" cy="342900"/>
          </a:xfrm>
          <a:prstGeom prst="rect">
            <a:avLst/>
          </a:prstGeom>
          <a:noFill/>
        </p:spPr>
        <p:txBody>
          <a:bodyPr wrap="square" lIns="0" rIns="0" tIns="0" bIns="0" anchor="t">
            <a:spAutoFit/>
          </a:bodyPr>
          <a:lstStyle/>
          <a:p>
            <a:pPr algn="l"/>
            <a:r>
              <a:rPr sz="1125" b="1">
                <a:solidFill>
                  <a:srgbClr val="E8F1F5"/>
                </a:solidFill>
                <a:latin typeface="Calibri"/>
              </a:rPr>
              <a:t>Priya's follow-up</a:t>
            </a:r>
          </a:p>
        </p:txBody>
      </p:sp>
      <p:sp>
        <p:nvSpPr>
          <p:cNvPr id="14" name="TextBox 13"/>
          <p:cNvSpPr txBox="1"/>
          <p:nvPr/>
        </p:nvSpPr>
        <p:spPr>
          <a:xfrm>
            <a:off x="4800600" y="2948940"/>
            <a:ext cx="3771900" cy="1714500"/>
          </a:xfrm>
          <a:prstGeom prst="rect">
            <a:avLst/>
          </a:prstGeom>
          <a:noFill/>
        </p:spPr>
        <p:txBody>
          <a:bodyPr wrap="square" lIns="0" rIns="0" tIns="0" bIns="0" anchor="t">
            <a:spAutoFit/>
          </a:bodyPr>
          <a:lstStyle/>
          <a:p>
            <a:pPr algn="l"/>
            <a:r>
              <a:rPr sz="1050" b="0">
                <a:solidFill>
                  <a:srgbClr val="FFFFFF"/>
                </a:solidFill>
                <a:latin typeface="Trebuchet MS"/>
              </a:rPr>
              <a:t>"So the model is EXACTLY 84% accurate?"</a:t>
            </a:r>
          </a:p>
          <a:p>
            <a:pPr algn="l"/>
            <a:r>
              <a:rPr sz="1050" b="0">
                <a:solidFill>
                  <a:srgbClr val="FFFFFF"/>
                </a:solidFill>
                <a:latin typeface="Trebuchet MS"/>
              </a:rPr>
              <a:t/>
            </a:r>
          </a:p>
          <a:p>
            <a:pPr algn="l"/>
            <a:r>
              <a:rPr sz="1050" b="0">
                <a:solidFill>
                  <a:srgbClr val="FFFFFF"/>
                </a:solidFill>
                <a:latin typeface="Trebuchet MS"/>
              </a:rPr>
              <a:t>Sarah pauses. If she had labelled a different 200 reviews, would she get the same number?</a:t>
            </a:r>
          </a:p>
          <a:p>
            <a:pPr algn="l"/>
            <a:r>
              <a:rPr sz="1050" b="0">
                <a:solidFill>
                  <a:srgbClr val="FFFFFF"/>
                </a:solidFill>
                <a:latin typeface="Trebuchet MS"/>
              </a:rPr>
              <a:t/>
            </a:r>
          </a:p>
          <a:p>
            <a:pPr algn="l"/>
            <a:r>
              <a:rPr sz="1050" b="0">
                <a:solidFill>
                  <a:srgbClr val="FFFFFF"/>
                </a:solidFill>
                <a:latin typeface="Trebuchet MS"/>
              </a:rPr>
              <a:t>Probably not. But how close?</a:t>
            </a:r>
          </a:p>
        </p:txBody>
      </p:sp>
      <p:pic>
        <p:nvPicPr>
          <p:cNvPr id="16" name="Picture 15"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Simulating Sarah's Sample</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What if she'd labelled a DIFFERENT 200?</a:t>
            </a:r>
          </a:p>
        </p:txBody>
      </p:sp>
      <p:sp>
        <p:nvSpPr>
          <p:cNvPr id="5" name="Rectangle 4"/>
          <p:cNvSpPr/>
          <p:nvPr/>
        </p:nvSpPr>
        <p:spPr>
          <a:xfrm>
            <a:off x="411480" y="1371600"/>
            <a:ext cx="8298180" cy="24003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8700" y="3497580"/>
            <a:ext cx="420060" cy="685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08760" y="3360420"/>
            <a:ext cx="420060" cy="2057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88820" y="3223260"/>
            <a:ext cx="420060" cy="3429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468880" y="2948940"/>
            <a:ext cx="420060" cy="6172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48940" y="2606040"/>
            <a:ext cx="420060" cy="960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2263140"/>
            <a:ext cx="420060" cy="13030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09060" y="2057400"/>
            <a:ext cx="420060" cy="1508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920240"/>
            <a:ext cx="420060" cy="1645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69180" y="1988820"/>
            <a:ext cx="420060" cy="15773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49240" y="2263140"/>
            <a:ext cx="420060" cy="13030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29300" y="2606040"/>
            <a:ext cx="420060" cy="960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2948940"/>
            <a:ext cx="420060" cy="6172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789420" y="3223260"/>
            <a:ext cx="420060" cy="3429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9480" y="3360420"/>
            <a:ext cx="420060" cy="2057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49540" y="3497580"/>
            <a:ext cx="420060" cy="685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69029" y="1371600"/>
            <a:ext cx="41148" cy="2057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26129" y="1097280"/>
            <a:ext cx="1371600" cy="274320"/>
          </a:xfrm>
          <a:prstGeom prst="rect">
            <a:avLst/>
          </a:prstGeom>
          <a:noFill/>
        </p:spPr>
        <p:txBody>
          <a:bodyPr wrap="square" lIns="0" rIns="0" tIns="0" bIns="0" anchor="t">
            <a:spAutoFit/>
          </a:bodyPr>
          <a:lstStyle/>
          <a:p>
            <a:pPr algn="l"/>
            <a:r>
              <a:rPr sz="825" b="1">
                <a:solidFill>
                  <a:srgbClr val="F96167"/>
                </a:solidFill>
                <a:latin typeface="Calibri"/>
              </a:rPr>
              <a:t>Sarah's 84%</a:t>
            </a:r>
          </a:p>
        </p:txBody>
      </p:sp>
      <p:sp>
        <p:nvSpPr>
          <p:cNvPr id="23" name="TextBox 22"/>
          <p:cNvSpPr txBox="1"/>
          <p:nvPr/>
        </p:nvSpPr>
        <p:spPr>
          <a:xfrm>
            <a:off x="582930" y="3909060"/>
            <a:ext cx="7886700" cy="274320"/>
          </a:xfrm>
          <a:prstGeom prst="rect">
            <a:avLst/>
          </a:prstGeom>
          <a:noFill/>
        </p:spPr>
        <p:txBody>
          <a:bodyPr wrap="square" lIns="0" rIns="0" tIns="0" bIns="0" anchor="t">
            <a:spAutoFit/>
          </a:bodyPr>
          <a:lstStyle/>
          <a:p>
            <a:pPr algn="l"/>
            <a:r>
              <a:rPr sz="900" b="0">
                <a:solidFill>
                  <a:srgbClr val="36454F"/>
                </a:solidFill>
                <a:latin typeface="Calibri"/>
              </a:rPr>
              <a:t>Distribution of 1,000 simulated experiments — each = a different sample of 200 reviews</a:t>
            </a:r>
          </a:p>
        </p:txBody>
      </p:sp>
      <p:sp>
        <p:nvSpPr>
          <p:cNvPr id="24" name="Rectangle 23"/>
          <p:cNvSpPr/>
          <p:nvPr/>
        </p:nvSpPr>
        <p:spPr>
          <a:xfrm>
            <a:off x="411480" y="4251960"/>
            <a:ext cx="8298180" cy="4800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The Central Limit Theorem (CLT)</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Why Sarah's histogram looks bell-shaped</a:t>
            </a:r>
          </a:p>
        </p:txBody>
      </p:sp>
      <p:sp>
        <p:nvSpPr>
          <p:cNvPr id="5" name="Rectangle 4"/>
          <p:cNvSpPr/>
          <p:nvPr/>
        </p:nvSpPr>
        <p:spPr>
          <a:xfrm>
            <a:off x="411480" y="1303020"/>
            <a:ext cx="829818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274320"/>
          </a:xfrm>
          <a:prstGeom prst="rect">
            <a:avLst/>
          </a:prstGeom>
          <a:noFill/>
        </p:spPr>
        <p:txBody>
          <a:bodyPr wrap="square" lIns="0" rIns="0" tIns="0" bIns="0" anchor="t">
            <a:spAutoFit/>
          </a:bodyPr>
          <a:lstStyle/>
          <a:p>
            <a:pPr algn="l"/>
            <a:r>
              <a:rPr sz="1050" b="0">
                <a:solidFill>
                  <a:srgbClr val="E8F1F5"/>
                </a:solidFill>
                <a:latin typeface="Calibri"/>
              </a:rPr>
              <a:t>The Central Limit Theorem, in plain English</a:t>
            </a:r>
          </a:p>
        </p:txBody>
      </p:sp>
      <p:sp>
        <p:nvSpPr>
          <p:cNvPr id="7" name="TextBox 6"/>
          <p:cNvSpPr txBox="1"/>
          <p:nvPr/>
        </p:nvSpPr>
        <p:spPr>
          <a:xfrm>
            <a:off x="617220" y="1680210"/>
            <a:ext cx="7886700" cy="754380"/>
          </a:xfrm>
          <a:prstGeom prst="rect">
            <a:avLst/>
          </a:prstGeom>
          <a:noFill/>
        </p:spPr>
        <p:txBody>
          <a:bodyPr wrap="square" lIns="0" rIns="0" tIns="0" bIns="0" anchor="t">
            <a:spAutoFit/>
          </a:bodyPr>
          <a:lstStyle/>
          <a:p>
            <a:pPr algn="l"/>
            <a:r>
              <a:rPr sz="1200" b="0">
                <a:solidFill>
                  <a:srgbClr val="FFFFFF"/>
                </a:solidFill>
                <a:latin typeface="Trebuchet MS"/>
              </a:rPr>
              <a:t>"Even if the underlying data isn't normally distributed, the AVERAGE of many samples from that data will follow a normal distribution. The larger each sample, the tighter the normal becomes."</a:t>
            </a:r>
          </a:p>
        </p:txBody>
      </p:sp>
      <p:sp>
        <p:nvSpPr>
          <p:cNvPr id="8" name="TextBox 7"/>
          <p:cNvSpPr txBox="1"/>
          <p:nvPr/>
        </p:nvSpPr>
        <p:spPr>
          <a:xfrm>
            <a:off x="411480" y="2674620"/>
            <a:ext cx="8298180" cy="342900"/>
          </a:xfrm>
          <a:prstGeom prst="rect">
            <a:avLst/>
          </a:prstGeom>
          <a:noFill/>
        </p:spPr>
        <p:txBody>
          <a:bodyPr wrap="square" lIns="0" rIns="0" tIns="0" bIns="0" anchor="t">
            <a:spAutoFit/>
          </a:bodyPr>
          <a:lstStyle/>
          <a:p>
            <a:pPr algn="l"/>
            <a:r>
              <a:rPr sz="1125" b="1">
                <a:solidFill>
                  <a:srgbClr val="1C7293"/>
                </a:solidFill>
                <a:latin typeface="Calibri"/>
              </a:rPr>
              <a:t>Three things this lets you do</a:t>
            </a:r>
          </a:p>
        </p:txBody>
      </p:sp>
      <p:sp>
        <p:nvSpPr>
          <p:cNvPr id="9" name="Rectangle 8"/>
          <p:cNvSpPr/>
          <p:nvPr/>
        </p:nvSpPr>
        <p:spPr>
          <a:xfrm>
            <a:off x="411480" y="3086100"/>
            <a:ext cx="411480" cy="4800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3175254"/>
            <a:ext cx="411480" cy="342900"/>
          </a:xfrm>
          <a:prstGeom prst="rect">
            <a:avLst/>
          </a:prstGeom>
          <a:noFill/>
        </p:spPr>
        <p:txBody>
          <a:bodyPr wrap="square" lIns="0" rIns="0" tIns="0" bIns="0" anchor="t">
            <a:spAutoFit/>
          </a:bodyPr>
          <a:lstStyle/>
          <a:p>
            <a:pPr algn="ctr"/>
            <a:r>
              <a:rPr sz="1650" b="1">
                <a:solidFill>
                  <a:srgbClr val="FFFFFF"/>
                </a:solidFill>
                <a:latin typeface="Trebuchet MS"/>
              </a:rPr>
              <a:t>1</a:t>
            </a:r>
          </a:p>
        </p:txBody>
      </p:sp>
      <p:sp>
        <p:nvSpPr>
          <p:cNvPr id="11" name="TextBox 10"/>
          <p:cNvSpPr txBox="1"/>
          <p:nvPr/>
        </p:nvSpPr>
        <p:spPr>
          <a:xfrm>
            <a:off x="960120" y="3086100"/>
            <a:ext cx="7749540" cy="274320"/>
          </a:xfrm>
          <a:prstGeom prst="rect">
            <a:avLst/>
          </a:prstGeom>
          <a:noFill/>
        </p:spPr>
        <p:txBody>
          <a:bodyPr wrap="square" lIns="0" rIns="0" tIns="0" bIns="0" anchor="t">
            <a:spAutoFit/>
          </a:bodyPr>
          <a:lstStyle/>
          <a:p>
            <a:pPr algn="l"/>
            <a:r>
              <a:rPr sz="1050" b="1">
                <a:solidFill>
                  <a:srgbClr val="065A82"/>
                </a:solidFill>
                <a:latin typeface="Calibri"/>
              </a:rPr>
              <a:t>Compute confidence intervals on almost any accuracy metric</a:t>
            </a:r>
          </a:p>
        </p:txBody>
      </p:sp>
      <p:sp>
        <p:nvSpPr>
          <p:cNvPr id="12" name="TextBox 11"/>
          <p:cNvSpPr txBox="1"/>
          <p:nvPr/>
        </p:nvSpPr>
        <p:spPr>
          <a:xfrm>
            <a:off x="960120" y="3360420"/>
            <a:ext cx="7749540" cy="274320"/>
          </a:xfrm>
          <a:prstGeom prst="rect">
            <a:avLst/>
          </a:prstGeom>
          <a:noFill/>
        </p:spPr>
        <p:txBody>
          <a:bodyPr wrap="square" lIns="0" rIns="0" tIns="0" bIns="0" anchor="t">
            <a:spAutoFit/>
          </a:bodyPr>
          <a:lstStyle/>
          <a:p>
            <a:pPr algn="l"/>
            <a:r>
              <a:rPr sz="900" b="0">
                <a:solidFill>
                  <a:srgbClr val="36454F"/>
                </a:solidFill>
                <a:latin typeface="Calibri"/>
              </a:rPr>
              <a:t>(model accuracy, conversion rate, click-through rate, complaint rate)</a:t>
            </a:r>
          </a:p>
        </p:txBody>
      </p:sp>
      <p:sp>
        <p:nvSpPr>
          <p:cNvPr id="13" name="Rectangle 12"/>
          <p:cNvSpPr/>
          <p:nvPr/>
        </p:nvSpPr>
        <p:spPr>
          <a:xfrm>
            <a:off x="411480" y="3634740"/>
            <a:ext cx="411480" cy="4800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723894"/>
            <a:ext cx="411480" cy="342900"/>
          </a:xfrm>
          <a:prstGeom prst="rect">
            <a:avLst/>
          </a:prstGeom>
          <a:noFill/>
        </p:spPr>
        <p:txBody>
          <a:bodyPr wrap="square" lIns="0" rIns="0" tIns="0" bIns="0" anchor="t">
            <a:spAutoFit/>
          </a:bodyPr>
          <a:lstStyle/>
          <a:p>
            <a:pPr algn="ctr"/>
            <a:r>
              <a:rPr sz="1650" b="1">
                <a:solidFill>
                  <a:srgbClr val="FFFFFF"/>
                </a:solidFill>
                <a:latin typeface="Trebuchet MS"/>
              </a:rPr>
              <a:t>2</a:t>
            </a:r>
          </a:p>
        </p:txBody>
      </p:sp>
      <p:sp>
        <p:nvSpPr>
          <p:cNvPr id="15" name="TextBox 14"/>
          <p:cNvSpPr txBox="1"/>
          <p:nvPr/>
        </p:nvSpPr>
        <p:spPr>
          <a:xfrm>
            <a:off x="960120" y="3634740"/>
            <a:ext cx="7749540" cy="274320"/>
          </a:xfrm>
          <a:prstGeom prst="rect">
            <a:avLst/>
          </a:prstGeom>
          <a:noFill/>
        </p:spPr>
        <p:txBody>
          <a:bodyPr wrap="square" lIns="0" rIns="0" tIns="0" bIns="0" anchor="t">
            <a:spAutoFit/>
          </a:bodyPr>
          <a:lstStyle/>
          <a:p>
            <a:pPr algn="l"/>
            <a:r>
              <a:rPr sz="1050" b="1">
                <a:solidFill>
                  <a:srgbClr val="065A82"/>
                </a:solidFill>
                <a:latin typeface="Calibri"/>
              </a:rPr>
              <a:t>Run hypothesis tests without assuming the raw data is normal</a:t>
            </a:r>
          </a:p>
        </p:txBody>
      </p:sp>
      <p:sp>
        <p:nvSpPr>
          <p:cNvPr id="16" name="TextBox 15"/>
          <p:cNvSpPr txBox="1"/>
          <p:nvPr/>
        </p:nvSpPr>
        <p:spPr>
          <a:xfrm>
            <a:off x="960120" y="3909060"/>
            <a:ext cx="7749540" cy="274320"/>
          </a:xfrm>
          <a:prstGeom prst="rect">
            <a:avLst/>
          </a:prstGeom>
          <a:noFill/>
        </p:spPr>
        <p:txBody>
          <a:bodyPr wrap="square" lIns="0" rIns="0" tIns="0" bIns="0" anchor="t">
            <a:spAutoFit/>
          </a:bodyPr>
          <a:lstStyle/>
          <a:p>
            <a:pPr algn="l"/>
            <a:r>
              <a:rPr sz="900" b="0">
                <a:solidFill>
                  <a:srgbClr val="36454F"/>
                </a:solidFill>
                <a:latin typeface="Calibri"/>
              </a:rPr>
              <a:t>(t-test, z-test, A/B tests — all rely on the CLT)</a:t>
            </a:r>
          </a:p>
        </p:txBody>
      </p:sp>
      <p:sp>
        <p:nvSpPr>
          <p:cNvPr id="17" name="Rectangle 16"/>
          <p:cNvSpPr/>
          <p:nvPr/>
        </p:nvSpPr>
        <p:spPr>
          <a:xfrm>
            <a:off x="411480" y="4183380"/>
            <a:ext cx="411480" cy="4800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4272534"/>
            <a:ext cx="411480" cy="342900"/>
          </a:xfrm>
          <a:prstGeom prst="rect">
            <a:avLst/>
          </a:prstGeom>
          <a:noFill/>
        </p:spPr>
        <p:txBody>
          <a:bodyPr wrap="square" lIns="0" rIns="0" tIns="0" bIns="0" anchor="t">
            <a:spAutoFit/>
          </a:bodyPr>
          <a:lstStyle/>
          <a:p>
            <a:pPr algn="ctr"/>
            <a:r>
              <a:rPr sz="1650" b="1">
                <a:solidFill>
                  <a:srgbClr val="FFFFFF"/>
                </a:solidFill>
                <a:latin typeface="Trebuchet MS"/>
              </a:rPr>
              <a:t>3</a:t>
            </a:r>
          </a:p>
        </p:txBody>
      </p:sp>
      <p:sp>
        <p:nvSpPr>
          <p:cNvPr id="19" name="TextBox 18"/>
          <p:cNvSpPr txBox="1"/>
          <p:nvPr/>
        </p:nvSpPr>
        <p:spPr>
          <a:xfrm>
            <a:off x="960120" y="4183380"/>
            <a:ext cx="7749540" cy="274320"/>
          </a:xfrm>
          <a:prstGeom prst="rect">
            <a:avLst/>
          </a:prstGeom>
          <a:noFill/>
        </p:spPr>
        <p:txBody>
          <a:bodyPr wrap="square" lIns="0" rIns="0" tIns="0" bIns="0" anchor="t">
            <a:spAutoFit/>
          </a:bodyPr>
          <a:lstStyle/>
          <a:p>
            <a:pPr algn="l"/>
            <a:r>
              <a:rPr sz="1050" b="1">
                <a:solidFill>
                  <a:srgbClr val="065A82"/>
                </a:solidFill>
                <a:latin typeface="Calibri"/>
              </a:rPr>
              <a:t>Reason about sample size</a:t>
            </a:r>
          </a:p>
        </p:txBody>
      </p:sp>
      <p:pic>
        <p:nvPicPr>
          <p:cNvPr id="22" name="Picture 2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The Skittles Analogy</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The raw data isn't normal — the AVERAGES are</a:t>
            </a:r>
          </a:p>
        </p:txBody>
      </p:sp>
      <p:sp>
        <p:nvSpPr>
          <p:cNvPr id="5" name="Rectangle 4"/>
          <p:cNvSpPr/>
          <p:nvPr/>
        </p:nvSpPr>
        <p:spPr>
          <a:xfrm>
            <a:off x="342900" y="1371600"/>
            <a:ext cx="2743200" cy="24003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2900" y="1508760"/>
            <a:ext cx="2743200" cy="274320"/>
          </a:xfrm>
          <a:prstGeom prst="rect">
            <a:avLst/>
          </a:prstGeom>
          <a:noFill/>
        </p:spPr>
        <p:txBody>
          <a:bodyPr wrap="square" lIns="0" rIns="0" tIns="0" bIns="0" anchor="t">
            <a:spAutoFit/>
          </a:bodyPr>
          <a:lstStyle/>
          <a:p>
            <a:pPr algn="ctr"/>
            <a:r>
              <a:rPr sz="1050" b="1">
                <a:solidFill>
                  <a:srgbClr val="065A82"/>
                </a:solidFill>
                <a:latin typeface="Calibri"/>
              </a:rPr>
              <a:t>1. The jar</a:t>
            </a:r>
          </a:p>
        </p:txBody>
      </p:sp>
      <p:sp>
        <p:nvSpPr>
          <p:cNvPr id="7" name="Rectangle 6"/>
          <p:cNvSpPr/>
          <p:nvPr/>
        </p:nvSpPr>
        <p:spPr>
          <a:xfrm>
            <a:off x="754380" y="3086100"/>
            <a:ext cx="312900" cy="4114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3360420"/>
            <a:ext cx="312900" cy="1371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40180" y="2468880"/>
            <a:ext cx="312900" cy="10287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83080" y="3223260"/>
            <a:ext cx="312900"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25980" y="2948940"/>
            <a:ext cx="312900" cy="5486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 y="3463290"/>
            <a:ext cx="2743200" cy="274320"/>
          </a:xfrm>
          <a:prstGeom prst="rect">
            <a:avLst/>
          </a:prstGeom>
          <a:noFill/>
        </p:spPr>
        <p:txBody>
          <a:bodyPr wrap="square" lIns="0" rIns="0" tIns="0" bIns="0" anchor="t">
            <a:spAutoFit/>
          </a:bodyPr>
          <a:lstStyle/>
          <a:p>
            <a:pPr algn="ctr"/>
            <a:r>
              <a:rPr sz="825" b="0">
                <a:solidFill>
                  <a:srgbClr val="36454F"/>
                </a:solidFill>
                <a:latin typeface="Calibri"/>
              </a:rPr>
              <a:t>Not normal — colours unequal</a:t>
            </a:r>
          </a:p>
        </p:txBody>
      </p:sp>
      <p:sp>
        <p:nvSpPr>
          <p:cNvPr id="13" name="TextBox 12"/>
          <p:cNvSpPr txBox="1"/>
          <p:nvPr/>
        </p:nvSpPr>
        <p:spPr>
          <a:xfrm>
            <a:off x="3120390" y="2468880"/>
            <a:ext cx="274320" cy="274320"/>
          </a:xfrm>
          <a:prstGeom prst="rect">
            <a:avLst/>
          </a:prstGeom>
          <a:noFill/>
        </p:spPr>
        <p:txBody>
          <a:bodyPr wrap="square" lIns="0" rIns="0" tIns="0" bIns="0" anchor="t">
            <a:spAutoFit/>
          </a:bodyPr>
          <a:lstStyle/>
          <a:p>
            <a:pPr algn="l"/>
            <a:r>
              <a:rPr sz="3000" b="1">
                <a:solidFill>
                  <a:srgbClr val="065A82"/>
                </a:solidFill>
                <a:latin typeface="Trebuchet MS"/>
              </a:rPr>
              <a:t>→</a:t>
            </a:r>
          </a:p>
        </p:txBody>
      </p:sp>
      <p:sp>
        <p:nvSpPr>
          <p:cNvPr id="14" name="Rectangle 13"/>
          <p:cNvSpPr/>
          <p:nvPr/>
        </p:nvSpPr>
        <p:spPr>
          <a:xfrm>
            <a:off x="3326130" y="1371600"/>
            <a:ext cx="2743200" cy="24003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26130" y="1508760"/>
            <a:ext cx="2743200" cy="274320"/>
          </a:xfrm>
          <a:prstGeom prst="rect">
            <a:avLst/>
          </a:prstGeom>
          <a:noFill/>
        </p:spPr>
        <p:txBody>
          <a:bodyPr wrap="square" lIns="0" rIns="0" tIns="0" bIns="0" anchor="t">
            <a:spAutoFit/>
          </a:bodyPr>
          <a:lstStyle/>
          <a:p>
            <a:pPr algn="ctr"/>
            <a:r>
              <a:rPr sz="1050" b="1">
                <a:solidFill>
                  <a:srgbClr val="065A82"/>
                </a:solidFill>
                <a:latin typeface="Calibri"/>
              </a:rPr>
              <a:t>2. Take handfuls of 30</a:t>
            </a:r>
          </a:p>
        </p:txBody>
      </p:sp>
      <p:sp>
        <p:nvSpPr>
          <p:cNvPr id="16" name="TextBox 15"/>
          <p:cNvSpPr txBox="1"/>
          <p:nvPr/>
        </p:nvSpPr>
        <p:spPr>
          <a:xfrm>
            <a:off x="3326130" y="1920240"/>
            <a:ext cx="2743200" cy="1714500"/>
          </a:xfrm>
          <a:prstGeom prst="rect">
            <a:avLst/>
          </a:prstGeom>
          <a:noFill/>
        </p:spPr>
        <p:txBody>
          <a:bodyPr wrap="square" lIns="0" rIns="0" tIns="0" bIns="0" anchor="t">
            <a:spAutoFit/>
          </a:bodyPr>
          <a:lstStyle/>
          <a:p>
            <a:pPr algn="ctr"/>
            <a:r>
              <a:rPr sz="975" b="0">
                <a:solidFill>
                  <a:srgbClr val="36454F"/>
                </a:solidFill>
                <a:latin typeface="Calibri"/>
              </a:rPr>
              <a:t>Each handful gives a different red-count.</a:t>
            </a:r>
          </a:p>
          <a:p>
            <a:pPr algn="ctr"/>
            <a:r>
              <a:rPr sz="975" b="0">
                <a:solidFill>
                  <a:srgbClr val="36454F"/>
                </a:solidFill>
                <a:latin typeface="Calibri"/>
              </a:rPr>
              <a:t/>
            </a:r>
          </a:p>
          <a:p>
            <a:pPr algn="ctr"/>
            <a:r>
              <a:rPr sz="975" b="0">
                <a:solidFill>
                  <a:srgbClr val="36454F"/>
                </a:solidFill>
                <a:latin typeface="Calibri"/>
              </a:rPr>
              <a:t>12, 9, 14, 11, 13, 10, 15, 11, 12, 13...</a:t>
            </a:r>
          </a:p>
          <a:p>
            <a:pPr algn="ctr"/>
            <a:r>
              <a:rPr sz="975" b="0">
                <a:solidFill>
                  <a:srgbClr val="36454F"/>
                </a:solidFill>
                <a:latin typeface="Calibri"/>
              </a:rPr>
              <a:t/>
            </a:r>
          </a:p>
          <a:p>
            <a:pPr algn="ctr"/>
            <a:r>
              <a:rPr sz="975" b="0">
                <a:solidFill>
                  <a:srgbClr val="36454F"/>
                </a:solidFill>
                <a:latin typeface="Calibri"/>
              </a:rPr>
              <a:t>(Do this 1,000 times.)</a:t>
            </a:r>
          </a:p>
        </p:txBody>
      </p:sp>
      <p:sp>
        <p:nvSpPr>
          <p:cNvPr id="17" name="TextBox 16"/>
          <p:cNvSpPr txBox="1"/>
          <p:nvPr/>
        </p:nvSpPr>
        <p:spPr>
          <a:xfrm>
            <a:off x="6103620" y="2468880"/>
            <a:ext cx="274320" cy="274320"/>
          </a:xfrm>
          <a:prstGeom prst="rect">
            <a:avLst/>
          </a:prstGeom>
          <a:noFill/>
        </p:spPr>
        <p:txBody>
          <a:bodyPr wrap="square" lIns="0" rIns="0" tIns="0" bIns="0" anchor="t">
            <a:spAutoFit/>
          </a:bodyPr>
          <a:lstStyle/>
          <a:p>
            <a:pPr algn="l"/>
            <a:r>
              <a:rPr sz="3000" b="1">
                <a:solidFill>
                  <a:srgbClr val="065A82"/>
                </a:solidFill>
                <a:latin typeface="Trebuchet MS"/>
              </a:rPr>
              <a:t>→</a:t>
            </a:r>
          </a:p>
        </p:txBody>
      </p:sp>
      <p:sp>
        <p:nvSpPr>
          <p:cNvPr id="18" name="Rectangle 17"/>
          <p:cNvSpPr/>
          <p:nvPr/>
        </p:nvSpPr>
        <p:spPr>
          <a:xfrm>
            <a:off x="6309360" y="1371600"/>
            <a:ext cx="2743200" cy="24003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508760"/>
            <a:ext cx="2743200" cy="274320"/>
          </a:xfrm>
          <a:prstGeom prst="rect">
            <a:avLst/>
          </a:prstGeom>
          <a:noFill/>
        </p:spPr>
        <p:txBody>
          <a:bodyPr wrap="square" lIns="0" rIns="0" tIns="0" bIns="0" anchor="t">
            <a:spAutoFit/>
          </a:bodyPr>
          <a:lstStyle/>
          <a:p>
            <a:pPr algn="ctr"/>
            <a:r>
              <a:rPr sz="1050" b="1">
                <a:solidFill>
                  <a:srgbClr val="065A82"/>
                </a:solidFill>
                <a:latin typeface="Calibri"/>
              </a:rPr>
              <a:t>3. Plot the averages</a:t>
            </a:r>
          </a:p>
        </p:txBody>
      </p:sp>
      <p:sp>
        <p:nvSpPr>
          <p:cNvPr id="20" name="Rectangle 19"/>
          <p:cNvSpPr/>
          <p:nvPr/>
        </p:nvSpPr>
        <p:spPr>
          <a:xfrm>
            <a:off x="6446520" y="3360420"/>
            <a:ext cx="224388" cy="1371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93408" y="3223260"/>
            <a:ext cx="224388"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40296" y="2948940"/>
            <a:ext cx="224388" cy="5486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87184" y="2537460"/>
            <a:ext cx="224388" cy="9601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34072" y="2194560"/>
            <a:ext cx="224388" cy="13030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80960" y="2194560"/>
            <a:ext cx="224388" cy="13030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927848" y="2537460"/>
            <a:ext cx="224388" cy="9601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74736" y="2948940"/>
            <a:ext cx="224388" cy="5486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21624" y="3223260"/>
            <a:ext cx="224388"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68512" y="3360420"/>
            <a:ext cx="224388" cy="1371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3463290"/>
            <a:ext cx="2743200" cy="274320"/>
          </a:xfrm>
          <a:prstGeom prst="rect">
            <a:avLst/>
          </a:prstGeom>
          <a:noFill/>
        </p:spPr>
        <p:txBody>
          <a:bodyPr wrap="square" lIns="0" rIns="0" tIns="0" bIns="0" anchor="t">
            <a:spAutoFit/>
          </a:bodyPr>
          <a:lstStyle/>
          <a:p>
            <a:pPr algn="ctr"/>
            <a:r>
              <a:rPr sz="825" b="1">
                <a:solidFill>
                  <a:srgbClr val="065A82"/>
                </a:solidFill>
                <a:latin typeface="Calibri"/>
              </a:rPr>
              <a:t>Bell-shaped. Always.</a:t>
            </a:r>
          </a:p>
        </p:txBody>
      </p:sp>
      <p:sp>
        <p:nvSpPr>
          <p:cNvPr id="31" name="Rectangle 30"/>
          <p:cNvSpPr/>
          <p:nvPr/>
        </p:nvSpPr>
        <p:spPr>
          <a:xfrm>
            <a:off x="411480" y="4114800"/>
            <a:ext cx="8298180" cy="4800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220" y="4183380"/>
            <a:ext cx="7886700" cy="342900"/>
          </a:xfrm>
          <a:prstGeom prst="rect">
            <a:avLst/>
          </a:prstGeom>
          <a:noFill/>
        </p:spPr>
        <p:txBody>
          <a:bodyPr wrap="square" lIns="0" rIns="0" tIns="0" bIns="0" anchor="t">
            <a:spAutoFit/>
          </a:bodyPr>
          <a:lstStyle/>
          <a:p>
            <a:pPr algn="l"/>
            <a:r>
              <a:rPr sz="1050" b="1">
                <a:solidFill>
                  <a:srgbClr val="FFFFFF"/>
                </a:solidFill>
                <a:latin typeface="Calibri"/>
              </a:rPr>
              <a:t>Same logic for Sarah: each 'sample of 200 reviews' is like a handful of Skittles. The accuracy rates follow a bell curve.</a:t>
            </a:r>
          </a:p>
        </p:txBody>
      </p:sp>
      <p:pic>
        <p:nvPicPr>
          <p:cNvPr id="34" name="Picture 33"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CLT — Visual Proof in Three Panels</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One die · five dice · thirty dice</a:t>
            </a:r>
          </a:p>
        </p:txBody>
      </p:sp>
      <p:sp>
        <p:nvSpPr>
          <p:cNvPr id="5" name="Rectangle 4"/>
          <p:cNvSpPr/>
          <p:nvPr/>
        </p:nvSpPr>
        <p:spPr>
          <a:xfrm>
            <a:off x="342900" y="1303020"/>
            <a:ext cx="2743200" cy="27432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2900" y="1440180"/>
            <a:ext cx="2743200" cy="274320"/>
          </a:xfrm>
          <a:prstGeom prst="rect">
            <a:avLst/>
          </a:prstGeom>
          <a:noFill/>
        </p:spPr>
        <p:txBody>
          <a:bodyPr wrap="square" lIns="0" rIns="0" tIns="0" bIns="0" anchor="t">
            <a:spAutoFit/>
          </a:bodyPr>
          <a:lstStyle/>
          <a:p>
            <a:pPr algn="ctr"/>
            <a:r>
              <a:rPr sz="1050" b="1">
                <a:solidFill>
                  <a:srgbClr val="065A82"/>
                </a:solidFill>
                <a:latin typeface="Calibri"/>
              </a:rPr>
              <a:t>n = 1 die</a:t>
            </a:r>
          </a:p>
        </p:txBody>
      </p:sp>
      <p:sp>
        <p:nvSpPr>
          <p:cNvPr id="7" name="Rectangle 6"/>
          <p:cNvSpPr/>
          <p:nvPr/>
        </p:nvSpPr>
        <p:spPr>
          <a:xfrm>
            <a:off x="538842" y="2880360"/>
            <a:ext cx="369385"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30728" y="2880360"/>
            <a:ext cx="369385"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22613" y="2880360"/>
            <a:ext cx="369385"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14500" y="2880360"/>
            <a:ext cx="369385"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06385" y="2880360"/>
            <a:ext cx="369385"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98271" y="2880360"/>
            <a:ext cx="369385"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 y="3703320"/>
            <a:ext cx="2743200" cy="274320"/>
          </a:xfrm>
          <a:prstGeom prst="rect">
            <a:avLst/>
          </a:prstGeom>
          <a:noFill/>
        </p:spPr>
        <p:txBody>
          <a:bodyPr wrap="square" lIns="0" rIns="0" tIns="0" bIns="0" anchor="t">
            <a:spAutoFit/>
          </a:bodyPr>
          <a:lstStyle/>
          <a:p>
            <a:pPr algn="ctr"/>
            <a:r>
              <a:rPr sz="975" b="1">
                <a:solidFill>
                  <a:srgbClr val="36454F"/>
                </a:solidFill>
                <a:latin typeface="Calibri"/>
              </a:rPr>
              <a:t>Flat. Not normal.</a:t>
            </a:r>
          </a:p>
        </p:txBody>
      </p:sp>
      <p:sp>
        <p:nvSpPr>
          <p:cNvPr id="14" name="Rectangle 13"/>
          <p:cNvSpPr/>
          <p:nvPr/>
        </p:nvSpPr>
        <p:spPr>
          <a:xfrm>
            <a:off x="3271266" y="1303020"/>
            <a:ext cx="2743200" cy="27432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71266" y="1440180"/>
            <a:ext cx="2743200" cy="274320"/>
          </a:xfrm>
          <a:prstGeom prst="rect">
            <a:avLst/>
          </a:prstGeom>
          <a:noFill/>
        </p:spPr>
        <p:txBody>
          <a:bodyPr wrap="square" lIns="0" rIns="0" tIns="0" bIns="0" anchor="t">
            <a:spAutoFit/>
          </a:bodyPr>
          <a:lstStyle/>
          <a:p>
            <a:pPr algn="ctr"/>
            <a:r>
              <a:rPr sz="1050" b="1">
                <a:solidFill>
                  <a:srgbClr val="065A82"/>
                </a:solidFill>
                <a:latin typeface="Calibri"/>
              </a:rPr>
              <a:t>n = 5 dice (averaged)</a:t>
            </a:r>
          </a:p>
        </p:txBody>
      </p:sp>
      <p:sp>
        <p:nvSpPr>
          <p:cNvPr id="16" name="Rectangle 15"/>
          <p:cNvSpPr/>
          <p:nvPr/>
        </p:nvSpPr>
        <p:spPr>
          <a:xfrm>
            <a:off x="3467208" y="3291840"/>
            <a:ext cx="369385"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59094" y="2743200"/>
            <a:ext cx="369385" cy="8229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0979" y="2331720"/>
            <a:ext cx="369385" cy="12344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42866" y="2331720"/>
            <a:ext cx="369385" cy="12344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34751" y="2743200"/>
            <a:ext cx="369385" cy="8229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26637" y="3291840"/>
            <a:ext cx="369385"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71266" y="3703320"/>
            <a:ext cx="2743200" cy="274320"/>
          </a:xfrm>
          <a:prstGeom prst="rect">
            <a:avLst/>
          </a:prstGeom>
          <a:noFill/>
        </p:spPr>
        <p:txBody>
          <a:bodyPr wrap="square" lIns="0" rIns="0" tIns="0" bIns="0" anchor="t">
            <a:spAutoFit/>
          </a:bodyPr>
          <a:lstStyle/>
          <a:p>
            <a:pPr algn="ctr"/>
            <a:r>
              <a:rPr sz="975" b="1">
                <a:solidFill>
                  <a:srgbClr val="36454F"/>
                </a:solidFill>
                <a:latin typeface="Calibri"/>
              </a:rPr>
              <a:t>Starting to hump.</a:t>
            </a:r>
          </a:p>
        </p:txBody>
      </p:sp>
      <p:sp>
        <p:nvSpPr>
          <p:cNvPr id="23" name="Rectangle 22"/>
          <p:cNvSpPr/>
          <p:nvPr/>
        </p:nvSpPr>
        <p:spPr>
          <a:xfrm>
            <a:off x="6199631" y="1303020"/>
            <a:ext cx="2743200" cy="27432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9631" y="1440180"/>
            <a:ext cx="2743200" cy="274320"/>
          </a:xfrm>
          <a:prstGeom prst="rect">
            <a:avLst/>
          </a:prstGeom>
          <a:noFill/>
        </p:spPr>
        <p:txBody>
          <a:bodyPr wrap="square" lIns="0" rIns="0" tIns="0" bIns="0" anchor="t">
            <a:spAutoFit/>
          </a:bodyPr>
          <a:lstStyle/>
          <a:p>
            <a:pPr algn="ctr"/>
            <a:r>
              <a:rPr sz="1050" b="1">
                <a:solidFill>
                  <a:srgbClr val="065A82"/>
                </a:solidFill>
                <a:latin typeface="Calibri"/>
              </a:rPr>
              <a:t>n = 30 dice (averaged)</a:t>
            </a:r>
          </a:p>
        </p:txBody>
      </p:sp>
      <p:sp>
        <p:nvSpPr>
          <p:cNvPr id="25" name="Rectangle 24"/>
          <p:cNvSpPr/>
          <p:nvPr/>
        </p:nvSpPr>
        <p:spPr>
          <a:xfrm>
            <a:off x="6371081" y="3497580"/>
            <a:ext cx="320400" cy="685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713981" y="3291840"/>
            <a:ext cx="32040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56881" y="2743200"/>
            <a:ext cx="32040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99781" y="2194560"/>
            <a:ext cx="32040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42681" y="2743200"/>
            <a:ext cx="32040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85581" y="3291840"/>
            <a:ext cx="32040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428481" y="3497580"/>
            <a:ext cx="320400" cy="685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9631" y="3703320"/>
            <a:ext cx="2743200" cy="274320"/>
          </a:xfrm>
          <a:prstGeom prst="rect">
            <a:avLst/>
          </a:prstGeom>
          <a:noFill/>
        </p:spPr>
        <p:txBody>
          <a:bodyPr wrap="square" lIns="0" rIns="0" tIns="0" bIns="0" anchor="t">
            <a:spAutoFit/>
          </a:bodyPr>
          <a:lstStyle/>
          <a:p>
            <a:pPr algn="ctr"/>
            <a:r>
              <a:rPr sz="975" b="1">
                <a:solidFill>
                  <a:srgbClr val="065A82"/>
                </a:solidFill>
                <a:latin typeface="Calibri"/>
              </a:rPr>
              <a:t>Bell curve. CLT.</a:t>
            </a:r>
          </a:p>
        </p:txBody>
      </p:sp>
      <p:sp>
        <p:nvSpPr>
          <p:cNvPr id="33" name="Rectangle 32"/>
          <p:cNvSpPr/>
          <p:nvPr/>
        </p:nvSpPr>
        <p:spPr>
          <a:xfrm>
            <a:off x="411480" y="4183380"/>
            <a:ext cx="8298180" cy="4800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7220" y="4251960"/>
            <a:ext cx="7886700" cy="342900"/>
          </a:xfrm>
          <a:prstGeom prst="rect">
            <a:avLst/>
          </a:prstGeom>
          <a:noFill/>
        </p:spPr>
        <p:txBody>
          <a:bodyPr wrap="square" lIns="0" rIns="0" tIns="0" bIns="0" anchor="t">
            <a:spAutoFit/>
          </a:bodyPr>
          <a:lstStyle/>
          <a:p>
            <a:pPr algn="l"/>
            <a:r>
              <a:rPr sz="1050" b="1">
                <a:solidFill>
                  <a:srgbClr val="FFFFFF"/>
                </a:solidFill>
                <a:latin typeface="Calibri"/>
              </a:rPr>
              <a:t>As n grows, the distribution of averages narrows around the true mean — and the shape becomes bell-shaped.</a:t>
            </a:r>
          </a:p>
        </p:txBody>
      </p:sp>
      <p:pic>
        <p:nvPicPr>
          <p:cNvPr id="36" name="Picture 35"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Confidence Intervals</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The bracket around every accuracy number</a:t>
            </a:r>
          </a:p>
        </p:txBody>
      </p:sp>
      <p:sp>
        <p:nvSpPr>
          <p:cNvPr id="5" name="Rectangle 4"/>
          <p:cNvSpPr/>
          <p:nvPr/>
        </p:nvSpPr>
        <p:spPr>
          <a:xfrm>
            <a:off x="411480" y="1303020"/>
            <a:ext cx="8298180" cy="960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274320"/>
          </a:xfrm>
          <a:prstGeom prst="rect">
            <a:avLst/>
          </a:prstGeom>
          <a:noFill/>
        </p:spPr>
        <p:txBody>
          <a:bodyPr wrap="square" lIns="0" rIns="0" tIns="0" bIns="0" anchor="t">
            <a:spAutoFit/>
          </a:bodyPr>
          <a:lstStyle/>
          <a:p>
            <a:pPr algn="l"/>
            <a:r>
              <a:rPr sz="1050" b="0">
                <a:solidFill>
                  <a:srgbClr val="E8F1F5"/>
                </a:solidFill>
                <a:latin typeface="Calibri"/>
              </a:rPr>
              <a:t>Plain English</a:t>
            </a:r>
          </a:p>
        </p:txBody>
      </p:sp>
      <p:sp>
        <p:nvSpPr>
          <p:cNvPr id="7" name="TextBox 6"/>
          <p:cNvSpPr txBox="1"/>
          <p:nvPr/>
        </p:nvSpPr>
        <p:spPr>
          <a:xfrm>
            <a:off x="617220" y="1680210"/>
            <a:ext cx="7886700" cy="617220"/>
          </a:xfrm>
          <a:prstGeom prst="rect">
            <a:avLst/>
          </a:prstGeom>
          <a:noFill/>
        </p:spPr>
        <p:txBody>
          <a:bodyPr wrap="square" lIns="0" rIns="0" tIns="0" bIns="0" anchor="t">
            <a:spAutoFit/>
          </a:bodyPr>
          <a:lstStyle/>
          <a:p>
            <a:pPr algn="l"/>
            <a:r>
              <a:rPr sz="1200" b="0">
                <a:solidFill>
                  <a:srgbClr val="FFFFFF"/>
                </a:solidFill>
                <a:latin typeface="Trebuchet MS"/>
              </a:rPr>
              <a:t>"A 95% confidence interval is a range that captures the true value about 95% of the time, IF we were to repeat the experiment many times."</a:t>
            </a:r>
          </a:p>
        </p:txBody>
      </p:sp>
      <p:sp>
        <p:nvSpPr>
          <p:cNvPr id="8" name="Rectangle 7"/>
          <p:cNvSpPr/>
          <p:nvPr/>
        </p:nvSpPr>
        <p:spPr>
          <a:xfrm>
            <a:off x="411480" y="2468880"/>
            <a:ext cx="8298180" cy="10972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 y="2571750"/>
            <a:ext cx="7886700" cy="274320"/>
          </a:xfrm>
          <a:prstGeom prst="rect">
            <a:avLst/>
          </a:prstGeom>
          <a:noFill/>
        </p:spPr>
        <p:txBody>
          <a:bodyPr wrap="square" lIns="0" rIns="0" tIns="0" bIns="0" anchor="t">
            <a:spAutoFit/>
          </a:bodyPr>
          <a:lstStyle/>
          <a:p>
            <a:pPr algn="l"/>
            <a:r>
              <a:rPr sz="1050" b="1">
                <a:solidFill>
                  <a:srgbClr val="065A82"/>
                </a:solidFill>
                <a:latin typeface="Calibri"/>
              </a:rPr>
              <a:t>Formula for a proportion (like accuracy)</a:t>
            </a:r>
          </a:p>
        </p:txBody>
      </p:sp>
      <p:sp>
        <p:nvSpPr>
          <p:cNvPr id="10" name="TextBox 9"/>
          <p:cNvSpPr txBox="1"/>
          <p:nvPr/>
        </p:nvSpPr>
        <p:spPr>
          <a:xfrm>
            <a:off x="617220" y="2880360"/>
            <a:ext cx="7886700" cy="342900"/>
          </a:xfrm>
          <a:prstGeom prst="rect">
            <a:avLst/>
          </a:prstGeom>
          <a:noFill/>
        </p:spPr>
        <p:txBody>
          <a:bodyPr wrap="square" lIns="0" rIns="0" tIns="0" bIns="0" anchor="t">
            <a:spAutoFit/>
          </a:bodyPr>
          <a:lstStyle/>
          <a:p>
            <a:pPr algn="l"/>
            <a:r>
              <a:rPr sz="1350" b="1">
                <a:solidFill>
                  <a:srgbClr val="065A82"/>
                </a:solidFill>
                <a:latin typeface="Consolas"/>
              </a:rPr>
              <a:t>Lower  =  p̂  −  1.96  ×  √( p̂ (1 − p̂) / n )</a:t>
            </a:r>
          </a:p>
        </p:txBody>
      </p:sp>
      <p:sp>
        <p:nvSpPr>
          <p:cNvPr id="11" name="TextBox 10"/>
          <p:cNvSpPr txBox="1"/>
          <p:nvPr/>
        </p:nvSpPr>
        <p:spPr>
          <a:xfrm>
            <a:off x="617220" y="3223260"/>
            <a:ext cx="7886700" cy="342900"/>
          </a:xfrm>
          <a:prstGeom prst="rect">
            <a:avLst/>
          </a:prstGeom>
          <a:noFill/>
        </p:spPr>
        <p:txBody>
          <a:bodyPr wrap="square" lIns="0" rIns="0" tIns="0" bIns="0" anchor="t">
            <a:spAutoFit/>
          </a:bodyPr>
          <a:lstStyle/>
          <a:p>
            <a:pPr algn="l"/>
            <a:r>
              <a:rPr sz="1350" b="1">
                <a:solidFill>
                  <a:srgbClr val="065A82"/>
                </a:solidFill>
                <a:latin typeface="Consolas"/>
              </a:rPr>
              <a:t>Upper  =  p̂  +  1.96  ×  √( p̂ (1 − p̂) / n )</a:t>
            </a:r>
          </a:p>
        </p:txBody>
      </p:sp>
      <p:sp>
        <p:nvSpPr>
          <p:cNvPr id="12" name="Rectangle 11"/>
          <p:cNvSpPr/>
          <p:nvPr/>
        </p:nvSpPr>
        <p:spPr>
          <a:xfrm>
            <a:off x="411480" y="3771900"/>
            <a:ext cx="8298180" cy="8915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 y="3874770"/>
            <a:ext cx="7886700" cy="274320"/>
          </a:xfrm>
          <a:prstGeom prst="rect">
            <a:avLst/>
          </a:prstGeom>
          <a:noFill/>
        </p:spPr>
        <p:txBody>
          <a:bodyPr wrap="square" lIns="0" rIns="0" tIns="0" bIns="0" anchor="t">
            <a:spAutoFit/>
          </a:bodyPr>
          <a:lstStyle/>
          <a:p>
            <a:pPr algn="l"/>
            <a:r>
              <a:rPr sz="1050" b="1">
                <a:solidFill>
                  <a:srgbClr val="FFFFFF"/>
                </a:solidFill>
                <a:latin typeface="Calibri"/>
              </a:rPr>
              <a:t>Sarah's 84% from 200 reviews</a:t>
            </a:r>
          </a:p>
        </p:txBody>
      </p:sp>
      <p:sp>
        <p:nvSpPr>
          <p:cNvPr id="14" name="TextBox 13"/>
          <p:cNvSpPr txBox="1"/>
          <p:nvPr/>
        </p:nvSpPr>
        <p:spPr>
          <a:xfrm>
            <a:off x="617220" y="4149090"/>
            <a:ext cx="7886700" cy="480060"/>
          </a:xfrm>
          <a:prstGeom prst="rect">
            <a:avLst/>
          </a:prstGeom>
          <a:noFill/>
        </p:spPr>
        <p:txBody>
          <a:bodyPr wrap="square" lIns="0" rIns="0" tIns="0" bIns="0" anchor="t">
            <a:spAutoFit/>
          </a:bodyPr>
          <a:lstStyle/>
          <a:p>
            <a:pPr algn="l"/>
            <a:r>
              <a:rPr sz="1350" b="1">
                <a:solidFill>
                  <a:srgbClr val="F9E795"/>
                </a:solidFill>
                <a:latin typeface="Consolas"/>
              </a:rPr>
              <a:t>p̂ = 0.84,  n = 200  →  CI = [78.4%, 89.6%]</a:t>
            </a:r>
          </a:p>
        </p:txBody>
      </p:sp>
      <p:pic>
        <p:nvPicPr>
          <p:cNvPr id="16" name="Picture 15"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The CI Mis-reading</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The phrasing trap everyone falls into</a:t>
            </a:r>
          </a:p>
        </p:txBody>
      </p:sp>
      <p:sp>
        <p:nvSpPr>
          <p:cNvPr id="5" name="Rectangle 4"/>
          <p:cNvSpPr/>
          <p:nvPr/>
        </p:nvSpPr>
        <p:spPr>
          <a:xfrm>
            <a:off x="411480" y="1303020"/>
            <a:ext cx="8298180" cy="14401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05889"/>
            <a:ext cx="274320" cy="342900"/>
          </a:xfrm>
          <a:prstGeom prst="rect">
            <a:avLst/>
          </a:prstGeom>
          <a:noFill/>
        </p:spPr>
        <p:txBody>
          <a:bodyPr wrap="square" lIns="0" rIns="0" tIns="0" bIns="0" anchor="t">
            <a:spAutoFit/>
          </a:bodyPr>
          <a:lstStyle/>
          <a:p>
            <a:pPr algn="l"/>
            <a:r>
              <a:rPr sz="1800" b="0">
                <a:solidFill>
                  <a:srgbClr val="F96167"/>
                </a:solidFill>
                <a:latin typeface="Calibri"/>
              </a:rPr>
              <a:t>❌</a:t>
            </a:r>
          </a:p>
        </p:txBody>
      </p:sp>
      <p:sp>
        <p:nvSpPr>
          <p:cNvPr id="7" name="TextBox 6"/>
          <p:cNvSpPr txBox="1"/>
          <p:nvPr/>
        </p:nvSpPr>
        <p:spPr>
          <a:xfrm>
            <a:off x="925830" y="1405889"/>
            <a:ext cx="7749540" cy="342900"/>
          </a:xfrm>
          <a:prstGeom prst="rect">
            <a:avLst/>
          </a:prstGeom>
          <a:noFill/>
        </p:spPr>
        <p:txBody>
          <a:bodyPr wrap="square" lIns="0" rIns="0" tIns="0" bIns="0" anchor="t">
            <a:spAutoFit/>
          </a:bodyPr>
          <a:lstStyle/>
          <a:p>
            <a:pPr algn="l"/>
            <a:r>
              <a:rPr sz="1200" b="1">
                <a:solidFill>
                  <a:srgbClr val="F96167"/>
                </a:solidFill>
                <a:latin typeface="Calibri"/>
              </a:rPr>
              <a:t>Wrong (the everyday mis-reading)</a:t>
            </a:r>
          </a:p>
        </p:txBody>
      </p:sp>
      <p:sp>
        <p:nvSpPr>
          <p:cNvPr id="8" name="TextBox 7"/>
          <p:cNvSpPr txBox="1"/>
          <p:nvPr/>
        </p:nvSpPr>
        <p:spPr>
          <a:xfrm>
            <a:off x="925830" y="1783080"/>
            <a:ext cx="7749540" cy="891540"/>
          </a:xfrm>
          <a:prstGeom prst="rect">
            <a:avLst/>
          </a:prstGeom>
          <a:noFill/>
        </p:spPr>
        <p:txBody>
          <a:bodyPr wrap="square" lIns="0" rIns="0" tIns="0" bIns="0" anchor="t">
            <a:spAutoFit/>
          </a:bodyPr>
          <a:lstStyle/>
          <a:p>
            <a:pPr algn="l"/>
            <a:r>
              <a:rPr sz="975" b="0">
                <a:solidFill>
                  <a:srgbClr val="36454F"/>
                </a:solidFill>
                <a:latin typeface="Trebuchet MS"/>
              </a:rPr>
              <a:t>"There is a 95% probability that the true accuracy is between 78% and 89%."</a:t>
            </a:r>
          </a:p>
          <a:p>
            <a:pPr algn="l"/>
            <a:r>
              <a:rPr sz="975" b="0">
                <a:solidFill>
                  <a:srgbClr val="36454F"/>
                </a:solidFill>
                <a:latin typeface="Trebuchet MS"/>
              </a:rPr>
              <a:t/>
            </a:r>
          </a:p>
          <a:p>
            <a:pPr algn="l"/>
            <a:r>
              <a:rPr sz="975" b="0">
                <a:solidFill>
                  <a:srgbClr val="36454F"/>
                </a:solidFill>
                <a:latin typeface="Trebuchet MS"/>
              </a:rPr>
              <a:t>Why wrong: the true accuracy is a single fixed number. It doesn't have a probability of being in a range.</a:t>
            </a:r>
          </a:p>
        </p:txBody>
      </p:sp>
      <p:sp>
        <p:nvSpPr>
          <p:cNvPr id="9" name="Rectangle 8"/>
          <p:cNvSpPr/>
          <p:nvPr/>
        </p:nvSpPr>
        <p:spPr>
          <a:xfrm>
            <a:off x="411480" y="2880360"/>
            <a:ext cx="8298180" cy="1783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2930" y="2983229"/>
            <a:ext cx="274320" cy="342900"/>
          </a:xfrm>
          <a:prstGeom prst="rect">
            <a:avLst/>
          </a:prstGeom>
          <a:noFill/>
        </p:spPr>
        <p:txBody>
          <a:bodyPr wrap="square" lIns="0" rIns="0" tIns="0" bIns="0" anchor="t">
            <a:spAutoFit/>
          </a:bodyPr>
          <a:lstStyle/>
          <a:p>
            <a:pPr algn="l"/>
            <a:r>
              <a:rPr sz="1800" b="1">
                <a:solidFill>
                  <a:srgbClr val="F9E795"/>
                </a:solidFill>
                <a:latin typeface="Calibri"/>
              </a:rPr>
              <a:t>✓</a:t>
            </a:r>
          </a:p>
        </p:txBody>
      </p:sp>
      <p:sp>
        <p:nvSpPr>
          <p:cNvPr id="11" name="TextBox 10"/>
          <p:cNvSpPr txBox="1"/>
          <p:nvPr/>
        </p:nvSpPr>
        <p:spPr>
          <a:xfrm>
            <a:off x="925830" y="2983229"/>
            <a:ext cx="7749540" cy="342900"/>
          </a:xfrm>
          <a:prstGeom prst="rect">
            <a:avLst/>
          </a:prstGeom>
          <a:noFill/>
        </p:spPr>
        <p:txBody>
          <a:bodyPr wrap="square" lIns="0" rIns="0" tIns="0" bIns="0" anchor="t">
            <a:spAutoFit/>
          </a:bodyPr>
          <a:lstStyle/>
          <a:p>
            <a:pPr algn="l"/>
            <a:r>
              <a:rPr sz="1200" b="1">
                <a:solidFill>
                  <a:srgbClr val="F9E795"/>
                </a:solidFill>
                <a:latin typeface="Calibri"/>
              </a:rPr>
              <a:t>Right (the careful phrasing)</a:t>
            </a:r>
          </a:p>
        </p:txBody>
      </p:sp>
      <p:sp>
        <p:nvSpPr>
          <p:cNvPr id="12" name="TextBox 11"/>
          <p:cNvSpPr txBox="1"/>
          <p:nvPr/>
        </p:nvSpPr>
        <p:spPr>
          <a:xfrm>
            <a:off x="925830" y="3360420"/>
            <a:ext cx="7749540" cy="1234440"/>
          </a:xfrm>
          <a:prstGeom prst="rect">
            <a:avLst/>
          </a:prstGeom>
          <a:noFill/>
        </p:spPr>
        <p:txBody>
          <a:bodyPr wrap="square" lIns="0" rIns="0" tIns="0" bIns="0" anchor="t">
            <a:spAutoFit/>
          </a:bodyPr>
          <a:lstStyle/>
          <a:p>
            <a:pPr algn="l"/>
            <a:r>
              <a:rPr sz="900" b="0">
                <a:solidFill>
                  <a:srgbClr val="FFFFFF"/>
                </a:solidFill>
                <a:latin typeface="Trebuchet MS"/>
              </a:rPr>
              <a:t>"If we were to repeat this 200-review labelling exercise many times, about 95% of the confidence intervals we'd compute would contain the true accuracy."</a:t>
            </a:r>
          </a:p>
          <a:p>
            <a:pPr algn="l"/>
            <a:r>
              <a:rPr sz="900" b="0">
                <a:solidFill>
                  <a:srgbClr val="FFFFFF"/>
                </a:solidFill>
                <a:latin typeface="Trebuchet MS"/>
              </a:rPr>
              <a:t/>
            </a:r>
          </a:p>
          <a:p>
            <a:pPr algn="l"/>
            <a:r>
              <a:rPr sz="900" b="0">
                <a:solidFill>
                  <a:srgbClr val="FFFFFF"/>
                </a:solidFill>
                <a:latin typeface="Trebuchet MS"/>
              </a:rPr>
              <a:t>What has the 95% property: the METHOD. Not this specific interval.</a:t>
            </a:r>
          </a:p>
          <a:p>
            <a:pPr algn="l"/>
            <a:r>
              <a:rPr sz="900" b="0">
                <a:solidFill>
                  <a:srgbClr val="FFFFFF"/>
                </a:solidFill>
                <a:latin typeface="Trebuchet MS"/>
              </a:rPr>
              <a:t/>
            </a:r>
          </a:p>
          <a:p>
            <a:pPr algn="l"/>
            <a:r>
              <a:rPr sz="900" b="0">
                <a:solidFill>
                  <a:srgbClr val="FFFFFF"/>
                </a:solidFill>
                <a:latin typeface="Trebuchet MS"/>
              </a:rPr>
              <a:t>In practice, you can say: "We're 95% confident the accuracy is between 78% and 89%" — as a shorthand. Just know what it really means.</a:t>
            </a:r>
          </a:p>
        </p:txBody>
      </p:sp>
      <p:pic>
        <p:nvPicPr>
          <p:cNvPr id="14" name="Picture 13"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21C39A"/>
                </a:solidFill>
                <a:latin typeface="Calibri"/>
              </a:rPr>
              <a:t>🟢  CODE-ALONG</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550" b="1">
                <a:solidFill>
                  <a:srgbClr val="FFFFFF"/>
                </a:solidFill>
                <a:latin typeface="Consolas"/>
              </a:rPr>
              <a:t>Open: 03_confidence_intervals.ipynb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What you'll do</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1.  Run Sarah's 200-review experiment 1,000 times — watch the CLT emerge.</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2.  Compute the 95% CI for her 84% accuracy from first principles.</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3.  See how sample size affects the width — the 'square root rule'.</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30 minutes  ·  Stop at the 🟡 Extension marker  ·  Extension is self-paced after class</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Thursday — Aisha's Apology Coupon Idea</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Will it reduce complaints — or is it expensive noise?</a:t>
            </a:r>
          </a:p>
        </p:txBody>
      </p:sp>
      <p:sp>
        <p:nvSpPr>
          <p:cNvPr id="5" name="Rectangle 4"/>
          <p:cNvSpPr/>
          <p:nvPr/>
        </p:nvSpPr>
        <p:spPr>
          <a:xfrm>
            <a:off x="411480" y="1303020"/>
            <a:ext cx="205740" cy="9601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7220" y="1303020"/>
            <a:ext cx="8092440" cy="9601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8670" y="1405890"/>
            <a:ext cx="7749540" cy="274320"/>
          </a:xfrm>
          <a:prstGeom prst="rect">
            <a:avLst/>
          </a:prstGeom>
          <a:noFill/>
        </p:spPr>
        <p:txBody>
          <a:bodyPr wrap="square" lIns="0" rIns="0" tIns="0" bIns="0" anchor="t">
            <a:spAutoFit/>
          </a:bodyPr>
          <a:lstStyle/>
          <a:p>
            <a:pPr algn="l"/>
            <a:r>
              <a:rPr sz="1125" b="1">
                <a:solidFill>
                  <a:srgbClr val="1C7293"/>
                </a:solidFill>
                <a:latin typeface="Calibri"/>
              </a:rPr>
              <a:t>Aisha · Customer Service</a:t>
            </a:r>
          </a:p>
        </p:txBody>
      </p:sp>
      <p:sp>
        <p:nvSpPr>
          <p:cNvPr id="8" name="TextBox 7"/>
          <p:cNvSpPr txBox="1"/>
          <p:nvPr/>
        </p:nvSpPr>
        <p:spPr>
          <a:xfrm>
            <a:off x="788670" y="1680210"/>
            <a:ext cx="7749540" cy="274320"/>
          </a:xfrm>
          <a:prstGeom prst="rect">
            <a:avLst/>
          </a:prstGeom>
          <a:noFill/>
        </p:spPr>
        <p:txBody>
          <a:bodyPr wrap="square" lIns="0" rIns="0" tIns="0" bIns="0" anchor="t">
            <a:spAutoFit/>
          </a:bodyPr>
          <a:lstStyle/>
          <a:p>
            <a:pPr algn="l"/>
            <a:r>
              <a:rPr sz="975" b="0">
                <a:solidFill>
                  <a:srgbClr val="36454F"/>
                </a:solidFill>
                <a:latin typeface="Calibri"/>
              </a:rPr>
              <a:t>Send a 10% apology coupon to every NEGATIVE-tagged customer.</a:t>
            </a:r>
          </a:p>
        </p:txBody>
      </p:sp>
      <p:sp>
        <p:nvSpPr>
          <p:cNvPr id="9" name="TextBox 8"/>
          <p:cNvSpPr txBox="1"/>
          <p:nvPr/>
        </p:nvSpPr>
        <p:spPr>
          <a:xfrm>
            <a:off x="788670" y="1954530"/>
            <a:ext cx="7749540" cy="274320"/>
          </a:xfrm>
          <a:prstGeom prst="rect">
            <a:avLst/>
          </a:prstGeom>
          <a:noFill/>
        </p:spPr>
        <p:txBody>
          <a:bodyPr wrap="square" lIns="0" rIns="0" tIns="0" bIns="0" anchor="t">
            <a:spAutoFit/>
          </a:bodyPr>
          <a:lstStyle/>
          <a:p>
            <a:pPr algn="l"/>
            <a:r>
              <a:rPr sz="900" b="0">
                <a:solidFill>
                  <a:srgbClr val="065A82"/>
                </a:solidFill>
                <a:latin typeface="Calibri"/>
              </a:rPr>
              <a:t>She believes it'll turn some unhappy customers around.</a:t>
            </a:r>
          </a:p>
        </p:txBody>
      </p:sp>
      <p:sp>
        <p:nvSpPr>
          <p:cNvPr id="10" name="Rectangle 9"/>
          <p:cNvSpPr/>
          <p:nvPr/>
        </p:nvSpPr>
        <p:spPr>
          <a:xfrm>
            <a:off x="411480" y="2366010"/>
            <a:ext cx="205740" cy="9601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 y="2366010"/>
            <a:ext cx="8092440" cy="9601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8670" y="2468880"/>
            <a:ext cx="7749540" cy="274320"/>
          </a:xfrm>
          <a:prstGeom prst="rect">
            <a:avLst/>
          </a:prstGeom>
          <a:noFill/>
        </p:spPr>
        <p:txBody>
          <a:bodyPr wrap="square" lIns="0" rIns="0" tIns="0" bIns="0" anchor="t">
            <a:spAutoFit/>
          </a:bodyPr>
          <a:lstStyle/>
          <a:p>
            <a:pPr algn="l"/>
            <a:r>
              <a:rPr sz="1125" b="1">
                <a:solidFill>
                  <a:srgbClr val="F96167"/>
                </a:solidFill>
                <a:latin typeface="Calibri"/>
              </a:rPr>
              <a:t>Marcus · CTO</a:t>
            </a:r>
          </a:p>
        </p:txBody>
      </p:sp>
      <p:sp>
        <p:nvSpPr>
          <p:cNvPr id="13" name="TextBox 12"/>
          <p:cNvSpPr txBox="1"/>
          <p:nvPr/>
        </p:nvSpPr>
        <p:spPr>
          <a:xfrm>
            <a:off x="788670" y="2743200"/>
            <a:ext cx="7749540" cy="274320"/>
          </a:xfrm>
          <a:prstGeom prst="rect">
            <a:avLst/>
          </a:prstGeom>
          <a:noFill/>
        </p:spPr>
        <p:txBody>
          <a:bodyPr wrap="square" lIns="0" rIns="0" tIns="0" bIns="0" anchor="t">
            <a:spAutoFit/>
          </a:bodyPr>
          <a:lstStyle/>
          <a:p>
            <a:pPr algn="l"/>
            <a:r>
              <a:rPr sz="975" b="0">
                <a:solidFill>
                  <a:srgbClr val="36454F"/>
                </a:solidFill>
                <a:latin typeface="Calibri"/>
              </a:rPr>
              <a:t>Thousands of pounds a week + engineering work to wire the trigger.</a:t>
            </a:r>
          </a:p>
        </p:txBody>
      </p:sp>
      <p:sp>
        <p:nvSpPr>
          <p:cNvPr id="14" name="TextBox 13"/>
          <p:cNvSpPr txBox="1"/>
          <p:nvPr/>
        </p:nvSpPr>
        <p:spPr>
          <a:xfrm>
            <a:off x="788670" y="3017520"/>
            <a:ext cx="7749540" cy="274320"/>
          </a:xfrm>
          <a:prstGeom prst="rect">
            <a:avLst/>
          </a:prstGeom>
          <a:noFill/>
        </p:spPr>
        <p:txBody>
          <a:bodyPr wrap="square" lIns="0" rIns="0" tIns="0" bIns="0" anchor="t">
            <a:spAutoFit/>
          </a:bodyPr>
          <a:lstStyle/>
          <a:p>
            <a:pPr algn="l"/>
            <a:r>
              <a:rPr sz="900" b="0">
                <a:solidFill>
                  <a:srgbClr val="065A82"/>
                </a:solidFill>
                <a:latin typeface="Calibri"/>
              </a:rPr>
              <a:t>He wants evidence before signing off.</a:t>
            </a:r>
          </a:p>
        </p:txBody>
      </p:sp>
      <p:sp>
        <p:nvSpPr>
          <p:cNvPr id="15" name="Rectangle 14"/>
          <p:cNvSpPr/>
          <p:nvPr/>
        </p:nvSpPr>
        <p:spPr>
          <a:xfrm>
            <a:off x="411480" y="3429000"/>
            <a:ext cx="205740" cy="960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 y="3429000"/>
            <a:ext cx="8092440" cy="9601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670" y="3531870"/>
            <a:ext cx="7749540" cy="274320"/>
          </a:xfrm>
          <a:prstGeom prst="rect">
            <a:avLst/>
          </a:prstGeom>
          <a:noFill/>
        </p:spPr>
        <p:txBody>
          <a:bodyPr wrap="square" lIns="0" rIns="0" tIns="0" bIns="0" anchor="t">
            <a:spAutoFit/>
          </a:bodyPr>
          <a:lstStyle/>
          <a:p>
            <a:pPr algn="l"/>
            <a:r>
              <a:rPr sz="1125" b="1">
                <a:solidFill>
                  <a:srgbClr val="065A82"/>
                </a:solidFill>
                <a:latin typeface="Calibri"/>
              </a:rPr>
              <a:t>Sarah · Data Analyst</a:t>
            </a:r>
          </a:p>
        </p:txBody>
      </p:sp>
      <p:sp>
        <p:nvSpPr>
          <p:cNvPr id="18" name="TextBox 17"/>
          <p:cNvSpPr txBox="1"/>
          <p:nvPr/>
        </p:nvSpPr>
        <p:spPr>
          <a:xfrm>
            <a:off x="788670" y="3806190"/>
            <a:ext cx="7749540" cy="274320"/>
          </a:xfrm>
          <a:prstGeom prst="rect">
            <a:avLst/>
          </a:prstGeom>
          <a:noFill/>
        </p:spPr>
        <p:txBody>
          <a:bodyPr wrap="square" lIns="0" rIns="0" tIns="0" bIns="0" anchor="t">
            <a:spAutoFit/>
          </a:bodyPr>
          <a:lstStyle/>
          <a:p>
            <a:pPr algn="l"/>
            <a:r>
              <a:rPr sz="975" b="0">
                <a:solidFill>
                  <a:srgbClr val="36454F"/>
                </a:solidFill>
                <a:latin typeface="Calibri"/>
              </a:rPr>
              <a:t>Test it properly. Define the hypothesis. Run an A/B test. Compute a p-value.</a:t>
            </a:r>
          </a:p>
        </p:txBody>
      </p:sp>
      <p:sp>
        <p:nvSpPr>
          <p:cNvPr id="19" name="TextBox 18"/>
          <p:cNvSpPr txBox="1"/>
          <p:nvPr/>
        </p:nvSpPr>
        <p:spPr>
          <a:xfrm>
            <a:off x="788670" y="4080510"/>
            <a:ext cx="7749540" cy="274320"/>
          </a:xfrm>
          <a:prstGeom prst="rect">
            <a:avLst/>
          </a:prstGeom>
          <a:noFill/>
        </p:spPr>
        <p:txBody>
          <a:bodyPr wrap="square" lIns="0" rIns="0" tIns="0" bIns="0" anchor="t">
            <a:spAutoFit/>
          </a:bodyPr>
          <a:lstStyle/>
          <a:p>
            <a:pPr algn="l"/>
            <a:r>
              <a:rPr sz="900" b="0">
                <a:solidFill>
                  <a:srgbClr val="065A82"/>
                </a:solidFill>
                <a:latin typeface="Calibri"/>
              </a:rPr>
              <a:t>Her L02 toolkit makes her the right person to answer.</a:t>
            </a:r>
          </a:p>
        </p:txBody>
      </p:sp>
      <p:pic>
        <p:nvPicPr>
          <p:cNvPr id="21" name="Picture 2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Framing the Test — Before Any Code</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Four things to write down</a:t>
            </a:r>
          </a:p>
        </p:txBody>
      </p:sp>
      <p:sp>
        <p:nvSpPr>
          <p:cNvPr id="5" name="Rectangle 4"/>
          <p:cNvSpPr/>
          <p:nvPr/>
        </p:nvSpPr>
        <p:spPr>
          <a:xfrm>
            <a:off x="411480" y="1268730"/>
            <a:ext cx="2743200" cy="65151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74470"/>
            <a:ext cx="2537460" cy="342900"/>
          </a:xfrm>
          <a:prstGeom prst="rect">
            <a:avLst/>
          </a:prstGeom>
          <a:noFill/>
        </p:spPr>
        <p:txBody>
          <a:bodyPr wrap="square" lIns="0" rIns="0" tIns="0" bIns="0" anchor="t">
            <a:spAutoFit/>
          </a:bodyPr>
          <a:lstStyle/>
          <a:p>
            <a:pPr algn="l"/>
            <a:r>
              <a:rPr sz="1125" b="1">
                <a:solidFill>
                  <a:srgbClr val="E8F1F5"/>
                </a:solidFill>
                <a:latin typeface="Calibri"/>
              </a:rPr>
              <a:t>Null hypothesis (H₀)</a:t>
            </a:r>
          </a:p>
        </p:txBody>
      </p:sp>
      <p:sp>
        <p:nvSpPr>
          <p:cNvPr id="7" name="Rectangle 6"/>
          <p:cNvSpPr/>
          <p:nvPr/>
        </p:nvSpPr>
        <p:spPr>
          <a:xfrm>
            <a:off x="3188970" y="1268730"/>
            <a:ext cx="5520690" cy="6515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60420" y="1474470"/>
            <a:ext cx="5280660" cy="342900"/>
          </a:xfrm>
          <a:prstGeom prst="rect">
            <a:avLst/>
          </a:prstGeom>
          <a:noFill/>
        </p:spPr>
        <p:txBody>
          <a:bodyPr wrap="square" lIns="0" rIns="0" tIns="0" bIns="0" anchor="t">
            <a:spAutoFit/>
          </a:bodyPr>
          <a:lstStyle/>
          <a:p>
            <a:pPr algn="l"/>
            <a:r>
              <a:rPr sz="975" b="0">
                <a:solidFill>
                  <a:srgbClr val="36454F"/>
                </a:solidFill>
                <a:latin typeface="Calibri"/>
              </a:rPr>
              <a:t>Coupon has NO effect on 30-day complaint rate.</a:t>
            </a:r>
          </a:p>
        </p:txBody>
      </p:sp>
      <p:sp>
        <p:nvSpPr>
          <p:cNvPr id="9" name="Rectangle 8"/>
          <p:cNvSpPr/>
          <p:nvPr/>
        </p:nvSpPr>
        <p:spPr>
          <a:xfrm>
            <a:off x="411480" y="1988820"/>
            <a:ext cx="2743200" cy="65151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2930" y="2194560"/>
            <a:ext cx="2537460" cy="342900"/>
          </a:xfrm>
          <a:prstGeom prst="rect">
            <a:avLst/>
          </a:prstGeom>
          <a:noFill/>
        </p:spPr>
        <p:txBody>
          <a:bodyPr wrap="square" lIns="0" rIns="0" tIns="0" bIns="0" anchor="t">
            <a:spAutoFit/>
          </a:bodyPr>
          <a:lstStyle/>
          <a:p>
            <a:pPr algn="l"/>
            <a:r>
              <a:rPr sz="1125" b="1">
                <a:solidFill>
                  <a:srgbClr val="E8F1F5"/>
                </a:solidFill>
                <a:latin typeface="Calibri"/>
              </a:rPr>
              <a:t>Alternative hypothesis (H₁)</a:t>
            </a:r>
          </a:p>
        </p:txBody>
      </p:sp>
      <p:sp>
        <p:nvSpPr>
          <p:cNvPr id="11" name="Rectangle 10"/>
          <p:cNvSpPr/>
          <p:nvPr/>
        </p:nvSpPr>
        <p:spPr>
          <a:xfrm>
            <a:off x="3188970" y="1988820"/>
            <a:ext cx="5520690" cy="6515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0420" y="2194560"/>
            <a:ext cx="5280660" cy="342900"/>
          </a:xfrm>
          <a:prstGeom prst="rect">
            <a:avLst/>
          </a:prstGeom>
          <a:noFill/>
        </p:spPr>
        <p:txBody>
          <a:bodyPr wrap="square" lIns="0" rIns="0" tIns="0" bIns="0" anchor="t">
            <a:spAutoFit/>
          </a:bodyPr>
          <a:lstStyle/>
          <a:p>
            <a:pPr algn="l"/>
            <a:r>
              <a:rPr sz="975" b="0">
                <a:solidFill>
                  <a:srgbClr val="36454F"/>
                </a:solidFill>
                <a:latin typeface="Calibri"/>
              </a:rPr>
              <a:t>Coupon REDUCES 30-day complaint rate.</a:t>
            </a:r>
          </a:p>
        </p:txBody>
      </p:sp>
      <p:sp>
        <p:nvSpPr>
          <p:cNvPr id="13" name="Rectangle 12"/>
          <p:cNvSpPr/>
          <p:nvPr/>
        </p:nvSpPr>
        <p:spPr>
          <a:xfrm>
            <a:off x="411480" y="2708910"/>
            <a:ext cx="2743200" cy="65151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2930" y="2914650"/>
            <a:ext cx="2537460" cy="342900"/>
          </a:xfrm>
          <a:prstGeom prst="rect">
            <a:avLst/>
          </a:prstGeom>
          <a:noFill/>
        </p:spPr>
        <p:txBody>
          <a:bodyPr wrap="square" lIns="0" rIns="0" tIns="0" bIns="0" anchor="t">
            <a:spAutoFit/>
          </a:bodyPr>
          <a:lstStyle/>
          <a:p>
            <a:pPr algn="l"/>
            <a:r>
              <a:rPr sz="1125" b="1">
                <a:solidFill>
                  <a:srgbClr val="E8F1F5"/>
                </a:solidFill>
                <a:latin typeface="Calibri"/>
              </a:rPr>
              <a:t>Outcome metric</a:t>
            </a:r>
          </a:p>
        </p:txBody>
      </p:sp>
      <p:sp>
        <p:nvSpPr>
          <p:cNvPr id="15" name="Rectangle 14"/>
          <p:cNvSpPr/>
          <p:nvPr/>
        </p:nvSpPr>
        <p:spPr>
          <a:xfrm>
            <a:off x="3188970" y="2708910"/>
            <a:ext cx="5520690" cy="6515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60420" y="2914650"/>
            <a:ext cx="5280660" cy="342900"/>
          </a:xfrm>
          <a:prstGeom prst="rect">
            <a:avLst/>
          </a:prstGeom>
          <a:noFill/>
        </p:spPr>
        <p:txBody>
          <a:bodyPr wrap="square" lIns="0" rIns="0" tIns="0" bIns="0" anchor="t">
            <a:spAutoFit/>
          </a:bodyPr>
          <a:lstStyle/>
          <a:p>
            <a:pPr algn="l"/>
            <a:r>
              <a:rPr sz="975" b="0">
                <a:solidFill>
                  <a:srgbClr val="36454F"/>
                </a:solidFill>
                <a:latin typeface="Calibri"/>
              </a:rPr>
              <a:t>30-day complaint rate (leading indicator of churn — available in 30 days vs 90+).</a:t>
            </a:r>
          </a:p>
        </p:txBody>
      </p:sp>
      <p:sp>
        <p:nvSpPr>
          <p:cNvPr id="17" name="Rectangle 16"/>
          <p:cNvSpPr/>
          <p:nvPr/>
        </p:nvSpPr>
        <p:spPr>
          <a:xfrm>
            <a:off x="411480" y="3429000"/>
            <a:ext cx="2743200" cy="65151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2930" y="3634740"/>
            <a:ext cx="2537460" cy="342900"/>
          </a:xfrm>
          <a:prstGeom prst="rect">
            <a:avLst/>
          </a:prstGeom>
          <a:noFill/>
        </p:spPr>
        <p:txBody>
          <a:bodyPr wrap="square" lIns="0" rIns="0" tIns="0" bIns="0" anchor="t">
            <a:spAutoFit/>
          </a:bodyPr>
          <a:lstStyle/>
          <a:p>
            <a:pPr algn="l"/>
            <a:r>
              <a:rPr sz="1125" b="1">
                <a:solidFill>
                  <a:srgbClr val="E8F1F5"/>
                </a:solidFill>
                <a:latin typeface="Calibri"/>
              </a:rPr>
              <a:t>Two groups</a:t>
            </a:r>
          </a:p>
        </p:txBody>
      </p:sp>
      <p:sp>
        <p:nvSpPr>
          <p:cNvPr id="19" name="Rectangle 18"/>
          <p:cNvSpPr/>
          <p:nvPr/>
        </p:nvSpPr>
        <p:spPr>
          <a:xfrm>
            <a:off x="3188970" y="3429000"/>
            <a:ext cx="5520690" cy="6515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60420" y="3634740"/>
            <a:ext cx="5280660" cy="342900"/>
          </a:xfrm>
          <a:prstGeom prst="rect">
            <a:avLst/>
          </a:prstGeom>
          <a:noFill/>
        </p:spPr>
        <p:txBody>
          <a:bodyPr wrap="square" lIns="0" rIns="0" tIns="0" bIns="0" anchor="t">
            <a:spAutoFit/>
          </a:bodyPr>
          <a:lstStyle/>
          <a:p>
            <a:pPr algn="l"/>
            <a:r>
              <a:rPr sz="975" b="0">
                <a:solidFill>
                  <a:srgbClr val="36454F"/>
                </a:solidFill>
                <a:latin typeface="Calibri"/>
              </a:rPr>
              <a:t>Control: NEGATIVE-tagged customers, no coupon.  Treatment: same, but receive the coupon.</a:t>
            </a:r>
          </a:p>
        </p:txBody>
      </p:sp>
      <p:pic>
        <p:nvPicPr>
          <p:cNvPr id="23" name="Picture 22"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The P-value</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The probability that the data is just noise</a:t>
            </a:r>
          </a:p>
        </p:txBody>
      </p:sp>
      <p:sp>
        <p:nvSpPr>
          <p:cNvPr id="5" name="Rectangle 4"/>
          <p:cNvSpPr/>
          <p:nvPr/>
        </p:nvSpPr>
        <p:spPr>
          <a:xfrm>
            <a:off x="411480" y="1303020"/>
            <a:ext cx="8298180" cy="1028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274320"/>
          </a:xfrm>
          <a:prstGeom prst="rect">
            <a:avLst/>
          </a:prstGeom>
          <a:noFill/>
        </p:spPr>
        <p:txBody>
          <a:bodyPr wrap="square" lIns="0" rIns="0" tIns="0" bIns="0" anchor="t">
            <a:spAutoFit/>
          </a:bodyPr>
          <a:lstStyle/>
          <a:p>
            <a:pPr algn="l"/>
            <a:r>
              <a:rPr sz="1050" b="0">
                <a:solidFill>
                  <a:srgbClr val="E8F1F5"/>
                </a:solidFill>
                <a:latin typeface="Calibri"/>
              </a:rPr>
              <a:t>Plain English</a:t>
            </a:r>
          </a:p>
        </p:txBody>
      </p:sp>
      <p:sp>
        <p:nvSpPr>
          <p:cNvPr id="7" name="TextBox 6"/>
          <p:cNvSpPr txBox="1"/>
          <p:nvPr/>
        </p:nvSpPr>
        <p:spPr>
          <a:xfrm>
            <a:off x="617220" y="1680210"/>
            <a:ext cx="7886700" cy="617220"/>
          </a:xfrm>
          <a:prstGeom prst="rect">
            <a:avLst/>
          </a:prstGeom>
          <a:noFill/>
        </p:spPr>
        <p:txBody>
          <a:bodyPr wrap="square" lIns="0" rIns="0" tIns="0" bIns="0" anchor="t">
            <a:spAutoFit/>
          </a:bodyPr>
          <a:lstStyle/>
          <a:p>
            <a:pPr algn="l"/>
            <a:r>
              <a:rPr sz="1125" b="0">
                <a:solidFill>
                  <a:srgbClr val="FFFFFF"/>
                </a:solidFill>
                <a:latin typeface="Trebuchet MS"/>
              </a:rPr>
              <a:t>"P = P(data this extreme | null hypothesis is true). If p is small, the data would be unlikely under H₀, so we reject H₀."</a:t>
            </a:r>
          </a:p>
        </p:txBody>
      </p:sp>
      <p:sp>
        <p:nvSpPr>
          <p:cNvPr id="8" name="TextBox 7"/>
          <p:cNvSpPr txBox="1"/>
          <p:nvPr/>
        </p:nvSpPr>
        <p:spPr>
          <a:xfrm>
            <a:off x="411480" y="2537460"/>
            <a:ext cx="8298180" cy="342900"/>
          </a:xfrm>
          <a:prstGeom prst="rect">
            <a:avLst/>
          </a:prstGeom>
          <a:noFill/>
        </p:spPr>
        <p:txBody>
          <a:bodyPr wrap="square" lIns="0" rIns="0" tIns="0" bIns="0" anchor="t">
            <a:spAutoFit/>
          </a:bodyPr>
          <a:lstStyle/>
          <a:p>
            <a:pPr algn="l"/>
            <a:r>
              <a:rPr sz="1125" b="1">
                <a:solidFill>
                  <a:srgbClr val="1C7293"/>
                </a:solidFill>
                <a:latin typeface="Calibri"/>
              </a:rPr>
              <a:t>Standard decision rule (α = 0.05):</a:t>
            </a:r>
          </a:p>
        </p:txBody>
      </p:sp>
      <p:sp>
        <p:nvSpPr>
          <p:cNvPr id="9" name="Rectangle 8"/>
          <p:cNvSpPr/>
          <p:nvPr/>
        </p:nvSpPr>
        <p:spPr>
          <a:xfrm>
            <a:off x="411480" y="2948940"/>
            <a:ext cx="4080510" cy="16459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2930" y="3086100"/>
            <a:ext cx="3771900" cy="342900"/>
          </a:xfrm>
          <a:prstGeom prst="rect">
            <a:avLst/>
          </a:prstGeom>
          <a:noFill/>
        </p:spPr>
        <p:txBody>
          <a:bodyPr wrap="square" lIns="0" rIns="0" tIns="0" bIns="0" anchor="t">
            <a:spAutoFit/>
          </a:bodyPr>
          <a:lstStyle/>
          <a:p>
            <a:pPr algn="l"/>
            <a:r>
              <a:rPr sz="1650" b="1">
                <a:solidFill>
                  <a:srgbClr val="FFFFFF"/>
                </a:solidFill>
                <a:latin typeface="Consolas"/>
              </a:rPr>
              <a:t>p  &lt;  0.05</a:t>
            </a:r>
          </a:p>
        </p:txBody>
      </p:sp>
      <p:sp>
        <p:nvSpPr>
          <p:cNvPr id="11" name="TextBox 10"/>
          <p:cNvSpPr txBox="1"/>
          <p:nvPr/>
        </p:nvSpPr>
        <p:spPr>
          <a:xfrm>
            <a:off x="582930" y="3497580"/>
            <a:ext cx="3771900" cy="1028700"/>
          </a:xfrm>
          <a:prstGeom prst="rect">
            <a:avLst/>
          </a:prstGeom>
          <a:noFill/>
        </p:spPr>
        <p:txBody>
          <a:bodyPr wrap="square" lIns="0" rIns="0" tIns="0" bIns="0" anchor="t">
            <a:spAutoFit/>
          </a:bodyPr>
          <a:lstStyle/>
          <a:p>
            <a:pPr algn="l"/>
            <a:r>
              <a:rPr sz="975" b="0">
                <a:solidFill>
                  <a:srgbClr val="E8F1F5"/>
                </a:solidFill>
                <a:latin typeface="Calibri"/>
              </a:rPr>
              <a:t>Reject the null hypothesis.</a:t>
            </a:r>
          </a:p>
          <a:p>
            <a:pPr algn="l"/>
            <a:r>
              <a:rPr sz="975" b="0">
                <a:solidFill>
                  <a:srgbClr val="E8F1F5"/>
                </a:solidFill>
                <a:latin typeface="Calibri"/>
              </a:rPr>
              <a:t/>
            </a:r>
          </a:p>
          <a:p>
            <a:pPr algn="l"/>
            <a:r>
              <a:rPr sz="975" b="0">
                <a:solidFill>
                  <a:srgbClr val="E8F1F5"/>
                </a:solidFill>
                <a:latin typeface="Calibri"/>
              </a:rPr>
              <a:t>The observed difference is unlikely under H₀.</a:t>
            </a:r>
          </a:p>
          <a:p>
            <a:pPr algn="l"/>
            <a:r>
              <a:rPr sz="975" b="0">
                <a:solidFill>
                  <a:srgbClr val="E8F1F5"/>
                </a:solidFill>
                <a:latin typeface="Calibri"/>
              </a:rPr>
              <a:t>There's evidence of a real effect.</a:t>
            </a:r>
          </a:p>
        </p:txBody>
      </p:sp>
      <p:sp>
        <p:nvSpPr>
          <p:cNvPr id="12" name="Rectangle 11"/>
          <p:cNvSpPr/>
          <p:nvPr/>
        </p:nvSpPr>
        <p:spPr>
          <a:xfrm>
            <a:off x="4629150" y="2948940"/>
            <a:ext cx="4080510" cy="1645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3086100"/>
            <a:ext cx="3771900" cy="342900"/>
          </a:xfrm>
          <a:prstGeom prst="rect">
            <a:avLst/>
          </a:prstGeom>
          <a:noFill/>
        </p:spPr>
        <p:txBody>
          <a:bodyPr wrap="square" lIns="0" rIns="0" tIns="0" bIns="0" anchor="t">
            <a:spAutoFit/>
          </a:bodyPr>
          <a:lstStyle/>
          <a:p>
            <a:pPr algn="l"/>
            <a:r>
              <a:rPr sz="1650" b="1">
                <a:solidFill>
                  <a:srgbClr val="FFFFFF"/>
                </a:solidFill>
                <a:latin typeface="Consolas"/>
              </a:rPr>
              <a:t>p  ≥  0.05</a:t>
            </a:r>
          </a:p>
        </p:txBody>
      </p:sp>
      <p:sp>
        <p:nvSpPr>
          <p:cNvPr id="14" name="TextBox 13"/>
          <p:cNvSpPr txBox="1"/>
          <p:nvPr/>
        </p:nvSpPr>
        <p:spPr>
          <a:xfrm>
            <a:off x="4800600" y="3497580"/>
            <a:ext cx="3771900" cy="1028700"/>
          </a:xfrm>
          <a:prstGeom prst="rect">
            <a:avLst/>
          </a:prstGeom>
          <a:noFill/>
        </p:spPr>
        <p:txBody>
          <a:bodyPr wrap="square" lIns="0" rIns="0" tIns="0" bIns="0" anchor="t">
            <a:spAutoFit/>
          </a:bodyPr>
          <a:lstStyle/>
          <a:p>
            <a:pPr algn="l"/>
            <a:r>
              <a:rPr sz="975" b="0">
                <a:solidFill>
                  <a:srgbClr val="E8F1F5"/>
                </a:solidFill>
                <a:latin typeface="Calibri"/>
              </a:rPr>
              <a:t>FAIL to reject the null hypothesis.</a:t>
            </a:r>
          </a:p>
          <a:p>
            <a:pPr algn="l"/>
            <a:r>
              <a:rPr sz="975" b="0">
                <a:solidFill>
                  <a:srgbClr val="E8F1F5"/>
                </a:solidFill>
                <a:latin typeface="Calibri"/>
              </a:rPr>
              <a:t/>
            </a:r>
          </a:p>
          <a:p>
            <a:pPr algn="l"/>
            <a:r>
              <a:rPr sz="975" b="0">
                <a:solidFill>
                  <a:srgbClr val="E8F1F5"/>
                </a:solidFill>
                <a:latin typeface="Calibri"/>
              </a:rPr>
              <a:t>Not enough evidence to declare an effect.</a:t>
            </a:r>
          </a:p>
          <a:p>
            <a:pPr algn="l"/>
            <a:r>
              <a:rPr sz="975" b="0">
                <a:solidFill>
                  <a:srgbClr val="E8F1F5"/>
                </a:solidFill>
                <a:latin typeface="Calibri"/>
              </a:rPr>
              <a:t>(NOT the same as 'no effect' — see next slide.)</a:t>
            </a:r>
          </a:p>
        </p:txBody>
      </p:sp>
      <p:pic>
        <p:nvPicPr>
          <p:cNvPr id="16" name="Picture 15"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P-value Mis-readings — Part 1 of 2</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Two common ways to misquote a p-value</a:t>
            </a:r>
          </a:p>
        </p:txBody>
      </p:sp>
      <p:sp>
        <p:nvSpPr>
          <p:cNvPr id="5" name="Rectangle 4"/>
          <p:cNvSpPr/>
          <p:nvPr/>
        </p:nvSpPr>
        <p:spPr>
          <a:xfrm>
            <a:off x="411480" y="1303020"/>
            <a:ext cx="205740" cy="15773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7220" y="1303020"/>
            <a:ext cx="8092440" cy="15773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8670" y="1405890"/>
            <a:ext cx="7749540" cy="274320"/>
          </a:xfrm>
          <a:prstGeom prst="rect">
            <a:avLst/>
          </a:prstGeom>
          <a:noFill/>
        </p:spPr>
        <p:txBody>
          <a:bodyPr wrap="square" lIns="0" rIns="0" tIns="0" bIns="0" anchor="t">
            <a:spAutoFit/>
          </a:bodyPr>
          <a:lstStyle/>
          <a:p>
            <a:pPr algn="l"/>
            <a:r>
              <a:rPr sz="1200" b="1">
                <a:solidFill>
                  <a:srgbClr val="F96167"/>
                </a:solidFill>
                <a:latin typeface="Calibri"/>
              </a:rPr>
              <a:t>❌  Mis-reading 1</a:t>
            </a:r>
          </a:p>
        </p:txBody>
      </p:sp>
      <p:sp>
        <p:nvSpPr>
          <p:cNvPr id="8" name="TextBox 7"/>
          <p:cNvSpPr txBox="1"/>
          <p:nvPr/>
        </p:nvSpPr>
        <p:spPr>
          <a:xfrm>
            <a:off x="788670" y="1714500"/>
            <a:ext cx="7749540" cy="342900"/>
          </a:xfrm>
          <a:prstGeom prst="rect">
            <a:avLst/>
          </a:prstGeom>
          <a:noFill/>
        </p:spPr>
        <p:txBody>
          <a:bodyPr wrap="square" lIns="0" rIns="0" tIns="0" bIns="0" anchor="t">
            <a:spAutoFit/>
          </a:bodyPr>
          <a:lstStyle/>
          <a:p>
            <a:pPr algn="l"/>
            <a:r>
              <a:rPr sz="1050" b="0">
                <a:solidFill>
                  <a:srgbClr val="36454F"/>
                </a:solidFill>
                <a:latin typeface="Trebuchet MS"/>
              </a:rPr>
              <a:t>'p = 0.03 means there is a 3% chance the null hypothesis is true.'</a:t>
            </a:r>
          </a:p>
        </p:txBody>
      </p:sp>
      <p:sp>
        <p:nvSpPr>
          <p:cNvPr id="9" name="TextBox 8"/>
          <p:cNvSpPr txBox="1"/>
          <p:nvPr/>
        </p:nvSpPr>
        <p:spPr>
          <a:xfrm>
            <a:off x="788670" y="2125980"/>
            <a:ext cx="7749540" cy="274320"/>
          </a:xfrm>
          <a:prstGeom prst="rect">
            <a:avLst/>
          </a:prstGeom>
          <a:noFill/>
        </p:spPr>
        <p:txBody>
          <a:bodyPr wrap="square" lIns="0" rIns="0" tIns="0" bIns="0" anchor="t">
            <a:spAutoFit/>
          </a:bodyPr>
          <a:lstStyle/>
          <a:p>
            <a:pPr algn="l"/>
            <a:r>
              <a:rPr sz="900" b="1">
                <a:solidFill>
                  <a:srgbClr val="065A82"/>
                </a:solidFill>
                <a:latin typeface="Calibri"/>
              </a:rPr>
              <a:t>What p actually means: P(data this extreme | H₀ is true). Not P(H₀ | data).</a:t>
            </a:r>
          </a:p>
        </p:txBody>
      </p:sp>
      <p:sp>
        <p:nvSpPr>
          <p:cNvPr id="10" name="TextBox 9"/>
          <p:cNvSpPr txBox="1"/>
          <p:nvPr/>
        </p:nvSpPr>
        <p:spPr>
          <a:xfrm>
            <a:off x="788670" y="2434590"/>
            <a:ext cx="7749540" cy="411480"/>
          </a:xfrm>
          <a:prstGeom prst="rect">
            <a:avLst/>
          </a:prstGeom>
          <a:noFill/>
        </p:spPr>
        <p:txBody>
          <a:bodyPr wrap="square" lIns="0" rIns="0" tIns="0" bIns="0" anchor="t">
            <a:spAutoFit/>
          </a:bodyPr>
          <a:lstStyle/>
          <a:p>
            <a:pPr algn="l"/>
            <a:r>
              <a:rPr sz="900" b="0">
                <a:solidFill>
                  <a:srgbClr val="36454F"/>
                </a:solidFill>
                <a:latin typeface="Calibri"/>
              </a:rPr>
              <a:t>The flipped form is Bayesian and requires a different framework. The everyday p-value is NOT a probability over hypotheses.</a:t>
            </a:r>
          </a:p>
        </p:txBody>
      </p:sp>
      <p:sp>
        <p:nvSpPr>
          <p:cNvPr id="11" name="Rectangle 10"/>
          <p:cNvSpPr/>
          <p:nvPr/>
        </p:nvSpPr>
        <p:spPr>
          <a:xfrm>
            <a:off x="411480" y="3017520"/>
            <a:ext cx="205740" cy="15773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 y="3017520"/>
            <a:ext cx="8092440" cy="15773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670" y="3120390"/>
            <a:ext cx="7749540" cy="274320"/>
          </a:xfrm>
          <a:prstGeom prst="rect">
            <a:avLst/>
          </a:prstGeom>
          <a:noFill/>
        </p:spPr>
        <p:txBody>
          <a:bodyPr wrap="square" lIns="0" rIns="0" tIns="0" bIns="0" anchor="t">
            <a:spAutoFit/>
          </a:bodyPr>
          <a:lstStyle/>
          <a:p>
            <a:pPr algn="l"/>
            <a:r>
              <a:rPr sz="1200" b="1">
                <a:solidFill>
                  <a:srgbClr val="F96167"/>
                </a:solidFill>
                <a:latin typeface="Calibri"/>
              </a:rPr>
              <a:t>❌  Mis-reading 2</a:t>
            </a:r>
          </a:p>
        </p:txBody>
      </p:sp>
      <p:sp>
        <p:nvSpPr>
          <p:cNvPr id="14" name="TextBox 13"/>
          <p:cNvSpPr txBox="1"/>
          <p:nvPr/>
        </p:nvSpPr>
        <p:spPr>
          <a:xfrm>
            <a:off x="788670" y="3429000"/>
            <a:ext cx="7749540" cy="342900"/>
          </a:xfrm>
          <a:prstGeom prst="rect">
            <a:avLst/>
          </a:prstGeom>
          <a:noFill/>
        </p:spPr>
        <p:txBody>
          <a:bodyPr wrap="square" lIns="0" rIns="0" tIns="0" bIns="0" anchor="t">
            <a:spAutoFit/>
          </a:bodyPr>
          <a:lstStyle/>
          <a:p>
            <a:pPr algn="l"/>
            <a:r>
              <a:rPr sz="1050" b="0">
                <a:solidFill>
                  <a:srgbClr val="36454F"/>
                </a:solidFill>
                <a:latin typeface="Trebuchet MS"/>
              </a:rPr>
              <a:t>'p &lt; 0.05 means the effect is large and important.'</a:t>
            </a:r>
          </a:p>
        </p:txBody>
      </p:sp>
      <p:sp>
        <p:nvSpPr>
          <p:cNvPr id="15" name="TextBox 14"/>
          <p:cNvSpPr txBox="1"/>
          <p:nvPr/>
        </p:nvSpPr>
        <p:spPr>
          <a:xfrm>
            <a:off x="788670" y="3840480"/>
            <a:ext cx="7749540" cy="274320"/>
          </a:xfrm>
          <a:prstGeom prst="rect">
            <a:avLst/>
          </a:prstGeom>
          <a:noFill/>
        </p:spPr>
        <p:txBody>
          <a:bodyPr wrap="square" lIns="0" rIns="0" tIns="0" bIns="0" anchor="t">
            <a:spAutoFit/>
          </a:bodyPr>
          <a:lstStyle/>
          <a:p>
            <a:pPr algn="l"/>
            <a:r>
              <a:rPr sz="900" b="1">
                <a:solidFill>
                  <a:srgbClr val="065A82"/>
                </a:solidFill>
                <a:latin typeface="Calibri"/>
              </a:rPr>
              <a:t>Statistical significance ≠ practical (or economic) significance.</a:t>
            </a:r>
          </a:p>
        </p:txBody>
      </p:sp>
      <p:sp>
        <p:nvSpPr>
          <p:cNvPr id="16" name="TextBox 15"/>
          <p:cNvSpPr txBox="1"/>
          <p:nvPr/>
        </p:nvSpPr>
        <p:spPr>
          <a:xfrm>
            <a:off x="788670" y="4149090"/>
            <a:ext cx="7749540" cy="411480"/>
          </a:xfrm>
          <a:prstGeom prst="rect">
            <a:avLst/>
          </a:prstGeom>
          <a:noFill/>
        </p:spPr>
        <p:txBody>
          <a:bodyPr wrap="square" lIns="0" rIns="0" tIns="0" bIns="0" anchor="t">
            <a:spAutoFit/>
          </a:bodyPr>
          <a:lstStyle/>
          <a:p>
            <a:pPr algn="l"/>
            <a:r>
              <a:rPr sz="900" b="0">
                <a:solidFill>
                  <a:srgbClr val="36454F"/>
                </a:solidFill>
                <a:latin typeface="Calibri"/>
              </a:rPr>
              <a:t>With a large enough sample, even a tiny meaningless difference will produce p &lt; 0.05. Always report effect size alongside the p-value.</a:t>
            </a:r>
          </a:p>
        </p:txBody>
      </p:sp>
      <p:pic>
        <p:nvPicPr>
          <p:cNvPr id="18" name="Picture 17"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P-value Mis-readings — Part 2 of 2</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The mis-reading that kills good ideas</a:t>
            </a:r>
          </a:p>
        </p:txBody>
      </p:sp>
      <p:sp>
        <p:nvSpPr>
          <p:cNvPr id="5" name="Rectangle 4"/>
          <p:cNvSpPr/>
          <p:nvPr/>
        </p:nvSpPr>
        <p:spPr>
          <a:xfrm>
            <a:off x="411480" y="1303020"/>
            <a:ext cx="205740" cy="2057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7220" y="1303020"/>
            <a:ext cx="8092440" cy="2057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8670" y="1405889"/>
            <a:ext cx="7749540" cy="342900"/>
          </a:xfrm>
          <a:prstGeom prst="rect">
            <a:avLst/>
          </a:prstGeom>
          <a:noFill/>
        </p:spPr>
        <p:txBody>
          <a:bodyPr wrap="square" lIns="0" rIns="0" tIns="0" bIns="0" anchor="t">
            <a:spAutoFit/>
          </a:bodyPr>
          <a:lstStyle/>
          <a:p>
            <a:pPr algn="l"/>
            <a:r>
              <a:rPr sz="1350" b="1">
                <a:solidFill>
                  <a:srgbClr val="F96167"/>
                </a:solidFill>
                <a:latin typeface="Calibri"/>
              </a:rPr>
              <a:t>❌  Mis-reading 3</a:t>
            </a:r>
          </a:p>
        </p:txBody>
      </p:sp>
      <p:sp>
        <p:nvSpPr>
          <p:cNvPr id="8" name="TextBox 7"/>
          <p:cNvSpPr txBox="1"/>
          <p:nvPr/>
        </p:nvSpPr>
        <p:spPr>
          <a:xfrm>
            <a:off x="788670" y="1783080"/>
            <a:ext cx="7749540" cy="342900"/>
          </a:xfrm>
          <a:prstGeom prst="rect">
            <a:avLst/>
          </a:prstGeom>
          <a:noFill/>
        </p:spPr>
        <p:txBody>
          <a:bodyPr wrap="square" lIns="0" rIns="0" tIns="0" bIns="0" anchor="t">
            <a:spAutoFit/>
          </a:bodyPr>
          <a:lstStyle/>
          <a:p>
            <a:pPr algn="l"/>
            <a:r>
              <a:rPr sz="1200" b="0">
                <a:solidFill>
                  <a:srgbClr val="36454F"/>
                </a:solidFill>
                <a:latin typeface="Trebuchet MS"/>
              </a:rPr>
              <a:t>'p = 0.08, not significant — so the coupon doesn't work.'</a:t>
            </a:r>
          </a:p>
        </p:txBody>
      </p:sp>
      <p:sp>
        <p:nvSpPr>
          <p:cNvPr id="9" name="TextBox 8"/>
          <p:cNvSpPr txBox="1"/>
          <p:nvPr/>
        </p:nvSpPr>
        <p:spPr>
          <a:xfrm>
            <a:off x="788670" y="2297430"/>
            <a:ext cx="7749540" cy="274320"/>
          </a:xfrm>
          <a:prstGeom prst="rect">
            <a:avLst/>
          </a:prstGeom>
          <a:noFill/>
        </p:spPr>
        <p:txBody>
          <a:bodyPr wrap="square" lIns="0" rIns="0" tIns="0" bIns="0" anchor="t">
            <a:spAutoFit/>
          </a:bodyPr>
          <a:lstStyle/>
          <a:p>
            <a:pPr algn="l"/>
            <a:r>
              <a:rPr sz="1050" b="1">
                <a:solidFill>
                  <a:srgbClr val="065A82"/>
                </a:solidFill>
                <a:latin typeface="Calibri"/>
              </a:rPr>
              <a:t>Why it's wrong:</a:t>
            </a:r>
          </a:p>
        </p:txBody>
      </p:sp>
      <p:sp>
        <p:nvSpPr>
          <p:cNvPr id="10" name="TextBox 9"/>
          <p:cNvSpPr txBox="1"/>
          <p:nvPr/>
        </p:nvSpPr>
        <p:spPr>
          <a:xfrm>
            <a:off x="788670" y="2606040"/>
            <a:ext cx="7749540" cy="685800"/>
          </a:xfrm>
          <a:prstGeom prst="rect">
            <a:avLst/>
          </a:prstGeom>
          <a:noFill/>
        </p:spPr>
        <p:txBody>
          <a:bodyPr wrap="square" lIns="0" rIns="0" tIns="0" bIns="0" anchor="t">
            <a:spAutoFit/>
          </a:bodyPr>
          <a:lstStyle/>
          <a:p>
            <a:pPr algn="l"/>
            <a:r>
              <a:rPr sz="975" b="0">
                <a:solidFill>
                  <a:srgbClr val="36454F"/>
                </a:solidFill>
                <a:latin typeface="Calibri"/>
              </a:rPr>
              <a:t>'Failed to reject H₀' ≠ 'H₀ is true'. The effect might be real but the sample was too small to detect.</a:t>
            </a:r>
          </a:p>
          <a:p>
            <a:pPr algn="l"/>
            <a:r>
              <a:rPr sz="975" b="0">
                <a:solidFill>
                  <a:srgbClr val="36454F"/>
                </a:solidFill>
                <a:latin typeface="Calibri"/>
              </a:rPr>
              <a:t/>
            </a:r>
          </a:p>
          <a:p>
            <a:pPr algn="l"/>
            <a:r>
              <a:rPr sz="975" b="0">
                <a:solidFill>
                  <a:srgbClr val="36454F"/>
                </a:solidFill>
                <a:latin typeface="Calibri"/>
              </a:rPr>
              <a:t>Absence of evidence is NOT evidence of absence.</a:t>
            </a:r>
          </a:p>
        </p:txBody>
      </p:sp>
      <p:sp>
        <p:nvSpPr>
          <p:cNvPr id="11" name="Rectangle 10"/>
          <p:cNvSpPr/>
          <p:nvPr/>
        </p:nvSpPr>
        <p:spPr>
          <a:xfrm>
            <a:off x="411480" y="3566160"/>
            <a:ext cx="8298180" cy="10972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 y="3669030"/>
            <a:ext cx="7886700" cy="274320"/>
          </a:xfrm>
          <a:prstGeom prst="rect">
            <a:avLst/>
          </a:prstGeom>
          <a:noFill/>
        </p:spPr>
        <p:txBody>
          <a:bodyPr wrap="square" lIns="0" rIns="0" tIns="0" bIns="0" anchor="t">
            <a:spAutoFit/>
          </a:bodyPr>
          <a:lstStyle/>
          <a:p>
            <a:pPr algn="l"/>
            <a:r>
              <a:rPr sz="1050" b="1">
                <a:solidFill>
                  <a:srgbClr val="E8F1F5"/>
                </a:solidFill>
                <a:latin typeface="Calibri"/>
              </a:rPr>
              <a:t>The careful phrasing</a:t>
            </a:r>
          </a:p>
        </p:txBody>
      </p:sp>
      <p:sp>
        <p:nvSpPr>
          <p:cNvPr id="13" name="TextBox 12"/>
          <p:cNvSpPr txBox="1"/>
          <p:nvPr/>
        </p:nvSpPr>
        <p:spPr>
          <a:xfrm>
            <a:off x="617220" y="3977640"/>
            <a:ext cx="7886700" cy="685800"/>
          </a:xfrm>
          <a:prstGeom prst="rect">
            <a:avLst/>
          </a:prstGeom>
          <a:noFill/>
        </p:spPr>
        <p:txBody>
          <a:bodyPr wrap="square" lIns="0" rIns="0" tIns="0" bIns="0" anchor="t">
            <a:spAutoFit/>
          </a:bodyPr>
          <a:lstStyle/>
          <a:p>
            <a:pPr algn="l"/>
            <a:r>
              <a:rPr sz="975" b="0">
                <a:solidFill>
                  <a:srgbClr val="FFFFFF"/>
                </a:solidFill>
                <a:latin typeface="Trebuchet MS"/>
              </a:rPr>
              <a:t>'We did not find statistically significant evidence of an effect at this sample size. We cannot conclude the coupon has no effect. We recommend extending the test or increasing the sample size to reduce uncertainty.'</a:t>
            </a:r>
          </a:p>
        </p:txBody>
      </p:sp>
      <p:pic>
        <p:nvPicPr>
          <p:cNvPr id="15" name="Picture 14"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21C39A"/>
                </a:solidFill>
                <a:latin typeface="Calibri"/>
              </a:rPr>
              <a:t>🟢  CODE-ALONG</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550" b="1">
                <a:solidFill>
                  <a:srgbClr val="FFFFFF"/>
                </a:solidFill>
                <a:latin typeface="Consolas"/>
              </a:rPr>
              <a:t>Open: 04_ab_testing.ipynb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What you'll do</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1.  Frame the test, then simulate the 2-week experiment.</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2.  Compute the two-proportion z-test from first principles → p-value.</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3.  Practice the three corrected readings on the actual numbers.</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20 minutes  ·  Stop at the 🟡 Extension marker  ·  Extension is self-paced after class</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Friday — The Three Defended Numbers</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Same numbers, now backed by the right tools</a:t>
            </a:r>
          </a:p>
        </p:txBody>
      </p:sp>
      <p:sp>
        <p:nvSpPr>
          <p:cNvPr id="5" name="Rectangle 4"/>
          <p:cNvSpPr/>
          <p:nvPr/>
        </p:nvSpPr>
        <p:spPr>
          <a:xfrm>
            <a:off x="411480" y="1303020"/>
            <a:ext cx="1371600" cy="7543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74470"/>
            <a:ext cx="1371600" cy="480060"/>
          </a:xfrm>
          <a:prstGeom prst="rect">
            <a:avLst/>
          </a:prstGeom>
          <a:noFill/>
        </p:spPr>
        <p:txBody>
          <a:bodyPr wrap="square" lIns="0" rIns="0" tIns="0" bIns="0" anchor="t">
            <a:spAutoFit/>
          </a:bodyPr>
          <a:lstStyle/>
          <a:p>
            <a:pPr algn="ctr"/>
            <a:r>
              <a:rPr sz="2400" b="1">
                <a:solidFill>
                  <a:srgbClr val="F9E795"/>
                </a:solidFill>
                <a:latin typeface="Trebuchet MS"/>
              </a:rPr>
              <a:t>60%</a:t>
            </a:r>
          </a:p>
        </p:txBody>
      </p:sp>
      <p:sp>
        <p:nvSpPr>
          <p:cNvPr id="7" name="Rectangle 6"/>
          <p:cNvSpPr/>
          <p:nvPr/>
        </p:nvSpPr>
        <p:spPr>
          <a:xfrm>
            <a:off x="1885950" y="1303020"/>
            <a:ext cx="3086100" cy="7543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23110" y="1543050"/>
            <a:ext cx="2880360" cy="342900"/>
          </a:xfrm>
          <a:prstGeom prst="rect">
            <a:avLst/>
          </a:prstGeom>
          <a:noFill/>
        </p:spPr>
        <p:txBody>
          <a:bodyPr wrap="square" lIns="0" rIns="0" tIns="0" bIns="0" anchor="t">
            <a:spAutoFit/>
          </a:bodyPr>
          <a:lstStyle/>
          <a:p>
            <a:pPr algn="l"/>
            <a:r>
              <a:rPr sz="1050" b="1">
                <a:solidFill>
                  <a:srgbClr val="36454F"/>
                </a:solidFill>
                <a:latin typeface="Calibri"/>
              </a:rPr>
              <a:t>of reviews are positive</a:t>
            </a:r>
          </a:p>
        </p:txBody>
      </p:sp>
      <p:sp>
        <p:nvSpPr>
          <p:cNvPr id="9" name="Rectangle 8"/>
          <p:cNvSpPr/>
          <p:nvPr/>
        </p:nvSpPr>
        <p:spPr>
          <a:xfrm>
            <a:off x="5074920" y="1303020"/>
            <a:ext cx="3634740" cy="7543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0" y="1543050"/>
            <a:ext cx="3429000" cy="342900"/>
          </a:xfrm>
          <a:prstGeom prst="rect">
            <a:avLst/>
          </a:prstGeom>
          <a:noFill/>
        </p:spPr>
        <p:txBody>
          <a:bodyPr wrap="square" lIns="0" rIns="0" tIns="0" bIns="0" anchor="t">
            <a:spAutoFit/>
          </a:bodyPr>
          <a:lstStyle/>
          <a:p>
            <a:pPr algn="l"/>
            <a:r>
              <a:rPr sz="1050" b="1">
                <a:solidFill>
                  <a:srgbClr val="FFFFFF"/>
                </a:solidFill>
                <a:latin typeface="Calibri"/>
              </a:rPr>
              <a:t>Distribution analysis  ·  Median + chart of skew</a:t>
            </a:r>
          </a:p>
        </p:txBody>
      </p:sp>
      <p:sp>
        <p:nvSpPr>
          <p:cNvPr id="11" name="Rectangle 10"/>
          <p:cNvSpPr/>
          <p:nvPr/>
        </p:nvSpPr>
        <p:spPr>
          <a:xfrm>
            <a:off x="411480" y="2194560"/>
            <a:ext cx="1371600" cy="7543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366010"/>
            <a:ext cx="1371600" cy="480060"/>
          </a:xfrm>
          <a:prstGeom prst="rect">
            <a:avLst/>
          </a:prstGeom>
          <a:noFill/>
        </p:spPr>
        <p:txBody>
          <a:bodyPr wrap="square" lIns="0" rIns="0" tIns="0" bIns="0" anchor="t">
            <a:spAutoFit/>
          </a:bodyPr>
          <a:lstStyle/>
          <a:p>
            <a:pPr algn="ctr"/>
            <a:r>
              <a:rPr sz="2400" b="1">
                <a:solidFill>
                  <a:srgbClr val="F9E795"/>
                </a:solidFill>
                <a:latin typeface="Trebuchet MS"/>
              </a:rPr>
              <a:t>84%</a:t>
            </a:r>
          </a:p>
        </p:txBody>
      </p:sp>
      <p:sp>
        <p:nvSpPr>
          <p:cNvPr id="13" name="Rectangle 12"/>
          <p:cNvSpPr/>
          <p:nvPr/>
        </p:nvSpPr>
        <p:spPr>
          <a:xfrm>
            <a:off x="1885950" y="2194560"/>
            <a:ext cx="3086100" cy="7543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23110" y="2434590"/>
            <a:ext cx="2880360" cy="342900"/>
          </a:xfrm>
          <a:prstGeom prst="rect">
            <a:avLst/>
          </a:prstGeom>
          <a:noFill/>
        </p:spPr>
        <p:txBody>
          <a:bodyPr wrap="square" lIns="0" rIns="0" tIns="0" bIns="0" anchor="t">
            <a:spAutoFit/>
          </a:bodyPr>
          <a:lstStyle/>
          <a:p>
            <a:pPr algn="l"/>
            <a:r>
              <a:rPr sz="1050" b="1">
                <a:solidFill>
                  <a:srgbClr val="36454F"/>
                </a:solidFill>
                <a:latin typeface="Calibri"/>
              </a:rPr>
              <a:t>model accuracy</a:t>
            </a:r>
          </a:p>
        </p:txBody>
      </p:sp>
      <p:sp>
        <p:nvSpPr>
          <p:cNvPr id="15" name="Rectangle 14"/>
          <p:cNvSpPr/>
          <p:nvPr/>
        </p:nvSpPr>
        <p:spPr>
          <a:xfrm>
            <a:off x="5074920" y="2194560"/>
            <a:ext cx="3634740" cy="7543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0" y="2434590"/>
            <a:ext cx="3429000" cy="342900"/>
          </a:xfrm>
          <a:prstGeom prst="rect">
            <a:avLst/>
          </a:prstGeom>
          <a:noFill/>
        </p:spPr>
        <p:txBody>
          <a:bodyPr wrap="square" lIns="0" rIns="0" tIns="0" bIns="0" anchor="t">
            <a:spAutoFit/>
          </a:bodyPr>
          <a:lstStyle/>
          <a:p>
            <a:pPr algn="l"/>
            <a:r>
              <a:rPr sz="1050" b="1">
                <a:solidFill>
                  <a:srgbClr val="FFFFFF"/>
                </a:solidFill>
                <a:latin typeface="Calibri"/>
              </a:rPr>
              <a:t>Confidence interval  ·  95% CI: [78%, 89%] from n=200</a:t>
            </a:r>
          </a:p>
        </p:txBody>
      </p:sp>
      <p:sp>
        <p:nvSpPr>
          <p:cNvPr id="17" name="Rectangle 16"/>
          <p:cNvSpPr/>
          <p:nvPr/>
        </p:nvSpPr>
        <p:spPr>
          <a:xfrm>
            <a:off x="411480" y="3086100"/>
            <a:ext cx="1371600" cy="7543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3257550"/>
            <a:ext cx="1371600" cy="480060"/>
          </a:xfrm>
          <a:prstGeom prst="rect">
            <a:avLst/>
          </a:prstGeom>
          <a:noFill/>
        </p:spPr>
        <p:txBody>
          <a:bodyPr wrap="square" lIns="0" rIns="0" tIns="0" bIns="0" anchor="t">
            <a:spAutoFit/>
          </a:bodyPr>
          <a:lstStyle/>
          <a:p>
            <a:pPr algn="ctr"/>
            <a:r>
              <a:rPr sz="2400" b="1">
                <a:solidFill>
                  <a:srgbClr val="F9E795"/>
                </a:solidFill>
                <a:latin typeface="Trebuchet MS"/>
              </a:rPr>
              <a:t>~6pp</a:t>
            </a:r>
          </a:p>
        </p:txBody>
      </p:sp>
      <p:sp>
        <p:nvSpPr>
          <p:cNvPr id="19" name="Rectangle 18"/>
          <p:cNvSpPr/>
          <p:nvPr/>
        </p:nvSpPr>
        <p:spPr>
          <a:xfrm>
            <a:off x="1885950" y="3086100"/>
            <a:ext cx="3086100" cy="7543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23110" y="3326130"/>
            <a:ext cx="2880360" cy="342900"/>
          </a:xfrm>
          <a:prstGeom prst="rect">
            <a:avLst/>
          </a:prstGeom>
          <a:noFill/>
        </p:spPr>
        <p:txBody>
          <a:bodyPr wrap="square" lIns="0" rIns="0" tIns="0" bIns="0" anchor="t">
            <a:spAutoFit/>
          </a:bodyPr>
          <a:lstStyle/>
          <a:p>
            <a:pPr algn="l"/>
            <a:r>
              <a:rPr sz="1050" b="1">
                <a:solidFill>
                  <a:srgbClr val="36454F"/>
                </a:solidFill>
                <a:latin typeface="Calibri"/>
              </a:rPr>
              <a:t>drop in 30-day complaint rate from the coupon (p &lt; 0.05)</a:t>
            </a:r>
          </a:p>
        </p:txBody>
      </p:sp>
      <p:sp>
        <p:nvSpPr>
          <p:cNvPr id="21" name="Rectangle 20"/>
          <p:cNvSpPr/>
          <p:nvPr/>
        </p:nvSpPr>
        <p:spPr>
          <a:xfrm>
            <a:off x="5074920" y="3086100"/>
            <a:ext cx="3634740" cy="7543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3326130"/>
            <a:ext cx="3429000" cy="342900"/>
          </a:xfrm>
          <a:prstGeom prst="rect">
            <a:avLst/>
          </a:prstGeom>
          <a:noFill/>
        </p:spPr>
        <p:txBody>
          <a:bodyPr wrap="square" lIns="0" rIns="0" tIns="0" bIns="0" anchor="t">
            <a:spAutoFit/>
          </a:bodyPr>
          <a:lstStyle/>
          <a:p>
            <a:pPr algn="l"/>
            <a:r>
              <a:rPr sz="1050" b="1">
                <a:solidFill>
                  <a:srgbClr val="FFFFFF"/>
                </a:solidFill>
                <a:latin typeface="Calibri"/>
              </a:rPr>
              <a:t>A/B test  ·  Two-proportion z-test</a:t>
            </a:r>
          </a:p>
        </p:txBody>
      </p:sp>
      <p:sp>
        <p:nvSpPr>
          <p:cNvPr id="23" name="Rectangle 22"/>
          <p:cNvSpPr/>
          <p:nvPr/>
        </p:nvSpPr>
        <p:spPr>
          <a:xfrm>
            <a:off x="411480" y="4114800"/>
            <a:ext cx="8298180" cy="4800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7220" y="4183380"/>
            <a:ext cx="7886700" cy="342900"/>
          </a:xfrm>
          <a:prstGeom prst="rect">
            <a:avLst/>
          </a:prstGeom>
          <a:noFill/>
        </p:spPr>
        <p:txBody>
          <a:bodyPr wrap="square" lIns="0" rIns="0" tIns="0" bIns="0" anchor="t">
            <a:spAutoFit/>
          </a:bodyPr>
          <a:lstStyle/>
          <a:p>
            <a:pPr algn="l"/>
            <a:r>
              <a:rPr sz="1050" b="1">
                <a:solidFill>
                  <a:srgbClr val="FFFFFF"/>
                </a:solidFill>
                <a:latin typeface="Trebuchet MS"/>
              </a:rPr>
              <a:t>Priya: 'Looks great. But you used a pre-trained model. Can you build one TRAINED on NorthStar's own data?'</a:t>
            </a:r>
          </a:p>
        </p:txBody>
      </p:sp>
      <p:pic>
        <p:nvPicPr>
          <p:cNvPr id="26" name="Picture 25"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23860" cy="342900"/>
          </a:xfrm>
          <a:prstGeom prst="rect">
            <a:avLst/>
          </a:prstGeom>
          <a:noFill/>
        </p:spPr>
        <p:txBody>
          <a:bodyPr wrap="square" lIns="0" rIns="0" tIns="0" bIns="0" anchor="t">
            <a:spAutoFit/>
          </a:bodyPr>
          <a:lstStyle/>
          <a:p>
            <a:pPr algn="l"/>
            <a:r>
              <a:rPr sz="1350" b="1">
                <a:solidFill>
                  <a:srgbClr val="E8F1F5"/>
                </a:solidFill>
                <a:latin typeface="Calibri"/>
              </a:rPr>
              <a:t>Bridge to Lesson 3</a:t>
            </a:r>
          </a:p>
        </p:txBody>
      </p:sp>
      <p:sp>
        <p:nvSpPr>
          <p:cNvPr id="4" name="Rectangle 3"/>
          <p:cNvSpPr/>
          <p:nvPr/>
        </p:nvSpPr>
        <p:spPr>
          <a:xfrm>
            <a:off x="685800" y="1234440"/>
            <a:ext cx="7749540" cy="17830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1540" y="1371600"/>
            <a:ext cx="7338060" cy="342900"/>
          </a:xfrm>
          <a:prstGeom prst="rect">
            <a:avLst/>
          </a:prstGeom>
          <a:noFill/>
        </p:spPr>
        <p:txBody>
          <a:bodyPr wrap="square" lIns="0" rIns="0" tIns="0" bIns="0" anchor="t">
            <a:spAutoFit/>
          </a:bodyPr>
          <a:lstStyle/>
          <a:p>
            <a:pPr algn="l"/>
            <a:r>
              <a:rPr sz="1050" b="0">
                <a:solidFill>
                  <a:srgbClr val="E8F1F5"/>
                </a:solidFill>
                <a:latin typeface="Calibri"/>
              </a:rPr>
              <a:t>Marcus, after the Friday meeting:</a:t>
            </a:r>
          </a:p>
        </p:txBody>
      </p:sp>
      <p:sp>
        <p:nvSpPr>
          <p:cNvPr id="6" name="TextBox 5"/>
          <p:cNvSpPr txBox="1"/>
          <p:nvPr/>
        </p:nvSpPr>
        <p:spPr>
          <a:xfrm>
            <a:off x="891540" y="1783080"/>
            <a:ext cx="7338060" cy="1097280"/>
          </a:xfrm>
          <a:prstGeom prst="rect">
            <a:avLst/>
          </a:prstGeom>
          <a:noFill/>
        </p:spPr>
        <p:txBody>
          <a:bodyPr wrap="square" lIns="0" rIns="0" tIns="0" bIns="0" anchor="t">
            <a:spAutoFit/>
          </a:bodyPr>
          <a:lstStyle/>
          <a:p>
            <a:pPr algn="l"/>
            <a:r>
              <a:rPr sz="1125" b="0">
                <a:solidFill>
                  <a:srgbClr val="FFFFFF"/>
                </a:solidFill>
                <a:latin typeface="Trebuchet MS"/>
              </a:rPr>
              <a:t>"OK. The sentiment model holds up. But you used a pre-trained one — off the shelf.</a:t>
            </a:r>
          </a:p>
          <a:p>
            <a:pPr algn="l"/>
            <a:r>
              <a:rPr sz="1125" b="0">
                <a:solidFill>
                  <a:srgbClr val="FFFFFF"/>
                </a:solidFill>
                <a:latin typeface="Trebuchet MS"/>
              </a:rPr>
              <a:t/>
            </a:r>
          </a:p>
          <a:p>
            <a:pPr algn="l"/>
            <a:r>
              <a:rPr sz="1125" b="0">
                <a:solidFill>
                  <a:srgbClr val="FFFFFF"/>
                </a:solidFill>
                <a:latin typeface="Trebuchet MS"/>
              </a:rPr>
              <a:t>Can you build us a model that predicts CHURN from our own customer data?</a:t>
            </a:r>
          </a:p>
          <a:p>
            <a:pPr algn="l"/>
            <a:r>
              <a:rPr sz="1125" b="0">
                <a:solidFill>
                  <a:srgbClr val="FFFFFF"/>
                </a:solidFill>
                <a:latin typeface="Trebuchet MS"/>
              </a:rPr>
              <a:t/>
            </a:r>
          </a:p>
          <a:p>
            <a:pPr algn="l"/>
            <a:r>
              <a:rPr sz="1125" b="0">
                <a:solidFill>
                  <a:srgbClr val="FFFFFF"/>
                </a:solidFill>
                <a:latin typeface="Trebuchet MS"/>
              </a:rPr>
              <a:t>Something trained on NorthStar behaviour, not some generic internet corpus?"</a:t>
            </a:r>
          </a:p>
        </p:txBody>
      </p:sp>
      <p:sp>
        <p:nvSpPr>
          <p:cNvPr id="7" name="TextBox 6"/>
          <p:cNvSpPr txBox="1"/>
          <p:nvPr/>
        </p:nvSpPr>
        <p:spPr>
          <a:xfrm>
            <a:off x="685800" y="3429000"/>
            <a:ext cx="7749540" cy="342900"/>
          </a:xfrm>
          <a:prstGeom prst="rect">
            <a:avLst/>
          </a:prstGeom>
          <a:noFill/>
        </p:spPr>
        <p:txBody>
          <a:bodyPr wrap="square" lIns="0" rIns="0" tIns="0" bIns="0" anchor="t">
            <a:spAutoFit/>
          </a:bodyPr>
          <a:lstStyle/>
          <a:p>
            <a:pPr algn="l"/>
            <a:r>
              <a:rPr sz="1500" b="1">
                <a:solidFill>
                  <a:srgbClr val="E8F1F5"/>
                </a:solidFill>
                <a:latin typeface="Calibri"/>
              </a:rPr>
              <a:t>Lesson 3 — Supervised Learning Foundations</a:t>
            </a:r>
          </a:p>
        </p:txBody>
      </p:sp>
      <p:sp>
        <p:nvSpPr>
          <p:cNvPr id="8" name="TextBox 7"/>
          <p:cNvSpPr txBox="1"/>
          <p:nvPr/>
        </p:nvSpPr>
        <p:spPr>
          <a:xfrm>
            <a:off x="685800" y="3806190"/>
            <a:ext cx="7749540" cy="342900"/>
          </a:xfrm>
          <a:prstGeom prst="rect">
            <a:avLst/>
          </a:prstGeom>
          <a:noFill/>
        </p:spPr>
        <p:txBody>
          <a:bodyPr wrap="square" lIns="0" rIns="0" tIns="0" bIns="0" anchor="t">
            <a:spAutoFit/>
          </a:bodyPr>
          <a:lstStyle/>
          <a:p>
            <a:pPr algn="l"/>
            <a:r>
              <a:rPr sz="1125" b="0">
                <a:solidFill>
                  <a:srgbClr val="E8F1F5"/>
                </a:solidFill>
                <a:latin typeface="Calibri"/>
              </a:rPr>
              <a:t>Train/test split · preprocessing · regression vs classification · linear &amp; logistic models.</a:t>
            </a:r>
          </a:p>
        </p:txBody>
      </p:sp>
      <p:sp>
        <p:nvSpPr>
          <p:cNvPr id="9" name="TextBox 8"/>
          <p:cNvSpPr txBox="1"/>
          <p:nvPr/>
        </p:nvSpPr>
        <p:spPr>
          <a:xfrm>
            <a:off x="685800" y="4183380"/>
            <a:ext cx="7749540" cy="342900"/>
          </a:xfrm>
          <a:prstGeom prst="rect">
            <a:avLst/>
          </a:prstGeom>
          <a:noFill/>
        </p:spPr>
        <p:txBody>
          <a:bodyPr wrap="square" lIns="0" rIns="0" tIns="0" bIns="0" anchor="t">
            <a:spAutoFit/>
          </a:bodyPr>
          <a:lstStyle/>
          <a:p>
            <a:pPr algn="l"/>
            <a:r>
              <a:rPr sz="1050" b="1">
                <a:solidFill>
                  <a:srgbClr val="F9E795"/>
                </a:solidFill>
                <a:latin typeface="Calibri"/>
              </a:rPr>
              <a:t>First time you train a model end-to-end on NorthStar's own data.</a:t>
            </a:r>
          </a:p>
        </p:txBody>
      </p:sp>
      <p:pic>
        <p:nvPicPr>
          <p:cNvPr id="11" name="Picture 1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Q&amp;A — and What's Next</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Common questions · assignment preview</a:t>
            </a:r>
          </a:p>
        </p:txBody>
      </p:sp>
      <p:sp>
        <p:nvSpPr>
          <p:cNvPr id="5" name="Rectangle 4"/>
          <p:cNvSpPr/>
          <p:nvPr/>
        </p:nvSpPr>
        <p:spPr>
          <a:xfrm>
            <a:off x="411480" y="1303020"/>
            <a:ext cx="411480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40180"/>
            <a:ext cx="3771900" cy="342900"/>
          </a:xfrm>
          <a:prstGeom prst="rect">
            <a:avLst/>
          </a:prstGeom>
          <a:noFill/>
        </p:spPr>
        <p:txBody>
          <a:bodyPr wrap="square" lIns="0" rIns="0" tIns="0" bIns="0" anchor="t">
            <a:spAutoFit/>
          </a:bodyPr>
          <a:lstStyle/>
          <a:p>
            <a:pPr algn="l"/>
            <a:r>
              <a:rPr sz="1350" b="1">
                <a:solidFill>
                  <a:srgbClr val="065A82"/>
                </a:solidFill>
                <a:latin typeface="Calibri"/>
              </a:rPr>
              <a:t>💬  Common questions</a:t>
            </a:r>
          </a:p>
        </p:txBody>
      </p:sp>
      <p:sp>
        <p:nvSpPr>
          <p:cNvPr id="7" name="TextBox 6"/>
          <p:cNvSpPr txBox="1"/>
          <p:nvPr/>
        </p:nvSpPr>
        <p:spPr>
          <a:xfrm>
            <a:off x="685800" y="1920240"/>
            <a:ext cx="3703320" cy="342900"/>
          </a:xfrm>
          <a:prstGeom prst="rect">
            <a:avLst/>
          </a:prstGeom>
          <a:noFill/>
        </p:spPr>
        <p:txBody>
          <a:bodyPr wrap="square" lIns="0" rIns="0" tIns="0" bIns="0" anchor="t">
            <a:spAutoFit/>
          </a:bodyPr>
          <a:lstStyle/>
          <a:p>
            <a:pPr algn="l"/>
            <a:r>
              <a:rPr sz="975" b="0">
                <a:solidFill>
                  <a:srgbClr val="36454F"/>
                </a:solidFill>
                <a:latin typeface="Calibri"/>
              </a:rPr>
              <a:t>• When should I use a t-test vs a z-test?</a:t>
            </a:r>
          </a:p>
        </p:txBody>
      </p:sp>
      <p:sp>
        <p:nvSpPr>
          <p:cNvPr id="8" name="TextBox 7"/>
          <p:cNvSpPr txBox="1"/>
          <p:nvPr/>
        </p:nvSpPr>
        <p:spPr>
          <a:xfrm>
            <a:off x="685800" y="2263140"/>
            <a:ext cx="3703320" cy="342900"/>
          </a:xfrm>
          <a:prstGeom prst="rect">
            <a:avLst/>
          </a:prstGeom>
          <a:noFill/>
        </p:spPr>
        <p:txBody>
          <a:bodyPr wrap="square" lIns="0" rIns="0" tIns="0" bIns="0" anchor="t">
            <a:spAutoFit/>
          </a:bodyPr>
          <a:lstStyle/>
          <a:p>
            <a:pPr algn="l"/>
            <a:r>
              <a:rPr sz="975" b="0">
                <a:solidFill>
                  <a:srgbClr val="36454F"/>
                </a:solidFill>
                <a:latin typeface="Calibri"/>
              </a:rPr>
              <a:t>• How big should my A/B test sample be?</a:t>
            </a:r>
          </a:p>
        </p:txBody>
      </p:sp>
      <p:sp>
        <p:nvSpPr>
          <p:cNvPr id="9" name="TextBox 8"/>
          <p:cNvSpPr txBox="1"/>
          <p:nvPr/>
        </p:nvSpPr>
        <p:spPr>
          <a:xfrm>
            <a:off x="685800" y="2606040"/>
            <a:ext cx="3703320" cy="342900"/>
          </a:xfrm>
          <a:prstGeom prst="rect">
            <a:avLst/>
          </a:prstGeom>
          <a:noFill/>
        </p:spPr>
        <p:txBody>
          <a:bodyPr wrap="square" lIns="0" rIns="0" tIns="0" bIns="0" anchor="t">
            <a:spAutoFit/>
          </a:bodyPr>
          <a:lstStyle/>
          <a:p>
            <a:pPr algn="l"/>
            <a:r>
              <a:rPr sz="975" b="0">
                <a:solidFill>
                  <a:srgbClr val="36454F"/>
                </a:solidFill>
                <a:latin typeface="Calibri"/>
              </a:rPr>
              <a:t>• How do I report 'no significant difference' to a stakeholder?</a:t>
            </a:r>
          </a:p>
        </p:txBody>
      </p:sp>
      <p:sp>
        <p:nvSpPr>
          <p:cNvPr id="10" name="TextBox 9"/>
          <p:cNvSpPr txBox="1"/>
          <p:nvPr/>
        </p:nvSpPr>
        <p:spPr>
          <a:xfrm>
            <a:off x="685800" y="2948940"/>
            <a:ext cx="3703320" cy="342900"/>
          </a:xfrm>
          <a:prstGeom prst="rect">
            <a:avLst/>
          </a:prstGeom>
          <a:noFill/>
        </p:spPr>
        <p:txBody>
          <a:bodyPr wrap="square" lIns="0" rIns="0" tIns="0" bIns="0" anchor="t">
            <a:spAutoFit/>
          </a:bodyPr>
          <a:lstStyle/>
          <a:p>
            <a:pPr algn="l"/>
            <a:r>
              <a:rPr sz="975" b="0">
                <a:solidFill>
                  <a:srgbClr val="36454F"/>
                </a:solidFill>
                <a:latin typeface="Calibri"/>
              </a:rPr>
              <a:t>• Why 1.96 in the CI formula — where does that come from?</a:t>
            </a:r>
          </a:p>
        </p:txBody>
      </p:sp>
      <p:sp>
        <p:nvSpPr>
          <p:cNvPr id="11" name="TextBox 10"/>
          <p:cNvSpPr txBox="1"/>
          <p:nvPr/>
        </p:nvSpPr>
        <p:spPr>
          <a:xfrm>
            <a:off x="685800" y="3291840"/>
            <a:ext cx="3703320" cy="342900"/>
          </a:xfrm>
          <a:prstGeom prst="rect">
            <a:avLst/>
          </a:prstGeom>
          <a:noFill/>
        </p:spPr>
        <p:txBody>
          <a:bodyPr wrap="square" lIns="0" rIns="0" tIns="0" bIns="0" anchor="t">
            <a:spAutoFit/>
          </a:bodyPr>
          <a:lstStyle/>
          <a:p>
            <a:pPr algn="l"/>
            <a:r>
              <a:rPr sz="975" b="0">
                <a:solidFill>
                  <a:srgbClr val="36454F"/>
                </a:solidFill>
                <a:latin typeface="Calibri"/>
              </a:rPr>
              <a:t>• What if the underlying data is really not normal?</a:t>
            </a:r>
          </a:p>
        </p:txBody>
      </p:sp>
      <p:sp>
        <p:nvSpPr>
          <p:cNvPr id="12" name="TextBox 11"/>
          <p:cNvSpPr txBox="1"/>
          <p:nvPr/>
        </p:nvSpPr>
        <p:spPr>
          <a:xfrm>
            <a:off x="617220" y="3909060"/>
            <a:ext cx="3771900" cy="342900"/>
          </a:xfrm>
          <a:prstGeom prst="rect">
            <a:avLst/>
          </a:prstGeom>
          <a:noFill/>
        </p:spPr>
        <p:txBody>
          <a:bodyPr wrap="square" lIns="0" rIns="0" tIns="0" bIns="0" anchor="t">
            <a:spAutoFit/>
          </a:bodyPr>
          <a:lstStyle/>
          <a:p>
            <a:pPr algn="l"/>
            <a:r>
              <a:rPr sz="975" b="1">
                <a:solidFill>
                  <a:srgbClr val="F96167"/>
                </a:solidFill>
                <a:latin typeface="Calibri"/>
              </a:rPr>
              <a:t>Bring your own — every question helps the room.</a:t>
            </a:r>
          </a:p>
        </p:txBody>
      </p:sp>
      <p:sp>
        <p:nvSpPr>
          <p:cNvPr id="13" name="Rectangle 12"/>
          <p:cNvSpPr/>
          <p:nvPr/>
        </p:nvSpPr>
        <p:spPr>
          <a:xfrm>
            <a:off x="4697730" y="1303020"/>
            <a:ext cx="3977640" cy="3429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03470" y="1440180"/>
            <a:ext cx="3703320" cy="342900"/>
          </a:xfrm>
          <a:prstGeom prst="rect">
            <a:avLst/>
          </a:prstGeom>
          <a:noFill/>
        </p:spPr>
        <p:txBody>
          <a:bodyPr wrap="square" lIns="0" rIns="0" tIns="0" bIns="0" anchor="t">
            <a:spAutoFit/>
          </a:bodyPr>
          <a:lstStyle/>
          <a:p>
            <a:pPr algn="l"/>
            <a:r>
              <a:rPr sz="1350" b="1">
                <a:solidFill>
                  <a:srgbClr val="FFFFFF"/>
                </a:solidFill>
                <a:latin typeface="Calibri"/>
              </a:rPr>
              <a:t>📝  Assignment preview</a:t>
            </a:r>
          </a:p>
        </p:txBody>
      </p:sp>
      <p:sp>
        <p:nvSpPr>
          <p:cNvPr id="15" name="TextBox 14"/>
          <p:cNvSpPr txBox="1"/>
          <p:nvPr/>
        </p:nvSpPr>
        <p:spPr>
          <a:xfrm>
            <a:off x="4903470" y="1851660"/>
            <a:ext cx="3703320" cy="342900"/>
          </a:xfrm>
          <a:prstGeom prst="rect">
            <a:avLst/>
          </a:prstGeom>
          <a:noFill/>
        </p:spPr>
        <p:txBody>
          <a:bodyPr wrap="square" lIns="0" rIns="0" tIns="0" bIns="0" anchor="t">
            <a:spAutoFit/>
          </a:bodyPr>
          <a:lstStyle/>
          <a:p>
            <a:pPr algn="l"/>
            <a:r>
              <a:rPr sz="975" b="0">
                <a:solidFill>
                  <a:srgbClr val="F9E795"/>
                </a:solidFill>
                <a:latin typeface="Consolas"/>
              </a:rPr>
              <a:t>Open: notebooks/assignment.ipynb</a:t>
            </a:r>
          </a:p>
        </p:txBody>
      </p:sp>
      <p:sp>
        <p:nvSpPr>
          <p:cNvPr id="16" name="TextBox 15"/>
          <p:cNvSpPr txBox="1"/>
          <p:nvPr/>
        </p:nvSpPr>
        <p:spPr>
          <a:xfrm>
            <a:off x="4903470" y="2263140"/>
            <a:ext cx="3703320" cy="1920240"/>
          </a:xfrm>
          <a:prstGeom prst="rect">
            <a:avLst/>
          </a:prstGeom>
          <a:noFill/>
        </p:spPr>
        <p:txBody>
          <a:bodyPr wrap="square" lIns="0" rIns="0" tIns="0" bIns="0" anchor="t">
            <a:spAutoFit/>
          </a:bodyPr>
          <a:lstStyle/>
          <a:p>
            <a:pPr algn="l"/>
            <a:r>
              <a:rPr sz="975" b="0">
                <a:solidFill>
                  <a:srgbClr val="E8F1F5"/>
                </a:solidFill>
                <a:latin typeface="Calibri"/>
              </a:rPr>
              <a:t>Lakeside Bank — Tom Bradley needs help.</a:t>
            </a:r>
          </a:p>
          <a:p>
            <a:pPr algn="l"/>
            <a:r>
              <a:rPr sz="975" b="0">
                <a:solidFill>
                  <a:srgbClr val="E8F1F5"/>
                </a:solidFill>
                <a:latin typeface="Calibri"/>
              </a:rPr>
              <a:t/>
            </a:r>
          </a:p>
          <a:p>
            <a:pPr algn="l"/>
            <a:r>
              <a:rPr sz="975" b="0">
                <a:solidFill>
                  <a:srgbClr val="E8F1F5"/>
                </a:solidFill>
                <a:latin typeface="Calibri"/>
              </a:rPr>
              <a:t>Apply the same three tools:</a:t>
            </a:r>
          </a:p>
          <a:p>
            <a:pPr algn="l"/>
            <a:r>
              <a:rPr sz="975" b="0">
                <a:solidFill>
                  <a:srgbClr val="E8F1F5"/>
                </a:solidFill>
                <a:latin typeface="Calibri"/>
              </a:rPr>
              <a:t>  · Distribution analysis</a:t>
            </a:r>
          </a:p>
          <a:p>
            <a:pPr algn="l"/>
            <a:r>
              <a:rPr sz="975" b="0">
                <a:solidFill>
                  <a:srgbClr val="E8F1F5"/>
                </a:solidFill>
                <a:latin typeface="Calibri"/>
              </a:rPr>
              <a:t>  · Confidence intervals</a:t>
            </a:r>
          </a:p>
          <a:p>
            <a:pPr algn="l"/>
            <a:r>
              <a:rPr sz="975" b="0">
                <a:solidFill>
                  <a:srgbClr val="E8F1F5"/>
                </a:solidFill>
                <a:latin typeface="Calibri"/>
              </a:rPr>
              <a:t>  · A/B test with p-value</a:t>
            </a:r>
          </a:p>
          <a:p>
            <a:pPr algn="l"/>
            <a:r>
              <a:rPr sz="975" b="0">
                <a:solidFill>
                  <a:srgbClr val="E8F1F5"/>
                </a:solidFill>
                <a:latin typeface="Calibri"/>
              </a:rPr>
              <a:t/>
            </a:r>
          </a:p>
          <a:p>
            <a:pPr algn="l"/>
            <a:r>
              <a:rPr sz="975" b="0">
                <a:solidFill>
                  <a:srgbClr val="E8F1F5"/>
                </a:solidFill>
                <a:latin typeface="Calibri"/>
              </a:rPr>
              <a:t>— but to a new dataset and a new business problem.</a:t>
            </a:r>
          </a:p>
          <a:p>
            <a:pPr algn="l"/>
            <a:r>
              <a:rPr sz="975" b="0">
                <a:solidFill>
                  <a:srgbClr val="E8F1F5"/>
                </a:solidFill>
                <a:latin typeface="Calibri"/>
              </a:rPr>
              <a:t/>
            </a:r>
          </a:p>
          <a:p>
            <a:pPr algn="l"/>
            <a:r>
              <a:rPr sz="975" b="0">
                <a:solidFill>
                  <a:srgbClr val="E8F1F5"/>
                </a:solidFill>
                <a:latin typeface="Calibri"/>
              </a:rPr>
              <a:t>Due before L03 session.</a:t>
            </a:r>
          </a:p>
        </p:txBody>
      </p:sp>
      <p:sp>
        <p:nvSpPr>
          <p:cNvPr id="17" name="TextBox 16"/>
          <p:cNvSpPr txBox="1"/>
          <p:nvPr/>
        </p:nvSpPr>
        <p:spPr>
          <a:xfrm>
            <a:off x="4903470" y="4183380"/>
            <a:ext cx="3703320" cy="342900"/>
          </a:xfrm>
          <a:prstGeom prst="rect">
            <a:avLst/>
          </a:prstGeom>
          <a:noFill/>
        </p:spPr>
        <p:txBody>
          <a:bodyPr wrap="square" lIns="0" rIns="0" tIns="0" bIns="0" anchor="t">
            <a:spAutoFit/>
          </a:bodyPr>
          <a:lstStyle/>
          <a:p>
            <a:pPr algn="l"/>
            <a:r>
              <a:rPr sz="1050" b="1">
                <a:solidFill>
                  <a:srgbClr val="F9E795"/>
                </a:solidFill>
                <a:latin typeface="Calibri"/>
              </a:rPr>
              <a:t>See you in L03.</a:t>
            </a:r>
          </a:p>
        </p:txBody>
      </p:sp>
      <p:pic>
        <p:nvPicPr>
          <p:cNvPr id="19" name="Picture 1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IA_1920x1080_1" id="{AE813658-6506-A745-B494-E9623D69A84F}" vid="{98D95D8B-1F05-BF49-9671-2CF52C7BA5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