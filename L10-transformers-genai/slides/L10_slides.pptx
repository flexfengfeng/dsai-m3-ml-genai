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L10 — Transformers, Attention &amp; GenAI. The final lesson of Module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L09 shipped semantic search. Marcus's final ask: a shopping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questions structure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Attention solves the long-range context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vectors per token: query, key,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formula in plain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Multi-head: parallel attentions, each specialising on a different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transformer block: attention + feed-forward + residuals + LayerNorm.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architecture, scaled from 22M to 1T+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02_attention_intuition.ipynb: 20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LLM is a next-token predictor. That's literally what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Sampling parameters — how to pick from the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 templates: the format instruction-tuned models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03_using_an_llm.ipynb: 25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LLM doesn't know your data. Asking it directly produces fluent nonsense.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RAG: retrieve relevant docs, stuff them in the prompt, then generate.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side contributes what the other lacks.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04_rag_pipeline.ipynb: 25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Friday recommendation for the shopping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deployment trade-off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tree: prompt → RAG → fine-tune.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to remember from L10.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to use what for GenAI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pitfalls in production GenAI.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you've built across nine lessons.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journey — and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next — directions for further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assignment — ship a RAG-powered shopping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Resources to keep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thanks and farewell.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Trebuchet MS"/>
              </a:rPr>
              <a:t>L10 — Transformers &amp; GenAI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8F1F5"/>
                </a:solidFill>
                <a:latin typeface="Calibri"/>
              </a:rPr>
              <a:t>Attention · LLMs · RAG · the architecture behind 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E795"/>
                </a:solidFill>
                <a:latin typeface="Calibri"/>
              </a:rPr>
              <a:t>The final lesson of Module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F1F5"/>
                </a:solidFill>
                <a:latin typeface="Calibri"/>
              </a:rPr>
              <a:t>By the end: you can build a RAG-powered chatbot from scratch.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Format: ~90 min slides · ~90 min hands-on (3 notebooks + assignment)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Search shipped. Marcus's final ask.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Marcus, end of L09: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"Can we build a shopping ASSISTANT? Customer asks 'I need a summer outfit for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a beach holiday under £200' — it understands the question AND recommends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actual products from our catalogue."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What's different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Open the black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931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Where do embeddings come from? Attention + transformers.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Use an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89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Load a small model, tokenize, generate, sample, chat-format.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Build RAG 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846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Combine L09 retrieval with LLM generation — the GenAI stack.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Module 3 closes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303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By Friday you'll have the modern ML toolkit, end to 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Today's Three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From attention to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3152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55448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69164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What IS attention?</a:t>
            </a:r>
          </a:p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What does it actually compute?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231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 matrix multiply + softmax that lets each token see every other token, weighted by relevance.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73152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01752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15468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What is an LLM,</a:t>
            </a:r>
          </a:p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mechanically?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862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 transformer trained to predict the next token. Generation is a one-token-at-a-time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80560"/>
            <a:ext cx="73152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48056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61772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How do you USE</a:t>
            </a:r>
          </a:p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an LLM on YOUR data?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492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RAG: retrieve relevant docs, stuff them in the prompt, let the LLM answer with grounding.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3/30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Why Attention?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context problem in one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Read these two sentences: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9E795"/>
                </a:solidFill>
                <a:latin typeface="Consolas"/>
              </a:rPr>
              <a:t>"The trophy didn't fit in the suitcase because IT was too big."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9E795"/>
                </a:solidFill>
                <a:latin typeface="Consolas"/>
              </a:rPr>
              <a:t>"The trophy didn't fit in the suitcase because IT was too small."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83280"/>
            <a:ext cx="1106424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First IT = trophy (too big). Second IT = suitcase (too small). Same word, different meaning.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14800"/>
            <a:ext cx="11064240" cy="1828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What the model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To disambiguate IT, look at every other word in the sentence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Weight some heavily (trophy, suitcase, big/small) and some lightly (the, was)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Use the weighting to build a context-aware representation of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Q · K · V — Three Vectors Per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 attention computes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For each token, the model computes three vectors via learned projections.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2286000" cy="777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QUERY (Q)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2240280"/>
            <a:ext cx="8595360" cy="7772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 THIS token is looking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2286000" cy="7772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KEY (K)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3154680"/>
            <a:ext cx="8595360" cy="7772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33375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 each OTHER token offers — labels for matching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69080"/>
            <a:ext cx="2286000" cy="7772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VALUE (V)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4069080"/>
            <a:ext cx="8595360" cy="7772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actual content each token contributes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9E795"/>
                </a:solidFill>
                <a:latin typeface="Consolas"/>
              </a:rPr>
              <a:t>attention(Q, K, V) = softmax(Q · Kᵀ / √d) · 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The Attention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Three steps, in plain English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731520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691640"/>
            <a:ext cx="1014984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8288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Dot products Q · Kᵀ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40280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Similarity score for every (query, key) pair.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Result: a seq_len × seq_len matrix of scores.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73152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108960"/>
            <a:ext cx="1014984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2461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Scale + softmax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57600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Divide by √d to control magnitude, then softmax along each row.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Each row now sums to 1 — these are ATTENTION WEIGHTS.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731520" cy="12801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526280"/>
            <a:ext cx="10149840" cy="12801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6634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Weighted sum: weights ·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074920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Each output token = weighted average of all values, using the weights.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Result: every token now contains info from every other token, focused on the relevant ones.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Multi-Head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Several attentions in parallel, each with its specialty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One attention layer learns ONE relationship. Real models need many.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560320" cy="1828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Head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E8F1F5"/>
                </a:solidFill>
                <a:latin typeface="Calibri"/>
              </a:rPr>
              <a:t>Coreference</a:t>
            </a:r>
          </a:p>
          <a:p>
            <a:pPr algn="ctr"/>
            <a:r>
              <a:rPr sz="1300" b="0">
                <a:solidFill>
                  <a:srgbClr val="E8F1F5"/>
                </a:solidFill>
                <a:latin typeface="Calibri"/>
              </a:rPr>
              <a:t>(pronouns → entities)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468880"/>
            <a:ext cx="2560320" cy="1828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Head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004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E8F1F5"/>
                </a:solidFill>
                <a:latin typeface="Calibri"/>
              </a:rPr>
              <a:t>Subject-verb</a:t>
            </a:r>
          </a:p>
          <a:p>
            <a:pPr algn="ctr"/>
            <a:r>
              <a:rPr sz="1300" b="0">
                <a:solidFill>
                  <a:srgbClr val="E8F1F5"/>
                </a:solidFill>
                <a:latin typeface="Calibri"/>
              </a:rPr>
              <a:t>syntactic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468880"/>
            <a:ext cx="2560320" cy="1828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Head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E8F1F5"/>
                </a:solidFill>
                <a:latin typeface="Calibri"/>
              </a:rPr>
              <a:t>Modifier-noun</a:t>
            </a:r>
          </a:p>
          <a:p>
            <a:pPr algn="ctr"/>
            <a:r>
              <a:rPr sz="1300" b="0">
                <a:solidFill>
                  <a:srgbClr val="E8F1F5"/>
                </a:solidFill>
                <a:latin typeface="Calibri"/>
              </a:rPr>
              <a:t>adjective relationships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468880"/>
            <a:ext cx="2560320" cy="1828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Head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2004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E8F1F5"/>
                </a:solidFill>
                <a:latin typeface="Calibri"/>
              </a:rPr>
              <a:t>Long-range</a:t>
            </a:r>
          </a:p>
          <a:p>
            <a:pPr algn="ctr"/>
            <a:r>
              <a:rPr sz="1300" b="0">
                <a:solidFill>
                  <a:srgbClr val="E8F1F5"/>
                </a:solidFill>
                <a:latin typeface="Calibri"/>
              </a:rPr>
              <a:t>discourse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Real transformers use 8-16 heads per layer × 12-96 layers.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Each head's specialty EMERGES from training — nobody hand-designs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The Transformer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Lego brick of modern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ONE block = attention + feed-forward, each wrapped in residual + LayerNorm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1064240" cy="3657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input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v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Multi-head Self-Attention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+ input (residual)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LayerNorm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v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Feed-Forward (2 linear layers + ReLU)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+ previous (residual)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LayerNorm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|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output (same shape as input)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8/30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Same Recipe, Different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From MiniLM to GPT-4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373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d_model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Training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all-MiniLM-L6-v2 (L09)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22M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286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286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384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1B+ sentence pairs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BERT-base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788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110M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788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788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768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88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Wikipedia + books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4612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GPT-2 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291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355M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291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291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1,024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291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WebText (40GB)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794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SmolLM2-360M (today's LLM)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794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361M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7947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7947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960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794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Open web + curation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5196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297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GPT-3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297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175B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4297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96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297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12,288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Internet + books + code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GPT-4 (estimated)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~1T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4800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800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800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Internet + code + RLHF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9E795"/>
                </a:solidFill>
                <a:latin typeface="Calibri"/>
              </a:rPr>
              <a:t>Same Lego brick. What changes: more bricks, more data, more post-training, more money.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9/30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onsolas"/>
              </a:rPr>
              <a:t>Open: 02_attention_intuition.ipynb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Compute attention scores by hand on a toy 6-token sentence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Visualise the attention weights as a heatmap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See multi-head attention with two patterns side by 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Sketch a transformer block in PyTorch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20 minutes  ·  Stop at the Extension marker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What An LLM Actually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Predict the next token. That's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E795"/>
                </a:solidFill>
                <a:latin typeface="Consolas"/>
              </a:rPr>
              <a:t>"The cat sat on the"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→ Probability distribution over the vocabulary: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11064240" cy="17373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mat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246120"/>
            <a:ext cx="3108960" cy="182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200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0.34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95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floor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575304"/>
            <a:ext cx="1645919" cy="182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59" y="35295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0.18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58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rug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904488"/>
            <a:ext cx="822959" cy="182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38587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0.09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87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couch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4233672"/>
            <a:ext cx="640080" cy="182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187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0.07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171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Generate: pick one (greedy / sample) → append → run again → repeat.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Every ChatGPT response is generated by this loop, one token at a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11/30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Sampling — From Distribution To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Temperature, top-k, top-p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286000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Greedy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1691640"/>
            <a:ext cx="8595360" cy="9144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Pick argmax. Deterministic, often repetitive. Good for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228600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Temperature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743200"/>
            <a:ext cx="8595360" cy="9144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9718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Scale logits before softmax. T&lt;1 → sharper; T&gt;1 → flatter. T=0 ≡ greedy.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2286000" cy="914400"/>
          </a:xfrm>
          <a:prstGeom prst="rect">
            <a:avLst/>
          </a:prstGeom>
          <a:solidFill>
            <a:srgbClr val="21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Top-k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3794760"/>
            <a:ext cx="8595360" cy="9144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40233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Only sample from the k highest-probability tokens. Cuts the long tail.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2286000" cy="9144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Top-p (nucleus)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4846320"/>
            <a:ext cx="8595360" cy="9144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5074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Only sample from the smallest set summing to probability mass p. Adaptive cutoff.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E795"/>
                </a:solidFill>
                <a:latin typeface="Calibri"/>
              </a:rPr>
              <a:t>Production default: T=0.7 + top-p=0.9. Lower for code (T=0.2). Higher for creative writing (T=1.0+).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12/30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Chat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Format matters — instruction-tuned models expect specific 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21945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SmolLM2's chat template (each model family has its own):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&lt;|im_start|&gt;system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You are a helpful retail assistant.&lt;|im_end|&gt;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&lt;|im_start|&gt;user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What's a good summer dress?&lt;|im_end|&gt;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&lt;|im_start|&gt;assistant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11064240" cy="1828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Three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Use tokenizer.apply_chat_template() — never hand-roll the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system → user → assistant turn order (or just user → assistant)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Get the format wrong and the model behaves like garbage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13/30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onsolas"/>
              </a:rPr>
              <a:t>Open: 03_using_an_llm.ipynb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Load SmolLM2-360M-Instruct from Hugging 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Watch tokenisation: text → IDs → logits → next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Manual generation loop (10 lines) and model.generate()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Sampling: greedy vs T=0.7 vs T=1.5; chat templates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25 minutes  ·  Stop at the Extension marker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LLM doesn't know YOUR data — so it invents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12801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Q: "I'm looking for a summer dress under £80. What does NorthStar have?"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A (LLM alone): "Sure! NorthStar's Sunburst Linen Dress in coral at £65 is a great choice..."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1106424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THERE IS NO SUNBURST LINEN DRESS.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The model invented a plausible-sounding product. Fluent. Confident. Completely fictional.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Customers who click and find nothing lose trust forever.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Why this happens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The LLM was trained to produce plausible text. It has no access to ground truth.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For any factual question about YOUR data, it will improvise. The fix: give it the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15/30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RAG — 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Retrieve · Augment · Generate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Customer query: "summer dress under £80"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   |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   v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Embed query (L09 model)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   |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   v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Top-5 by cosine similarity over the catalogue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   |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   v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Format retrieved products into the system prompt: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"You can ONLY recommend from the catalogue below.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CATALOGUE: &lt;retrieved&gt;"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   |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       v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  LLM generates answer, grounded in real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16/30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Why RAG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Each side fixes the other's weakness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4389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LLM brings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▸ Language fluency (formulating sentences)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▸ General reasoning (price &lt; £200 filtering)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▸ Question understanding (intent extraction)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▸ Stylistic flexibility (concise / detailed)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394960" cy="4389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retrieval brings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▸ Up-to-date factual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803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▸ Specific products the LLM doesn't know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83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▸ Audit trail (you can show source documents)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86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▸ Easy update (re-embed; no retraining)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17/30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onsolas"/>
              </a:rPr>
              <a:t>Open: 04_rag_pipeline.ipynb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Show LLM hallucinating without context — be horrified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Build the retrieve() function (cosine over catalogue embeddings)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Construct the augmented system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Wrap it in a RAGSystem class — production-ready ~50 lines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25 minutes  ·  Stop at the Extension marker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Sarah's Friday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Production-grade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Sarah, end of L10: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"RAG over the catalogue. all-MiniLM-L6-v2 for retrieval. SmolLM2-360M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for the demo. For production: hosted API (Claude Haiku / GPT-4 mini)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for quality + cost. Always pass top-5 docs + a strict system prompt."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Production guardrails (non-negotiable)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System prompt: "ONLY recommend products from the catalogue below."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988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Validate product names in the answer against the retrieved set (catch hallucinations).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8289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Show source products alongside the answer (audit trail).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6694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Log (query → retrieved → answer) for offline eval and weekly quality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50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A/B test against L09 keyword+semantic baseline before going broad.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19/30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Deployment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Cost · Latency · Quality — pick 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737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Quality /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Self-host SmolLM2 (free)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31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1-3 s/response 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Decent for demo, poor for prod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3464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Self-host 7B on 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26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~200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Good. Infra: $$$/month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20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Hosted Claude Haiku / GPT-4 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20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~500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20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Excellent. ~$0.001 per query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Hosted GPT-4 / Claude Sonnet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114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~2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Best in class. ~$0.03 per query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Fine-tuned in-house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709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65A82"/>
                </a:solidFill>
                <a:latin typeface="Consolas"/>
              </a:rPr>
              <a:t>~100-500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709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Domain-tuned; high setup cost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Most production teams start with hosted API + RAG. Self-host or fine-tune later if needed.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20/30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Prompt vs RAG vs fine-tune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START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|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v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Does the task require KNOWLEDGE the LLM doesn't have?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|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+-- NO  --&gt; Just PROMPT (zero-shot or few-shot)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|          [sentiment, summarisation, format conversion]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|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+-- YES --&gt; Is your knowledge a searchable CORPUS?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            |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            +-- YES --&gt; RAG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            |          [product catalogue, internal docs, code search]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            |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            +-- NO  --&gt; Does the task need a specific STYLE / BEHAVIOUR?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                        |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                        +-- YES --&gt; FINE-TUNE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                        |          [medical reports, brand voice, structured output]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                        |</a:t>
            </a:r>
          </a:p>
          <a:p>
            <a:pPr algn="l"/>
            <a:r>
              <a:rPr sz="1300" b="0">
                <a:solidFill>
                  <a:srgbClr val="F9E795"/>
                </a:solidFill>
                <a:latin typeface="Consolas"/>
              </a:rPr>
              <a:t>                          +-- NO  --&gt; PROMPT harder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21/30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L10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3152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55448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6916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Attention is the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4884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Every modern NLP model — embeddings, classifiers, LLMs — is a stack of transformer blocks.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The recipe doesn't change with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73152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01752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1546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An LLM is a next-token predictor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1188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That's literally all it does. Sampling turns a probability distribution into text.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Generation is a one-token-at-a-time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80560"/>
            <a:ext cx="73152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48056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61772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RAG is the standard for YOUR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07492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Retrieve, augment, generate. Don't expect the LLM to know your catalogue — give it the catalogue.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Guard against hallucination with strict system prompts.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22/30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Method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GenAI tools in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Sentiment / NER /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Pretrained pipeline (transformers.pipeline)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Chat / Q&amp;A about your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88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RAG: embedding retrieval + LLM 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4612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Highly specific domain (medical, legal)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291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Start with RAG; fine-tune if quality insufficient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Style transfer / brand 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794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Fine-tune a small base model on examples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97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Experimental / one-off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297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Hosted API (Claude, GPT). Pay-per-use.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00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Cost-sensitive / high volume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800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Self-hosted small model or fine-tuned 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03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Safety-critical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303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Human-in-the-loop. LLMs hallucinate.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23/30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 goes wrong in production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Trusting the LLM blindly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It will hallucinate confidently. Always validate against ground truth.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231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Hand-rolling chat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Use tokenizer.apply_chat_template(). Wrong format = garbage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Wrong temperature for the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T=0 for code/facts. T=0.7 for chat. T=1+ for creative writing.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40479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94759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Skipping the system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69079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System prompt sets behaviour. "Only use the catalogue below" prevents hallucinations.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3484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5262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4805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Fine-tuning prematurely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7548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Try prompt + few-shot + RAG first. Fine-tuning has high setup cost.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2064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212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663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Ignoring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4406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Run a hand-graded benchmark weekly. Quality drifts; you won't notice without measurement.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24/30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Module 3 — The Toolkit You've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Nine lessons, one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0972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L01-L02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373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Classical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LR, classification metrics, model evaluation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0972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945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Making it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Pipelines, calibration, threshold tuning, fairness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10972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6517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Trees +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517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Gradient boosting, hyperparameter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63240"/>
            <a:ext cx="10972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1089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Unsupervised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108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Clustering, PCA, anomaly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20440"/>
            <a:ext cx="10972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5661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Time 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566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Forecasting, holiday effects, evaluation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77639"/>
            <a:ext cx="10972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23359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23359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Neural networks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02335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MLPs, PyTorch, the training loop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34840"/>
            <a:ext cx="10972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4805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4805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Computer 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4805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CNNs, transfer learning, ResNet18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892040"/>
            <a:ext cx="10972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9377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9377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NLP &amp; embeddings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9377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Semantic search, hybrid retrieval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349240"/>
            <a:ext cx="109728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3949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3949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Transformers &amp; GenAI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394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Attention, LLMs, RAG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65A82"/>
                </a:solidFill>
                <a:latin typeface="Calibri"/>
              </a:rPr>
              <a:t>You can ship classical ML, deep learning, semantic search, AND GenAI. End-to-end.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25/30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Sarah's Journey — And Yours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 the narrative was teaching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E795"/>
                </a:solidFill>
                <a:latin typeface="Calibri"/>
              </a:rPr>
              <a:t>Each lesson was a tool. The story was about how to choose.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▸ L01-L03: ship the simplest model first; measure it; improve only what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▸ L04-L06: pick the tool for the data — trees for tabular, clustering for discovery, ARIMA for seasonal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3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▸ L07-L08: the same training loop works for any architecture; the data and structure are what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7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▸ L09: embeddings expose meaning as geometry; combine semantic with classical for production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▸ L10: GenAI is real but hallucinates; RAG keeps it grounded; you can ship without 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E795"/>
                </a:solidFill>
                <a:latin typeface="Calibri"/>
              </a:rPr>
              <a:t>The mathematics is the easy part. Picking the right tool is taste — and you've started developing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26/30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Directions for further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56032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Domain specialisation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600200"/>
            <a:ext cx="8321040" cy="10058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783080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Pick a vertical — healthcare, finance, retail, NLP, vision — and go deep.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Become the person at your company who knows that area.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256032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MLOps &amp; evaluation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43200"/>
            <a:ext cx="8321040" cy="10058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Shipping is one thing. Keeping a model working over months is harder.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Learn evaluation, monitoring, A/B testing, drift detection.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2560320" cy="10058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Fine-tuning &amp; alignment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3886200"/>
            <a:ext cx="8321040" cy="10058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4069080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PEFT, LoRA, RLHF, DPO. How to bend pretrained models to your specific use case.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Mostly only worth learning when you have a real task that needs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2560320" cy="1005840"/>
          </a:xfrm>
          <a:prstGeom prst="rect">
            <a:avLst/>
          </a:prstGeom>
          <a:solidFill>
            <a:srgbClr val="21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Read the papers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5029200"/>
            <a:ext cx="8321040" cy="10058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5212080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Attention Is All You Need, BERT, GPT-2/3/4, CLIP, LLaMA, DPO.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Reading is faster than waiting for the next course.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27/30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Final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Ship a RAG shopping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20116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alibri"/>
              </a:rPr>
              <a:t>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Part A — Implement a RAGSystem class (retrieve + ask)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Part B — Run 5 customer-query benchmark; grade each on 3 criteria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Part C — Identify two specific weaknesses + concrete 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Optional self-study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optional_extensions.ipynb — prompt engineering, sampling deep-dive, 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Try a hosted API (Claude / OpenAI) in place of SmolLM2 — compare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Add the hallucination-check pattern from NB 04 Extensions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This is the LAST assignment of the module. Submit by end of next week.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28/30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65A82"/>
                </a:solidFill>
                <a:latin typeface="Trebuchet MS"/>
              </a:rPr>
              <a:t>Resources To Keep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Books, papers, communities, courses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774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Murphy, Bishop, Hastie/Tibshirani (classical); Goodfellow, Bishop (DL); HF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Papers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718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arxiv.org/list/cs.LG — Karpathy's reading list; Yannic Kilcher's YouTube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Courses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661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Fast.ai (practical DL); DeepLearning.AI; Stanford CS224N (NLP), CS231N (CV)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6908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Communities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1605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r/MachineLearning; HuggingFace forums; Kaggle competitions; arxiv-sanity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54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7548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Spend more time shipping than studying. Build something every week.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9E795"/>
                </a:solidFill>
                <a:latin typeface="Calibri"/>
              </a:rPr>
              <a:t>If you only do ONE thing: build a side project. Anything. Ship it. Then iterate.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L10 — Slide 29/30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Trebuchet M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8F1F5"/>
                </a:solidFill>
                <a:latin typeface="Calibri"/>
              </a:rPr>
              <a:t>for nine weeks of curiosity, debugging, honest pushback, and shipping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9E795"/>
                </a:solidFill>
                <a:latin typeface="Calibri"/>
              </a:rPr>
              <a:t>You now have the modern ML toolkit.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8F1F5"/>
                </a:solidFill>
                <a:latin typeface="Calibri"/>
              </a:rPr>
              <a:t>Use it well. Be honest about what 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8F1F5"/>
                </a:solidFill>
                <a:latin typeface="Calibri"/>
              </a:rPr>
              <a:t>Now go build something.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Module 3 · Machine Learning &amp; GenAI · DSAI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