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L10 — Transformers, Attention &amp; GenAI. The final lesson of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L09 shipped semantic search. Marcus's final ask: a shopping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structure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solves the long-range context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vectors per token: query, key,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Multi-head: parallel attentions, each specialising on a different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transformer block: attention + feed-forward + residuals + LayerNorm.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architecture, scaled from 22M to 1T+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02_attention_intuition.ipynb: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LLM is a next-token predictor. That's literally what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Sampling parameters — how to pick from the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templates: the format instruction-tuned models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03_using_an_llm.ipynb: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doesn't know your data. Asking it directly produces fluent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RAG: retrieve relevant docs, stuff them in the prompt, then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side contributes what the other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04_rag_pipeline.ipynb: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Friday recommendation for the shopping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deployment trade-off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tree: prompt → RAG → fine-tune.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remember from L10.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use what for GenAI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pitfalls in production 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you've built across nine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— and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next — directions for further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assignment — ship a RAG-powered shopping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 to keep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thanks and farewell.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1732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L10 — Transformers &amp; 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Attention · LLMs · RAG · the architecture behind ChatGPT</a:t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The final lesson of Module 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Search shipped. Marcus's final 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end of L09: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7734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"Can we build a shopping ASSISTANT? Customer asks 'I need a summer outfit for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a beach holiday under £200' — it understands the question AND recommends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actual products from our catalogue."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3746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9489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Open the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489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Where do embeddings come from? Attention + transformers.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291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Use an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91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Load a small model, tokenize, generate, sample, chat-format.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36347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Build RAG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6347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Combine L09 retrieval with LLM generation — the GenAI stack.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3977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Module 3 closes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977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By Friday you'll have the modern ML toolkit, end to end.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Today's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attention to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16586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26873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What IS attention?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What does it actually compute?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1737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 matrix multiply + softmax that lets each token see every other token, weighted by relevance.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6314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26314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6601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What is an LLM,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mechanically?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1465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 transformer trained to predict the next token. Generation is a one-token-at-a-time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6042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6616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36042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46329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How do you USE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an LLM on YOUR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193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RAG: retrieve relevant docs, stuff them in the prompt, let the LLM answer with grounding.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Why Attention?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context problem in one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Read these two sentences: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773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"The trophy didn't fit in the suitcase because IT was too big."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19545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"The trophy didn't fit in the suitcase because IT was too small."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37460"/>
            <a:ext cx="829818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" y="25717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First IT = trophy (too big). Second IT = suitcase (too small). Same word, different meaning.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86100"/>
            <a:ext cx="8298180" cy="13716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" y="31889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What the model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3531870"/>
            <a:ext cx="7886700" cy="891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To disambiguate IT, look at every other word in the sentence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Weight some heavily (trophy, suitcase, big/small) and some lightly (the, was)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Use the weighting to build a context-aware representation of IT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Q · K · V — Three Vectors Per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attention computes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001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For each token, the model computes three vectors via learned projections.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80210"/>
            <a:ext cx="1714500" cy="58293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1737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QUERY (Q)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0" y="1680210"/>
            <a:ext cx="6446520" cy="58293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300" y="181737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THIS token is looking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6010"/>
            <a:ext cx="1714500" cy="58293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0317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KEY (K)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8850" y="2366010"/>
            <a:ext cx="6446520" cy="58293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0300" y="250317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each OTHER token offers — labels for 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51810"/>
            <a:ext cx="1714500" cy="58293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18897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(V)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0" y="3051810"/>
            <a:ext cx="6446520" cy="58293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0300" y="318897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actual content each token contributes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46220"/>
            <a:ext cx="8298180" cy="4800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4114800"/>
            <a:ext cx="78867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9E795"/>
                </a:solidFill>
                <a:latin typeface="Consolas"/>
              </a:rPr>
              <a:t>attention(Q, K, V) = softmax(Q · Kᵀ / √d) · V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The Attention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Three steps,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54864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7340"/>
            <a:ext cx="5486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26873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Dot products Q · Kᵀ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80210"/>
            <a:ext cx="73380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Similarity score for every (query, key) pair.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Result: a seq_len × seq_len matrix of scores.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54864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40330"/>
            <a:ext cx="5486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33172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43459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Scale + softmax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43200"/>
            <a:ext cx="73380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Divide by √d to control magnitude, then softmax along each row.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Each row now sums to 1 — these are ATTENTION WEIGHTS.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94710"/>
            <a:ext cx="54864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486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39471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4975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Weighted sum: weights ·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06190"/>
            <a:ext cx="73380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Each output token = weighted average of all values, using the weights.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Result: every token now contains info from every other token, focused on the relevant ones.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Several attentions in parallel, each with its specialty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001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One attention layer learns ONE relationship. Real models need many.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51660"/>
            <a:ext cx="1920240" cy="1371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" y="202311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Head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400300"/>
            <a:ext cx="178308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Coreference</a:t>
            </a:r>
          </a:p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(pronouns → entities)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7460" y="1851660"/>
            <a:ext cx="1920240" cy="1371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02311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Head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00300"/>
            <a:ext cx="178308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Subject-verb</a:t>
            </a:r>
          </a:p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syntactic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851660"/>
            <a:ext cx="1920240" cy="1371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2020" y="202311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Head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020" y="2400300"/>
            <a:ext cx="178308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Modifier-noun</a:t>
            </a:r>
          </a:p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adjective relationships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9420" y="1851660"/>
            <a:ext cx="1920240" cy="1371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02311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Head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00300"/>
            <a:ext cx="178308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Long-range</a:t>
            </a:r>
          </a:p>
          <a:p>
            <a:pPr algn="ctr"/>
            <a:r>
              <a:rPr sz="975" b="0">
                <a:solidFill>
                  <a:srgbClr val="E8F1F5"/>
                </a:solidFill>
                <a:latin typeface="Calibri"/>
              </a:rPr>
              <a:t>discourse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49758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Real transformers use 8-16 heads per layer × 12-96 layers.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90906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Each head's specialty EMERGES from training — nobody hand-designs them.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The Transformer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Lego brick of modern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001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ONE block = attention + feed-forward, each wrapped in residual + LayerNorm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14500"/>
            <a:ext cx="829818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1817370"/>
            <a:ext cx="7886700" cy="2537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input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v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Multi-head Self-Attention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+ input (residual)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LayerNorm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v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Feed-Forward (2 linear layers + ReLU)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+ previous (residual)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LayerNorm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output (same shape as input)</a:t>
            </a:r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Same Recipe, Different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MiniLM to GPT-4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030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030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0302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0" y="130302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d_model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30302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Training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021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17145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all-MiniLM-L6-v2 (L09)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145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22M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1450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171450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71450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1B+ sentence pairs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5740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09169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BERT-base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9169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110M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09169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209169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768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09169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Wikipedia + books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3459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24688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GPT-2 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355M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46888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0" y="246888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1,024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WebText (40GB)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81178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930" y="284607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SmolLM2-360M (today's 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84607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361M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84607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3500" y="284607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960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4607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Open web + curation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18897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2930" y="32232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GPT-3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2232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175B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22326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3500" y="322326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12,288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22326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Internet + books + 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56616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2930" y="360045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GPT-4 (estimated)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60045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~1T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60045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3500" y="3600450"/>
            <a:ext cx="1028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60045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Internet + code + RLHF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080510"/>
            <a:ext cx="8298180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" y="414909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F9E795"/>
                </a:solidFill>
                <a:latin typeface="Calibri"/>
              </a:rPr>
              <a:t>Same Lego brick. What changes: more bricks, more data, more post-training, more money.</a:t>
            </a:r>
          </a:p>
        </p:txBody>
      </p:sp>
      <p:pic>
        <p:nvPicPr>
          <p:cNvPr id="50" name="Picture 4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Consolas"/>
              </a:rPr>
              <a:t>Open: 02_attention_intuition.ipynb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Compute attention scores by hand on a toy 6-token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Visualise the attention weights as a 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See multi-head attention with two patterns side by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Sketch a transformer block in PyTorch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What An LLM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Predict the next token. That's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10287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430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Consolas"/>
              </a:rPr>
              <a:t>"The cat sat on the"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18859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→ Probability distribution over the vocabulary: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97430"/>
            <a:ext cx="8298180" cy="13030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" y="2400300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434590"/>
            <a:ext cx="2331720" cy="137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3500" y="2400300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0.34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2647188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floor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681478"/>
            <a:ext cx="1234439" cy="137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6219" y="2647188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" y="289407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rug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928366"/>
            <a:ext cx="617219" cy="137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8999" y="28940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0.09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" y="3140964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couch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175254"/>
            <a:ext cx="480060" cy="137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14096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0.07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" y="3387852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71900"/>
            <a:ext cx="829818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" y="387477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Generate: pick one (greedy / sample) → append → run again → repeat.</a:t>
            </a:r>
          </a:p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Every ChatGPT response is generated by this loop, one token at a time.</a:t>
            </a:r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Sampling — From Distribution To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Temperature, top-k, top-p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171450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7447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Greedy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8850" y="1268730"/>
            <a:ext cx="64465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0300" y="1440180"/>
            <a:ext cx="6172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Pick argmax. Deterministic, often repetitive. Good for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17145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631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8850" y="2057400"/>
            <a:ext cx="64465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0300" y="2228850"/>
            <a:ext cx="6172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Scale logits before softmax. T&lt;1 → sharper; T&gt;1 → flatter. T=0 ≡ greedy.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46070"/>
            <a:ext cx="1714500" cy="68580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5181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Top-k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8850" y="2846070"/>
            <a:ext cx="64465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0300" y="3017520"/>
            <a:ext cx="6172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Only sample from the k highest-probability tokens. Cuts the long tail.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34740"/>
            <a:ext cx="171450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4048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Top-p (nucleus)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28850" y="3634740"/>
            <a:ext cx="644652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0300" y="3806190"/>
            <a:ext cx="6172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Only sample from the smallest set summing to probability mass p. Adaptive cutoff.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Chat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Format matters — instruction-tuned models expect specific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SmolLM2's chat template (each model family has its own):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77340"/>
            <a:ext cx="788670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&lt;|im_start|&gt;system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You are a helpful retail assistant.&lt;|im_end|&gt;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&lt;|im_start|&gt;user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What's a good summer dress?&lt;|im_end|&gt;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&lt;|im_start|&gt;assistant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48940"/>
            <a:ext cx="8298180" cy="13716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30518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Three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39471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Use tokenizer.apply_chat_template() — never hand-roll the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6690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system → user → assistant turn order (or just user → assistant)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9433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Get the format wrong and the model behaves like garbage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Consolas"/>
              </a:rPr>
              <a:t>Open: 03_using_an_llm.ipynb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Load SmolLM2-360M-Instruct from Hugging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Watch tokenisation: text → IDs → logits → next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Manual generation loop (10 lines) and model.generate()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Sampling: greedy vs T=0.7 vs T=1.5; chat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LLM doesn't know YOUR data — so it invents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Q: "I'm looking for a summer dress under £80. What does NorthStar have?"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7734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A (LLM alone): "Sure! NorthStar's Sunburst Linen Dress in coral at £65 is a great choice..."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63140"/>
            <a:ext cx="8298180" cy="10287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3660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THERE IS NO SUNBURST LINEN 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74320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The model invented a plausible-sounding product. Fluent. Confident. Completely fictional.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Customers who click and find nothing lose trust forever.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29000"/>
            <a:ext cx="8298180" cy="10287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" y="35318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Why this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387477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LLM was trained to produce plausible text. It has no access to ground truth.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For any factual question about YOUR data, it will improvise. The fix: give it the data.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RAG —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Retrieve · Augment · Generate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3291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308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Customer query: "summer dress under £80"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Embed query (L09 model)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Top-5 by cosine similarity over the catalogue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Format retrieved products into the system prompt: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"You can ONLY recommend from the catalogue below.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CATALOGUE: &lt;retrieved&gt;"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LLM generates answer, grounded in real products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Why RAG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Each side fixes the other's weakness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4046220" cy="3291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The LLM brings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7830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Language fluency (formulating sentences)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216027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General reasoning (price &lt; £200 filtering)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253746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Question understanding (intent extraction)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29146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Stylistic flexibility (concise / detailed)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165860"/>
            <a:ext cx="4046220" cy="3291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4890" y="133731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The retrieval brings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17830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Up-to-date factual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4890" y="216027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Specific products the LLM doesn't know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4890" y="253746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Audit trail (you can show source documents)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4890" y="29146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Easy update (re-embed; no retraining)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Consolas"/>
              </a:rPr>
              <a:t>Open: 04_rag_pipeline.ipynb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Show LLM hallucinating without context — be horrified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the retrieve() function (cosine over catalogue embeddings)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Construct the augmented 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Wrap it in a RAGSystem class — production-ready ~50 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Sarah's Friday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Production-grade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Sarah, end of L10: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77340"/>
            <a:ext cx="78867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"RAG over the catalogue. all-MiniLM-L6-v2 for retrieval. SmolLM2-360M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for the demo. For production: hosted API (Claude Haiku / GPT-4 mini)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for quality + cost. Always pass top-5 docs + a strict system prompt."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Production guardrails (non-negotiable)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308610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System prompt: "ONLY recommend products from the catalogue below."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374136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Validate product names in the answer against the retrieved set (catch hallucinations).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662172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Show source products alongside the answer (audit trail).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950208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Log (query → retrieved → answer) for offline eval and weekly quality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4238244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A/B test against L09 keyword+semantic baseline before going broad.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Deployment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Cost · Latency · Quality — pick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0302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0" y="13030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0" y="13030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Quality /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8021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74879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Self-host SmolLM2 (free)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0" y="174879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1-3 s/response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0" y="17487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Decent for demo, poor for prod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2598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19456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Self-host 7B on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21945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~200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0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Good. Infra: $$$/month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7175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64033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Hosted Claude Haiku / GPT-4 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0" y="264033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~500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9300" y="264033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Excellent. ~$0.001 per 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01752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" y="308610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Hosted GPT-4 / Claude Sonnet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0" y="30861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~2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0" y="30861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Best in class. ~$0.03 per query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6329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930" y="353187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Fine-tuned in-house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0" y="353187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~100-500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9300" y="353187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Domain-tuned; high setup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11930"/>
            <a:ext cx="8298180" cy="3429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" y="404622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Most production teams start with hosted API + RAG. Self-host or fine-tune later if needed.</a:t>
            </a:r>
          </a:p>
        </p:txBody>
      </p:sp>
      <p:pic>
        <p:nvPicPr>
          <p:cNvPr id="32" name="Picture 3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Prompt vs RAG vs fine-tune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3429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322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START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v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Does the task require KNOWLEDGE the LLM doesn't have?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+-- NO  --&gt; Just PROMPT (zero-shot or few-shot)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|          [sentiment, summarisation, format conversion]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+-- YES --&gt; Is your knowledge a searchable CORPUS?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+-- YES --&gt; RAG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|          [product catalogue, internal docs, code search]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+-- NO  --&gt; Does the task need a specific STYLE / BEHAVIOUR?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          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            +-- YES --&gt; FINE-TUNE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            |          [medical reports, brand voice, structured output]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            |</a:t>
            </a:r>
          </a:p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                          +-- NO  --&gt; PROMPT harder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L10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16586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26873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Attention is the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1163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Every modern NLP model — embeddings, classifiers, LLMs — is a stack of transformer blocks.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recipe doesn't change with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6314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26314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6601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An LLM is a next-token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0891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That's literally all it does. Sampling turns a probability distribution into text.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Generation is a one-token-at-a-time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6042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6616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36042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46329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RAG is the standard for YOUR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0619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Retrieve, augment, generate. Don't expect the LLM to know your catalogue — give it the catalogue.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Guard against hallucination with strict system prompts.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Method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GenAI tools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030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030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8021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17145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Sentiment / NER /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145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Pretrained pipeline (transformers.pipeline)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5740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09169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Chat / Q&amp;A about your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9169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RAG: embedding retrieval + LLM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3459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930" y="24688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Highly specific domain (medical, legal)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Start with RAG; fine-tune if quality insufficient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1178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84607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Style transfer / brand 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4607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Fine-tune a small base model on examples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8897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" y="32232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Experimental / one-off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232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Hosted API (Claude, GPT). Pay-per-use.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360045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Cost-sensitive / high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0045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Self-hosted small model or fine-tuned 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4335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930" y="3977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Safety-critical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77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Human-in-the-loop. LLMs hallucinate.</a:t>
            </a:r>
          </a:p>
        </p:txBody>
      </p:sp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goes wrong in production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3731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" y="130302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Trusting the LLM blindly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" y="150876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It will hallucinate confidently. Always validate against ground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5166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" y="181737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Hand-rolling chat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" y="202311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Use tokenizer.apply_chat_template(). Wrong format = garbage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9743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6601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" y="233172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Wrong temperature for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253746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T=0 for code/facts. T=0.7 for chat. T=1+ for creative writing.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11779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80359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" y="2846069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Skipping the system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" y="3051809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System prompt sets behaviour. "Only use the catalogue below" prevents hallucinations.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2613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9471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" y="336042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Fine-tuning prematurely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" y="356616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Try prompt + few-shot + RAG first. Fine-tuning has high setup cost.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4048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0906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" y="387477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Ignoring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" y="408051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Run a hand-graded benchmark weekly. Quality drifts; you won't notice without measurement.</a:t>
            </a:r>
          </a:p>
        </p:txBody>
      </p:sp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Module 3 — The Toolkit You've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Nine lessons, one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030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L01-L02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30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Classical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4860" y="13030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LR, classification metrics, model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116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Making it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860" y="16459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Pipelines, calibration, threshold tuning, fairness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545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888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888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Trees +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860" y="19888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Gradient boosting, hyperparameter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974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317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317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Unsupervised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860" y="23317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Clustering, PCA, anomaly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6403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6746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6746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Time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4860" y="26746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Forecasting, holiday effects,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83229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17519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017519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Neural networks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4860" y="3017519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MLPs, PyTorch, the training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3261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604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3604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Computer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4860" y="33604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CNNs, transfer learning, ResNet18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669030"/>
            <a:ext cx="82296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033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7033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NLP &amp; embeddings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4860" y="37033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Semantic search, hybrid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011930"/>
            <a:ext cx="822960" cy="3086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46220"/>
            <a:ext cx="8229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04622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Transformers &amp; GenAI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4860" y="404622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Attention, LLMs, RAG</a:t>
            </a:r>
          </a:p>
        </p:txBody>
      </p:sp>
      <p:pic>
        <p:nvPicPr>
          <p:cNvPr id="43" name="Picture 4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Sarah's Journey — And Yours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the narrative was teaching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3291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Each lesson was a tool. The story was about how to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8173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L01-L03: ship the simplest model first; measure it; improve only what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2288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L04-L06: pick the tool for the data — trees for tabular, clustering for discovery, ARIMA for seasonal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40329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L07-L08: the same training loop works for any architecture; the data and structure are what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051809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L09: embeddings expose meaning as geometry; combine semantic with classical for production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46329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L10: GenAI is real but hallucinates; RAG keeps it grounded; you can ship without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411480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9E795"/>
                </a:solidFill>
                <a:latin typeface="Calibri"/>
              </a:rPr>
              <a:t>The mathematics is the easy part. Picking the right tool is taste — and you've started developing it.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Directions for further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0150"/>
            <a:ext cx="1920240" cy="7543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05890"/>
            <a:ext cx="19202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Domain specialisation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4590" y="1200150"/>
            <a:ext cx="624078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337310"/>
            <a:ext cx="59664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Pick a vertical — healthcare, finance, retail, NLP, vision — and go deep.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Become the person at your company who knows that area.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1920240" cy="7543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63140"/>
            <a:ext cx="19202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MLOps &amp;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4590" y="2057400"/>
            <a:ext cx="624078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59664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Shipping is one thing. Keeping a model working over months is harder.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Learn evaluation, monitoring, A/B testing, drift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14650"/>
            <a:ext cx="1920240" cy="7543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120390"/>
            <a:ext cx="19202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Fine-tuning &amp; alignment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4590" y="2914650"/>
            <a:ext cx="624078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3051810"/>
            <a:ext cx="59664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PEFT, LoRA, RLHF, DPO. How to bend pretrained models to your specific use case.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Mostly only worth learning when you have a real task that needs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71900"/>
            <a:ext cx="1920240" cy="75438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77640"/>
            <a:ext cx="19202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Read the papers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34590" y="3771900"/>
            <a:ext cx="624078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3909060"/>
            <a:ext cx="59664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Attention Is All You Need, BERT, GPT-2/3/4, CLIP, LLaMA, DPO.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Reading is faster than waiting for the next course.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Final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Ship a RAG shopping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65860"/>
            <a:ext cx="8298180" cy="1508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2687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alibri"/>
              </a:rP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577340"/>
            <a:ext cx="7886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A — Implement a RAGSystem class (retrieve + ask)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B — Run 5 customer-query benchmark; grade each on 3 criteria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C — Identify two specific weaknesses + concrete 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11779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8460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Optional self-study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2575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optional_extensions.ipynb — prompt engineering, sampling deep-dive,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56616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Try a hosted API (Claude / OpenAI) in place of SmolLM2 — compare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8747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Add the hallucination-check pattern from NB 04 Extensions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65A82"/>
                </a:solidFill>
                <a:latin typeface="Trebuchet MS"/>
              </a:rPr>
              <a:t>Resources To Keep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51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Books, papers, communities,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030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03020"/>
            <a:ext cx="5829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450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1783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5829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Murphy, Bishop, Hastie/Tibshirani (classical); Goodfellow, Bishop (DL); HF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6027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22885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28850"/>
            <a:ext cx="5829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arxiv.org/list/cs.LG — Karpathy's reading list; Yannic Kilcher's YouTube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930" y="26746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Courses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74620"/>
            <a:ext cx="5829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Fast.ai (practical DL); DeepLearning.AI; Stanford CS224N (NLP), CS231N (CV)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5181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312039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Communities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20390"/>
            <a:ext cx="5829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r/MachineLearning; HuggingFace forums; Kaggle competitions; arxiv-sanity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9758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" y="35661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66160"/>
            <a:ext cx="5829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Spend more time shipping than studying. Build something every week.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14800"/>
            <a:ext cx="8298180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" y="41833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9E795"/>
                </a:solidFill>
                <a:latin typeface="Calibri"/>
              </a:rPr>
              <a:t>If you only do ONE thing: build a side project. Anything. Ship it. Then iterate.</a:t>
            </a:r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8F1F5"/>
                </a:solidFill>
                <a:latin typeface="Calibri"/>
              </a:rPr>
              <a:t>for nine weeks of curiosity, debugging, honest pushback, and 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4894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F9E795"/>
                </a:solidFill>
                <a:latin typeface="Calibri"/>
              </a:rPr>
              <a:t>You now have the modern ML toolkit.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8F1F5"/>
                </a:solidFill>
                <a:latin typeface="Calibri"/>
              </a:rPr>
              <a:t>Use it well. Be honest about what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8F1F5"/>
                </a:solidFill>
                <a:latin typeface="Calibri"/>
              </a:rPr>
              <a:t>Now go build something.</a:t>
            </a:r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IA_1920x1080_1" id="{AE813658-6506-A745-B494-E9623D69A84F}" vid="{98D95D8B-1F05-BF49-9671-2CF52C7BA5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