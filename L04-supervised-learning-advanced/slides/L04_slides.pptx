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4 — Advanced Supervised Learning. The most production-relevant lesson in the course. Random Forest and Gradient Boosting dominate Kaggle AND production tabular ML. Today we add both to Sarah's toolkit, tune them with GridSearchCV, and pick a final winner for Marcus.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Last Friday Sarah presented logistic regression to Marcus. F1 at threshold 0.25 was 0.282. Marcus's response: nice, but can you do better? Try the tree-based models. Today she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make tree-based methods the default for tabular business data: they capture non-linear interactions for free, and they don't need scaling. Logistic regression treats each feature independently. A tree can split on 'tenure &lt; 12 AND returns &gt; 0.10' — capturing the interaction without you hand-engineering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a single tree is rarely the answer. Grow it deep and it memorises training data perfectly — overfits. Grow it shallow and it can't capture the patterns — underfits. Neither extreme works. The fix is ENSEMBLES: train many trees and combine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Bagging — Bootstrap Aggregating. The core idea behind Random Forest. Two sources of variation between trees: bootstrap sampling of the ROWS, and random subsampling of FEATURES at each split. Together, they force the trees to specialise so averaging genuinely reduces variance.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in sklearn — same Pipeline interface as L03, just swap the model. Note the class_weight='balanced' parameter — critical for imbalanced data. Without it, the model collapses to majority-class predictions at threshold 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unlock on imbalanced data. Random Forest WITHOUT class_weight='balanced' predicts 'stayed' for nearly everyone at threshold 0.5 — same problem L03 had. WITH it, the model surfaces real churners at actionable rates. This is the #1 thing to remember on imbalanced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gives you feature importance for free. Averaged across all trees, it tells you which features the splits use most. The TOP features should match L03 — same data, same signal — but with interactions captured.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Code-along on 02_decision_tree_to_forest.ipynb: 30 min, Core only, stop at the 🟡 marker.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Boosting is the OTHER big ensemble idea. Random Forest trains trees in PARALLEL and averages. Boosting trains them SEQUENTIALLY, where each new tree fits the ERRORS of the previous ensemble. This is what wins Kaggle.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HistGradientBoostingClassifier is sklearn's fast histogram-based implementation. Same family as XGBoost and LightGBM. Competitive with them on most tabular problems, no extra install. The defaults are good — but tuning learning_rate and max_iter can push F1 up by 0.03–0.05.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coupled hyperparameters. learning_rate is how aggressively each new tree corrects errors. max_iter is how many trees. They trade off — smaller learning_rate needs more trees but generalises better. The PRACTICAL move: use early stopping and let the model pick max_iter.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Code-along on 03_gradient_boosting.ipynb: 30 min, Core only, stop at the 🟡 marker.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hyperparameters are reasonable but rarely optimal for your dataset. Tuning is the difference between 0.32 and 0.34 F1 — and over many algorithms, that adds up. We use GridSearchCV to systematically explore the hyperparameter space.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GridSearchCV — exhaustive search over a grid. Tries every combination, cross-validates each, picks the best. Set n_jobs=-1 to parallelise. Keep the grid small enough that the total fit count × CV folds × time-per-fit fits your budget.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grid is too big to enumerate, RandomizedSearchCV samples N combinations from a distribution. In practice it finds combinations close to the optimum at a fraction of the compute. Rule of thumb: GridSearch ≤30 combos; RandomizedSearch for 30-500; Bayesian (optuna) for 500+.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Code-along on 04_tuning_and_comparison.ipynb: 30 min, Core only, stop at the 🟡 marker.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Friday morning. Three contenders. Same data, same metric, same threshold. The winner: usually Gradient Boosting by a modest margin. But the right choice isn't always 'highest F1' — interpretability, operational complexity, and team familiarity all matter too.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Marcus's NEW question — 'can we find natural clusters of customer behaviour without labels?' — is the engine of L05. Unsupervised learning. K-means, hierarchical clustering, anomaly detection. No target column. Just data and structure.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Kaggle competition + banking-fraud assignment. Three tiers of churn-prediction practice, then three independent exercises in fraud detection. Same toolkit. Due before L05.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and Q&amp;A. Common questions plus floor time. Assignment is due before L05.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visual — what the three models look like at threshold 0.25 on the held-out test set. The three confusion matrices side by side. Random Forest catches the most cases; Gradient Boosting has the best precision/recall balance; logistic regression is the most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summary of the three contenders. Defaults gave the trees a slight edge over logistic regression. Tuning pushed Gradient Boosting modestly ahead of Random Forest. The total improvement from L03 baseline to tuned GB: ~0.04 F1 — meaningful but not transformational.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things to remember from this lesson — beyond the algorithms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Sarah's journey to date. L01-L04 covers the entire supervised learning toolkit. From here we go beyond labels into unsupervised methods, time series, deep learning, and finally GenAI.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Kaggle perspective. Gradient Boosting (especially XGBoost and LightGBM) wins the overwhelming majority of tabular Kaggle competitions in 2026. The reasons: shallow trees + sequential corrections + smart regularisation. The L04 toolkit is what gets you onto the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classic tradeoff. The most accurate model is usually the least interpretable. Logistic regression is the most explainable; deep neural networks the least. Trees sit in the middle — feature importance is intuitive even when the underlying ensemble is complex.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L05 next — unsupervised learning, clustering, dimensionality reduction. Before then: Kaggle competition + banking fraud exercises.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91695" cy="914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097280"/>
          </a:xfrm>
          <a:prstGeom prst="rect">
            <a:avLst/>
          </a:prstGeom>
          <a:noFill/>
        </p:spPr>
        <p:txBody>
          <a:bodyPr wrap="square" lIns="0" rIns="0" tIns="0" bIns="0" anchor="t">
            <a:spAutoFit/>
          </a:bodyPr>
          <a:lstStyle/>
          <a:p>
            <a:pPr algn="l"/>
            <a:r>
              <a:rPr sz="5200" b="1">
                <a:solidFill>
                  <a:srgbClr val="FFFFFF"/>
                </a:solidFill>
                <a:latin typeface="Trebuchet MS"/>
              </a:rPr>
              <a:t>L04 — Trees &amp; Ensembles</a:t>
            </a:r>
          </a:p>
        </p:txBody>
      </p:sp>
      <p:sp>
        <p:nvSpPr>
          <p:cNvPr id="5" name="TextBox 4"/>
          <p:cNvSpPr txBox="1"/>
          <p:nvPr/>
        </p:nvSpPr>
        <p:spPr>
          <a:xfrm>
            <a:off x="731520" y="3017520"/>
            <a:ext cx="10515600" cy="640080"/>
          </a:xfrm>
          <a:prstGeom prst="rect">
            <a:avLst/>
          </a:prstGeom>
          <a:noFill/>
        </p:spPr>
        <p:txBody>
          <a:bodyPr wrap="square" lIns="0" rIns="0" tIns="0" bIns="0" anchor="t">
            <a:spAutoFit/>
          </a:bodyPr>
          <a:lstStyle/>
          <a:p>
            <a:pPr algn="l"/>
            <a:r>
              <a:rPr sz="2200" b="0">
                <a:solidFill>
                  <a:srgbClr val="E8F1F5"/>
                </a:solidFill>
                <a:latin typeface="Calibri"/>
              </a:rPr>
              <a:t>Sarah's week of improving the L03 model</a:t>
            </a:r>
          </a:p>
        </p:txBody>
      </p:sp>
      <p:sp>
        <p:nvSpPr>
          <p:cNvPr id="6" name="TextBox 5"/>
          <p:cNvSpPr txBox="1"/>
          <p:nvPr/>
        </p:nvSpPr>
        <p:spPr>
          <a:xfrm>
            <a:off x="731520" y="3840480"/>
            <a:ext cx="10515600" cy="457200"/>
          </a:xfrm>
          <a:prstGeom prst="rect">
            <a:avLst/>
          </a:prstGeom>
          <a:noFill/>
        </p:spPr>
        <p:txBody>
          <a:bodyPr wrap="square" lIns="0" rIns="0" tIns="0" bIns="0" anchor="t">
            <a:spAutoFit/>
          </a:bodyPr>
          <a:lstStyle/>
          <a:p>
            <a:pPr algn="l"/>
            <a:r>
              <a:rPr sz="1600" b="0">
                <a:solidFill>
                  <a:srgbClr val="E8F1F5"/>
                </a:solidFill>
                <a:latin typeface="Calibri"/>
              </a:rPr>
              <a:t>Random Forest · Gradient Boosting · GridSearchCV</a:t>
            </a:r>
          </a:p>
        </p:txBody>
      </p:sp>
      <p:sp>
        <p:nvSpPr>
          <p:cNvPr id="7" name="TextBox 6"/>
          <p:cNvSpPr txBox="1"/>
          <p:nvPr/>
        </p:nvSpPr>
        <p:spPr>
          <a:xfrm>
            <a:off x="731520" y="6126480"/>
            <a:ext cx="10515600" cy="457200"/>
          </a:xfrm>
          <a:prstGeom prst="rect">
            <a:avLst/>
          </a:prstGeom>
          <a:noFill/>
        </p:spPr>
        <p:txBody>
          <a:bodyPr wrap="square" lIns="0" rIns="0" tIns="0" bIns="0" anchor="t">
            <a:spAutoFit/>
          </a:bodyPr>
          <a:lstStyle/>
          <a:p>
            <a:pPr algn="l"/>
            <a:r>
              <a:rPr sz="1400" b="0">
                <a:solidFill>
                  <a:srgbClr val="FFFFFF"/>
                </a:solidFill>
                <a:latin typeface="Calibri"/>
              </a:rPr>
              <a:t>Format: ~90 min slides · ~90 min hands-on (3 notebooks)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Where We Left Off</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Marcus's challenge from Friday becomes this week's brief</a:t>
            </a:r>
          </a:p>
        </p:txBody>
      </p:sp>
      <p:sp>
        <p:nvSpPr>
          <p:cNvPr id="5" name="Rectangle 4"/>
          <p:cNvSpPr/>
          <p:nvPr/>
        </p:nvSpPr>
        <p:spPr>
          <a:xfrm>
            <a:off x="548640" y="1737360"/>
            <a:ext cx="11064240" cy="14630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365760"/>
          </a:xfrm>
          <a:prstGeom prst="rect">
            <a:avLst/>
          </a:prstGeom>
          <a:noFill/>
        </p:spPr>
        <p:txBody>
          <a:bodyPr wrap="square" lIns="0" rIns="0" tIns="0" bIns="0" anchor="t">
            <a:spAutoFit/>
          </a:bodyPr>
          <a:lstStyle/>
          <a:p>
            <a:pPr algn="l"/>
            <a:r>
              <a:rPr sz="1400" b="0">
                <a:solidFill>
                  <a:srgbClr val="E8F1F5"/>
                </a:solidFill>
                <a:latin typeface="Calibri"/>
              </a:rPr>
              <a:t>Marcus, end of L03:</a:t>
            </a:r>
          </a:p>
        </p:txBody>
      </p:sp>
      <p:sp>
        <p:nvSpPr>
          <p:cNvPr id="7" name="TextBox 6"/>
          <p:cNvSpPr txBox="1"/>
          <p:nvPr/>
        </p:nvSpPr>
        <p:spPr>
          <a:xfrm>
            <a:off x="822960" y="2286000"/>
            <a:ext cx="10515600" cy="914400"/>
          </a:xfrm>
          <a:prstGeom prst="rect">
            <a:avLst/>
          </a:prstGeom>
          <a:noFill/>
        </p:spPr>
        <p:txBody>
          <a:bodyPr wrap="square" lIns="0" rIns="0" tIns="0" bIns="0" anchor="t">
            <a:spAutoFit/>
          </a:bodyPr>
          <a:lstStyle/>
          <a:p>
            <a:pPr algn="l"/>
            <a:r>
              <a:rPr sz="1800" b="0">
                <a:solidFill>
                  <a:srgbClr val="FFFFFF"/>
                </a:solidFill>
                <a:latin typeface="Trebuchet MS"/>
              </a:rPr>
              <a:t>"This is the first model we own. But we're hitting capacity at 200 calls.</a:t>
            </a:r>
          </a:p>
          <a:p>
            <a:pPr algn="l"/>
            <a:r>
              <a:rPr sz="1800" b="0">
                <a:solidFill>
                  <a:srgbClr val="FFFFFF"/>
                </a:solidFill>
                <a:latin typeface="Trebuchet MS"/>
              </a:rPr>
              <a:t>Can you squeeze MORE recall without more false positives? Try those tree-based models."</a:t>
            </a:r>
          </a:p>
        </p:txBody>
      </p:sp>
      <p:sp>
        <p:nvSpPr>
          <p:cNvPr id="8" name="TextBox 7"/>
          <p:cNvSpPr txBox="1"/>
          <p:nvPr/>
        </p:nvSpPr>
        <p:spPr>
          <a:xfrm>
            <a:off x="548640" y="3566160"/>
            <a:ext cx="11064240" cy="457200"/>
          </a:xfrm>
          <a:prstGeom prst="rect">
            <a:avLst/>
          </a:prstGeom>
          <a:noFill/>
        </p:spPr>
        <p:txBody>
          <a:bodyPr wrap="square" lIns="0" rIns="0" tIns="0" bIns="0" anchor="t">
            <a:spAutoFit/>
          </a:bodyPr>
          <a:lstStyle/>
          <a:p>
            <a:pPr algn="l"/>
            <a:r>
              <a:rPr sz="1500" b="1">
                <a:solidFill>
                  <a:srgbClr val="1C7293"/>
                </a:solidFill>
                <a:latin typeface="Calibri"/>
              </a:rPr>
              <a:t>What Sarah brings to the table this week</a:t>
            </a:r>
          </a:p>
        </p:txBody>
      </p:sp>
      <p:sp>
        <p:nvSpPr>
          <p:cNvPr id="9" name="TextBox 8"/>
          <p:cNvSpPr txBox="1"/>
          <p:nvPr/>
        </p:nvSpPr>
        <p:spPr>
          <a:xfrm>
            <a:off x="640080" y="4114800"/>
            <a:ext cx="548640" cy="411480"/>
          </a:xfrm>
          <a:prstGeom prst="rect">
            <a:avLst/>
          </a:prstGeom>
          <a:noFill/>
        </p:spPr>
        <p:txBody>
          <a:bodyPr wrap="square" lIns="0" rIns="0" tIns="0" bIns="0" anchor="t">
            <a:spAutoFit/>
          </a:bodyPr>
          <a:lstStyle/>
          <a:p>
            <a:pPr algn="l"/>
            <a:r>
              <a:rPr sz="2000" b="0">
                <a:solidFill>
                  <a:srgbClr val="36454F"/>
                </a:solidFill>
                <a:latin typeface="Trebuchet MS"/>
              </a:rPr>
              <a:t>📂</a:t>
            </a:r>
          </a:p>
        </p:txBody>
      </p:sp>
      <p:sp>
        <p:nvSpPr>
          <p:cNvPr id="10" name="TextBox 9"/>
          <p:cNvSpPr txBox="1"/>
          <p:nvPr/>
        </p:nvSpPr>
        <p:spPr>
          <a:xfrm>
            <a:off x="1188720" y="4114800"/>
            <a:ext cx="2743200" cy="365760"/>
          </a:xfrm>
          <a:prstGeom prst="rect">
            <a:avLst/>
          </a:prstGeom>
          <a:noFill/>
        </p:spPr>
        <p:txBody>
          <a:bodyPr wrap="square" lIns="0" rIns="0" tIns="0" bIns="0" anchor="t">
            <a:spAutoFit/>
          </a:bodyPr>
          <a:lstStyle/>
          <a:p>
            <a:pPr algn="l"/>
            <a:r>
              <a:rPr sz="1400" b="1">
                <a:solidFill>
                  <a:srgbClr val="065A82"/>
                </a:solidFill>
                <a:latin typeface="Calibri"/>
              </a:rPr>
              <a:t>Same churn dataset</a:t>
            </a:r>
          </a:p>
        </p:txBody>
      </p:sp>
      <p:sp>
        <p:nvSpPr>
          <p:cNvPr id="11" name="TextBox 10"/>
          <p:cNvSpPr txBox="1"/>
          <p:nvPr/>
        </p:nvSpPr>
        <p:spPr>
          <a:xfrm>
            <a:off x="4114800" y="4114800"/>
            <a:ext cx="7498079" cy="365760"/>
          </a:xfrm>
          <a:prstGeom prst="rect">
            <a:avLst/>
          </a:prstGeom>
          <a:noFill/>
        </p:spPr>
        <p:txBody>
          <a:bodyPr wrap="square" lIns="0" rIns="0" tIns="0" bIns="0" anchor="t">
            <a:spAutoFit/>
          </a:bodyPr>
          <a:lstStyle/>
          <a:p>
            <a:pPr algn="l"/>
            <a:r>
              <a:rPr sz="1300" b="0">
                <a:solidFill>
                  <a:srgbClr val="36454F"/>
                </a:solidFill>
                <a:latin typeface="Calibri"/>
              </a:rPr>
              <a:t>10,000 NorthStar customers — story continuity from L03</a:t>
            </a:r>
          </a:p>
        </p:txBody>
      </p:sp>
      <p:sp>
        <p:nvSpPr>
          <p:cNvPr id="12" name="TextBox 11"/>
          <p:cNvSpPr txBox="1"/>
          <p:nvPr/>
        </p:nvSpPr>
        <p:spPr>
          <a:xfrm>
            <a:off x="640080" y="4617720"/>
            <a:ext cx="548640" cy="411480"/>
          </a:xfrm>
          <a:prstGeom prst="rect">
            <a:avLst/>
          </a:prstGeom>
          <a:noFill/>
        </p:spPr>
        <p:txBody>
          <a:bodyPr wrap="square" lIns="0" rIns="0" tIns="0" bIns="0" anchor="t">
            <a:spAutoFit/>
          </a:bodyPr>
          <a:lstStyle/>
          <a:p>
            <a:pPr algn="l"/>
            <a:r>
              <a:rPr sz="2000" b="0">
                <a:solidFill>
                  <a:srgbClr val="36454F"/>
                </a:solidFill>
                <a:latin typeface="Trebuchet MS"/>
              </a:rPr>
              <a:t>🎯</a:t>
            </a:r>
          </a:p>
        </p:txBody>
      </p:sp>
      <p:sp>
        <p:nvSpPr>
          <p:cNvPr id="13" name="TextBox 12"/>
          <p:cNvSpPr txBox="1"/>
          <p:nvPr/>
        </p:nvSpPr>
        <p:spPr>
          <a:xfrm>
            <a:off x="1188720" y="4617720"/>
            <a:ext cx="2743200" cy="365760"/>
          </a:xfrm>
          <a:prstGeom prst="rect">
            <a:avLst/>
          </a:prstGeom>
          <a:noFill/>
        </p:spPr>
        <p:txBody>
          <a:bodyPr wrap="square" lIns="0" rIns="0" tIns="0" bIns="0" anchor="t">
            <a:spAutoFit/>
          </a:bodyPr>
          <a:lstStyle/>
          <a:p>
            <a:pPr algn="l"/>
            <a:r>
              <a:rPr sz="1400" b="1">
                <a:solidFill>
                  <a:srgbClr val="065A82"/>
                </a:solidFill>
                <a:latin typeface="Calibri"/>
              </a:rPr>
              <a:t>Bar to beat</a:t>
            </a:r>
          </a:p>
        </p:txBody>
      </p:sp>
      <p:sp>
        <p:nvSpPr>
          <p:cNvPr id="14" name="TextBox 13"/>
          <p:cNvSpPr txBox="1"/>
          <p:nvPr/>
        </p:nvSpPr>
        <p:spPr>
          <a:xfrm>
            <a:off x="4114800" y="4617720"/>
            <a:ext cx="7498079" cy="365760"/>
          </a:xfrm>
          <a:prstGeom prst="rect">
            <a:avLst/>
          </a:prstGeom>
          <a:noFill/>
        </p:spPr>
        <p:txBody>
          <a:bodyPr wrap="square" lIns="0" rIns="0" tIns="0" bIns="0" anchor="t">
            <a:spAutoFit/>
          </a:bodyPr>
          <a:lstStyle/>
          <a:p>
            <a:pPr algn="l"/>
            <a:r>
              <a:rPr sz="1300" b="0">
                <a:solidFill>
                  <a:srgbClr val="36454F"/>
                </a:solidFill>
                <a:latin typeface="Calibri"/>
              </a:rPr>
              <a:t>L03 logistic regression at threshold 0.25 → F1 ≈ 0.28</a:t>
            </a:r>
          </a:p>
        </p:txBody>
      </p:sp>
      <p:sp>
        <p:nvSpPr>
          <p:cNvPr id="15" name="TextBox 14"/>
          <p:cNvSpPr txBox="1"/>
          <p:nvPr/>
        </p:nvSpPr>
        <p:spPr>
          <a:xfrm>
            <a:off x="640080" y="5120640"/>
            <a:ext cx="548640" cy="411480"/>
          </a:xfrm>
          <a:prstGeom prst="rect">
            <a:avLst/>
          </a:prstGeom>
          <a:noFill/>
        </p:spPr>
        <p:txBody>
          <a:bodyPr wrap="square" lIns="0" rIns="0" tIns="0" bIns="0" anchor="t">
            <a:spAutoFit/>
          </a:bodyPr>
          <a:lstStyle/>
          <a:p>
            <a:pPr algn="l"/>
            <a:r>
              <a:rPr sz="2000" b="0">
                <a:solidFill>
                  <a:srgbClr val="36454F"/>
                </a:solidFill>
                <a:latin typeface="Trebuchet MS"/>
              </a:rPr>
              <a:t>🛠</a:t>
            </a:r>
          </a:p>
        </p:txBody>
      </p:sp>
      <p:sp>
        <p:nvSpPr>
          <p:cNvPr id="16" name="TextBox 15"/>
          <p:cNvSpPr txBox="1"/>
          <p:nvPr/>
        </p:nvSpPr>
        <p:spPr>
          <a:xfrm>
            <a:off x="1188720" y="5120640"/>
            <a:ext cx="2743200" cy="365760"/>
          </a:xfrm>
          <a:prstGeom prst="rect">
            <a:avLst/>
          </a:prstGeom>
          <a:noFill/>
        </p:spPr>
        <p:txBody>
          <a:bodyPr wrap="square" lIns="0" rIns="0" tIns="0" bIns="0" anchor="t">
            <a:spAutoFit/>
          </a:bodyPr>
          <a:lstStyle/>
          <a:p>
            <a:pPr algn="l"/>
            <a:r>
              <a:rPr sz="1400" b="1">
                <a:solidFill>
                  <a:srgbClr val="065A82"/>
                </a:solidFill>
                <a:latin typeface="Calibri"/>
              </a:rPr>
              <a:t>New tools</a:t>
            </a:r>
          </a:p>
        </p:txBody>
      </p:sp>
      <p:sp>
        <p:nvSpPr>
          <p:cNvPr id="17" name="TextBox 16"/>
          <p:cNvSpPr txBox="1"/>
          <p:nvPr/>
        </p:nvSpPr>
        <p:spPr>
          <a:xfrm>
            <a:off x="4114800" y="5120640"/>
            <a:ext cx="7498079" cy="365760"/>
          </a:xfrm>
          <a:prstGeom prst="rect">
            <a:avLst/>
          </a:prstGeom>
          <a:noFill/>
        </p:spPr>
        <p:txBody>
          <a:bodyPr wrap="square" lIns="0" rIns="0" tIns="0" bIns="0" anchor="t">
            <a:spAutoFit/>
          </a:bodyPr>
          <a:lstStyle/>
          <a:p>
            <a:pPr algn="l"/>
            <a:r>
              <a:rPr sz="1300" b="0">
                <a:solidFill>
                  <a:srgbClr val="36454F"/>
                </a:solidFill>
                <a:latin typeface="Calibri"/>
              </a:rPr>
              <a:t>Decision trees, bagging (Random Forest), boosting (Gradient Boosting), GridSearchCV</a:t>
            </a:r>
          </a:p>
        </p:txBody>
      </p:sp>
      <p:sp>
        <p:nvSpPr>
          <p:cNvPr id="18" name="TextBox 17"/>
          <p:cNvSpPr txBox="1"/>
          <p:nvPr/>
        </p:nvSpPr>
        <p:spPr>
          <a:xfrm>
            <a:off x="640080" y="5623560"/>
            <a:ext cx="548640" cy="411480"/>
          </a:xfrm>
          <a:prstGeom prst="rect">
            <a:avLst/>
          </a:prstGeom>
          <a:noFill/>
        </p:spPr>
        <p:txBody>
          <a:bodyPr wrap="square" lIns="0" rIns="0" tIns="0" bIns="0" anchor="t">
            <a:spAutoFit/>
          </a:bodyPr>
          <a:lstStyle/>
          <a:p>
            <a:pPr algn="l"/>
            <a:r>
              <a:rPr sz="2000" b="0">
                <a:solidFill>
                  <a:srgbClr val="36454F"/>
                </a:solidFill>
                <a:latin typeface="Trebuchet MS"/>
              </a:rPr>
              <a:t>🏁</a:t>
            </a:r>
          </a:p>
        </p:txBody>
      </p:sp>
      <p:sp>
        <p:nvSpPr>
          <p:cNvPr id="19" name="TextBox 18"/>
          <p:cNvSpPr txBox="1"/>
          <p:nvPr/>
        </p:nvSpPr>
        <p:spPr>
          <a:xfrm>
            <a:off x="1188720" y="5623560"/>
            <a:ext cx="2743200" cy="365760"/>
          </a:xfrm>
          <a:prstGeom prst="rect">
            <a:avLst/>
          </a:prstGeom>
          <a:noFill/>
        </p:spPr>
        <p:txBody>
          <a:bodyPr wrap="square" lIns="0" rIns="0" tIns="0" bIns="0" anchor="t">
            <a:spAutoFit/>
          </a:bodyPr>
          <a:lstStyle/>
          <a:p>
            <a:pPr algn="l"/>
            <a:r>
              <a:rPr sz="1400" b="1">
                <a:solidFill>
                  <a:srgbClr val="065A82"/>
                </a:solidFill>
                <a:latin typeface="Calibri"/>
              </a:rPr>
              <a:t>Decision point</a:t>
            </a:r>
          </a:p>
        </p:txBody>
      </p:sp>
      <p:sp>
        <p:nvSpPr>
          <p:cNvPr id="20" name="TextBox 19"/>
          <p:cNvSpPr txBox="1"/>
          <p:nvPr/>
        </p:nvSpPr>
        <p:spPr>
          <a:xfrm>
            <a:off x="4114800" y="5623560"/>
            <a:ext cx="7498079" cy="365760"/>
          </a:xfrm>
          <a:prstGeom prst="rect">
            <a:avLst/>
          </a:prstGeom>
          <a:noFill/>
        </p:spPr>
        <p:txBody>
          <a:bodyPr wrap="square" lIns="0" rIns="0" tIns="0" bIns="0" anchor="t">
            <a:spAutoFit/>
          </a:bodyPr>
          <a:lstStyle/>
          <a:p>
            <a:pPr algn="l"/>
            <a:r>
              <a:rPr sz="1300" b="0">
                <a:solidFill>
                  <a:srgbClr val="36454F"/>
                </a:solidFill>
                <a:latin typeface="Calibri"/>
              </a:rPr>
              <a:t>Friday: pick ONE model to recommend for production</a:t>
            </a:r>
          </a:p>
        </p:txBody>
      </p:sp>
      <p:sp>
        <p:nvSpPr>
          <p:cNvPr id="21" name="TextBox 2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Why Trees Dominate Tabular ML</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Two structural advantages over linear models</a:t>
            </a:r>
          </a:p>
        </p:txBody>
      </p:sp>
      <p:sp>
        <p:nvSpPr>
          <p:cNvPr id="5" name="Rectangle 4"/>
          <p:cNvSpPr/>
          <p:nvPr/>
        </p:nvSpPr>
        <p:spPr>
          <a:xfrm>
            <a:off x="548640" y="1783080"/>
            <a:ext cx="731520" cy="1965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731520" cy="1188720"/>
          </a:xfrm>
          <a:prstGeom prst="rect">
            <a:avLst/>
          </a:prstGeom>
          <a:noFill/>
        </p:spPr>
        <p:txBody>
          <a:bodyPr wrap="square" lIns="0" rIns="0" tIns="0" bIns="0" anchor="t">
            <a:spAutoFit/>
          </a:bodyPr>
          <a:lstStyle/>
          <a:p>
            <a:pPr algn="ctr"/>
            <a:r>
              <a:rPr sz="7200" b="1">
                <a:solidFill>
                  <a:srgbClr val="FFFFFF"/>
                </a:solidFill>
                <a:latin typeface="Trebuchet MS"/>
              </a:rPr>
              <a:t>1</a:t>
            </a:r>
          </a:p>
        </p:txBody>
      </p:sp>
      <p:sp>
        <p:nvSpPr>
          <p:cNvPr id="7" name="Rectangle 6"/>
          <p:cNvSpPr/>
          <p:nvPr/>
        </p:nvSpPr>
        <p:spPr>
          <a:xfrm>
            <a:off x="1417320" y="1783080"/>
            <a:ext cx="10149840" cy="1965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965960"/>
            <a:ext cx="9784080" cy="457200"/>
          </a:xfrm>
          <a:prstGeom prst="rect">
            <a:avLst/>
          </a:prstGeom>
          <a:noFill/>
        </p:spPr>
        <p:txBody>
          <a:bodyPr wrap="square" lIns="0" rIns="0" tIns="0" bIns="0" anchor="t">
            <a:spAutoFit/>
          </a:bodyPr>
          <a:lstStyle/>
          <a:p>
            <a:pPr algn="l"/>
            <a:r>
              <a:rPr sz="1800" b="1">
                <a:solidFill>
                  <a:srgbClr val="065A82"/>
                </a:solidFill>
                <a:latin typeface="Calibri"/>
              </a:rPr>
              <a:t>Non-linear interactions for free</a:t>
            </a:r>
          </a:p>
        </p:txBody>
      </p:sp>
      <p:sp>
        <p:nvSpPr>
          <p:cNvPr id="9" name="TextBox 8"/>
          <p:cNvSpPr txBox="1"/>
          <p:nvPr/>
        </p:nvSpPr>
        <p:spPr>
          <a:xfrm>
            <a:off x="1645920" y="2468880"/>
            <a:ext cx="9784080" cy="822960"/>
          </a:xfrm>
          <a:prstGeom prst="rect">
            <a:avLst/>
          </a:prstGeom>
          <a:noFill/>
        </p:spPr>
        <p:txBody>
          <a:bodyPr wrap="square" lIns="0" rIns="0" tIns="0" bIns="0" anchor="t">
            <a:spAutoFit/>
          </a:bodyPr>
          <a:lstStyle/>
          <a:p>
            <a:pPr algn="l"/>
            <a:r>
              <a:rPr sz="1300" b="0">
                <a:solidFill>
                  <a:srgbClr val="36454F"/>
                </a:solidFill>
                <a:latin typeface="Calibri"/>
              </a:rPr>
              <a:t>A tree splits on FEATURE COMBINATIONS automatically.</a:t>
            </a:r>
          </a:p>
          <a:p>
            <a:pPr algn="l"/>
            <a:r>
              <a:rPr sz="1300" b="0">
                <a:solidFill>
                  <a:srgbClr val="36454F"/>
                </a:solidFill>
                <a:latin typeface="Calibri"/>
              </a:rPr>
              <a:t>Example: 'tenure_months &lt; 12 AND returns_per_purchase &gt; 0.10' → high churn risk.</a:t>
            </a:r>
          </a:p>
        </p:txBody>
      </p:sp>
      <p:sp>
        <p:nvSpPr>
          <p:cNvPr id="10" name="TextBox 9"/>
          <p:cNvSpPr txBox="1"/>
          <p:nvPr/>
        </p:nvSpPr>
        <p:spPr>
          <a:xfrm>
            <a:off x="1645920" y="3337560"/>
            <a:ext cx="9784080" cy="365760"/>
          </a:xfrm>
          <a:prstGeom prst="rect">
            <a:avLst/>
          </a:prstGeom>
          <a:noFill/>
        </p:spPr>
        <p:txBody>
          <a:bodyPr wrap="square" lIns="0" rIns="0" tIns="0" bIns="0" anchor="t">
            <a:spAutoFit/>
          </a:bodyPr>
          <a:lstStyle/>
          <a:p>
            <a:pPr algn="l"/>
            <a:r>
              <a:rPr sz="1200" b="1">
                <a:solidFill>
                  <a:srgbClr val="F96167"/>
                </a:solidFill>
                <a:latin typeface="Calibri"/>
              </a:rPr>
              <a:t>▸ Logistic regression needs hand-engineered interaction features to capture this.</a:t>
            </a:r>
          </a:p>
        </p:txBody>
      </p:sp>
      <p:sp>
        <p:nvSpPr>
          <p:cNvPr id="11" name="Rectangle 10"/>
          <p:cNvSpPr/>
          <p:nvPr/>
        </p:nvSpPr>
        <p:spPr>
          <a:xfrm>
            <a:off x="548640" y="3886200"/>
            <a:ext cx="731520" cy="1965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251960"/>
            <a:ext cx="731520" cy="1188720"/>
          </a:xfrm>
          <a:prstGeom prst="rect">
            <a:avLst/>
          </a:prstGeom>
          <a:noFill/>
        </p:spPr>
        <p:txBody>
          <a:bodyPr wrap="square" lIns="0" rIns="0" tIns="0" bIns="0" anchor="t">
            <a:spAutoFit/>
          </a:bodyPr>
          <a:lstStyle/>
          <a:p>
            <a:pPr algn="ctr"/>
            <a:r>
              <a:rPr sz="7200" b="1">
                <a:solidFill>
                  <a:srgbClr val="FFFFFF"/>
                </a:solidFill>
                <a:latin typeface="Trebuchet MS"/>
              </a:rPr>
              <a:t>2</a:t>
            </a:r>
          </a:p>
        </p:txBody>
      </p:sp>
      <p:sp>
        <p:nvSpPr>
          <p:cNvPr id="13" name="Rectangle 12"/>
          <p:cNvSpPr/>
          <p:nvPr/>
        </p:nvSpPr>
        <p:spPr>
          <a:xfrm>
            <a:off x="1417320" y="3886200"/>
            <a:ext cx="10149840" cy="1965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4069080"/>
            <a:ext cx="9784080" cy="457200"/>
          </a:xfrm>
          <a:prstGeom prst="rect">
            <a:avLst/>
          </a:prstGeom>
          <a:noFill/>
        </p:spPr>
        <p:txBody>
          <a:bodyPr wrap="square" lIns="0" rIns="0" tIns="0" bIns="0" anchor="t">
            <a:spAutoFit/>
          </a:bodyPr>
          <a:lstStyle/>
          <a:p>
            <a:pPr algn="l"/>
            <a:r>
              <a:rPr sz="1800" b="1">
                <a:solidFill>
                  <a:srgbClr val="065A82"/>
                </a:solidFill>
                <a:latin typeface="Calibri"/>
              </a:rPr>
              <a:t>No scaling needed</a:t>
            </a:r>
          </a:p>
        </p:txBody>
      </p:sp>
      <p:sp>
        <p:nvSpPr>
          <p:cNvPr id="15" name="TextBox 14"/>
          <p:cNvSpPr txBox="1"/>
          <p:nvPr/>
        </p:nvSpPr>
        <p:spPr>
          <a:xfrm>
            <a:off x="1645920" y="4572000"/>
            <a:ext cx="9784080" cy="822960"/>
          </a:xfrm>
          <a:prstGeom prst="rect">
            <a:avLst/>
          </a:prstGeom>
          <a:noFill/>
        </p:spPr>
        <p:txBody>
          <a:bodyPr wrap="square" lIns="0" rIns="0" tIns="0" bIns="0" anchor="t">
            <a:spAutoFit/>
          </a:bodyPr>
          <a:lstStyle/>
          <a:p>
            <a:pPr algn="l"/>
            <a:r>
              <a:rPr sz="1300" b="0">
                <a:solidFill>
                  <a:srgbClr val="36454F"/>
                </a:solidFill>
                <a:latin typeface="Calibri"/>
              </a:rPr>
              <a:t>Trees split on thresholds, not distances.</a:t>
            </a:r>
          </a:p>
          <a:p>
            <a:pPr algn="l"/>
            <a:r>
              <a:rPr sz="1300" b="0">
                <a:solidFill>
                  <a:srgbClr val="36454F"/>
                </a:solidFill>
                <a:latin typeface="Calibri"/>
              </a:rPr>
              <a:t>'age = 35' is bigger than 'age = 25' regardless of standardisation.</a:t>
            </a:r>
          </a:p>
        </p:txBody>
      </p:sp>
      <p:sp>
        <p:nvSpPr>
          <p:cNvPr id="16" name="TextBox 15"/>
          <p:cNvSpPr txBox="1"/>
          <p:nvPr/>
        </p:nvSpPr>
        <p:spPr>
          <a:xfrm>
            <a:off x="1645920" y="5440680"/>
            <a:ext cx="9784080" cy="365760"/>
          </a:xfrm>
          <a:prstGeom prst="rect">
            <a:avLst/>
          </a:prstGeom>
          <a:noFill/>
        </p:spPr>
        <p:txBody>
          <a:bodyPr wrap="square" lIns="0" rIns="0" tIns="0" bIns="0" anchor="t">
            <a:spAutoFit/>
          </a:bodyPr>
          <a:lstStyle/>
          <a:p>
            <a:pPr algn="l"/>
            <a:r>
              <a:rPr sz="1200" b="1">
                <a:solidFill>
                  <a:srgbClr val="F96167"/>
                </a:solidFill>
                <a:latin typeface="Calibri"/>
              </a:rPr>
              <a:t>▸ (You still need to encode categorical text — trees can't compare strings directly.)</a:t>
            </a:r>
          </a:p>
        </p:txBody>
      </p:sp>
      <p:sp>
        <p:nvSpPr>
          <p:cNvPr id="17" name="TextBox 16"/>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3/28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One Tree Isn't Enough</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Either overfits or underfits — never both right</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5029200" cy="457200"/>
          </a:xfrm>
          <a:prstGeom prst="rect">
            <a:avLst/>
          </a:prstGeom>
          <a:noFill/>
        </p:spPr>
        <p:txBody>
          <a:bodyPr wrap="square" lIns="0" rIns="0" tIns="0" bIns="0" anchor="t">
            <a:spAutoFit/>
          </a:bodyPr>
          <a:lstStyle/>
          <a:p>
            <a:pPr algn="l"/>
            <a:r>
              <a:rPr sz="1800" b="1">
                <a:solidFill>
                  <a:srgbClr val="F96167"/>
                </a:solidFill>
                <a:latin typeface="Calibri"/>
              </a:rPr>
              <a:t>Deep tree (full depth)</a:t>
            </a:r>
          </a:p>
        </p:txBody>
      </p:sp>
      <p:sp>
        <p:nvSpPr>
          <p:cNvPr id="7" name="TextBox 6"/>
          <p:cNvSpPr txBox="1"/>
          <p:nvPr/>
        </p:nvSpPr>
        <p:spPr>
          <a:xfrm>
            <a:off x="777240" y="2468880"/>
            <a:ext cx="5029200" cy="457200"/>
          </a:xfrm>
          <a:prstGeom prst="rect">
            <a:avLst/>
          </a:prstGeom>
          <a:noFill/>
        </p:spPr>
        <p:txBody>
          <a:bodyPr wrap="square" lIns="0" rIns="0" tIns="0" bIns="0" anchor="t">
            <a:spAutoFit/>
          </a:bodyPr>
          <a:lstStyle/>
          <a:p>
            <a:pPr algn="l"/>
            <a:r>
              <a:rPr sz="1500" b="0">
                <a:solidFill>
                  <a:srgbClr val="36454F"/>
                </a:solidFill>
                <a:latin typeface="Consolas"/>
              </a:rPr>
              <a:t>Training accuracy: 1.000</a:t>
            </a:r>
          </a:p>
        </p:txBody>
      </p:sp>
      <p:sp>
        <p:nvSpPr>
          <p:cNvPr id="8" name="TextBox 7"/>
          <p:cNvSpPr txBox="1"/>
          <p:nvPr/>
        </p:nvSpPr>
        <p:spPr>
          <a:xfrm>
            <a:off x="777240" y="2880360"/>
            <a:ext cx="5029200" cy="457200"/>
          </a:xfrm>
          <a:prstGeom prst="rect">
            <a:avLst/>
          </a:prstGeom>
          <a:noFill/>
        </p:spPr>
        <p:txBody>
          <a:bodyPr wrap="square" lIns="0" rIns="0" tIns="0" bIns="0" anchor="t">
            <a:spAutoFit/>
          </a:bodyPr>
          <a:lstStyle/>
          <a:p>
            <a:pPr algn="l"/>
            <a:r>
              <a:rPr sz="1500" b="0">
                <a:solidFill>
                  <a:srgbClr val="36454F"/>
                </a:solidFill>
                <a:latin typeface="Consolas"/>
              </a:rPr>
              <a:t>Test accuracy:     0.799</a:t>
            </a:r>
          </a:p>
        </p:txBody>
      </p:sp>
      <p:sp>
        <p:nvSpPr>
          <p:cNvPr id="9" name="TextBox 8"/>
          <p:cNvSpPr txBox="1"/>
          <p:nvPr/>
        </p:nvSpPr>
        <p:spPr>
          <a:xfrm>
            <a:off x="777240" y="3383280"/>
            <a:ext cx="5029200" cy="457200"/>
          </a:xfrm>
          <a:prstGeom prst="rect">
            <a:avLst/>
          </a:prstGeom>
          <a:noFill/>
        </p:spPr>
        <p:txBody>
          <a:bodyPr wrap="square" lIns="0" rIns="0" tIns="0" bIns="0" anchor="t">
            <a:spAutoFit/>
          </a:bodyPr>
          <a:lstStyle/>
          <a:p>
            <a:pPr algn="l"/>
            <a:r>
              <a:rPr sz="1500" b="0">
                <a:solidFill>
                  <a:srgbClr val="36454F"/>
                </a:solidFill>
                <a:latin typeface="Consolas"/>
              </a:rPr>
              <a:t>Test F1:           0.183</a:t>
            </a:r>
          </a:p>
        </p:txBody>
      </p:sp>
      <p:sp>
        <p:nvSpPr>
          <p:cNvPr id="10" name="TextBox 9"/>
          <p:cNvSpPr txBox="1"/>
          <p:nvPr/>
        </p:nvSpPr>
        <p:spPr>
          <a:xfrm>
            <a:off x="777240" y="3931920"/>
            <a:ext cx="5029200" cy="457200"/>
          </a:xfrm>
          <a:prstGeom prst="rect">
            <a:avLst/>
          </a:prstGeom>
          <a:noFill/>
        </p:spPr>
        <p:txBody>
          <a:bodyPr wrap="square" lIns="0" rIns="0" tIns="0" bIns="0" anchor="t">
            <a:spAutoFit/>
          </a:bodyPr>
          <a:lstStyle/>
          <a:p>
            <a:pPr algn="l"/>
            <a:r>
              <a:rPr sz="1400" b="1">
                <a:solidFill>
                  <a:srgbClr val="F96167"/>
                </a:solidFill>
                <a:latin typeface="Calibri"/>
              </a:rPr>
              <a:t>20-point train/test gap.</a:t>
            </a:r>
          </a:p>
        </p:txBody>
      </p:sp>
      <p:sp>
        <p:nvSpPr>
          <p:cNvPr id="11" name="TextBox 10"/>
          <p:cNvSpPr txBox="1"/>
          <p:nvPr/>
        </p:nvSpPr>
        <p:spPr>
          <a:xfrm>
            <a:off x="777240" y="4389120"/>
            <a:ext cx="5029200" cy="1371600"/>
          </a:xfrm>
          <a:prstGeom prst="rect">
            <a:avLst/>
          </a:prstGeom>
          <a:noFill/>
        </p:spPr>
        <p:txBody>
          <a:bodyPr wrap="square" lIns="0" rIns="0" tIns="0" bIns="0" anchor="t">
            <a:spAutoFit/>
          </a:bodyPr>
          <a:lstStyle/>
          <a:p>
            <a:pPr algn="l"/>
            <a:r>
              <a:rPr sz="1300" b="0">
                <a:solidFill>
                  <a:srgbClr val="36454F"/>
                </a:solidFill>
                <a:latin typeface="Calibri"/>
              </a:rPr>
              <a:t>The tree memorised every training example.</a:t>
            </a:r>
          </a:p>
          <a:p>
            <a:pPr algn="l"/>
            <a:r>
              <a:rPr sz="1300" b="0">
                <a:solidFill>
                  <a:srgbClr val="36454F"/>
                </a:solidFill>
                <a:latin typeface="Calibri"/>
              </a:rPr>
              <a:t>Low bias, HIGH variance.</a:t>
            </a:r>
          </a:p>
          <a:p>
            <a:pPr algn="l"/>
            <a:r>
              <a:rPr sz="1300" b="0">
                <a:solidFill>
                  <a:srgbClr val="36454F"/>
                </a:solidFill>
                <a:latin typeface="Calibri"/>
              </a:rPr>
              <a:t/>
            </a:r>
          </a:p>
          <a:p>
            <a:pPr algn="l"/>
            <a:r>
              <a:rPr sz="1300" b="0">
                <a:solidFill>
                  <a:srgbClr val="36454F"/>
                </a:solidFill>
                <a:latin typeface="Calibri"/>
              </a:rPr>
              <a:t>Diagnosis: OVERFITS.</a:t>
            </a:r>
          </a:p>
        </p:txBody>
      </p:sp>
      <p:sp>
        <p:nvSpPr>
          <p:cNvPr id="12" name="Rectangle 11"/>
          <p:cNvSpPr/>
          <p:nvPr/>
        </p:nvSpPr>
        <p:spPr>
          <a:xfrm>
            <a:off x="617220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19"/>
            <a:ext cx="5029200" cy="457200"/>
          </a:xfrm>
          <a:prstGeom prst="rect">
            <a:avLst/>
          </a:prstGeom>
          <a:noFill/>
        </p:spPr>
        <p:txBody>
          <a:bodyPr wrap="square" lIns="0" rIns="0" tIns="0" bIns="0" anchor="t">
            <a:spAutoFit/>
          </a:bodyPr>
          <a:lstStyle/>
          <a:p>
            <a:pPr algn="l"/>
            <a:r>
              <a:rPr sz="1800" b="1">
                <a:solidFill>
                  <a:srgbClr val="F96167"/>
                </a:solidFill>
                <a:latin typeface="Calibri"/>
              </a:rPr>
              <a:t>Shallow tree (depth 3)</a:t>
            </a:r>
          </a:p>
        </p:txBody>
      </p:sp>
      <p:sp>
        <p:nvSpPr>
          <p:cNvPr id="14" name="TextBox 13"/>
          <p:cNvSpPr txBox="1"/>
          <p:nvPr/>
        </p:nvSpPr>
        <p:spPr>
          <a:xfrm>
            <a:off x="6400800" y="2468880"/>
            <a:ext cx="5029200" cy="457200"/>
          </a:xfrm>
          <a:prstGeom prst="rect">
            <a:avLst/>
          </a:prstGeom>
          <a:noFill/>
        </p:spPr>
        <p:txBody>
          <a:bodyPr wrap="square" lIns="0" rIns="0" tIns="0" bIns="0" anchor="t">
            <a:spAutoFit/>
          </a:bodyPr>
          <a:lstStyle/>
          <a:p>
            <a:pPr algn="l"/>
            <a:r>
              <a:rPr sz="1500" b="0">
                <a:solidFill>
                  <a:srgbClr val="36454F"/>
                </a:solidFill>
                <a:latin typeface="Consolas"/>
              </a:rPr>
              <a:t>Training accuracy: 0.880</a:t>
            </a:r>
          </a:p>
        </p:txBody>
      </p:sp>
      <p:sp>
        <p:nvSpPr>
          <p:cNvPr id="15" name="TextBox 14"/>
          <p:cNvSpPr txBox="1"/>
          <p:nvPr/>
        </p:nvSpPr>
        <p:spPr>
          <a:xfrm>
            <a:off x="6400800" y="2880360"/>
            <a:ext cx="5029200" cy="457200"/>
          </a:xfrm>
          <a:prstGeom prst="rect">
            <a:avLst/>
          </a:prstGeom>
          <a:noFill/>
        </p:spPr>
        <p:txBody>
          <a:bodyPr wrap="square" lIns="0" rIns="0" tIns="0" bIns="0" anchor="t">
            <a:spAutoFit/>
          </a:bodyPr>
          <a:lstStyle/>
          <a:p>
            <a:pPr algn="l"/>
            <a:r>
              <a:rPr sz="1500" b="0">
                <a:solidFill>
                  <a:srgbClr val="36454F"/>
                </a:solidFill>
                <a:latin typeface="Consolas"/>
              </a:rPr>
              <a:t>Test accuracy:     0.880</a:t>
            </a:r>
          </a:p>
        </p:txBody>
      </p:sp>
      <p:sp>
        <p:nvSpPr>
          <p:cNvPr id="16" name="TextBox 15"/>
          <p:cNvSpPr txBox="1"/>
          <p:nvPr/>
        </p:nvSpPr>
        <p:spPr>
          <a:xfrm>
            <a:off x="6400800" y="3383280"/>
            <a:ext cx="5029200" cy="457200"/>
          </a:xfrm>
          <a:prstGeom prst="rect">
            <a:avLst/>
          </a:prstGeom>
          <a:noFill/>
        </p:spPr>
        <p:txBody>
          <a:bodyPr wrap="square" lIns="0" rIns="0" tIns="0" bIns="0" anchor="t">
            <a:spAutoFit/>
          </a:bodyPr>
          <a:lstStyle/>
          <a:p>
            <a:pPr algn="l"/>
            <a:r>
              <a:rPr sz="1500" b="0">
                <a:solidFill>
                  <a:srgbClr val="36454F"/>
                </a:solidFill>
                <a:latin typeface="Consolas"/>
              </a:rPr>
              <a:t>Test F1:           0.000</a:t>
            </a:r>
          </a:p>
        </p:txBody>
      </p:sp>
      <p:sp>
        <p:nvSpPr>
          <p:cNvPr id="17" name="TextBox 16"/>
          <p:cNvSpPr txBox="1"/>
          <p:nvPr/>
        </p:nvSpPr>
        <p:spPr>
          <a:xfrm>
            <a:off x="6400800" y="3931920"/>
            <a:ext cx="5029200" cy="457200"/>
          </a:xfrm>
          <a:prstGeom prst="rect">
            <a:avLst/>
          </a:prstGeom>
          <a:noFill/>
        </p:spPr>
        <p:txBody>
          <a:bodyPr wrap="square" lIns="0" rIns="0" tIns="0" bIns="0" anchor="t">
            <a:spAutoFit/>
          </a:bodyPr>
          <a:lstStyle/>
          <a:p>
            <a:pPr algn="l"/>
            <a:r>
              <a:rPr sz="1400" b="1">
                <a:solidFill>
                  <a:srgbClr val="F96167"/>
                </a:solidFill>
                <a:latin typeface="Calibri"/>
              </a:rPr>
              <a:t>No train/test gap...</a:t>
            </a:r>
          </a:p>
        </p:txBody>
      </p:sp>
      <p:sp>
        <p:nvSpPr>
          <p:cNvPr id="18" name="TextBox 17"/>
          <p:cNvSpPr txBox="1"/>
          <p:nvPr/>
        </p:nvSpPr>
        <p:spPr>
          <a:xfrm>
            <a:off x="6400800" y="4389120"/>
            <a:ext cx="5029200" cy="1371600"/>
          </a:xfrm>
          <a:prstGeom prst="rect">
            <a:avLst/>
          </a:prstGeom>
          <a:noFill/>
        </p:spPr>
        <p:txBody>
          <a:bodyPr wrap="square" lIns="0" rIns="0" tIns="0" bIns="0" anchor="t">
            <a:spAutoFit/>
          </a:bodyPr>
          <a:lstStyle/>
          <a:p>
            <a:pPr algn="l"/>
            <a:r>
              <a:rPr sz="1300" b="0">
                <a:solidFill>
                  <a:srgbClr val="36454F"/>
                </a:solidFill>
                <a:latin typeface="Calibri"/>
              </a:rPr>
              <a:t>...because the tree just predicts 'stayed' for everyone.</a:t>
            </a:r>
          </a:p>
          <a:p>
            <a:pPr algn="l"/>
            <a:r>
              <a:rPr sz="1300" b="0">
                <a:solidFill>
                  <a:srgbClr val="36454F"/>
                </a:solidFill>
                <a:latin typeface="Calibri"/>
              </a:rPr>
              <a:t>HIGH bias, low variance.</a:t>
            </a:r>
          </a:p>
          <a:p>
            <a:pPr algn="l"/>
            <a:r>
              <a:rPr sz="1300" b="0">
                <a:solidFill>
                  <a:srgbClr val="36454F"/>
                </a:solidFill>
                <a:latin typeface="Calibri"/>
              </a:rPr>
              <a:t/>
            </a:r>
          </a:p>
          <a:p>
            <a:pPr algn="l"/>
            <a:r>
              <a:rPr sz="1300" b="0">
                <a:solidFill>
                  <a:srgbClr val="36454F"/>
                </a:solidFill>
                <a:latin typeface="Calibri"/>
              </a:rPr>
              <a:t>Diagnosis: UNDERFITS.</a:t>
            </a:r>
          </a:p>
        </p:txBody>
      </p:sp>
      <p:sp>
        <p:nvSpPr>
          <p:cNvPr id="19" name="Rectangle 18"/>
          <p:cNvSpPr/>
          <p:nvPr/>
        </p:nvSpPr>
        <p:spPr>
          <a:xfrm>
            <a:off x="548640" y="6400800"/>
            <a:ext cx="11064240"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6428232"/>
            <a:ext cx="10515600" cy="274320"/>
          </a:xfrm>
          <a:prstGeom prst="rect">
            <a:avLst/>
          </a:prstGeom>
          <a:noFill/>
        </p:spPr>
        <p:txBody>
          <a:bodyPr wrap="square" lIns="0" rIns="0" tIns="0" bIns="0" anchor="t">
            <a:spAutoFit/>
          </a:bodyPr>
          <a:lstStyle/>
          <a:p>
            <a:pPr algn="l"/>
            <a:r>
              <a:rPr sz="1300" b="1">
                <a:solidFill>
                  <a:srgbClr val="FFFFFF"/>
                </a:solidFill>
                <a:latin typeface="Calibri"/>
              </a:rPr>
              <a:t>The fix: train MANY trees on different subsets, then AVERAGE → Random Forest.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Bagging — The Random Forest Idea</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Train many trees on slightly different data, then average</a:t>
            </a:r>
          </a:p>
        </p:txBody>
      </p:sp>
      <p:sp>
        <p:nvSpPr>
          <p:cNvPr id="5" name="TextBox 4"/>
          <p:cNvSpPr txBox="1"/>
          <p:nvPr/>
        </p:nvSpPr>
        <p:spPr>
          <a:xfrm>
            <a:off x="548640" y="1737360"/>
            <a:ext cx="11064240" cy="457200"/>
          </a:xfrm>
          <a:prstGeom prst="rect">
            <a:avLst/>
          </a:prstGeom>
          <a:noFill/>
        </p:spPr>
        <p:txBody>
          <a:bodyPr wrap="square" lIns="0" rIns="0" tIns="0" bIns="0" anchor="t">
            <a:spAutoFit/>
          </a:bodyPr>
          <a:lstStyle/>
          <a:p>
            <a:pPr algn="l"/>
            <a:r>
              <a:rPr sz="1500" b="1">
                <a:solidFill>
                  <a:srgbClr val="1C7293"/>
                </a:solidFill>
                <a:latin typeface="Calibri"/>
              </a:rPr>
              <a:t>Two sources of variation between trees:</a:t>
            </a:r>
          </a:p>
        </p:txBody>
      </p:sp>
      <p:sp>
        <p:nvSpPr>
          <p:cNvPr id="6" name="Rectangle 5"/>
          <p:cNvSpPr/>
          <p:nvPr/>
        </p:nvSpPr>
        <p:spPr>
          <a:xfrm>
            <a:off x="548640" y="2377440"/>
            <a:ext cx="5486400" cy="1828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5029200" cy="457200"/>
          </a:xfrm>
          <a:prstGeom prst="rect">
            <a:avLst/>
          </a:prstGeom>
          <a:noFill/>
        </p:spPr>
        <p:txBody>
          <a:bodyPr wrap="square" lIns="0" rIns="0" tIns="0" bIns="0" anchor="t">
            <a:spAutoFit/>
          </a:bodyPr>
          <a:lstStyle/>
          <a:p>
            <a:pPr algn="l"/>
            <a:r>
              <a:rPr sz="1600" b="1">
                <a:solidFill>
                  <a:srgbClr val="065A82"/>
                </a:solidFill>
                <a:latin typeface="Calibri"/>
              </a:rPr>
              <a:t>1. Bootstrap sampling (rows)</a:t>
            </a:r>
          </a:p>
        </p:txBody>
      </p:sp>
      <p:sp>
        <p:nvSpPr>
          <p:cNvPr id="8" name="TextBox 7"/>
          <p:cNvSpPr txBox="1"/>
          <p:nvPr/>
        </p:nvSpPr>
        <p:spPr>
          <a:xfrm>
            <a:off x="777240" y="2971800"/>
            <a:ext cx="5029200" cy="1280160"/>
          </a:xfrm>
          <a:prstGeom prst="rect">
            <a:avLst/>
          </a:prstGeom>
          <a:noFill/>
        </p:spPr>
        <p:txBody>
          <a:bodyPr wrap="square" lIns="0" rIns="0" tIns="0" bIns="0" anchor="t">
            <a:spAutoFit/>
          </a:bodyPr>
          <a:lstStyle/>
          <a:p>
            <a:pPr algn="l"/>
            <a:r>
              <a:rPr sz="1300" b="0">
                <a:solidFill>
                  <a:srgbClr val="36454F"/>
                </a:solidFill>
                <a:latin typeface="Calibri"/>
              </a:rPr>
              <a:t>Each tree trains on a random sample of N rows drawn WITH replacement.</a:t>
            </a:r>
          </a:p>
          <a:p>
            <a:pPr algn="l"/>
            <a:r>
              <a:rPr sz="1300" b="0">
                <a:solidFill>
                  <a:srgbClr val="36454F"/>
                </a:solidFill>
                <a:latin typeface="Calibri"/>
              </a:rPr>
              <a:t/>
            </a:r>
          </a:p>
          <a:p>
            <a:pPr algn="l"/>
            <a:r>
              <a:rPr sz="1300" b="0">
                <a:solidFill>
                  <a:srgbClr val="36454F"/>
                </a:solidFill>
                <a:latin typeface="Calibri"/>
              </a:rPr>
              <a:t>~63% of rows appear at least once.</a:t>
            </a:r>
          </a:p>
          <a:p>
            <a:pPr algn="l"/>
            <a:r>
              <a:rPr sz="1300" b="0">
                <a:solidFill>
                  <a:srgbClr val="36454F"/>
                </a:solidFill>
                <a:latin typeface="Calibri"/>
              </a:rPr>
              <a:t>~37% are 'out of bag' — free validation set.</a:t>
            </a:r>
          </a:p>
        </p:txBody>
      </p:sp>
      <p:sp>
        <p:nvSpPr>
          <p:cNvPr id="9" name="Rectangle 8"/>
          <p:cNvSpPr/>
          <p:nvPr/>
        </p:nvSpPr>
        <p:spPr>
          <a:xfrm>
            <a:off x="6172200" y="2377440"/>
            <a:ext cx="5486400" cy="1828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514600"/>
            <a:ext cx="5029200" cy="457200"/>
          </a:xfrm>
          <a:prstGeom prst="rect">
            <a:avLst/>
          </a:prstGeom>
          <a:noFill/>
        </p:spPr>
        <p:txBody>
          <a:bodyPr wrap="square" lIns="0" rIns="0" tIns="0" bIns="0" anchor="t">
            <a:spAutoFit/>
          </a:bodyPr>
          <a:lstStyle/>
          <a:p>
            <a:pPr algn="l"/>
            <a:r>
              <a:rPr sz="1600" b="1">
                <a:solidFill>
                  <a:srgbClr val="065A82"/>
                </a:solidFill>
                <a:latin typeface="Calibri"/>
              </a:rPr>
              <a:t>2. Feature subsampling (cols)</a:t>
            </a:r>
          </a:p>
        </p:txBody>
      </p:sp>
      <p:sp>
        <p:nvSpPr>
          <p:cNvPr id="11" name="TextBox 10"/>
          <p:cNvSpPr txBox="1"/>
          <p:nvPr/>
        </p:nvSpPr>
        <p:spPr>
          <a:xfrm>
            <a:off x="6400800" y="2971800"/>
            <a:ext cx="5029200" cy="1280160"/>
          </a:xfrm>
          <a:prstGeom prst="rect">
            <a:avLst/>
          </a:prstGeom>
          <a:noFill/>
        </p:spPr>
        <p:txBody>
          <a:bodyPr wrap="square" lIns="0" rIns="0" tIns="0" bIns="0" anchor="t">
            <a:spAutoFit/>
          </a:bodyPr>
          <a:lstStyle/>
          <a:p>
            <a:pPr algn="l"/>
            <a:r>
              <a:rPr sz="1300" b="0">
                <a:solidFill>
                  <a:srgbClr val="36454F"/>
                </a:solidFill>
                <a:latin typeface="Calibri"/>
              </a:rPr>
              <a:t>At each split, the tree considers ONLY a random subset of features.</a:t>
            </a:r>
          </a:p>
          <a:p>
            <a:pPr algn="l"/>
            <a:r>
              <a:rPr sz="1300" b="0">
                <a:solidFill>
                  <a:srgbClr val="36454F"/>
                </a:solidFill>
                <a:latin typeface="Calibri"/>
              </a:rPr>
              <a:t/>
            </a:r>
          </a:p>
          <a:p>
            <a:pPr algn="l"/>
            <a:r>
              <a:rPr sz="1300" b="0">
                <a:solidFill>
                  <a:srgbClr val="36454F"/>
                </a:solidFill>
                <a:latin typeface="Calibri"/>
              </a:rPr>
              <a:t>Default for classification: sqrt(n_features).</a:t>
            </a:r>
          </a:p>
          <a:p>
            <a:pPr algn="l"/>
            <a:r>
              <a:rPr sz="1300" b="0">
                <a:solidFill>
                  <a:srgbClr val="36454F"/>
                </a:solidFill>
                <a:latin typeface="Calibri"/>
              </a:rPr>
              <a:t/>
            </a:r>
          </a:p>
          <a:p>
            <a:pPr algn="l"/>
            <a:r>
              <a:rPr sz="1300" b="0">
                <a:solidFill>
                  <a:srgbClr val="36454F"/>
                </a:solidFill>
                <a:latin typeface="Calibri"/>
              </a:rPr>
              <a:t>This is the trick that DECORRELATES the trees.</a:t>
            </a:r>
          </a:p>
        </p:txBody>
      </p:sp>
      <p:sp>
        <p:nvSpPr>
          <p:cNvPr id="12" name="Rectangle 11"/>
          <p:cNvSpPr/>
          <p:nvPr/>
        </p:nvSpPr>
        <p:spPr>
          <a:xfrm>
            <a:off x="548640" y="4480560"/>
            <a:ext cx="1106424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515600" cy="365760"/>
          </a:xfrm>
          <a:prstGeom prst="rect">
            <a:avLst/>
          </a:prstGeom>
          <a:noFill/>
        </p:spPr>
        <p:txBody>
          <a:bodyPr wrap="square" lIns="0" rIns="0" tIns="0" bIns="0" anchor="t">
            <a:spAutoFit/>
          </a:bodyPr>
          <a:lstStyle/>
          <a:p>
            <a:pPr algn="l"/>
            <a:r>
              <a:rPr sz="1400" b="0">
                <a:solidFill>
                  <a:srgbClr val="E8F1F5"/>
                </a:solidFill>
                <a:latin typeface="Calibri"/>
              </a:rPr>
              <a:t>Why both matter</a:t>
            </a:r>
          </a:p>
        </p:txBody>
      </p:sp>
      <p:sp>
        <p:nvSpPr>
          <p:cNvPr id="14" name="TextBox 13"/>
          <p:cNvSpPr txBox="1"/>
          <p:nvPr/>
        </p:nvSpPr>
        <p:spPr>
          <a:xfrm>
            <a:off x="822960" y="5029200"/>
            <a:ext cx="10515600" cy="1280160"/>
          </a:xfrm>
          <a:prstGeom prst="rect">
            <a:avLst/>
          </a:prstGeom>
          <a:noFill/>
        </p:spPr>
        <p:txBody>
          <a:bodyPr wrap="square" lIns="0" rIns="0" tIns="0" bIns="0" anchor="t">
            <a:spAutoFit/>
          </a:bodyPr>
          <a:lstStyle/>
          <a:p>
            <a:pPr algn="l"/>
            <a:r>
              <a:rPr sz="1400" b="0">
                <a:solidFill>
                  <a:srgbClr val="FFFFFF"/>
                </a:solidFill>
                <a:latin typeface="Calibri"/>
              </a:rPr>
              <a:t>Without feature subsampling, every tree picks the SAME top split and the ensemble is N copies of nearly the same model.</a:t>
            </a:r>
          </a:p>
          <a:p>
            <a:pPr algn="l"/>
            <a:r>
              <a:rPr sz="1400" b="0">
                <a:solidFill>
                  <a:srgbClr val="FFFFFF"/>
                </a:solidFill>
                <a:latin typeface="Calibri"/>
              </a:rPr>
              <a:t>Feature subsampling forces trees to specialise — that's what makes averaging genuinely reduce variance.</a:t>
            </a:r>
          </a:p>
          <a:p>
            <a:pPr algn="l"/>
            <a:r>
              <a:rPr sz="1400" b="0">
                <a:solidFill>
                  <a:srgbClr val="FFFFFF"/>
                </a:solidFill>
                <a:latin typeface="Calibri"/>
              </a:rPr>
              <a:t/>
            </a:r>
          </a:p>
          <a:p>
            <a:pPr algn="l"/>
            <a:r>
              <a:rPr sz="1400" b="0">
                <a:solidFill>
                  <a:srgbClr val="FFFFFF"/>
                </a:solidFill>
                <a:latin typeface="Calibri"/>
              </a:rPr>
              <a:t>Proof: turn feature subsampling OFF (max_features=None) and watch RF performance get WORSE.</a:t>
            </a:r>
          </a:p>
        </p:txBody>
      </p:sp>
      <p:sp>
        <p:nvSpPr>
          <p:cNvPr id="15" name="TextBox 1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5/28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Random Forest in sklearn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Drop-in replacement for any classifier</a:t>
            </a:r>
          </a:p>
        </p:txBody>
      </p:sp>
      <p:sp>
        <p:nvSpPr>
          <p:cNvPr id="5" name="Rectangle 4"/>
          <p:cNvSpPr/>
          <p:nvPr/>
        </p:nvSpPr>
        <p:spPr>
          <a:xfrm>
            <a:off x="548640" y="1691640"/>
            <a:ext cx="11064240" cy="34747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10698480" cy="3108960"/>
          </a:xfrm>
          <a:prstGeom prst="rect">
            <a:avLst/>
          </a:prstGeom>
          <a:noFill/>
        </p:spPr>
        <p:txBody>
          <a:bodyPr wrap="square" lIns="0" rIns="0" tIns="0" bIns="0" anchor="t">
            <a:spAutoFit/>
          </a:bodyPr>
          <a:lstStyle/>
          <a:p>
            <a:pPr algn="l"/>
            <a:r>
              <a:rPr sz="1400" b="0">
                <a:solidFill>
                  <a:srgbClr val="E8F1F5"/>
                </a:solidFill>
                <a:latin typeface="Consolas"/>
              </a:rPr>
              <a:t>from sklearn.ensemble import RandomForestClassifier</a:t>
            </a:r>
          </a:p>
          <a:p>
            <a:pPr algn="l"/>
            <a:r>
              <a:rPr sz="1400" b="0">
                <a:solidFill>
                  <a:srgbClr val="E8F1F5"/>
                </a:solidFill>
                <a:latin typeface="Consolas"/>
              </a:rPr>
              <a:t/>
            </a:r>
          </a:p>
          <a:p>
            <a:pPr algn="l"/>
            <a:r>
              <a:rPr sz="1400" b="0">
                <a:solidFill>
                  <a:srgbClr val="E8F1F5"/>
                </a:solidFill>
                <a:latin typeface="Consolas"/>
              </a:rPr>
              <a:t>rf_pipeline = Pipeline([</a:t>
            </a:r>
          </a:p>
          <a:p>
            <a:pPr algn="l"/>
            <a:r>
              <a:rPr sz="1400" b="0">
                <a:solidFill>
                  <a:srgbClr val="E8F1F5"/>
                </a:solidFill>
                <a:latin typeface="Consolas"/>
              </a:rPr>
              <a:t>    ("prep",  preprocessor),                    # same as L03</a:t>
            </a:r>
          </a:p>
          <a:p>
            <a:pPr algn="l"/>
            <a:r>
              <a:rPr sz="1400" b="0">
                <a:solidFill>
                  <a:srgbClr val="E8F1F5"/>
                </a:solidFill>
                <a:latin typeface="Consolas"/>
              </a:rPr>
              <a:t>    ("model", RandomForestClassifier(</a:t>
            </a:r>
          </a:p>
          <a:p>
            <a:pPr algn="l"/>
            <a:r>
              <a:rPr sz="1400" b="0">
                <a:solidFill>
                  <a:srgbClr val="E8F1F5"/>
                </a:solidFill>
                <a:latin typeface="Consolas"/>
              </a:rPr>
              <a:t>        n_estimators=200,                       # number of trees</a:t>
            </a:r>
          </a:p>
          <a:p>
            <a:pPr algn="l"/>
            <a:r>
              <a:rPr sz="1400" b="0">
                <a:solidFill>
                  <a:srgbClr val="E8F1F5"/>
                </a:solidFill>
                <a:latin typeface="Consolas"/>
              </a:rPr>
              <a:t>        min_samples_leaf=5,                     # mild regularisation</a:t>
            </a:r>
          </a:p>
          <a:p>
            <a:pPr algn="l"/>
            <a:r>
              <a:rPr sz="1400" b="0">
                <a:solidFill>
                  <a:srgbClr val="E8F1F5"/>
                </a:solidFill>
                <a:latin typeface="Consolas"/>
              </a:rPr>
              <a:t>        class_weight="balanced",                # ⚠ critical for imbalanced data</a:t>
            </a:r>
          </a:p>
          <a:p>
            <a:pPr algn="l"/>
            <a:r>
              <a:rPr sz="1400" b="0">
                <a:solidFill>
                  <a:srgbClr val="E8F1F5"/>
                </a:solidFill>
                <a:latin typeface="Consolas"/>
              </a:rPr>
              <a:t>        n_jobs=-1,                              # use all CPU cores</a:t>
            </a:r>
          </a:p>
          <a:p>
            <a:pPr algn="l"/>
            <a:r>
              <a:rPr sz="1400" b="0">
                <a:solidFill>
                  <a:srgbClr val="E8F1F5"/>
                </a:solidFill>
                <a:latin typeface="Consolas"/>
              </a:rPr>
              <a:t>        random_state=42,</a:t>
            </a:r>
          </a:p>
          <a:p>
            <a:pPr algn="l"/>
            <a:r>
              <a:rPr sz="1400" b="0">
                <a:solidFill>
                  <a:srgbClr val="E8F1F5"/>
                </a:solidFill>
                <a:latin typeface="Consolas"/>
              </a:rPr>
              <a:t>    )),</a:t>
            </a:r>
          </a:p>
          <a:p>
            <a:pPr algn="l"/>
            <a:r>
              <a:rPr sz="1400" b="0">
                <a:solidFill>
                  <a:srgbClr val="E8F1F5"/>
                </a:solidFill>
                <a:latin typeface="Consolas"/>
              </a:rPr>
              <a:t>])</a:t>
            </a:r>
          </a:p>
          <a:p>
            <a:pPr algn="l"/>
            <a:r>
              <a:rPr sz="1400" b="0">
                <a:solidFill>
                  <a:srgbClr val="E8F1F5"/>
                </a:solidFill>
                <a:latin typeface="Consolas"/>
              </a:rPr>
              <a:t>rf_pipeline.fit(X_train, y_train)</a:t>
            </a:r>
          </a:p>
          <a:p>
            <a:pPr algn="l"/>
            <a:r>
              <a:rPr sz="1400" b="0">
                <a:solidFill>
                  <a:srgbClr val="E8F1F5"/>
                </a:solidFill>
                <a:latin typeface="Consolas"/>
              </a:rPr>
              <a:t>predictions = rf_pipeline.predict(X_test)</a:t>
            </a:r>
          </a:p>
        </p:txBody>
      </p:sp>
      <p:sp>
        <p:nvSpPr>
          <p:cNvPr id="7" name="Rectangle 6"/>
          <p:cNvSpPr/>
          <p:nvPr/>
        </p:nvSpPr>
        <p:spPr>
          <a:xfrm>
            <a:off x="548640" y="5349240"/>
            <a:ext cx="1106424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440680"/>
            <a:ext cx="10515600" cy="365760"/>
          </a:xfrm>
          <a:prstGeom prst="rect">
            <a:avLst/>
          </a:prstGeom>
          <a:noFill/>
        </p:spPr>
        <p:txBody>
          <a:bodyPr wrap="square" lIns="0" rIns="0" tIns="0" bIns="0" anchor="t">
            <a:spAutoFit/>
          </a:bodyPr>
          <a:lstStyle/>
          <a:p>
            <a:pPr algn="l"/>
            <a:r>
              <a:rPr sz="1400" b="0">
                <a:solidFill>
                  <a:srgbClr val="E8F1F5"/>
                </a:solidFill>
                <a:latin typeface="Calibri"/>
              </a:rPr>
              <a:t>The win from defaults + class_weight='balanced':</a:t>
            </a:r>
          </a:p>
        </p:txBody>
      </p:sp>
      <p:sp>
        <p:nvSpPr>
          <p:cNvPr id="9" name="TextBox 8"/>
          <p:cNvSpPr txBox="1"/>
          <p:nvPr/>
        </p:nvSpPr>
        <p:spPr>
          <a:xfrm>
            <a:off x="822960" y="5852160"/>
            <a:ext cx="10515600" cy="457200"/>
          </a:xfrm>
          <a:prstGeom prst="rect">
            <a:avLst/>
          </a:prstGeom>
          <a:noFill/>
        </p:spPr>
        <p:txBody>
          <a:bodyPr wrap="square" lIns="0" rIns="0" tIns="0" bIns="0" anchor="t">
            <a:spAutoFit/>
          </a:bodyPr>
          <a:lstStyle/>
          <a:p>
            <a:pPr algn="l"/>
            <a:r>
              <a:rPr sz="1600" b="1">
                <a:solidFill>
                  <a:srgbClr val="F9E795"/>
                </a:solidFill>
                <a:latin typeface="Calibri"/>
              </a:rPr>
              <a:t>CV F1 ≈ 0.27 — matches L03 logistic regression at threshold 0.25</a:t>
            </a:r>
          </a:p>
        </p:txBody>
      </p:sp>
      <p:sp>
        <p:nvSpPr>
          <p:cNvPr id="10" name="TextBox 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6/28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class_weight='balanced' Is The Unlock</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On imbalanced data, this matters more than any other hyperparameter</a:t>
            </a:r>
          </a:p>
        </p:txBody>
      </p:sp>
      <p:sp>
        <p:nvSpPr>
          <p:cNvPr id="5" name="Rectangle 4"/>
          <p:cNvSpPr/>
          <p:nvPr/>
        </p:nvSpPr>
        <p:spPr>
          <a:xfrm>
            <a:off x="548640" y="1783080"/>
            <a:ext cx="5486400" cy="2286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0" cy="457200"/>
          </a:xfrm>
          <a:prstGeom prst="rect">
            <a:avLst/>
          </a:prstGeom>
          <a:noFill/>
        </p:spPr>
        <p:txBody>
          <a:bodyPr wrap="square" lIns="0" rIns="0" tIns="0" bIns="0" anchor="t">
            <a:spAutoFit/>
          </a:bodyPr>
          <a:lstStyle/>
          <a:p>
            <a:pPr algn="l"/>
            <a:r>
              <a:rPr sz="1600" b="1">
                <a:solidFill>
                  <a:srgbClr val="F96167"/>
                </a:solidFill>
                <a:latin typeface="Calibri"/>
              </a:rPr>
              <a:t>Without class_weight</a:t>
            </a:r>
          </a:p>
        </p:txBody>
      </p:sp>
      <p:sp>
        <p:nvSpPr>
          <p:cNvPr id="7" name="TextBox 6"/>
          <p:cNvSpPr txBox="1"/>
          <p:nvPr/>
        </p:nvSpPr>
        <p:spPr>
          <a:xfrm>
            <a:off x="777240" y="2423160"/>
            <a:ext cx="5029200" cy="1463040"/>
          </a:xfrm>
          <a:prstGeom prst="rect">
            <a:avLst/>
          </a:prstGeom>
          <a:noFill/>
        </p:spPr>
        <p:txBody>
          <a:bodyPr wrap="square" lIns="0" rIns="0" tIns="0" bIns="0" anchor="t">
            <a:spAutoFit/>
          </a:bodyPr>
          <a:lstStyle/>
          <a:p>
            <a:pPr algn="l"/>
            <a:r>
              <a:rPr sz="1400" b="0">
                <a:solidFill>
                  <a:srgbClr val="36454F"/>
                </a:solidFill>
                <a:latin typeface="Consolas"/>
              </a:rPr>
              <a:t>CV F1:    0.034</a:t>
            </a:r>
          </a:p>
          <a:p>
            <a:pPr algn="l"/>
            <a:r>
              <a:rPr sz="1400" b="0">
                <a:solidFill>
                  <a:srgbClr val="36454F"/>
                </a:solidFill>
                <a:latin typeface="Consolas"/>
              </a:rPr>
              <a:t>Recall:   0.018</a:t>
            </a:r>
          </a:p>
          <a:p>
            <a:pPr algn="l"/>
            <a:r>
              <a:rPr sz="1400" b="0">
                <a:solidFill>
                  <a:srgbClr val="36454F"/>
                </a:solidFill>
                <a:latin typeface="Consolas"/>
              </a:rPr>
              <a:t/>
            </a:r>
          </a:p>
          <a:p>
            <a:pPr algn="l"/>
            <a:r>
              <a:rPr sz="1400" b="0">
                <a:solidFill>
                  <a:srgbClr val="36454F"/>
                </a:solidFill>
                <a:latin typeface="Consolas"/>
              </a:rPr>
              <a:t>The model collapses — it predicts 'stayed'</a:t>
            </a:r>
          </a:p>
          <a:p>
            <a:pPr algn="l"/>
            <a:r>
              <a:rPr sz="1400" b="0">
                <a:solidFill>
                  <a:srgbClr val="36454F"/>
                </a:solidFill>
                <a:latin typeface="Consolas"/>
              </a:rPr>
              <a:t>for nearly everyone at threshold 0.5.</a:t>
            </a:r>
          </a:p>
        </p:txBody>
      </p:sp>
      <p:sp>
        <p:nvSpPr>
          <p:cNvPr id="8" name="Rectangle 7"/>
          <p:cNvSpPr/>
          <p:nvPr/>
        </p:nvSpPr>
        <p:spPr>
          <a:xfrm>
            <a:off x="6172200" y="1783080"/>
            <a:ext cx="5486400" cy="2286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5029200" cy="457200"/>
          </a:xfrm>
          <a:prstGeom prst="rect">
            <a:avLst/>
          </a:prstGeom>
          <a:noFill/>
        </p:spPr>
        <p:txBody>
          <a:bodyPr wrap="square" lIns="0" rIns="0" tIns="0" bIns="0" anchor="t">
            <a:spAutoFit/>
          </a:bodyPr>
          <a:lstStyle/>
          <a:p>
            <a:pPr algn="l"/>
            <a:r>
              <a:rPr sz="1600" b="1">
                <a:solidFill>
                  <a:srgbClr val="F9E795"/>
                </a:solidFill>
                <a:latin typeface="Calibri"/>
              </a:rPr>
              <a:t>WITH class_weight='balanced'</a:t>
            </a:r>
          </a:p>
        </p:txBody>
      </p:sp>
      <p:sp>
        <p:nvSpPr>
          <p:cNvPr id="10" name="TextBox 9"/>
          <p:cNvSpPr txBox="1"/>
          <p:nvPr/>
        </p:nvSpPr>
        <p:spPr>
          <a:xfrm>
            <a:off x="6400800" y="2423160"/>
            <a:ext cx="5029200" cy="1463040"/>
          </a:xfrm>
          <a:prstGeom prst="rect">
            <a:avLst/>
          </a:prstGeom>
          <a:noFill/>
        </p:spPr>
        <p:txBody>
          <a:bodyPr wrap="square" lIns="0" rIns="0" tIns="0" bIns="0" anchor="t">
            <a:spAutoFit/>
          </a:bodyPr>
          <a:lstStyle/>
          <a:p>
            <a:pPr algn="l"/>
            <a:r>
              <a:rPr sz="1400" b="0">
                <a:solidFill>
                  <a:srgbClr val="E8F1F5"/>
                </a:solidFill>
                <a:latin typeface="Consolas"/>
              </a:rPr>
              <a:t>CV F1:    0.270</a:t>
            </a:r>
          </a:p>
          <a:p>
            <a:pPr algn="l"/>
            <a:r>
              <a:rPr sz="1400" b="0">
                <a:solidFill>
                  <a:srgbClr val="E8F1F5"/>
                </a:solidFill>
                <a:latin typeface="Consolas"/>
              </a:rPr>
              <a:t>Recall:   0.213</a:t>
            </a:r>
          </a:p>
          <a:p>
            <a:pPr algn="l"/>
            <a:r>
              <a:rPr sz="1400" b="0">
                <a:solidFill>
                  <a:srgbClr val="E8F1F5"/>
                </a:solidFill>
                <a:latin typeface="Consolas"/>
              </a:rPr>
              <a:t/>
            </a:r>
          </a:p>
          <a:p>
            <a:pPr algn="l"/>
            <a:r>
              <a:rPr sz="1400" b="0">
                <a:solidFill>
                  <a:srgbClr val="E8F1F5"/>
                </a:solidFill>
                <a:latin typeface="Consolas"/>
              </a:rPr>
              <a:t>Surfaces real churners at actionable rates.</a:t>
            </a:r>
          </a:p>
          <a:p>
            <a:pPr algn="l"/>
            <a:r>
              <a:rPr sz="1400" b="0">
                <a:solidFill>
                  <a:srgbClr val="E8F1F5"/>
                </a:solidFill>
                <a:latin typeface="Consolas"/>
              </a:rPr>
              <a:t>Worth +0.24 F1 — biggest hyperparameter win.</a:t>
            </a:r>
          </a:p>
        </p:txBody>
      </p:sp>
      <p:sp>
        <p:nvSpPr>
          <p:cNvPr id="11" name="TextBox 10"/>
          <p:cNvSpPr txBox="1"/>
          <p:nvPr/>
        </p:nvSpPr>
        <p:spPr>
          <a:xfrm>
            <a:off x="548640" y="4297680"/>
            <a:ext cx="11064240" cy="457200"/>
          </a:xfrm>
          <a:prstGeom prst="rect">
            <a:avLst/>
          </a:prstGeom>
          <a:noFill/>
        </p:spPr>
        <p:txBody>
          <a:bodyPr wrap="square" lIns="0" rIns="0" tIns="0" bIns="0" anchor="t">
            <a:spAutoFit/>
          </a:bodyPr>
          <a:lstStyle/>
          <a:p>
            <a:pPr algn="l"/>
            <a:r>
              <a:rPr sz="1500" b="1">
                <a:solidFill>
                  <a:srgbClr val="1C7293"/>
                </a:solidFill>
                <a:latin typeface="Calibri"/>
              </a:rPr>
              <a:t>What it does</a:t>
            </a:r>
          </a:p>
        </p:txBody>
      </p:sp>
      <p:sp>
        <p:nvSpPr>
          <p:cNvPr id="12" name="TextBox 11"/>
          <p:cNvSpPr txBox="1"/>
          <p:nvPr/>
        </p:nvSpPr>
        <p:spPr>
          <a:xfrm>
            <a:off x="548640" y="4754880"/>
            <a:ext cx="11064240" cy="1371600"/>
          </a:xfrm>
          <a:prstGeom prst="rect">
            <a:avLst/>
          </a:prstGeom>
          <a:noFill/>
        </p:spPr>
        <p:txBody>
          <a:bodyPr wrap="square" lIns="0" rIns="0" tIns="0" bIns="0" anchor="t">
            <a:spAutoFit/>
          </a:bodyPr>
          <a:lstStyle/>
          <a:p>
            <a:pPr algn="l"/>
            <a:r>
              <a:rPr sz="1300" b="0">
                <a:solidFill>
                  <a:srgbClr val="36454F"/>
                </a:solidFill>
                <a:latin typeface="Calibri"/>
              </a:rPr>
              <a:t>Inversely weights classes by frequency. For our 88/12 churn split:</a:t>
            </a:r>
          </a:p>
          <a:p>
            <a:pPr algn="l"/>
            <a:r>
              <a:rPr sz="1300" b="0">
                <a:solidFill>
                  <a:srgbClr val="36454F"/>
                </a:solidFill>
                <a:latin typeface="Calibri"/>
              </a:rPr>
              <a:t/>
            </a:r>
          </a:p>
          <a:p>
            <a:pPr algn="l"/>
            <a:r>
              <a:rPr sz="1300" b="0">
                <a:solidFill>
                  <a:srgbClr val="36454F"/>
                </a:solidFill>
                <a:latin typeface="Calibri"/>
              </a:rPr>
              <a:t>• Loss for misclassifying a STAYED customer is multiplied by  88 / (2 × 88) = 0.5</a:t>
            </a:r>
          </a:p>
          <a:p>
            <a:pPr algn="l"/>
            <a:r>
              <a:rPr sz="1300" b="0">
                <a:solidFill>
                  <a:srgbClr val="36454F"/>
                </a:solidFill>
                <a:latin typeface="Calibri"/>
              </a:rPr>
              <a:t>• Loss for misclassifying a CHURN customer is multiplied by  88 / (2 × 12) = 3.67</a:t>
            </a:r>
          </a:p>
          <a:p>
            <a:pPr algn="l"/>
            <a:r>
              <a:rPr sz="1300" b="0">
                <a:solidFill>
                  <a:srgbClr val="36454F"/>
                </a:solidFill>
                <a:latin typeface="Calibri"/>
              </a:rPr>
              <a:t/>
            </a:r>
          </a:p>
          <a:p>
            <a:pPr algn="l"/>
            <a:r>
              <a:rPr sz="1300" b="0">
                <a:solidFill>
                  <a:srgbClr val="36454F"/>
                </a:solidFill>
                <a:latin typeface="Calibri"/>
              </a:rPr>
              <a:t>→ The model 'pays attention' to churners ~7× more than without the weighting.</a:t>
            </a:r>
          </a:p>
        </p:txBody>
      </p:sp>
      <p:sp>
        <p:nvSpPr>
          <p:cNvPr id="13" name="TextBox 1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7/28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Feature Importance — A Window Into the Model</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Top features for the NorthStar Random Forest</a:t>
            </a:r>
          </a:p>
        </p:txBody>
      </p:sp>
      <p:sp>
        <p:nvSpPr>
          <p:cNvPr id="5" name="TextBox 4"/>
          <p:cNvSpPr txBox="1"/>
          <p:nvPr/>
        </p:nvSpPr>
        <p:spPr>
          <a:xfrm>
            <a:off x="548640" y="1920240"/>
            <a:ext cx="3474720" cy="365760"/>
          </a:xfrm>
          <a:prstGeom prst="rect">
            <a:avLst/>
          </a:prstGeom>
          <a:noFill/>
        </p:spPr>
        <p:txBody>
          <a:bodyPr wrap="square" lIns="0" rIns="0" tIns="0" bIns="0" anchor="t">
            <a:spAutoFit/>
          </a:bodyPr>
          <a:lstStyle/>
          <a:p>
            <a:pPr algn="l"/>
            <a:r>
              <a:rPr sz="1200" b="0">
                <a:solidFill>
                  <a:srgbClr val="36454F"/>
                </a:solidFill>
                <a:latin typeface="Consolas"/>
              </a:rPr>
              <a:t>returns_per_purchase</a:t>
            </a:r>
          </a:p>
        </p:txBody>
      </p:sp>
      <p:sp>
        <p:nvSpPr>
          <p:cNvPr id="6" name="Rectangle 5"/>
          <p:cNvSpPr/>
          <p:nvPr/>
        </p:nvSpPr>
        <p:spPr>
          <a:xfrm>
            <a:off x="4114800" y="1828800"/>
            <a:ext cx="6144768"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51008" y="1920240"/>
            <a:ext cx="914400" cy="274320"/>
          </a:xfrm>
          <a:prstGeom prst="rect">
            <a:avLst/>
          </a:prstGeom>
          <a:noFill/>
        </p:spPr>
        <p:txBody>
          <a:bodyPr wrap="square" lIns="0" rIns="0" tIns="0" bIns="0" anchor="t">
            <a:spAutoFit/>
          </a:bodyPr>
          <a:lstStyle/>
          <a:p>
            <a:pPr algn="l"/>
            <a:r>
              <a:rPr sz="1100" b="1">
                <a:solidFill>
                  <a:srgbClr val="1C7293"/>
                </a:solidFill>
                <a:latin typeface="Calibri"/>
              </a:rPr>
              <a:t>0.224</a:t>
            </a:r>
          </a:p>
        </p:txBody>
      </p:sp>
      <p:sp>
        <p:nvSpPr>
          <p:cNvPr id="8" name="TextBox 7"/>
          <p:cNvSpPr txBox="1"/>
          <p:nvPr/>
        </p:nvSpPr>
        <p:spPr>
          <a:xfrm>
            <a:off x="548640" y="2423160"/>
            <a:ext cx="3474720" cy="365760"/>
          </a:xfrm>
          <a:prstGeom prst="rect">
            <a:avLst/>
          </a:prstGeom>
          <a:noFill/>
        </p:spPr>
        <p:txBody>
          <a:bodyPr wrap="square" lIns="0" rIns="0" tIns="0" bIns="0" anchor="t">
            <a:spAutoFit/>
          </a:bodyPr>
          <a:lstStyle/>
          <a:p>
            <a:pPr algn="l"/>
            <a:r>
              <a:rPr sz="1200" b="0">
                <a:solidFill>
                  <a:srgbClr val="36454F"/>
                </a:solidFill>
                <a:latin typeface="Consolas"/>
              </a:rPr>
              <a:t>tenure_months</a:t>
            </a:r>
          </a:p>
        </p:txBody>
      </p:sp>
      <p:sp>
        <p:nvSpPr>
          <p:cNvPr id="9" name="Rectangle 8"/>
          <p:cNvSpPr/>
          <p:nvPr/>
        </p:nvSpPr>
        <p:spPr>
          <a:xfrm>
            <a:off x="4114800" y="2331720"/>
            <a:ext cx="4142232"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48472" y="2423160"/>
            <a:ext cx="914400" cy="274320"/>
          </a:xfrm>
          <a:prstGeom prst="rect">
            <a:avLst/>
          </a:prstGeom>
          <a:noFill/>
        </p:spPr>
        <p:txBody>
          <a:bodyPr wrap="square" lIns="0" rIns="0" tIns="0" bIns="0" anchor="t">
            <a:spAutoFit/>
          </a:bodyPr>
          <a:lstStyle/>
          <a:p>
            <a:pPr algn="l"/>
            <a:r>
              <a:rPr sz="1100" b="1">
                <a:solidFill>
                  <a:srgbClr val="1C7293"/>
                </a:solidFill>
                <a:latin typeface="Calibri"/>
              </a:rPr>
              <a:t>0.151</a:t>
            </a:r>
          </a:p>
        </p:txBody>
      </p:sp>
      <p:sp>
        <p:nvSpPr>
          <p:cNvPr id="11" name="TextBox 10"/>
          <p:cNvSpPr txBox="1"/>
          <p:nvPr/>
        </p:nvSpPr>
        <p:spPr>
          <a:xfrm>
            <a:off x="548640" y="2926080"/>
            <a:ext cx="3474720" cy="365760"/>
          </a:xfrm>
          <a:prstGeom prst="rect">
            <a:avLst/>
          </a:prstGeom>
          <a:noFill/>
        </p:spPr>
        <p:txBody>
          <a:bodyPr wrap="square" lIns="0" rIns="0" tIns="0" bIns="0" anchor="t">
            <a:spAutoFit/>
          </a:bodyPr>
          <a:lstStyle/>
          <a:p>
            <a:pPr algn="l"/>
            <a:r>
              <a:rPr sz="1200" b="0">
                <a:solidFill>
                  <a:srgbClr val="36454F"/>
                </a:solidFill>
                <a:latin typeface="Consolas"/>
              </a:rPr>
              <a:t>avg_review_polarity</a:t>
            </a:r>
          </a:p>
        </p:txBody>
      </p:sp>
      <p:sp>
        <p:nvSpPr>
          <p:cNvPr id="12" name="Rectangle 11"/>
          <p:cNvSpPr/>
          <p:nvPr/>
        </p:nvSpPr>
        <p:spPr>
          <a:xfrm>
            <a:off x="4114800" y="2834640"/>
            <a:ext cx="3429000"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2926080"/>
            <a:ext cx="914400" cy="274320"/>
          </a:xfrm>
          <a:prstGeom prst="rect">
            <a:avLst/>
          </a:prstGeom>
          <a:noFill/>
        </p:spPr>
        <p:txBody>
          <a:bodyPr wrap="square" lIns="0" rIns="0" tIns="0" bIns="0" anchor="t">
            <a:spAutoFit/>
          </a:bodyPr>
          <a:lstStyle/>
          <a:p>
            <a:pPr algn="l"/>
            <a:r>
              <a:rPr sz="1100" b="1">
                <a:solidFill>
                  <a:srgbClr val="1C7293"/>
                </a:solidFill>
                <a:latin typeface="Calibri"/>
              </a:rPr>
              <a:t>0.125</a:t>
            </a:r>
          </a:p>
        </p:txBody>
      </p:sp>
      <p:sp>
        <p:nvSpPr>
          <p:cNvPr id="14" name="TextBox 13"/>
          <p:cNvSpPr txBox="1"/>
          <p:nvPr/>
        </p:nvSpPr>
        <p:spPr>
          <a:xfrm>
            <a:off x="548640" y="3429000"/>
            <a:ext cx="3474720" cy="365760"/>
          </a:xfrm>
          <a:prstGeom prst="rect">
            <a:avLst/>
          </a:prstGeom>
          <a:noFill/>
        </p:spPr>
        <p:txBody>
          <a:bodyPr wrap="square" lIns="0" rIns="0" tIns="0" bIns="0" anchor="t">
            <a:spAutoFit/>
          </a:bodyPr>
          <a:lstStyle/>
          <a:p>
            <a:pPr algn="l"/>
            <a:r>
              <a:rPr sz="1200" b="0">
                <a:solidFill>
                  <a:srgbClr val="36454F"/>
                </a:solidFill>
                <a:latin typeface="Consolas"/>
              </a:rPr>
              <a:t>avg_monthly_spend_gbp</a:t>
            </a:r>
          </a:p>
        </p:txBody>
      </p:sp>
      <p:sp>
        <p:nvSpPr>
          <p:cNvPr id="15" name="Rectangle 14"/>
          <p:cNvSpPr/>
          <p:nvPr/>
        </p:nvSpPr>
        <p:spPr>
          <a:xfrm>
            <a:off x="4114800" y="3337560"/>
            <a:ext cx="3182112"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3429000"/>
            <a:ext cx="914400" cy="274320"/>
          </a:xfrm>
          <a:prstGeom prst="rect">
            <a:avLst/>
          </a:prstGeom>
          <a:noFill/>
        </p:spPr>
        <p:txBody>
          <a:bodyPr wrap="square" lIns="0" rIns="0" tIns="0" bIns="0" anchor="t">
            <a:spAutoFit/>
          </a:bodyPr>
          <a:lstStyle/>
          <a:p>
            <a:pPr algn="l"/>
            <a:r>
              <a:rPr sz="1100" b="1">
                <a:solidFill>
                  <a:srgbClr val="1C7293"/>
                </a:solidFill>
                <a:latin typeface="Calibri"/>
              </a:rPr>
              <a:t>0.116</a:t>
            </a:r>
          </a:p>
        </p:txBody>
      </p:sp>
      <p:sp>
        <p:nvSpPr>
          <p:cNvPr id="17" name="TextBox 16"/>
          <p:cNvSpPr txBox="1"/>
          <p:nvPr/>
        </p:nvSpPr>
        <p:spPr>
          <a:xfrm>
            <a:off x="548640" y="3931920"/>
            <a:ext cx="3474720" cy="365760"/>
          </a:xfrm>
          <a:prstGeom prst="rect">
            <a:avLst/>
          </a:prstGeom>
          <a:noFill/>
        </p:spPr>
        <p:txBody>
          <a:bodyPr wrap="square" lIns="0" rIns="0" tIns="0" bIns="0" anchor="t">
            <a:spAutoFit/>
          </a:bodyPr>
          <a:lstStyle/>
          <a:p>
            <a:pPr algn="l"/>
            <a:r>
              <a:rPr sz="1200" b="0">
                <a:solidFill>
                  <a:srgbClr val="36454F"/>
                </a:solidFill>
                <a:latin typeface="Consolas"/>
              </a:rPr>
              <a:t>last_login_days_ago</a:t>
            </a:r>
          </a:p>
        </p:txBody>
      </p:sp>
      <p:sp>
        <p:nvSpPr>
          <p:cNvPr id="18" name="Rectangle 17"/>
          <p:cNvSpPr/>
          <p:nvPr/>
        </p:nvSpPr>
        <p:spPr>
          <a:xfrm>
            <a:off x="4114800" y="3840480"/>
            <a:ext cx="3072384"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78624" y="3931920"/>
            <a:ext cx="914400" cy="274320"/>
          </a:xfrm>
          <a:prstGeom prst="rect">
            <a:avLst/>
          </a:prstGeom>
          <a:noFill/>
        </p:spPr>
        <p:txBody>
          <a:bodyPr wrap="square" lIns="0" rIns="0" tIns="0" bIns="0" anchor="t">
            <a:spAutoFit/>
          </a:bodyPr>
          <a:lstStyle/>
          <a:p>
            <a:pPr algn="l"/>
            <a:r>
              <a:rPr sz="1100" b="1">
                <a:solidFill>
                  <a:srgbClr val="1C7293"/>
                </a:solidFill>
                <a:latin typeface="Calibri"/>
              </a:rPr>
              <a:t>0.112</a:t>
            </a:r>
          </a:p>
        </p:txBody>
      </p:sp>
      <p:sp>
        <p:nvSpPr>
          <p:cNvPr id="20" name="TextBox 19"/>
          <p:cNvSpPr txBox="1"/>
          <p:nvPr/>
        </p:nvSpPr>
        <p:spPr>
          <a:xfrm>
            <a:off x="548640" y="4434840"/>
            <a:ext cx="3474720" cy="365760"/>
          </a:xfrm>
          <a:prstGeom prst="rect">
            <a:avLst/>
          </a:prstGeom>
          <a:noFill/>
        </p:spPr>
        <p:txBody>
          <a:bodyPr wrap="square" lIns="0" rIns="0" tIns="0" bIns="0" anchor="t">
            <a:spAutoFit/>
          </a:bodyPr>
          <a:lstStyle/>
          <a:p>
            <a:pPr algn="l"/>
            <a:r>
              <a:rPr sz="1200" b="0">
                <a:solidFill>
                  <a:srgbClr val="36454F"/>
                </a:solidFill>
                <a:latin typeface="Consolas"/>
              </a:rPr>
              <a:t>age</a:t>
            </a:r>
          </a:p>
        </p:txBody>
      </p:sp>
      <p:sp>
        <p:nvSpPr>
          <p:cNvPr id="21" name="Rectangle 20"/>
          <p:cNvSpPr/>
          <p:nvPr/>
        </p:nvSpPr>
        <p:spPr>
          <a:xfrm>
            <a:off x="4114800" y="4343400"/>
            <a:ext cx="2688336"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94576" y="4434840"/>
            <a:ext cx="914400" cy="274320"/>
          </a:xfrm>
          <a:prstGeom prst="rect">
            <a:avLst/>
          </a:prstGeom>
          <a:noFill/>
        </p:spPr>
        <p:txBody>
          <a:bodyPr wrap="square" lIns="0" rIns="0" tIns="0" bIns="0" anchor="t">
            <a:spAutoFit/>
          </a:bodyPr>
          <a:lstStyle/>
          <a:p>
            <a:pPr algn="l"/>
            <a:r>
              <a:rPr sz="1100" b="1">
                <a:solidFill>
                  <a:srgbClr val="1C7293"/>
                </a:solidFill>
                <a:latin typeface="Calibri"/>
              </a:rPr>
              <a:t>0.098</a:t>
            </a:r>
          </a:p>
        </p:txBody>
      </p:sp>
      <p:sp>
        <p:nvSpPr>
          <p:cNvPr id="23" name="TextBox 22"/>
          <p:cNvSpPr txBox="1"/>
          <p:nvPr/>
        </p:nvSpPr>
        <p:spPr>
          <a:xfrm>
            <a:off x="548640" y="4937760"/>
            <a:ext cx="3474720" cy="365760"/>
          </a:xfrm>
          <a:prstGeom prst="rect">
            <a:avLst/>
          </a:prstGeom>
          <a:noFill/>
        </p:spPr>
        <p:txBody>
          <a:bodyPr wrap="square" lIns="0" rIns="0" tIns="0" bIns="0" anchor="t">
            <a:spAutoFit/>
          </a:bodyPr>
          <a:lstStyle/>
          <a:p>
            <a:pPr algn="l"/>
            <a:r>
              <a:rPr sz="1200" b="0">
                <a:solidFill>
                  <a:srgbClr val="36454F"/>
                </a:solidFill>
                <a:latin typeface="Consolas"/>
              </a:rPr>
              <a:t>num_purchases_quarter</a:t>
            </a:r>
          </a:p>
        </p:txBody>
      </p:sp>
      <p:sp>
        <p:nvSpPr>
          <p:cNvPr id="24" name="Rectangle 23"/>
          <p:cNvSpPr/>
          <p:nvPr/>
        </p:nvSpPr>
        <p:spPr>
          <a:xfrm>
            <a:off x="4114800" y="4846320"/>
            <a:ext cx="1618488"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4728" y="4937760"/>
            <a:ext cx="914400" cy="274320"/>
          </a:xfrm>
          <a:prstGeom prst="rect">
            <a:avLst/>
          </a:prstGeom>
          <a:noFill/>
        </p:spPr>
        <p:txBody>
          <a:bodyPr wrap="square" lIns="0" rIns="0" tIns="0" bIns="0" anchor="t">
            <a:spAutoFit/>
          </a:bodyPr>
          <a:lstStyle/>
          <a:p>
            <a:pPr algn="l"/>
            <a:r>
              <a:rPr sz="1100" b="1">
                <a:solidFill>
                  <a:srgbClr val="1C7293"/>
                </a:solidFill>
                <a:latin typeface="Calibri"/>
              </a:rPr>
              <a:t>0.059</a:t>
            </a:r>
          </a:p>
        </p:txBody>
      </p:sp>
      <p:sp>
        <p:nvSpPr>
          <p:cNvPr id="26" name="TextBox 25"/>
          <p:cNvSpPr txBox="1"/>
          <p:nvPr/>
        </p:nvSpPr>
        <p:spPr>
          <a:xfrm>
            <a:off x="548640" y="5440680"/>
            <a:ext cx="3474720" cy="365760"/>
          </a:xfrm>
          <a:prstGeom prst="rect">
            <a:avLst/>
          </a:prstGeom>
          <a:noFill/>
        </p:spPr>
        <p:txBody>
          <a:bodyPr wrap="square" lIns="0" rIns="0" tIns="0" bIns="0" anchor="t">
            <a:spAutoFit/>
          </a:bodyPr>
          <a:lstStyle/>
          <a:p>
            <a:pPr algn="l"/>
            <a:r>
              <a:rPr sz="1200" b="0">
                <a:solidFill>
                  <a:srgbClr val="36454F"/>
                </a:solidFill>
                <a:latin typeface="Consolas"/>
              </a:rPr>
              <a:t>support_tickets_quarter</a:t>
            </a:r>
          </a:p>
        </p:txBody>
      </p:sp>
      <p:sp>
        <p:nvSpPr>
          <p:cNvPr id="27" name="Rectangle 26"/>
          <p:cNvSpPr/>
          <p:nvPr/>
        </p:nvSpPr>
        <p:spPr>
          <a:xfrm>
            <a:off x="4114800" y="5349240"/>
            <a:ext cx="1014984"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21224" y="5440680"/>
            <a:ext cx="914400" cy="274320"/>
          </a:xfrm>
          <a:prstGeom prst="rect">
            <a:avLst/>
          </a:prstGeom>
          <a:noFill/>
        </p:spPr>
        <p:txBody>
          <a:bodyPr wrap="square" lIns="0" rIns="0" tIns="0" bIns="0" anchor="t">
            <a:spAutoFit/>
          </a:bodyPr>
          <a:lstStyle/>
          <a:p>
            <a:pPr algn="l"/>
            <a:r>
              <a:rPr sz="1100" b="1">
                <a:solidFill>
                  <a:srgbClr val="1C7293"/>
                </a:solidFill>
                <a:latin typeface="Calibri"/>
              </a:rPr>
              <a:t>0.037</a:t>
            </a:r>
          </a:p>
        </p:txBody>
      </p:sp>
      <p:sp>
        <p:nvSpPr>
          <p:cNvPr id="29" name="Rectangle 28"/>
          <p:cNvSpPr/>
          <p:nvPr/>
        </p:nvSpPr>
        <p:spPr>
          <a:xfrm>
            <a:off x="548640" y="5943600"/>
            <a:ext cx="1106424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989320"/>
            <a:ext cx="10515600" cy="320040"/>
          </a:xfrm>
          <a:prstGeom prst="rect">
            <a:avLst/>
          </a:prstGeom>
          <a:noFill/>
        </p:spPr>
        <p:txBody>
          <a:bodyPr wrap="square" lIns="0" rIns="0" tIns="0" bIns="0" anchor="t">
            <a:spAutoFit/>
          </a:bodyPr>
          <a:lstStyle/>
          <a:p>
            <a:pPr algn="l"/>
            <a:r>
              <a:rPr sz="1300" b="1">
                <a:solidFill>
                  <a:srgbClr val="E8F1F5"/>
                </a:solidFill>
                <a:latin typeface="Calibri"/>
              </a:rPr>
              <a:t>Same dominant features as L03: returns, tenure, polarity. The model 'sees the same world'.</a:t>
            </a:r>
          </a:p>
        </p:txBody>
      </p:sp>
      <p:sp>
        <p:nvSpPr>
          <p:cNvPr id="31" name="TextBox 3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8/28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200" b="1">
                <a:solidFill>
                  <a:srgbClr val="FFFFFF"/>
                </a:solidFill>
                <a:latin typeface="Consolas"/>
              </a:rPr>
              <a:t>Open: 02_decision_tree_to_forest.ipynb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Train a Random Forest with class_weight='balanced' on NorthStar churn.</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Inspect feature_importances_ — verify they match L03 intuition.</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Sweep n_estimators (10 → 400) and watch the F1 saturate.</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Boosting — Sequential Error Correction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Each new tree fits what the ensemble got wrong</a:t>
            </a:r>
          </a:p>
        </p:txBody>
      </p:sp>
      <p:sp>
        <p:nvSpPr>
          <p:cNvPr id="5" name="Rectangle 4"/>
          <p:cNvSpPr/>
          <p:nvPr/>
        </p:nvSpPr>
        <p:spPr>
          <a:xfrm>
            <a:off x="548640" y="1737360"/>
            <a:ext cx="11064240" cy="30175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10515600" cy="2743200"/>
          </a:xfrm>
          <a:prstGeom prst="rect">
            <a:avLst/>
          </a:prstGeom>
          <a:noFill/>
        </p:spPr>
        <p:txBody>
          <a:bodyPr wrap="square" lIns="0" rIns="0" tIns="0" bIns="0" anchor="t">
            <a:spAutoFit/>
          </a:bodyPr>
          <a:lstStyle/>
          <a:p>
            <a:pPr algn="l"/>
            <a:r>
              <a:rPr sz="1500" b="0">
                <a:solidFill>
                  <a:srgbClr val="E8F1F5"/>
                </a:solidFill>
                <a:latin typeface="Consolas"/>
              </a:rPr>
              <a:t>The algorithm:</a:t>
            </a:r>
          </a:p>
          <a:p>
            <a:pPr algn="l"/>
            <a:r>
              <a:rPr sz="1500" b="0">
                <a:solidFill>
                  <a:srgbClr val="E8F1F5"/>
                </a:solidFill>
                <a:latin typeface="Consolas"/>
              </a:rPr>
              <a:t/>
            </a:r>
          </a:p>
          <a:p>
            <a:pPr algn="l"/>
            <a:r>
              <a:rPr sz="1500" b="0">
                <a:solidFill>
                  <a:srgbClr val="E8F1F5"/>
                </a:solidFill>
                <a:latin typeface="Consolas"/>
              </a:rPr>
              <a:t>  1. Initial prediction = mean of y_train</a:t>
            </a:r>
          </a:p>
          <a:p>
            <a:pPr algn="l"/>
            <a:r>
              <a:rPr sz="1500" b="0">
                <a:solidFill>
                  <a:srgbClr val="E8F1F5"/>
                </a:solidFill>
                <a:latin typeface="Consolas"/>
              </a:rPr>
              <a:t>  2. Compute residuals = y - prediction</a:t>
            </a:r>
          </a:p>
          <a:p>
            <a:pPr algn="l"/>
            <a:r>
              <a:rPr sz="1500" b="0">
                <a:solidFill>
                  <a:srgbClr val="E8F1F5"/>
                </a:solidFill>
                <a:latin typeface="Consolas"/>
              </a:rPr>
              <a:t>  3. Train a SMALL tree to predict the residuals</a:t>
            </a:r>
          </a:p>
          <a:p>
            <a:pPr algn="l"/>
            <a:r>
              <a:rPr sz="1500" b="0">
                <a:solidFill>
                  <a:srgbClr val="E8F1F5"/>
                </a:solidFill>
                <a:latin typeface="Consolas"/>
              </a:rPr>
              <a:t>  4. Update: prediction = previous + learning_rate × tree_prediction</a:t>
            </a:r>
          </a:p>
          <a:p>
            <a:pPr algn="l"/>
            <a:r>
              <a:rPr sz="1500" b="0">
                <a:solidFill>
                  <a:srgbClr val="E8F1F5"/>
                </a:solidFill>
                <a:latin typeface="Consolas"/>
              </a:rPr>
              <a:t>  5. Repeat from step 2  (200-500 rounds typical)</a:t>
            </a:r>
          </a:p>
        </p:txBody>
      </p:sp>
      <p:sp>
        <p:nvSpPr>
          <p:cNvPr id="7" name="Rectangle 6"/>
          <p:cNvSpPr/>
          <p:nvPr/>
        </p:nvSpPr>
        <p:spPr>
          <a:xfrm>
            <a:off x="548640" y="4937760"/>
            <a:ext cx="11064240" cy="13716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074920"/>
            <a:ext cx="10515600" cy="365760"/>
          </a:xfrm>
          <a:prstGeom prst="rect">
            <a:avLst/>
          </a:prstGeom>
          <a:noFill/>
        </p:spPr>
        <p:txBody>
          <a:bodyPr wrap="square" lIns="0" rIns="0" tIns="0" bIns="0" anchor="t">
            <a:spAutoFit/>
          </a:bodyPr>
          <a:lstStyle/>
          <a:p>
            <a:pPr algn="l"/>
            <a:r>
              <a:rPr sz="1400" b="0">
                <a:solidFill>
                  <a:srgbClr val="E8F1F5"/>
                </a:solidFill>
                <a:latin typeface="Calibri"/>
              </a:rPr>
              <a:t>The conceptual leap from Random Forest</a:t>
            </a:r>
          </a:p>
        </p:txBody>
      </p:sp>
      <p:sp>
        <p:nvSpPr>
          <p:cNvPr id="9" name="TextBox 8"/>
          <p:cNvSpPr txBox="1"/>
          <p:nvPr/>
        </p:nvSpPr>
        <p:spPr>
          <a:xfrm>
            <a:off x="822960" y="5486400"/>
            <a:ext cx="10515600" cy="822960"/>
          </a:xfrm>
          <a:prstGeom prst="rect">
            <a:avLst/>
          </a:prstGeom>
          <a:noFill/>
        </p:spPr>
        <p:txBody>
          <a:bodyPr wrap="square" lIns="0" rIns="0" tIns="0" bIns="0" anchor="t">
            <a:spAutoFit/>
          </a:bodyPr>
          <a:lstStyle/>
          <a:p>
            <a:pPr algn="l"/>
            <a:r>
              <a:rPr sz="1600" b="0">
                <a:solidFill>
                  <a:srgbClr val="FFFFFF"/>
                </a:solidFill>
                <a:latin typeface="Trebuchet MS"/>
              </a:rPr>
              <a:t>"Random Forest is N independent guesses, averaged.</a:t>
            </a:r>
          </a:p>
          <a:p>
            <a:pPr algn="l"/>
            <a:r>
              <a:rPr sz="1600" b="0">
                <a:solidFill>
                  <a:srgbClr val="FFFFFF"/>
                </a:solidFill>
                <a:latin typeface="Trebuchet MS"/>
              </a:rPr>
              <a:t>Boosting is N corrections, stacked."</a:t>
            </a:r>
          </a:p>
        </p:txBody>
      </p:sp>
      <p:sp>
        <p:nvSpPr>
          <p:cNvPr id="10" name="TextBox 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10/28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HistGradientBoostingClassifier</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sklearn's competitive gradient boosting — no extra install</a:t>
            </a:r>
          </a:p>
        </p:txBody>
      </p:sp>
      <p:sp>
        <p:nvSpPr>
          <p:cNvPr id="5" name="Rectangle 4"/>
          <p:cNvSpPr/>
          <p:nvPr/>
        </p:nvSpPr>
        <p:spPr>
          <a:xfrm>
            <a:off x="548640" y="1691640"/>
            <a:ext cx="11064240" cy="3383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28800"/>
            <a:ext cx="10698480" cy="3200400"/>
          </a:xfrm>
          <a:prstGeom prst="rect">
            <a:avLst/>
          </a:prstGeom>
          <a:noFill/>
        </p:spPr>
        <p:txBody>
          <a:bodyPr wrap="square" lIns="0" rIns="0" tIns="0" bIns="0" anchor="t">
            <a:spAutoFit/>
          </a:bodyPr>
          <a:lstStyle/>
          <a:p>
            <a:pPr algn="l"/>
            <a:r>
              <a:rPr sz="1300" b="0">
                <a:solidFill>
                  <a:srgbClr val="E8F1F5"/>
                </a:solidFill>
                <a:latin typeface="Consolas"/>
              </a:rPr>
              <a:t>from sklearn.ensemble import HistGradientBoostingClassifier</a:t>
            </a:r>
          </a:p>
          <a:p>
            <a:pPr algn="l"/>
            <a:r>
              <a:rPr sz="1300" b="0">
                <a:solidFill>
                  <a:srgbClr val="E8F1F5"/>
                </a:solidFill>
                <a:latin typeface="Consolas"/>
              </a:rPr>
              <a:t/>
            </a:r>
          </a:p>
          <a:p>
            <a:pPr algn="l"/>
            <a:r>
              <a:rPr sz="1300" b="0">
                <a:solidFill>
                  <a:srgbClr val="E8F1F5"/>
                </a:solidFill>
                <a:latin typeface="Consolas"/>
              </a:rPr>
              <a:t>gb_pipeline = Pipeline([</a:t>
            </a:r>
          </a:p>
          <a:p>
            <a:pPr algn="l"/>
            <a:r>
              <a:rPr sz="1300" b="0">
                <a:solidFill>
                  <a:srgbClr val="E8F1F5"/>
                </a:solidFill>
                <a:latin typeface="Consolas"/>
              </a:rPr>
              <a:t>    ("prep",  preprocessor),</a:t>
            </a:r>
          </a:p>
          <a:p>
            <a:pPr algn="l"/>
            <a:r>
              <a:rPr sz="1300" b="0">
                <a:solidFill>
                  <a:srgbClr val="E8F1F5"/>
                </a:solidFill>
                <a:latin typeface="Consolas"/>
              </a:rPr>
              <a:t>    ("model", HistGradientBoostingClassifier(</a:t>
            </a:r>
          </a:p>
          <a:p>
            <a:pPr algn="l"/>
            <a:r>
              <a:rPr sz="1300" b="0">
                <a:solidFill>
                  <a:srgbClr val="E8F1F5"/>
                </a:solidFill>
                <a:latin typeface="Consolas"/>
              </a:rPr>
              <a:t>        max_iter=200,                # number of boosting rounds</a:t>
            </a:r>
          </a:p>
          <a:p>
            <a:pPr algn="l"/>
            <a:r>
              <a:rPr sz="1300" b="0">
                <a:solidFill>
                  <a:srgbClr val="E8F1F5"/>
                </a:solidFill>
                <a:latin typeface="Consolas"/>
              </a:rPr>
              <a:t>        learning_rate=0.1,           # how much each tree contributes</a:t>
            </a:r>
          </a:p>
          <a:p>
            <a:pPr algn="l"/>
            <a:r>
              <a:rPr sz="1300" b="0">
                <a:solidFill>
                  <a:srgbClr val="E8F1F5"/>
                </a:solidFill>
                <a:latin typeface="Consolas"/>
              </a:rPr>
              <a:t>        max_depth=None,              # depth of each tree</a:t>
            </a:r>
          </a:p>
          <a:p>
            <a:pPr algn="l"/>
            <a:r>
              <a:rPr sz="1300" b="0">
                <a:solidFill>
                  <a:srgbClr val="E8F1F5"/>
                </a:solidFill>
                <a:latin typeface="Consolas"/>
              </a:rPr>
              <a:t>        early_stopping=True,         # ★ recommended — auto-pick max_iter</a:t>
            </a:r>
          </a:p>
          <a:p>
            <a:pPr algn="l"/>
            <a:r>
              <a:rPr sz="1300" b="0">
                <a:solidFill>
                  <a:srgbClr val="E8F1F5"/>
                </a:solidFill>
                <a:latin typeface="Consolas"/>
              </a:rPr>
              <a:t>        validation_fraction=0.15,    # hold 15% for early-stopping check</a:t>
            </a:r>
          </a:p>
          <a:p>
            <a:pPr algn="l"/>
            <a:r>
              <a:rPr sz="1300" b="0">
                <a:solidFill>
                  <a:srgbClr val="E8F1F5"/>
                </a:solidFill>
                <a:latin typeface="Consolas"/>
              </a:rPr>
              <a:t>        n_iter_no_change=20,         # stop after 20 rounds with no gain</a:t>
            </a:r>
          </a:p>
          <a:p>
            <a:pPr algn="l"/>
            <a:r>
              <a:rPr sz="1300" b="0">
                <a:solidFill>
                  <a:srgbClr val="E8F1F5"/>
                </a:solidFill>
                <a:latin typeface="Consolas"/>
              </a:rPr>
              <a:t>        class_weight="balanced",     # same trick as Random Forest</a:t>
            </a:r>
          </a:p>
          <a:p>
            <a:pPr algn="l"/>
            <a:r>
              <a:rPr sz="1300" b="0">
                <a:solidFill>
                  <a:srgbClr val="E8F1F5"/>
                </a:solidFill>
                <a:latin typeface="Consolas"/>
              </a:rPr>
              <a:t>        random_state=42,</a:t>
            </a:r>
          </a:p>
          <a:p>
            <a:pPr algn="l"/>
            <a:r>
              <a:rPr sz="1300" b="0">
                <a:solidFill>
                  <a:srgbClr val="E8F1F5"/>
                </a:solidFill>
                <a:latin typeface="Consolas"/>
              </a:rPr>
              <a:t>    )),</a:t>
            </a:r>
          </a:p>
          <a:p>
            <a:pPr algn="l"/>
            <a:r>
              <a:rPr sz="1300" b="0">
                <a:solidFill>
                  <a:srgbClr val="E8F1F5"/>
                </a:solidFill>
                <a:latin typeface="Consolas"/>
              </a:rPr>
              <a:t>])</a:t>
            </a:r>
          </a:p>
        </p:txBody>
      </p:sp>
      <p:sp>
        <p:nvSpPr>
          <p:cNvPr id="7" name="Rectangle 6"/>
          <p:cNvSpPr/>
          <p:nvPr/>
        </p:nvSpPr>
        <p:spPr>
          <a:xfrm>
            <a:off x="548640" y="5303520"/>
            <a:ext cx="1106424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394960"/>
            <a:ext cx="10515600" cy="365760"/>
          </a:xfrm>
          <a:prstGeom prst="rect">
            <a:avLst/>
          </a:prstGeom>
          <a:noFill/>
        </p:spPr>
        <p:txBody>
          <a:bodyPr wrap="square" lIns="0" rIns="0" tIns="0" bIns="0" anchor="t">
            <a:spAutoFit/>
          </a:bodyPr>
          <a:lstStyle/>
          <a:p>
            <a:pPr algn="l"/>
            <a:r>
              <a:rPr sz="1400" b="0">
                <a:solidFill>
                  <a:srgbClr val="E8F1F5"/>
                </a:solidFill>
                <a:latin typeface="Calibri"/>
              </a:rPr>
              <a:t>Default + class_weight + early_stopping:</a:t>
            </a:r>
          </a:p>
        </p:txBody>
      </p:sp>
      <p:sp>
        <p:nvSpPr>
          <p:cNvPr id="9" name="TextBox 8"/>
          <p:cNvSpPr txBox="1"/>
          <p:nvPr/>
        </p:nvSpPr>
        <p:spPr>
          <a:xfrm>
            <a:off x="822960" y="5760720"/>
            <a:ext cx="10515600" cy="365760"/>
          </a:xfrm>
          <a:prstGeom prst="rect">
            <a:avLst/>
          </a:prstGeom>
          <a:noFill/>
        </p:spPr>
        <p:txBody>
          <a:bodyPr wrap="square" lIns="0" rIns="0" tIns="0" bIns="0" anchor="t">
            <a:spAutoFit/>
          </a:bodyPr>
          <a:lstStyle/>
          <a:p>
            <a:pPr algn="l"/>
            <a:r>
              <a:rPr sz="1600" b="1">
                <a:solidFill>
                  <a:srgbClr val="F9E795"/>
                </a:solidFill>
                <a:latin typeface="Calibri"/>
              </a:rPr>
              <a:t>CV F1 ≈ 0.32 — modestly beats Random Forest (~0.27)</a:t>
            </a:r>
          </a:p>
        </p:txBody>
      </p:sp>
      <p:sp>
        <p:nvSpPr>
          <p:cNvPr id="10" name="TextBox 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11/28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The learning_rate × max_iter Tradeoff</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two coupled hyperparameters in gradient boosting</a:t>
            </a:r>
          </a:p>
        </p:txBody>
      </p:sp>
      <p:sp>
        <p:nvSpPr>
          <p:cNvPr id="5" name="Rectangle 4"/>
          <p:cNvSpPr/>
          <p:nvPr/>
        </p:nvSpPr>
        <p:spPr>
          <a:xfrm>
            <a:off x="548640" y="1783080"/>
            <a:ext cx="1106424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20"/>
            <a:ext cx="4572000" cy="274320"/>
          </a:xfrm>
          <a:prstGeom prst="rect">
            <a:avLst/>
          </a:prstGeom>
          <a:noFill/>
        </p:spPr>
        <p:txBody>
          <a:bodyPr wrap="square" lIns="0" rIns="0" tIns="0" bIns="0" anchor="t">
            <a:spAutoFit/>
          </a:bodyPr>
          <a:lstStyle/>
          <a:p>
            <a:pPr algn="l"/>
            <a:r>
              <a:rPr sz="1300" b="1">
                <a:solidFill>
                  <a:srgbClr val="FFFFFF"/>
                </a:solidFill>
                <a:latin typeface="Calibri"/>
              </a:rPr>
              <a:t>Configuration</a:t>
            </a:r>
          </a:p>
        </p:txBody>
      </p:sp>
      <p:sp>
        <p:nvSpPr>
          <p:cNvPr id="7" name="TextBox 6"/>
          <p:cNvSpPr txBox="1"/>
          <p:nvPr/>
        </p:nvSpPr>
        <p:spPr>
          <a:xfrm>
            <a:off x="5486400" y="1874520"/>
            <a:ext cx="1828800" cy="274320"/>
          </a:xfrm>
          <a:prstGeom prst="rect">
            <a:avLst/>
          </a:prstGeom>
          <a:noFill/>
        </p:spPr>
        <p:txBody>
          <a:bodyPr wrap="square" lIns="0" rIns="0" tIns="0" bIns="0" anchor="t">
            <a:spAutoFit/>
          </a:bodyPr>
          <a:lstStyle/>
          <a:p>
            <a:pPr algn="l"/>
            <a:r>
              <a:rPr sz="1300" b="1">
                <a:solidFill>
                  <a:srgbClr val="FFFFFF"/>
                </a:solidFill>
                <a:latin typeface="Calibri"/>
              </a:rPr>
              <a:t>CV F1</a:t>
            </a:r>
          </a:p>
        </p:txBody>
      </p:sp>
      <p:sp>
        <p:nvSpPr>
          <p:cNvPr id="8" name="TextBox 7"/>
          <p:cNvSpPr txBox="1"/>
          <p:nvPr/>
        </p:nvSpPr>
        <p:spPr>
          <a:xfrm>
            <a:off x="7498079" y="1874520"/>
            <a:ext cx="4114800" cy="274320"/>
          </a:xfrm>
          <a:prstGeom prst="rect">
            <a:avLst/>
          </a:prstGeom>
          <a:noFill/>
        </p:spPr>
        <p:txBody>
          <a:bodyPr wrap="square" lIns="0" rIns="0" tIns="0" bIns="0" anchor="t">
            <a:spAutoFit/>
          </a:bodyPr>
          <a:lstStyle/>
          <a:p>
            <a:pPr algn="l"/>
            <a:r>
              <a:rPr sz="1300" b="1">
                <a:solidFill>
                  <a:srgbClr val="FFFFFF"/>
                </a:solidFill>
                <a:latin typeface="Calibri"/>
              </a:rPr>
              <a:t>Verdict</a:t>
            </a:r>
          </a:p>
        </p:txBody>
      </p:sp>
      <p:sp>
        <p:nvSpPr>
          <p:cNvPr id="9" name="Rectangle 8"/>
          <p:cNvSpPr/>
          <p:nvPr/>
        </p:nvSpPr>
        <p:spPr>
          <a:xfrm>
            <a:off x="548640" y="2286000"/>
            <a:ext cx="11064240" cy="457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77440"/>
            <a:ext cx="4572000" cy="274320"/>
          </a:xfrm>
          <a:prstGeom prst="rect">
            <a:avLst/>
          </a:prstGeom>
          <a:noFill/>
        </p:spPr>
        <p:txBody>
          <a:bodyPr wrap="square" lIns="0" rIns="0" tIns="0" bIns="0" anchor="t">
            <a:spAutoFit/>
          </a:bodyPr>
          <a:lstStyle/>
          <a:p>
            <a:pPr algn="l"/>
            <a:r>
              <a:rPr sz="1200" b="0">
                <a:solidFill>
                  <a:srgbClr val="36454F"/>
                </a:solidFill>
                <a:latin typeface="Consolas"/>
              </a:rPr>
              <a:t>lr=0.30, max_iter= 50</a:t>
            </a:r>
          </a:p>
        </p:txBody>
      </p:sp>
      <p:sp>
        <p:nvSpPr>
          <p:cNvPr id="11" name="TextBox 10"/>
          <p:cNvSpPr txBox="1"/>
          <p:nvPr/>
        </p:nvSpPr>
        <p:spPr>
          <a:xfrm>
            <a:off x="5486400" y="2377440"/>
            <a:ext cx="1828800" cy="274320"/>
          </a:xfrm>
          <a:prstGeom prst="rect">
            <a:avLst/>
          </a:prstGeom>
          <a:noFill/>
        </p:spPr>
        <p:txBody>
          <a:bodyPr wrap="square" lIns="0" rIns="0" tIns="0" bIns="0" anchor="t">
            <a:spAutoFit/>
          </a:bodyPr>
          <a:lstStyle/>
          <a:p>
            <a:pPr algn="l"/>
            <a:r>
              <a:rPr sz="1200" b="1">
                <a:solidFill>
                  <a:srgbClr val="065A82"/>
                </a:solidFill>
                <a:latin typeface="Consolas"/>
              </a:rPr>
              <a:t>0.297</a:t>
            </a:r>
          </a:p>
        </p:txBody>
      </p:sp>
      <p:sp>
        <p:nvSpPr>
          <p:cNvPr id="12" name="TextBox 11"/>
          <p:cNvSpPr txBox="1"/>
          <p:nvPr/>
        </p:nvSpPr>
        <p:spPr>
          <a:xfrm>
            <a:off x="7498079" y="2377440"/>
            <a:ext cx="4114800" cy="274320"/>
          </a:xfrm>
          <a:prstGeom prst="rect">
            <a:avLst/>
          </a:prstGeom>
          <a:noFill/>
        </p:spPr>
        <p:txBody>
          <a:bodyPr wrap="square" lIns="0" rIns="0" tIns="0" bIns="0" anchor="t">
            <a:spAutoFit/>
          </a:bodyPr>
          <a:lstStyle/>
          <a:p>
            <a:pPr algn="l"/>
            <a:r>
              <a:rPr sz="1200" b="0">
                <a:solidFill>
                  <a:srgbClr val="36454F"/>
                </a:solidFill>
                <a:latin typeface="Calibri"/>
              </a:rPr>
              <a:t>Fast but may underfit</a:t>
            </a:r>
          </a:p>
        </p:txBody>
      </p:sp>
      <p:sp>
        <p:nvSpPr>
          <p:cNvPr id="13" name="Rectangle 12"/>
          <p:cNvSpPr/>
          <p:nvPr/>
        </p:nvSpPr>
        <p:spPr>
          <a:xfrm>
            <a:off x="548640" y="2788920"/>
            <a:ext cx="11064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0360"/>
            <a:ext cx="4572000" cy="274320"/>
          </a:xfrm>
          <a:prstGeom prst="rect">
            <a:avLst/>
          </a:prstGeom>
          <a:noFill/>
        </p:spPr>
        <p:txBody>
          <a:bodyPr wrap="square" lIns="0" rIns="0" tIns="0" bIns="0" anchor="t">
            <a:spAutoFit/>
          </a:bodyPr>
          <a:lstStyle/>
          <a:p>
            <a:pPr algn="l"/>
            <a:r>
              <a:rPr sz="1200" b="0">
                <a:solidFill>
                  <a:srgbClr val="36454F"/>
                </a:solidFill>
                <a:latin typeface="Consolas"/>
              </a:rPr>
              <a:t>lr=0.10, max_iter=200</a:t>
            </a:r>
          </a:p>
        </p:txBody>
      </p:sp>
      <p:sp>
        <p:nvSpPr>
          <p:cNvPr id="15" name="TextBox 14"/>
          <p:cNvSpPr txBox="1"/>
          <p:nvPr/>
        </p:nvSpPr>
        <p:spPr>
          <a:xfrm>
            <a:off x="5486400" y="2880360"/>
            <a:ext cx="1828800" cy="274320"/>
          </a:xfrm>
          <a:prstGeom prst="rect">
            <a:avLst/>
          </a:prstGeom>
          <a:noFill/>
        </p:spPr>
        <p:txBody>
          <a:bodyPr wrap="square" lIns="0" rIns="0" tIns="0" bIns="0" anchor="t">
            <a:spAutoFit/>
          </a:bodyPr>
          <a:lstStyle/>
          <a:p>
            <a:pPr algn="l"/>
            <a:r>
              <a:rPr sz="1200" b="1">
                <a:solidFill>
                  <a:srgbClr val="065A82"/>
                </a:solidFill>
                <a:latin typeface="Consolas"/>
              </a:rPr>
              <a:t>0.286</a:t>
            </a:r>
          </a:p>
        </p:txBody>
      </p:sp>
      <p:sp>
        <p:nvSpPr>
          <p:cNvPr id="16" name="TextBox 15"/>
          <p:cNvSpPr txBox="1"/>
          <p:nvPr/>
        </p:nvSpPr>
        <p:spPr>
          <a:xfrm>
            <a:off x="7498079" y="2880360"/>
            <a:ext cx="4114800" cy="274320"/>
          </a:xfrm>
          <a:prstGeom prst="rect">
            <a:avLst/>
          </a:prstGeom>
          <a:noFill/>
        </p:spPr>
        <p:txBody>
          <a:bodyPr wrap="square" lIns="0" rIns="0" tIns="0" bIns="0" anchor="t">
            <a:spAutoFit/>
          </a:bodyPr>
          <a:lstStyle/>
          <a:p>
            <a:pPr algn="l"/>
            <a:r>
              <a:rPr sz="1200" b="0">
                <a:solidFill>
                  <a:srgbClr val="36454F"/>
                </a:solidFill>
                <a:latin typeface="Calibri"/>
              </a:rPr>
              <a:t>The default</a:t>
            </a:r>
          </a:p>
        </p:txBody>
      </p:sp>
      <p:sp>
        <p:nvSpPr>
          <p:cNvPr id="17" name="Rectangle 16"/>
          <p:cNvSpPr/>
          <p:nvPr/>
        </p:nvSpPr>
        <p:spPr>
          <a:xfrm>
            <a:off x="548640" y="3291840"/>
            <a:ext cx="11064240" cy="457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383280"/>
            <a:ext cx="4572000" cy="274320"/>
          </a:xfrm>
          <a:prstGeom prst="rect">
            <a:avLst/>
          </a:prstGeom>
          <a:noFill/>
        </p:spPr>
        <p:txBody>
          <a:bodyPr wrap="square" lIns="0" rIns="0" tIns="0" bIns="0" anchor="t">
            <a:spAutoFit/>
          </a:bodyPr>
          <a:lstStyle/>
          <a:p>
            <a:pPr algn="l"/>
            <a:r>
              <a:rPr sz="1200" b="0">
                <a:solidFill>
                  <a:srgbClr val="36454F"/>
                </a:solidFill>
                <a:latin typeface="Consolas"/>
              </a:rPr>
              <a:t>lr=0.05, max_iter=400</a:t>
            </a:r>
          </a:p>
        </p:txBody>
      </p:sp>
      <p:sp>
        <p:nvSpPr>
          <p:cNvPr id="19" name="TextBox 18"/>
          <p:cNvSpPr txBox="1"/>
          <p:nvPr/>
        </p:nvSpPr>
        <p:spPr>
          <a:xfrm>
            <a:off x="5486400" y="3383280"/>
            <a:ext cx="1828800" cy="274320"/>
          </a:xfrm>
          <a:prstGeom prst="rect">
            <a:avLst/>
          </a:prstGeom>
          <a:noFill/>
        </p:spPr>
        <p:txBody>
          <a:bodyPr wrap="square" lIns="0" rIns="0" tIns="0" bIns="0" anchor="t">
            <a:spAutoFit/>
          </a:bodyPr>
          <a:lstStyle/>
          <a:p>
            <a:pPr algn="l"/>
            <a:r>
              <a:rPr sz="1200" b="1">
                <a:solidFill>
                  <a:srgbClr val="065A82"/>
                </a:solidFill>
                <a:latin typeface="Consolas"/>
              </a:rPr>
              <a:t>0.296</a:t>
            </a:r>
          </a:p>
        </p:txBody>
      </p:sp>
      <p:sp>
        <p:nvSpPr>
          <p:cNvPr id="20" name="TextBox 19"/>
          <p:cNvSpPr txBox="1"/>
          <p:nvPr/>
        </p:nvSpPr>
        <p:spPr>
          <a:xfrm>
            <a:off x="7498079" y="3383280"/>
            <a:ext cx="4114800" cy="274320"/>
          </a:xfrm>
          <a:prstGeom prst="rect">
            <a:avLst/>
          </a:prstGeom>
          <a:noFill/>
        </p:spPr>
        <p:txBody>
          <a:bodyPr wrap="square" lIns="0" rIns="0" tIns="0" bIns="0" anchor="t">
            <a:spAutoFit/>
          </a:bodyPr>
          <a:lstStyle/>
          <a:p>
            <a:pPr algn="l"/>
            <a:r>
              <a:rPr sz="1200" b="0">
                <a:solidFill>
                  <a:srgbClr val="36454F"/>
                </a:solidFill>
                <a:latin typeface="Calibri"/>
              </a:rPr>
              <a:t>Often a sweet spot</a:t>
            </a:r>
          </a:p>
        </p:txBody>
      </p:sp>
      <p:sp>
        <p:nvSpPr>
          <p:cNvPr id="21" name="Rectangle 20"/>
          <p:cNvSpPr/>
          <p:nvPr/>
        </p:nvSpPr>
        <p:spPr>
          <a:xfrm>
            <a:off x="548640" y="3794760"/>
            <a:ext cx="11064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886200"/>
            <a:ext cx="4572000" cy="274320"/>
          </a:xfrm>
          <a:prstGeom prst="rect">
            <a:avLst/>
          </a:prstGeom>
          <a:noFill/>
        </p:spPr>
        <p:txBody>
          <a:bodyPr wrap="square" lIns="0" rIns="0" tIns="0" bIns="0" anchor="t">
            <a:spAutoFit/>
          </a:bodyPr>
          <a:lstStyle/>
          <a:p>
            <a:pPr algn="l"/>
            <a:r>
              <a:rPr sz="1200" b="0">
                <a:solidFill>
                  <a:srgbClr val="36454F"/>
                </a:solidFill>
                <a:latin typeface="Consolas"/>
              </a:rPr>
              <a:t>lr=0.01, max_iter=1000</a:t>
            </a:r>
          </a:p>
        </p:txBody>
      </p:sp>
      <p:sp>
        <p:nvSpPr>
          <p:cNvPr id="23" name="TextBox 22"/>
          <p:cNvSpPr txBox="1"/>
          <p:nvPr/>
        </p:nvSpPr>
        <p:spPr>
          <a:xfrm>
            <a:off x="5486400" y="3886200"/>
            <a:ext cx="1828800" cy="274320"/>
          </a:xfrm>
          <a:prstGeom prst="rect">
            <a:avLst/>
          </a:prstGeom>
          <a:noFill/>
        </p:spPr>
        <p:txBody>
          <a:bodyPr wrap="square" lIns="0" rIns="0" tIns="0" bIns="0" anchor="t">
            <a:spAutoFit/>
          </a:bodyPr>
          <a:lstStyle/>
          <a:p>
            <a:pPr algn="l"/>
            <a:r>
              <a:rPr sz="1200" b="1">
                <a:solidFill>
                  <a:srgbClr val="065A82"/>
                </a:solidFill>
                <a:latin typeface="Consolas"/>
              </a:rPr>
              <a:t>0.327</a:t>
            </a:r>
          </a:p>
        </p:txBody>
      </p:sp>
      <p:sp>
        <p:nvSpPr>
          <p:cNvPr id="24" name="TextBox 23"/>
          <p:cNvSpPr txBox="1"/>
          <p:nvPr/>
        </p:nvSpPr>
        <p:spPr>
          <a:xfrm>
            <a:off x="7498079" y="3886200"/>
            <a:ext cx="4114800" cy="274320"/>
          </a:xfrm>
          <a:prstGeom prst="rect">
            <a:avLst/>
          </a:prstGeom>
          <a:noFill/>
        </p:spPr>
        <p:txBody>
          <a:bodyPr wrap="square" lIns="0" rIns="0" tIns="0" bIns="0" anchor="t">
            <a:spAutoFit/>
          </a:bodyPr>
          <a:lstStyle/>
          <a:p>
            <a:pPr algn="l"/>
            <a:r>
              <a:rPr sz="1200" b="0">
                <a:solidFill>
                  <a:srgbClr val="36454F"/>
                </a:solidFill>
                <a:latin typeface="Calibri"/>
              </a:rPr>
              <a:t>Slow but best — if you have time</a:t>
            </a:r>
          </a:p>
        </p:txBody>
      </p:sp>
      <p:sp>
        <p:nvSpPr>
          <p:cNvPr id="25" name="Rectangle 24"/>
          <p:cNvSpPr/>
          <p:nvPr/>
        </p:nvSpPr>
        <p:spPr>
          <a:xfrm>
            <a:off x="548640" y="5212080"/>
            <a:ext cx="11064240"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349240"/>
            <a:ext cx="10515600" cy="365760"/>
          </a:xfrm>
          <a:prstGeom prst="rect">
            <a:avLst/>
          </a:prstGeom>
          <a:noFill/>
        </p:spPr>
        <p:txBody>
          <a:bodyPr wrap="square" lIns="0" rIns="0" tIns="0" bIns="0" anchor="t">
            <a:spAutoFit/>
          </a:bodyPr>
          <a:lstStyle/>
          <a:p>
            <a:pPr algn="l"/>
            <a:r>
              <a:rPr sz="1400" b="0">
                <a:solidFill>
                  <a:srgbClr val="E8F1F5"/>
                </a:solidFill>
                <a:latin typeface="Calibri"/>
              </a:rPr>
              <a:t>The practical move</a:t>
            </a:r>
          </a:p>
        </p:txBody>
      </p:sp>
      <p:sp>
        <p:nvSpPr>
          <p:cNvPr id="27" name="TextBox 26"/>
          <p:cNvSpPr txBox="1"/>
          <p:nvPr/>
        </p:nvSpPr>
        <p:spPr>
          <a:xfrm>
            <a:off x="822960" y="5760720"/>
            <a:ext cx="10515600" cy="457200"/>
          </a:xfrm>
          <a:prstGeom prst="rect">
            <a:avLst/>
          </a:prstGeom>
          <a:noFill/>
        </p:spPr>
        <p:txBody>
          <a:bodyPr wrap="square" lIns="0" rIns="0" tIns="0" bIns="0" anchor="t">
            <a:spAutoFit/>
          </a:bodyPr>
          <a:lstStyle/>
          <a:p>
            <a:pPr algn="l"/>
            <a:r>
              <a:rPr sz="1500" b="1">
                <a:solidFill>
                  <a:srgbClr val="F9E795"/>
                </a:solidFill>
                <a:latin typeface="Calibri"/>
              </a:rPr>
              <a:t>early_stopping=True. Let the model pick max_iter. CV F1 ≈ 0.32, no manual tuning.</a:t>
            </a:r>
          </a:p>
        </p:txBody>
      </p:sp>
      <p:sp>
        <p:nvSpPr>
          <p:cNvPr id="28" name="TextBox 2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12/28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200" b="1">
                <a:solidFill>
                  <a:srgbClr val="FFFFFF"/>
                </a:solidFill>
                <a:latin typeface="Consolas"/>
              </a:rPr>
              <a:t>Open: 03_gradient_boosting.ipynb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Train HistGradientBoostingClassifier with class_weight='balanced'.</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Compare CV F1 to Random Forest from NB 02.</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Try early_stopping=True — see what max_iter it picks.</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Why Tune?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Defaults are 'reasonable' — rarely 'best for this dataset'</a:t>
            </a:r>
          </a:p>
        </p:txBody>
      </p:sp>
      <p:sp>
        <p:nvSpPr>
          <p:cNvPr id="5" name="Rectangle 4"/>
          <p:cNvSpPr/>
          <p:nvPr/>
        </p:nvSpPr>
        <p:spPr>
          <a:xfrm>
            <a:off x="548640" y="1783080"/>
            <a:ext cx="11064240" cy="2286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10515600" cy="457200"/>
          </a:xfrm>
          <a:prstGeom prst="rect">
            <a:avLst/>
          </a:prstGeom>
          <a:noFill/>
        </p:spPr>
        <p:txBody>
          <a:bodyPr wrap="square" lIns="0" rIns="0" tIns="0" bIns="0" anchor="t">
            <a:spAutoFit/>
          </a:bodyPr>
          <a:lstStyle/>
          <a:p>
            <a:pPr algn="l"/>
            <a:r>
              <a:rPr sz="1500" b="1">
                <a:solidFill>
                  <a:srgbClr val="065A82"/>
                </a:solidFill>
                <a:latin typeface="Calibri"/>
              </a:rPr>
              <a:t>Where tuning typically lands you</a:t>
            </a:r>
          </a:p>
        </p:txBody>
      </p:sp>
      <p:sp>
        <p:nvSpPr>
          <p:cNvPr id="7" name="TextBox 6"/>
          <p:cNvSpPr txBox="1"/>
          <p:nvPr/>
        </p:nvSpPr>
        <p:spPr>
          <a:xfrm>
            <a:off x="777240" y="2423160"/>
            <a:ext cx="3200400" cy="365760"/>
          </a:xfrm>
          <a:prstGeom prst="rect">
            <a:avLst/>
          </a:prstGeom>
          <a:noFill/>
        </p:spPr>
        <p:txBody>
          <a:bodyPr wrap="square" lIns="0" rIns="0" tIns="0" bIns="0" anchor="t">
            <a:spAutoFit/>
          </a:bodyPr>
          <a:lstStyle/>
          <a:p>
            <a:pPr algn="l"/>
            <a:r>
              <a:rPr sz="1400" b="1">
                <a:solidFill>
                  <a:srgbClr val="1C7293"/>
                </a:solidFill>
                <a:latin typeface="Calibri"/>
              </a:rPr>
              <a:t>Defaults</a:t>
            </a:r>
          </a:p>
        </p:txBody>
      </p:sp>
      <p:sp>
        <p:nvSpPr>
          <p:cNvPr id="8" name="TextBox 7"/>
          <p:cNvSpPr txBox="1"/>
          <p:nvPr/>
        </p:nvSpPr>
        <p:spPr>
          <a:xfrm>
            <a:off x="777240" y="2788920"/>
            <a:ext cx="3200400" cy="548640"/>
          </a:xfrm>
          <a:prstGeom prst="rect">
            <a:avLst/>
          </a:prstGeom>
          <a:noFill/>
        </p:spPr>
        <p:txBody>
          <a:bodyPr wrap="square" lIns="0" rIns="0" tIns="0" bIns="0" anchor="t">
            <a:spAutoFit/>
          </a:bodyPr>
          <a:lstStyle/>
          <a:p>
            <a:pPr algn="l"/>
            <a:r>
              <a:rPr sz="2800" b="1">
                <a:solidFill>
                  <a:srgbClr val="065A82"/>
                </a:solidFill>
                <a:latin typeface="Trebuchet MS"/>
              </a:rPr>
              <a:t>F1 ~0.28</a:t>
            </a:r>
          </a:p>
        </p:txBody>
      </p:sp>
      <p:sp>
        <p:nvSpPr>
          <p:cNvPr id="9" name="TextBox 8"/>
          <p:cNvSpPr txBox="1"/>
          <p:nvPr/>
        </p:nvSpPr>
        <p:spPr>
          <a:xfrm>
            <a:off x="777240" y="3383280"/>
            <a:ext cx="3200400" cy="365760"/>
          </a:xfrm>
          <a:prstGeom prst="rect">
            <a:avLst/>
          </a:prstGeom>
          <a:noFill/>
        </p:spPr>
        <p:txBody>
          <a:bodyPr wrap="square" lIns="0" rIns="0" tIns="0" bIns="0" anchor="t">
            <a:spAutoFit/>
          </a:bodyPr>
          <a:lstStyle/>
          <a:p>
            <a:pPr algn="l"/>
            <a:r>
              <a:rPr sz="1200" b="0">
                <a:solidFill>
                  <a:srgbClr val="36454F"/>
                </a:solidFill>
                <a:latin typeface="Calibri"/>
              </a:rPr>
              <a:t>Out of the box</a:t>
            </a:r>
          </a:p>
        </p:txBody>
      </p:sp>
      <p:sp>
        <p:nvSpPr>
          <p:cNvPr id="10" name="TextBox 9"/>
          <p:cNvSpPr txBox="1"/>
          <p:nvPr/>
        </p:nvSpPr>
        <p:spPr>
          <a:xfrm>
            <a:off x="4434840" y="2423160"/>
            <a:ext cx="3200400" cy="365760"/>
          </a:xfrm>
          <a:prstGeom prst="rect">
            <a:avLst/>
          </a:prstGeom>
          <a:noFill/>
        </p:spPr>
        <p:txBody>
          <a:bodyPr wrap="square" lIns="0" rIns="0" tIns="0" bIns="0" anchor="t">
            <a:spAutoFit/>
          </a:bodyPr>
          <a:lstStyle/>
          <a:p>
            <a:pPr algn="l"/>
            <a:r>
              <a:rPr sz="1400" b="1">
                <a:solidFill>
                  <a:srgbClr val="1C7293"/>
                </a:solidFill>
                <a:latin typeface="Calibri"/>
              </a:rPr>
              <a:t>Hand-tuned</a:t>
            </a:r>
          </a:p>
        </p:txBody>
      </p:sp>
      <p:sp>
        <p:nvSpPr>
          <p:cNvPr id="11" name="TextBox 10"/>
          <p:cNvSpPr txBox="1"/>
          <p:nvPr/>
        </p:nvSpPr>
        <p:spPr>
          <a:xfrm>
            <a:off x="4434840" y="2788920"/>
            <a:ext cx="3200400" cy="548640"/>
          </a:xfrm>
          <a:prstGeom prst="rect">
            <a:avLst/>
          </a:prstGeom>
          <a:noFill/>
        </p:spPr>
        <p:txBody>
          <a:bodyPr wrap="square" lIns="0" rIns="0" tIns="0" bIns="0" anchor="t">
            <a:spAutoFit/>
          </a:bodyPr>
          <a:lstStyle/>
          <a:p>
            <a:pPr algn="l"/>
            <a:r>
              <a:rPr sz="2800" b="1">
                <a:solidFill>
                  <a:srgbClr val="065A82"/>
                </a:solidFill>
                <a:latin typeface="Trebuchet MS"/>
              </a:rPr>
              <a:t>F1 ~0.32</a:t>
            </a:r>
          </a:p>
        </p:txBody>
      </p:sp>
      <p:sp>
        <p:nvSpPr>
          <p:cNvPr id="12" name="TextBox 11"/>
          <p:cNvSpPr txBox="1"/>
          <p:nvPr/>
        </p:nvSpPr>
        <p:spPr>
          <a:xfrm>
            <a:off x="4434840" y="3383280"/>
            <a:ext cx="3200400" cy="365760"/>
          </a:xfrm>
          <a:prstGeom prst="rect">
            <a:avLst/>
          </a:prstGeom>
          <a:noFill/>
        </p:spPr>
        <p:txBody>
          <a:bodyPr wrap="square" lIns="0" rIns="0" tIns="0" bIns="0" anchor="t">
            <a:spAutoFit/>
          </a:bodyPr>
          <a:lstStyle/>
          <a:p>
            <a:pPr algn="l"/>
            <a:r>
              <a:rPr sz="1200" b="0">
                <a:solidFill>
                  <a:srgbClr val="36454F"/>
                </a:solidFill>
                <a:latin typeface="Calibri"/>
              </a:rPr>
              <a:t>Sensible param choices</a:t>
            </a:r>
          </a:p>
        </p:txBody>
      </p:sp>
      <p:sp>
        <p:nvSpPr>
          <p:cNvPr id="13" name="TextBox 12"/>
          <p:cNvSpPr txBox="1"/>
          <p:nvPr/>
        </p:nvSpPr>
        <p:spPr>
          <a:xfrm>
            <a:off x="8092440" y="2423160"/>
            <a:ext cx="3200400" cy="365760"/>
          </a:xfrm>
          <a:prstGeom prst="rect">
            <a:avLst/>
          </a:prstGeom>
          <a:noFill/>
        </p:spPr>
        <p:txBody>
          <a:bodyPr wrap="square" lIns="0" rIns="0" tIns="0" bIns="0" anchor="t">
            <a:spAutoFit/>
          </a:bodyPr>
          <a:lstStyle/>
          <a:p>
            <a:pPr algn="l"/>
            <a:r>
              <a:rPr sz="1400" b="1">
                <a:solidFill>
                  <a:srgbClr val="1C7293"/>
                </a:solidFill>
                <a:latin typeface="Calibri"/>
              </a:rPr>
              <a:t>Grid-searched</a:t>
            </a:r>
          </a:p>
        </p:txBody>
      </p:sp>
      <p:sp>
        <p:nvSpPr>
          <p:cNvPr id="14" name="TextBox 13"/>
          <p:cNvSpPr txBox="1"/>
          <p:nvPr/>
        </p:nvSpPr>
        <p:spPr>
          <a:xfrm>
            <a:off x="8092440" y="2788920"/>
            <a:ext cx="3200400" cy="548640"/>
          </a:xfrm>
          <a:prstGeom prst="rect">
            <a:avLst/>
          </a:prstGeom>
          <a:noFill/>
        </p:spPr>
        <p:txBody>
          <a:bodyPr wrap="square" lIns="0" rIns="0" tIns="0" bIns="0" anchor="t">
            <a:spAutoFit/>
          </a:bodyPr>
          <a:lstStyle/>
          <a:p>
            <a:pPr algn="l"/>
            <a:r>
              <a:rPr sz="2800" b="1">
                <a:solidFill>
                  <a:srgbClr val="065A82"/>
                </a:solidFill>
                <a:latin typeface="Trebuchet MS"/>
              </a:rPr>
              <a:t>F1 ~0.34</a:t>
            </a:r>
          </a:p>
        </p:txBody>
      </p:sp>
      <p:sp>
        <p:nvSpPr>
          <p:cNvPr id="15" name="TextBox 14"/>
          <p:cNvSpPr txBox="1"/>
          <p:nvPr/>
        </p:nvSpPr>
        <p:spPr>
          <a:xfrm>
            <a:off x="8092440" y="3383280"/>
            <a:ext cx="3200400" cy="365760"/>
          </a:xfrm>
          <a:prstGeom prst="rect">
            <a:avLst/>
          </a:prstGeom>
          <a:noFill/>
        </p:spPr>
        <p:txBody>
          <a:bodyPr wrap="square" lIns="0" rIns="0" tIns="0" bIns="0" anchor="t">
            <a:spAutoFit/>
          </a:bodyPr>
          <a:lstStyle/>
          <a:p>
            <a:pPr algn="l"/>
            <a:r>
              <a:rPr sz="1200" b="0">
                <a:solidFill>
                  <a:srgbClr val="36454F"/>
                </a:solidFill>
                <a:latin typeface="Calibri"/>
              </a:rPr>
              <a:t>Cross-validated optimum</a:t>
            </a:r>
          </a:p>
        </p:txBody>
      </p:sp>
      <p:sp>
        <p:nvSpPr>
          <p:cNvPr id="16" name="TextBox 15"/>
          <p:cNvSpPr txBox="1"/>
          <p:nvPr/>
        </p:nvSpPr>
        <p:spPr>
          <a:xfrm>
            <a:off x="548640" y="4389120"/>
            <a:ext cx="11064240" cy="457200"/>
          </a:xfrm>
          <a:prstGeom prst="rect">
            <a:avLst/>
          </a:prstGeom>
          <a:noFill/>
        </p:spPr>
        <p:txBody>
          <a:bodyPr wrap="square" lIns="0" rIns="0" tIns="0" bIns="0" anchor="t">
            <a:spAutoFit/>
          </a:bodyPr>
          <a:lstStyle/>
          <a:p>
            <a:pPr algn="l"/>
            <a:r>
              <a:rPr sz="1500" b="1">
                <a:solidFill>
                  <a:srgbClr val="1C7293"/>
                </a:solidFill>
                <a:latin typeface="Calibri"/>
              </a:rPr>
              <a:t>What's worth tuning</a:t>
            </a:r>
          </a:p>
        </p:txBody>
      </p:sp>
      <p:sp>
        <p:nvSpPr>
          <p:cNvPr id="17" name="TextBox 16"/>
          <p:cNvSpPr txBox="1"/>
          <p:nvPr/>
        </p:nvSpPr>
        <p:spPr>
          <a:xfrm>
            <a:off x="640080" y="4937760"/>
            <a:ext cx="3383280" cy="365760"/>
          </a:xfrm>
          <a:prstGeom prst="rect">
            <a:avLst/>
          </a:prstGeom>
          <a:noFill/>
        </p:spPr>
        <p:txBody>
          <a:bodyPr wrap="square" lIns="0" rIns="0" tIns="0" bIns="0" anchor="t">
            <a:spAutoFit/>
          </a:bodyPr>
          <a:lstStyle/>
          <a:p>
            <a:pPr algn="l"/>
            <a:r>
              <a:rPr sz="1200" b="1">
                <a:solidFill>
                  <a:srgbClr val="065A82"/>
                </a:solidFill>
                <a:latin typeface="Calibri"/>
              </a:rPr>
              <a:t>Random Forest:</a:t>
            </a:r>
          </a:p>
        </p:txBody>
      </p:sp>
      <p:sp>
        <p:nvSpPr>
          <p:cNvPr id="18" name="TextBox 17"/>
          <p:cNvSpPr txBox="1"/>
          <p:nvPr/>
        </p:nvSpPr>
        <p:spPr>
          <a:xfrm>
            <a:off x="4023360" y="4937760"/>
            <a:ext cx="7772400" cy="365760"/>
          </a:xfrm>
          <a:prstGeom prst="rect">
            <a:avLst/>
          </a:prstGeom>
          <a:noFill/>
        </p:spPr>
        <p:txBody>
          <a:bodyPr wrap="square" lIns="0" rIns="0" tIns="0" bIns="0" anchor="t">
            <a:spAutoFit/>
          </a:bodyPr>
          <a:lstStyle/>
          <a:p>
            <a:pPr algn="l"/>
            <a:r>
              <a:rPr sz="1100" b="0">
                <a:solidFill>
                  <a:srgbClr val="36454F"/>
                </a:solidFill>
                <a:latin typeface="Consolas"/>
              </a:rPr>
              <a:t>n_estimators (100–400) · min_samples_leaf (1, 5, 20) · max_depth (None, 10)</a:t>
            </a:r>
          </a:p>
        </p:txBody>
      </p:sp>
      <p:sp>
        <p:nvSpPr>
          <p:cNvPr id="19" name="TextBox 18"/>
          <p:cNvSpPr txBox="1"/>
          <p:nvPr/>
        </p:nvSpPr>
        <p:spPr>
          <a:xfrm>
            <a:off x="640080" y="5303520"/>
            <a:ext cx="3383280" cy="365760"/>
          </a:xfrm>
          <a:prstGeom prst="rect">
            <a:avLst/>
          </a:prstGeom>
          <a:noFill/>
        </p:spPr>
        <p:txBody>
          <a:bodyPr wrap="square" lIns="0" rIns="0" tIns="0" bIns="0" anchor="t">
            <a:spAutoFit/>
          </a:bodyPr>
          <a:lstStyle/>
          <a:p>
            <a:pPr algn="l"/>
            <a:r>
              <a:rPr sz="1200" b="1">
                <a:solidFill>
                  <a:srgbClr val="065A82"/>
                </a:solidFill>
                <a:latin typeface="Calibri"/>
              </a:rPr>
              <a:t>Gradient Boosting:</a:t>
            </a:r>
          </a:p>
        </p:txBody>
      </p:sp>
      <p:sp>
        <p:nvSpPr>
          <p:cNvPr id="20" name="TextBox 19"/>
          <p:cNvSpPr txBox="1"/>
          <p:nvPr/>
        </p:nvSpPr>
        <p:spPr>
          <a:xfrm>
            <a:off x="4023360" y="5303520"/>
            <a:ext cx="7772400" cy="365760"/>
          </a:xfrm>
          <a:prstGeom prst="rect">
            <a:avLst/>
          </a:prstGeom>
          <a:noFill/>
        </p:spPr>
        <p:txBody>
          <a:bodyPr wrap="square" lIns="0" rIns="0" tIns="0" bIns="0" anchor="t">
            <a:spAutoFit/>
          </a:bodyPr>
          <a:lstStyle/>
          <a:p>
            <a:pPr algn="l"/>
            <a:r>
              <a:rPr sz="1100" b="0">
                <a:solidFill>
                  <a:srgbClr val="36454F"/>
                </a:solidFill>
                <a:latin typeface="Consolas"/>
              </a:rPr>
              <a:t>learning_rate (0.03–0.2) · max_iter (100–400) · max_depth (3–6)</a:t>
            </a:r>
          </a:p>
        </p:txBody>
      </p:sp>
      <p:sp>
        <p:nvSpPr>
          <p:cNvPr id="21" name="TextBox 20"/>
          <p:cNvSpPr txBox="1"/>
          <p:nvPr/>
        </p:nvSpPr>
        <p:spPr>
          <a:xfrm>
            <a:off x="640080" y="5669280"/>
            <a:ext cx="3383280" cy="365760"/>
          </a:xfrm>
          <a:prstGeom prst="rect">
            <a:avLst/>
          </a:prstGeom>
          <a:noFill/>
        </p:spPr>
        <p:txBody>
          <a:bodyPr wrap="square" lIns="0" rIns="0" tIns="0" bIns="0" anchor="t">
            <a:spAutoFit/>
          </a:bodyPr>
          <a:lstStyle/>
          <a:p>
            <a:pPr algn="l"/>
            <a:r>
              <a:rPr sz="1200" b="1">
                <a:solidFill>
                  <a:srgbClr val="065A82"/>
                </a:solidFill>
                <a:latin typeface="Calibri"/>
              </a:rPr>
              <a:t>Logistic Regression:</a:t>
            </a:r>
          </a:p>
        </p:txBody>
      </p:sp>
      <p:sp>
        <p:nvSpPr>
          <p:cNvPr id="22" name="TextBox 21"/>
          <p:cNvSpPr txBox="1"/>
          <p:nvPr/>
        </p:nvSpPr>
        <p:spPr>
          <a:xfrm>
            <a:off x="4023360" y="5669280"/>
            <a:ext cx="7772400" cy="365760"/>
          </a:xfrm>
          <a:prstGeom prst="rect">
            <a:avLst/>
          </a:prstGeom>
          <a:noFill/>
        </p:spPr>
        <p:txBody>
          <a:bodyPr wrap="square" lIns="0" rIns="0" tIns="0" bIns="0" anchor="t">
            <a:spAutoFit/>
          </a:bodyPr>
          <a:lstStyle/>
          <a:p>
            <a:pPr algn="l"/>
            <a:r>
              <a:rPr sz="1100" b="0">
                <a:solidFill>
                  <a:srgbClr val="36454F"/>
                </a:solidFill>
                <a:latin typeface="Consolas"/>
              </a:rPr>
              <a:t>C (0.1–10) — but the effect is usually small</a:t>
            </a:r>
          </a:p>
        </p:txBody>
      </p:sp>
      <p:sp>
        <p:nvSpPr>
          <p:cNvPr id="23" name="TextBox 22"/>
          <p:cNvSpPr txBox="1"/>
          <p:nvPr/>
        </p:nvSpPr>
        <p:spPr>
          <a:xfrm>
            <a:off x="640080" y="6035040"/>
            <a:ext cx="3383280" cy="365760"/>
          </a:xfrm>
          <a:prstGeom prst="rect">
            <a:avLst/>
          </a:prstGeom>
          <a:noFill/>
        </p:spPr>
        <p:txBody>
          <a:bodyPr wrap="square" lIns="0" rIns="0" tIns="0" bIns="0" anchor="t">
            <a:spAutoFit/>
          </a:bodyPr>
          <a:lstStyle/>
          <a:p>
            <a:pPr algn="l"/>
            <a:r>
              <a:rPr sz="1200" b="1">
                <a:solidFill>
                  <a:srgbClr val="065A82"/>
                </a:solidFill>
                <a:latin typeface="Calibri"/>
              </a:rPr>
              <a:t>class_weight='balanced':</a:t>
            </a:r>
          </a:p>
        </p:txBody>
      </p:sp>
      <p:sp>
        <p:nvSpPr>
          <p:cNvPr id="24" name="TextBox 23"/>
          <p:cNvSpPr txBox="1"/>
          <p:nvPr/>
        </p:nvSpPr>
        <p:spPr>
          <a:xfrm>
            <a:off x="4023360" y="6035040"/>
            <a:ext cx="7772400" cy="365760"/>
          </a:xfrm>
          <a:prstGeom prst="rect">
            <a:avLst/>
          </a:prstGeom>
          <a:noFill/>
        </p:spPr>
        <p:txBody>
          <a:bodyPr wrap="square" lIns="0" rIns="0" tIns="0" bIns="0" anchor="t">
            <a:spAutoFit/>
          </a:bodyPr>
          <a:lstStyle/>
          <a:p>
            <a:pPr algn="l"/>
            <a:r>
              <a:rPr sz="1100" b="0">
                <a:solidFill>
                  <a:srgbClr val="36454F"/>
                </a:solidFill>
                <a:latin typeface="Consolas"/>
              </a:rPr>
              <a:t>ALWAYS, on imbalanced data — bigger win than any single hyperparameter</a:t>
            </a:r>
          </a:p>
        </p:txBody>
      </p:sp>
      <p:sp>
        <p:nvSpPr>
          <p:cNvPr id="25" name="TextBox 2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14/28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GridSearchCV — Exhaustive Search</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Try every combo, CV each, pick the best</a:t>
            </a:r>
          </a:p>
        </p:txBody>
      </p:sp>
      <p:sp>
        <p:nvSpPr>
          <p:cNvPr id="5" name="Rectangle 4"/>
          <p:cNvSpPr/>
          <p:nvPr/>
        </p:nvSpPr>
        <p:spPr>
          <a:xfrm>
            <a:off x="548640" y="1691640"/>
            <a:ext cx="11064240" cy="36576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10698480" cy="3474720"/>
          </a:xfrm>
          <a:prstGeom prst="rect">
            <a:avLst/>
          </a:prstGeom>
          <a:noFill/>
        </p:spPr>
        <p:txBody>
          <a:bodyPr wrap="square" lIns="0" rIns="0" tIns="0" bIns="0" anchor="t">
            <a:spAutoFit/>
          </a:bodyPr>
          <a:lstStyle/>
          <a:p>
            <a:pPr algn="l"/>
            <a:r>
              <a:rPr sz="1300" b="0">
                <a:solidFill>
                  <a:srgbClr val="E8F1F5"/>
                </a:solidFill>
                <a:latin typeface="Consolas"/>
              </a:rPr>
              <a:t>from sklearn.model_selection import GridSearchCV</a:t>
            </a:r>
          </a:p>
          <a:p>
            <a:pPr algn="l"/>
            <a:r>
              <a:rPr sz="1300" b="0">
                <a:solidFill>
                  <a:srgbClr val="E8F1F5"/>
                </a:solidFill>
                <a:latin typeface="Consolas"/>
              </a:rPr>
              <a:t/>
            </a:r>
          </a:p>
          <a:p>
            <a:pPr algn="l"/>
            <a:r>
              <a:rPr sz="1300" b="0">
                <a:solidFill>
                  <a:srgbClr val="E8F1F5"/>
                </a:solidFill>
                <a:latin typeface="Consolas"/>
              </a:rPr>
              <a:t>param_grid = {</a:t>
            </a:r>
          </a:p>
          <a:p>
            <a:pPr algn="l"/>
            <a:r>
              <a:rPr sz="1300" b="0">
                <a:solidFill>
                  <a:srgbClr val="E8F1F5"/>
                </a:solidFill>
                <a:latin typeface="Consolas"/>
              </a:rPr>
              <a:t>    "model__learning_rate": [0.05, 0.1, 0.2],</a:t>
            </a:r>
          </a:p>
          <a:p>
            <a:pPr algn="l"/>
            <a:r>
              <a:rPr sz="1300" b="0">
                <a:solidFill>
                  <a:srgbClr val="E8F1F5"/>
                </a:solidFill>
                <a:latin typeface="Consolas"/>
              </a:rPr>
              <a:t>    "model__max_iter":      [100, 200, 400],</a:t>
            </a:r>
          </a:p>
          <a:p>
            <a:pPr algn="l"/>
            <a:r>
              <a:rPr sz="1300" b="0">
                <a:solidFill>
                  <a:srgbClr val="E8F1F5"/>
                </a:solidFill>
                <a:latin typeface="Consolas"/>
              </a:rPr>
              <a:t>    "model__max_depth":     [4, 6, None],</a:t>
            </a:r>
          </a:p>
          <a:p>
            <a:pPr algn="l"/>
            <a:r>
              <a:rPr sz="1300" b="0">
                <a:solidFill>
                  <a:srgbClr val="E8F1F5"/>
                </a:solidFill>
                <a:latin typeface="Consolas"/>
              </a:rPr>
              <a:t>}</a:t>
            </a:r>
          </a:p>
          <a:p>
            <a:pPr algn="l"/>
            <a:r>
              <a:rPr sz="1300" b="0">
                <a:solidFill>
                  <a:srgbClr val="E8F1F5"/>
                </a:solidFill>
                <a:latin typeface="Consolas"/>
              </a:rPr>
              <a:t># 3 × 3 × 3 = 27 combinations × 5-fold CV = 135 model fits</a:t>
            </a:r>
          </a:p>
          <a:p>
            <a:pPr algn="l"/>
            <a:r>
              <a:rPr sz="1300" b="0">
                <a:solidFill>
                  <a:srgbClr val="E8F1F5"/>
                </a:solidFill>
                <a:latin typeface="Consolas"/>
              </a:rPr>
              <a:t/>
            </a:r>
          </a:p>
          <a:p>
            <a:pPr algn="l"/>
            <a:r>
              <a:rPr sz="1300" b="0">
                <a:solidFill>
                  <a:srgbClr val="E8F1F5"/>
                </a:solidFill>
                <a:latin typeface="Consolas"/>
              </a:rPr>
              <a:t>grid_search = GridSearchCV(</a:t>
            </a:r>
          </a:p>
          <a:p>
            <a:pPr algn="l"/>
            <a:r>
              <a:rPr sz="1300" b="0">
                <a:solidFill>
                  <a:srgbClr val="E8F1F5"/>
                </a:solidFill>
                <a:latin typeface="Consolas"/>
              </a:rPr>
              <a:t>    gb_pipeline,</a:t>
            </a:r>
          </a:p>
          <a:p>
            <a:pPr algn="l"/>
            <a:r>
              <a:rPr sz="1300" b="0">
                <a:solidFill>
                  <a:srgbClr val="E8F1F5"/>
                </a:solidFill>
                <a:latin typeface="Consolas"/>
              </a:rPr>
              <a:t>    param_grid,</a:t>
            </a:r>
          </a:p>
          <a:p>
            <a:pPr algn="l"/>
            <a:r>
              <a:rPr sz="1300" b="0">
                <a:solidFill>
                  <a:srgbClr val="E8F1F5"/>
                </a:solidFill>
                <a:latin typeface="Consolas"/>
              </a:rPr>
              <a:t>    cv=cv,                   # 5-fold stratified</a:t>
            </a:r>
          </a:p>
          <a:p>
            <a:pPr algn="l"/>
            <a:r>
              <a:rPr sz="1300" b="0">
                <a:solidFill>
                  <a:srgbClr val="E8F1F5"/>
                </a:solidFill>
                <a:latin typeface="Consolas"/>
              </a:rPr>
              <a:t>    scoring="f1",            # tune for F1, not accuracy</a:t>
            </a:r>
          </a:p>
          <a:p>
            <a:pPr algn="l"/>
            <a:r>
              <a:rPr sz="1300" b="0">
                <a:solidFill>
                  <a:srgbClr val="E8F1F5"/>
                </a:solidFill>
                <a:latin typeface="Consolas"/>
              </a:rPr>
              <a:t>    n_jobs=-1,               # use all CPU cores</a:t>
            </a:r>
          </a:p>
          <a:p>
            <a:pPr algn="l"/>
            <a:r>
              <a:rPr sz="1300" b="0">
                <a:solidFill>
                  <a:srgbClr val="E8F1F5"/>
                </a:solidFill>
                <a:latin typeface="Consolas"/>
              </a:rPr>
              <a:t>    refit=True,              # re-fit best model on full training data</a:t>
            </a:r>
          </a:p>
          <a:p>
            <a:pPr algn="l"/>
            <a:r>
              <a:rPr sz="1300" b="0">
                <a:solidFill>
                  <a:srgbClr val="E8F1F5"/>
                </a:solidFill>
                <a:latin typeface="Consolas"/>
              </a:rPr>
              <a:t>)</a:t>
            </a:r>
          </a:p>
          <a:p>
            <a:pPr algn="l"/>
            <a:r>
              <a:rPr sz="1300" b="0">
                <a:solidFill>
                  <a:srgbClr val="E8F1F5"/>
                </a:solidFill>
                <a:latin typeface="Consolas"/>
              </a:rPr>
              <a:t>grid_search.fit(X_train, y_train)</a:t>
            </a:r>
          </a:p>
          <a:p>
            <a:pPr algn="l"/>
            <a:r>
              <a:rPr sz="1300" b="0">
                <a:solidFill>
                  <a:srgbClr val="E8F1F5"/>
                </a:solidFill>
                <a:latin typeface="Consolas"/>
              </a:rPr>
              <a:t>print(grid_search.best_score_, grid_search.best_params_)</a:t>
            </a:r>
          </a:p>
        </p:txBody>
      </p:sp>
      <p:sp>
        <p:nvSpPr>
          <p:cNvPr id="7" name="Rectangle 6"/>
          <p:cNvSpPr/>
          <p:nvPr/>
        </p:nvSpPr>
        <p:spPr>
          <a:xfrm>
            <a:off x="548640" y="5486400"/>
            <a:ext cx="11064240" cy="777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577840"/>
            <a:ext cx="10515600" cy="548640"/>
          </a:xfrm>
          <a:prstGeom prst="rect">
            <a:avLst/>
          </a:prstGeom>
          <a:noFill/>
        </p:spPr>
        <p:txBody>
          <a:bodyPr wrap="square" lIns="0" rIns="0" tIns="0" bIns="0" anchor="t">
            <a:spAutoFit/>
          </a:bodyPr>
          <a:lstStyle/>
          <a:p>
            <a:pPr algn="l"/>
            <a:r>
              <a:rPr sz="1400" b="1">
                <a:solidFill>
                  <a:srgbClr val="FFFFFF"/>
                </a:solidFill>
                <a:latin typeface="Calibri"/>
              </a:rPr>
              <a:t>Tune for the SAME metric you'll use for the final decision. If F1 is the goal, scoring='f1'.</a:t>
            </a:r>
          </a:p>
        </p:txBody>
      </p:sp>
      <p:sp>
        <p:nvSpPr>
          <p:cNvPr id="9" name="TextBox 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15/28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RandomizedSearchCV — Cheaper for Big Grids</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When the grid is too big, sample instead of enumerate</a:t>
            </a:r>
          </a:p>
        </p:txBody>
      </p:sp>
      <p:sp>
        <p:nvSpPr>
          <p:cNvPr id="5" name="Rectangle 4"/>
          <p:cNvSpPr/>
          <p:nvPr/>
        </p:nvSpPr>
        <p:spPr>
          <a:xfrm>
            <a:off x="548640" y="1828800"/>
            <a:ext cx="1106424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3657600" cy="274320"/>
          </a:xfrm>
          <a:prstGeom prst="rect">
            <a:avLst/>
          </a:prstGeom>
          <a:noFill/>
        </p:spPr>
        <p:txBody>
          <a:bodyPr wrap="square" lIns="0" rIns="0" tIns="0" bIns="0" anchor="t">
            <a:spAutoFit/>
          </a:bodyPr>
          <a:lstStyle/>
          <a:p>
            <a:pPr algn="l"/>
            <a:r>
              <a:rPr sz="1300" b="1">
                <a:solidFill>
                  <a:srgbClr val="FFFFFF"/>
                </a:solidFill>
                <a:latin typeface="Calibri"/>
              </a:rPr>
              <a:t>Search type</a:t>
            </a:r>
          </a:p>
        </p:txBody>
      </p:sp>
      <p:sp>
        <p:nvSpPr>
          <p:cNvPr id="7" name="TextBox 6"/>
          <p:cNvSpPr txBox="1"/>
          <p:nvPr/>
        </p:nvSpPr>
        <p:spPr>
          <a:xfrm>
            <a:off x="4114800" y="1920240"/>
            <a:ext cx="3657600" cy="274320"/>
          </a:xfrm>
          <a:prstGeom prst="rect">
            <a:avLst/>
          </a:prstGeom>
          <a:noFill/>
        </p:spPr>
        <p:txBody>
          <a:bodyPr wrap="square" lIns="0" rIns="0" tIns="0" bIns="0" anchor="t">
            <a:spAutoFit/>
          </a:bodyPr>
          <a:lstStyle/>
          <a:p>
            <a:pPr algn="l"/>
            <a:r>
              <a:rPr sz="1300" b="1">
                <a:solidFill>
                  <a:srgbClr val="FFFFFF"/>
                </a:solidFill>
                <a:latin typeface="Calibri"/>
              </a:rPr>
              <a:t>When to use</a:t>
            </a:r>
          </a:p>
        </p:txBody>
      </p:sp>
      <p:sp>
        <p:nvSpPr>
          <p:cNvPr id="8" name="TextBox 7"/>
          <p:cNvSpPr txBox="1"/>
          <p:nvPr/>
        </p:nvSpPr>
        <p:spPr>
          <a:xfrm>
            <a:off x="8686800" y="1920240"/>
            <a:ext cx="3657600" cy="274320"/>
          </a:xfrm>
          <a:prstGeom prst="rect">
            <a:avLst/>
          </a:prstGeom>
          <a:noFill/>
        </p:spPr>
        <p:txBody>
          <a:bodyPr wrap="square" lIns="0" rIns="0" tIns="0" bIns="0" anchor="t">
            <a:spAutoFit/>
          </a:bodyPr>
          <a:lstStyle/>
          <a:p>
            <a:pPr algn="l"/>
            <a:r>
              <a:rPr sz="1300" b="1">
                <a:solidFill>
                  <a:srgbClr val="FFFFFF"/>
                </a:solidFill>
                <a:latin typeface="Calibri"/>
              </a:rPr>
              <a:t>Fit budget</a:t>
            </a:r>
          </a:p>
        </p:txBody>
      </p:sp>
      <p:sp>
        <p:nvSpPr>
          <p:cNvPr id="9" name="Rectangle 8"/>
          <p:cNvSpPr/>
          <p:nvPr/>
        </p:nvSpPr>
        <p:spPr>
          <a:xfrm>
            <a:off x="548640" y="2377440"/>
            <a:ext cx="11064240" cy="457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68880"/>
            <a:ext cx="3657600" cy="274320"/>
          </a:xfrm>
          <a:prstGeom prst="rect">
            <a:avLst/>
          </a:prstGeom>
          <a:noFill/>
        </p:spPr>
        <p:txBody>
          <a:bodyPr wrap="square" lIns="0" rIns="0" tIns="0" bIns="0" anchor="t">
            <a:spAutoFit/>
          </a:bodyPr>
          <a:lstStyle/>
          <a:p>
            <a:pPr algn="l"/>
            <a:r>
              <a:rPr sz="1200" b="0">
                <a:solidFill>
                  <a:srgbClr val="36454F"/>
                </a:solidFill>
                <a:latin typeface="Calibri"/>
              </a:rPr>
              <a:t>GridSearchCV</a:t>
            </a:r>
          </a:p>
        </p:txBody>
      </p:sp>
      <p:sp>
        <p:nvSpPr>
          <p:cNvPr id="11" name="TextBox 10"/>
          <p:cNvSpPr txBox="1"/>
          <p:nvPr/>
        </p:nvSpPr>
        <p:spPr>
          <a:xfrm>
            <a:off x="4114800" y="2468880"/>
            <a:ext cx="3657600" cy="274320"/>
          </a:xfrm>
          <a:prstGeom prst="rect">
            <a:avLst/>
          </a:prstGeom>
          <a:noFill/>
        </p:spPr>
        <p:txBody>
          <a:bodyPr wrap="square" lIns="0" rIns="0" tIns="0" bIns="0" anchor="t">
            <a:spAutoFit/>
          </a:bodyPr>
          <a:lstStyle/>
          <a:p>
            <a:pPr algn="l"/>
            <a:r>
              <a:rPr sz="1200" b="0">
                <a:solidFill>
                  <a:srgbClr val="36454F"/>
                </a:solidFill>
                <a:latin typeface="Calibri"/>
              </a:rPr>
              <a:t>Grid has ≤30 combinations</a:t>
            </a:r>
          </a:p>
        </p:txBody>
      </p:sp>
      <p:sp>
        <p:nvSpPr>
          <p:cNvPr id="12" name="TextBox 11"/>
          <p:cNvSpPr txBox="1"/>
          <p:nvPr/>
        </p:nvSpPr>
        <p:spPr>
          <a:xfrm>
            <a:off x="8686800" y="2468880"/>
            <a:ext cx="3657600" cy="274320"/>
          </a:xfrm>
          <a:prstGeom prst="rect">
            <a:avLst/>
          </a:prstGeom>
          <a:noFill/>
        </p:spPr>
        <p:txBody>
          <a:bodyPr wrap="square" lIns="0" rIns="0" tIns="0" bIns="0" anchor="t">
            <a:spAutoFit/>
          </a:bodyPr>
          <a:lstStyle/>
          <a:p>
            <a:pPr algn="l"/>
            <a:r>
              <a:rPr sz="1200" b="0">
                <a:solidFill>
                  <a:srgbClr val="36454F"/>
                </a:solidFill>
                <a:latin typeface="Calibri"/>
              </a:rPr>
              <a:t>n_combos × cv_folds</a:t>
            </a:r>
          </a:p>
        </p:txBody>
      </p:sp>
      <p:sp>
        <p:nvSpPr>
          <p:cNvPr id="13" name="Rectangle 12"/>
          <p:cNvSpPr/>
          <p:nvPr/>
        </p:nvSpPr>
        <p:spPr>
          <a:xfrm>
            <a:off x="548640" y="2880360"/>
            <a:ext cx="1106424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971800"/>
            <a:ext cx="3657600" cy="274320"/>
          </a:xfrm>
          <a:prstGeom prst="rect">
            <a:avLst/>
          </a:prstGeom>
          <a:noFill/>
        </p:spPr>
        <p:txBody>
          <a:bodyPr wrap="square" lIns="0" rIns="0" tIns="0" bIns="0" anchor="t">
            <a:spAutoFit/>
          </a:bodyPr>
          <a:lstStyle/>
          <a:p>
            <a:pPr algn="l"/>
            <a:r>
              <a:rPr sz="1200" b="0">
                <a:solidFill>
                  <a:srgbClr val="36454F"/>
                </a:solidFill>
                <a:latin typeface="Calibri"/>
              </a:rPr>
              <a:t>RandomizedSearchCV</a:t>
            </a:r>
          </a:p>
        </p:txBody>
      </p:sp>
      <p:sp>
        <p:nvSpPr>
          <p:cNvPr id="15" name="TextBox 14"/>
          <p:cNvSpPr txBox="1"/>
          <p:nvPr/>
        </p:nvSpPr>
        <p:spPr>
          <a:xfrm>
            <a:off x="4114800" y="2971800"/>
            <a:ext cx="3657600" cy="274320"/>
          </a:xfrm>
          <a:prstGeom prst="rect">
            <a:avLst/>
          </a:prstGeom>
          <a:noFill/>
        </p:spPr>
        <p:txBody>
          <a:bodyPr wrap="square" lIns="0" rIns="0" tIns="0" bIns="0" anchor="t">
            <a:spAutoFit/>
          </a:bodyPr>
          <a:lstStyle/>
          <a:p>
            <a:pPr algn="l"/>
            <a:r>
              <a:rPr sz="1200" b="0">
                <a:solidFill>
                  <a:srgbClr val="36454F"/>
                </a:solidFill>
                <a:latin typeface="Calibri"/>
              </a:rPr>
              <a:t>30–500 combinations</a:t>
            </a:r>
          </a:p>
        </p:txBody>
      </p:sp>
      <p:sp>
        <p:nvSpPr>
          <p:cNvPr id="16" name="TextBox 15"/>
          <p:cNvSpPr txBox="1"/>
          <p:nvPr/>
        </p:nvSpPr>
        <p:spPr>
          <a:xfrm>
            <a:off x="8686800" y="2971800"/>
            <a:ext cx="3657600" cy="274320"/>
          </a:xfrm>
          <a:prstGeom prst="rect">
            <a:avLst/>
          </a:prstGeom>
          <a:noFill/>
        </p:spPr>
        <p:txBody>
          <a:bodyPr wrap="square" lIns="0" rIns="0" tIns="0" bIns="0" anchor="t">
            <a:spAutoFit/>
          </a:bodyPr>
          <a:lstStyle/>
          <a:p>
            <a:pPr algn="l"/>
            <a:r>
              <a:rPr sz="1200" b="0">
                <a:solidFill>
                  <a:srgbClr val="36454F"/>
                </a:solidFill>
                <a:latin typeface="Calibri"/>
              </a:rPr>
              <a:t>n_iter × cv_folds (n_iter &lt;&lt; n_combos)</a:t>
            </a:r>
          </a:p>
        </p:txBody>
      </p:sp>
      <p:sp>
        <p:nvSpPr>
          <p:cNvPr id="17" name="Rectangle 16"/>
          <p:cNvSpPr/>
          <p:nvPr/>
        </p:nvSpPr>
        <p:spPr>
          <a:xfrm>
            <a:off x="548640" y="3383280"/>
            <a:ext cx="11064240" cy="4572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74720"/>
            <a:ext cx="3657600" cy="274320"/>
          </a:xfrm>
          <a:prstGeom prst="rect">
            <a:avLst/>
          </a:prstGeom>
          <a:noFill/>
        </p:spPr>
        <p:txBody>
          <a:bodyPr wrap="square" lIns="0" rIns="0" tIns="0" bIns="0" anchor="t">
            <a:spAutoFit/>
          </a:bodyPr>
          <a:lstStyle/>
          <a:p>
            <a:pPr algn="l"/>
            <a:r>
              <a:rPr sz="1200" b="0">
                <a:solidFill>
                  <a:srgbClr val="36454F"/>
                </a:solidFill>
                <a:latin typeface="Calibri"/>
              </a:rPr>
              <a:t>Bayesian (optuna)</a:t>
            </a:r>
          </a:p>
        </p:txBody>
      </p:sp>
      <p:sp>
        <p:nvSpPr>
          <p:cNvPr id="19" name="TextBox 18"/>
          <p:cNvSpPr txBox="1"/>
          <p:nvPr/>
        </p:nvSpPr>
        <p:spPr>
          <a:xfrm>
            <a:off x="4114800" y="3474720"/>
            <a:ext cx="3657600" cy="274320"/>
          </a:xfrm>
          <a:prstGeom prst="rect">
            <a:avLst/>
          </a:prstGeom>
          <a:noFill/>
        </p:spPr>
        <p:txBody>
          <a:bodyPr wrap="square" lIns="0" rIns="0" tIns="0" bIns="0" anchor="t">
            <a:spAutoFit/>
          </a:bodyPr>
          <a:lstStyle/>
          <a:p>
            <a:pPr algn="l"/>
            <a:r>
              <a:rPr sz="1200" b="0">
                <a:solidFill>
                  <a:srgbClr val="36454F"/>
                </a:solidFill>
                <a:latin typeface="Calibri"/>
              </a:rPr>
              <a:t>500+ combos, continuous params</a:t>
            </a:r>
          </a:p>
        </p:txBody>
      </p:sp>
      <p:sp>
        <p:nvSpPr>
          <p:cNvPr id="20" name="TextBox 19"/>
          <p:cNvSpPr txBox="1"/>
          <p:nvPr/>
        </p:nvSpPr>
        <p:spPr>
          <a:xfrm>
            <a:off x="8686800" y="3474720"/>
            <a:ext cx="3657600" cy="274320"/>
          </a:xfrm>
          <a:prstGeom prst="rect">
            <a:avLst/>
          </a:prstGeom>
          <a:noFill/>
        </p:spPr>
        <p:txBody>
          <a:bodyPr wrap="square" lIns="0" rIns="0" tIns="0" bIns="0" anchor="t">
            <a:spAutoFit/>
          </a:bodyPr>
          <a:lstStyle/>
          <a:p>
            <a:pPr algn="l"/>
            <a:r>
              <a:rPr sz="1200" b="0">
                <a:solidFill>
                  <a:srgbClr val="36454F"/>
                </a:solidFill>
                <a:latin typeface="Calibri"/>
              </a:rPr>
              <a:t>Set a time budget; the optimiser stops itself</a:t>
            </a:r>
          </a:p>
        </p:txBody>
      </p:sp>
      <p:sp>
        <p:nvSpPr>
          <p:cNvPr id="21" name="Rectangle 20"/>
          <p:cNvSpPr/>
          <p:nvPr/>
        </p:nvSpPr>
        <p:spPr>
          <a:xfrm>
            <a:off x="548640" y="4206240"/>
            <a:ext cx="11064240" cy="20116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343400"/>
            <a:ext cx="10515600" cy="457200"/>
          </a:xfrm>
          <a:prstGeom prst="rect">
            <a:avLst/>
          </a:prstGeom>
          <a:noFill/>
        </p:spPr>
        <p:txBody>
          <a:bodyPr wrap="square" lIns="0" rIns="0" tIns="0" bIns="0" anchor="t">
            <a:spAutoFit/>
          </a:bodyPr>
          <a:lstStyle/>
          <a:p>
            <a:pPr algn="l"/>
            <a:r>
              <a:rPr sz="1400" b="1">
                <a:solidFill>
                  <a:srgbClr val="E8F1F5"/>
                </a:solidFill>
                <a:latin typeface="Calibri"/>
              </a:rPr>
              <a:t>Real numbers from this lesson's notebooks</a:t>
            </a:r>
          </a:p>
        </p:txBody>
      </p:sp>
      <p:sp>
        <p:nvSpPr>
          <p:cNvPr id="23" name="TextBox 22"/>
          <p:cNvSpPr txBox="1"/>
          <p:nvPr/>
        </p:nvSpPr>
        <p:spPr>
          <a:xfrm>
            <a:off x="822960" y="4846320"/>
            <a:ext cx="10515600" cy="1371600"/>
          </a:xfrm>
          <a:prstGeom prst="rect">
            <a:avLst/>
          </a:prstGeom>
          <a:noFill/>
        </p:spPr>
        <p:txBody>
          <a:bodyPr wrap="square" lIns="0" rIns="0" tIns="0" bIns="0" anchor="t">
            <a:spAutoFit/>
          </a:bodyPr>
          <a:lstStyle/>
          <a:p>
            <a:pPr algn="l"/>
            <a:r>
              <a:rPr sz="1400" b="0">
                <a:solidFill>
                  <a:srgbClr val="FFFFFF"/>
                </a:solidFill>
                <a:latin typeface="Consolas"/>
              </a:rPr>
              <a:t>GridSearchCV    (27 fits): best CV F1 = 0.337,   takes ~15s</a:t>
            </a:r>
          </a:p>
          <a:p>
            <a:pPr algn="l"/>
            <a:r>
              <a:rPr sz="1400" b="0">
                <a:solidFill>
                  <a:srgbClr val="FFFFFF"/>
                </a:solidFill>
                <a:latin typeface="Consolas"/>
              </a:rPr>
              <a:t>RandomizedSearchCV (25 fits, from a 576-combo big grid): best CV F1 = 0.338,   takes ~35s</a:t>
            </a:r>
          </a:p>
        </p:txBody>
      </p:sp>
      <p:sp>
        <p:nvSpPr>
          <p:cNvPr id="24" name="TextBox 23"/>
          <p:cNvSpPr txBox="1"/>
          <p:nvPr/>
        </p:nvSpPr>
        <p:spPr>
          <a:xfrm>
            <a:off x="822960" y="5760720"/>
            <a:ext cx="10515600" cy="365760"/>
          </a:xfrm>
          <a:prstGeom prst="rect">
            <a:avLst/>
          </a:prstGeom>
          <a:noFill/>
        </p:spPr>
        <p:txBody>
          <a:bodyPr wrap="square" lIns="0" rIns="0" tIns="0" bIns="0" anchor="t">
            <a:spAutoFit/>
          </a:bodyPr>
          <a:lstStyle/>
          <a:p>
            <a:pPr algn="l"/>
            <a:r>
              <a:rPr sz="1400" b="1">
                <a:solidFill>
                  <a:srgbClr val="F9E795"/>
                </a:solidFill>
                <a:latin typeface="Calibri"/>
              </a:rPr>
              <a:t>Same outcome. Different exploration strategy. Pick based on grid size.</a:t>
            </a:r>
          </a:p>
        </p:txBody>
      </p:sp>
      <p:sp>
        <p:nvSpPr>
          <p:cNvPr id="25" name="TextBox 24"/>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16/28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200" b="1">
                <a:solidFill>
                  <a:srgbClr val="FFFFFF"/>
                </a:solidFill>
                <a:latin typeface="Consolas"/>
              </a:rPr>
              <a:t>Open: 04_tuning_and_comparison.ipynb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GridSearchCV over Random Forest hyperparameters.</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GridSearchCV over Gradient Boosting hyperparameters.</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Compare all three models (LR baseline · tuned RF · tuned GB) on the held-out test set.</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Friday — The Final Comparison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Three contenders on the held-out test set</a:t>
            </a:r>
          </a:p>
        </p:txBody>
      </p:sp>
      <p:sp>
        <p:nvSpPr>
          <p:cNvPr id="5" name="Rectangle 4"/>
          <p:cNvSpPr/>
          <p:nvPr/>
        </p:nvSpPr>
        <p:spPr>
          <a:xfrm>
            <a:off x="548640" y="1783080"/>
            <a:ext cx="1106424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20"/>
            <a:ext cx="2743200" cy="274320"/>
          </a:xfrm>
          <a:prstGeom prst="rect">
            <a:avLst/>
          </a:prstGeom>
          <a:noFill/>
        </p:spPr>
        <p:txBody>
          <a:bodyPr wrap="square" lIns="0" rIns="0" tIns="0" bIns="0" anchor="t">
            <a:spAutoFit/>
          </a:bodyPr>
          <a:lstStyle/>
          <a:p>
            <a:pPr algn="l"/>
            <a:r>
              <a:rPr sz="1200" b="1">
                <a:solidFill>
                  <a:srgbClr val="FFFFFF"/>
                </a:solidFill>
                <a:latin typeface="Calibri"/>
              </a:rPr>
              <a:t>Model</a:t>
            </a:r>
          </a:p>
        </p:txBody>
      </p:sp>
      <p:sp>
        <p:nvSpPr>
          <p:cNvPr id="7" name="TextBox 6"/>
          <p:cNvSpPr txBox="1"/>
          <p:nvPr/>
        </p:nvSpPr>
        <p:spPr>
          <a:xfrm>
            <a:off x="3886200" y="1874520"/>
            <a:ext cx="2743200" cy="274320"/>
          </a:xfrm>
          <a:prstGeom prst="rect">
            <a:avLst/>
          </a:prstGeom>
          <a:noFill/>
        </p:spPr>
        <p:txBody>
          <a:bodyPr wrap="square" lIns="0" rIns="0" tIns="0" bIns="0" anchor="t">
            <a:spAutoFit/>
          </a:bodyPr>
          <a:lstStyle/>
          <a:p>
            <a:pPr algn="l"/>
            <a:r>
              <a:rPr sz="1200" b="1">
                <a:solidFill>
                  <a:srgbClr val="FFFFFF"/>
                </a:solidFill>
                <a:latin typeface="Calibri"/>
              </a:rPr>
              <a:t>Test F1</a:t>
            </a:r>
          </a:p>
        </p:txBody>
      </p:sp>
      <p:sp>
        <p:nvSpPr>
          <p:cNvPr id="8" name="TextBox 7"/>
          <p:cNvSpPr txBox="1"/>
          <p:nvPr/>
        </p:nvSpPr>
        <p:spPr>
          <a:xfrm>
            <a:off x="5166360" y="1874520"/>
            <a:ext cx="2743200" cy="274320"/>
          </a:xfrm>
          <a:prstGeom prst="rect">
            <a:avLst/>
          </a:prstGeom>
          <a:noFill/>
        </p:spPr>
        <p:txBody>
          <a:bodyPr wrap="square" lIns="0" rIns="0" tIns="0" bIns="0" anchor="t">
            <a:spAutoFit/>
          </a:bodyPr>
          <a:lstStyle/>
          <a:p>
            <a:pPr algn="l"/>
            <a:r>
              <a:rPr sz="1200" b="1">
                <a:solidFill>
                  <a:srgbClr val="FFFFFF"/>
                </a:solidFill>
                <a:latin typeface="Calibri"/>
              </a:rPr>
              <a:t>CV time(s)</a:t>
            </a:r>
          </a:p>
        </p:txBody>
      </p:sp>
      <p:sp>
        <p:nvSpPr>
          <p:cNvPr id="9" name="TextBox 8"/>
          <p:cNvSpPr txBox="1"/>
          <p:nvPr/>
        </p:nvSpPr>
        <p:spPr>
          <a:xfrm>
            <a:off x="6629400" y="1874520"/>
            <a:ext cx="2743200" cy="274320"/>
          </a:xfrm>
          <a:prstGeom prst="rect">
            <a:avLst/>
          </a:prstGeom>
          <a:noFill/>
        </p:spPr>
        <p:txBody>
          <a:bodyPr wrap="square" lIns="0" rIns="0" tIns="0" bIns="0" anchor="t">
            <a:spAutoFit/>
          </a:bodyPr>
          <a:lstStyle/>
          <a:p>
            <a:pPr algn="l"/>
            <a:r>
              <a:rPr sz="1200" b="1">
                <a:solidFill>
                  <a:srgbClr val="FFFFFF"/>
                </a:solidFill>
                <a:latin typeface="Calibri"/>
              </a:rPr>
              <a:t>Strength</a:t>
            </a:r>
          </a:p>
        </p:txBody>
      </p:sp>
      <p:sp>
        <p:nvSpPr>
          <p:cNvPr id="10" name="TextBox 9"/>
          <p:cNvSpPr txBox="1"/>
          <p:nvPr/>
        </p:nvSpPr>
        <p:spPr>
          <a:xfrm>
            <a:off x="8915400" y="1874520"/>
            <a:ext cx="2743200" cy="274320"/>
          </a:xfrm>
          <a:prstGeom prst="rect">
            <a:avLst/>
          </a:prstGeom>
          <a:noFill/>
        </p:spPr>
        <p:txBody>
          <a:bodyPr wrap="square" lIns="0" rIns="0" tIns="0" bIns="0" anchor="t">
            <a:spAutoFit/>
          </a:bodyPr>
          <a:lstStyle/>
          <a:p>
            <a:pPr algn="l"/>
            <a:r>
              <a:rPr sz="1200" b="1">
                <a:solidFill>
                  <a:srgbClr val="FFFFFF"/>
                </a:solidFill>
                <a:latin typeface="Calibri"/>
              </a:rPr>
              <a:t>Verdict</a:t>
            </a:r>
          </a:p>
        </p:txBody>
      </p:sp>
      <p:sp>
        <p:nvSpPr>
          <p:cNvPr id="11" name="Rectangle 10"/>
          <p:cNvSpPr/>
          <p:nvPr/>
        </p:nvSpPr>
        <p:spPr>
          <a:xfrm>
            <a:off x="548640" y="2286000"/>
            <a:ext cx="11064240" cy="502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95728"/>
            <a:ext cx="2743200" cy="320040"/>
          </a:xfrm>
          <a:prstGeom prst="rect">
            <a:avLst/>
          </a:prstGeom>
          <a:noFill/>
        </p:spPr>
        <p:txBody>
          <a:bodyPr wrap="square" lIns="0" rIns="0" tIns="0" bIns="0" anchor="t">
            <a:spAutoFit/>
          </a:bodyPr>
          <a:lstStyle/>
          <a:p>
            <a:pPr algn="l"/>
            <a:r>
              <a:rPr sz="1200" b="0">
                <a:solidFill>
                  <a:srgbClr val="36454F"/>
                </a:solidFill>
                <a:latin typeface="Calibri"/>
              </a:rPr>
              <a:t>L03 Logistic Regression</a:t>
            </a:r>
          </a:p>
        </p:txBody>
      </p:sp>
      <p:sp>
        <p:nvSpPr>
          <p:cNvPr id="13" name="TextBox 12"/>
          <p:cNvSpPr txBox="1"/>
          <p:nvPr/>
        </p:nvSpPr>
        <p:spPr>
          <a:xfrm>
            <a:off x="3886200" y="2395728"/>
            <a:ext cx="2743200" cy="320040"/>
          </a:xfrm>
          <a:prstGeom prst="rect">
            <a:avLst/>
          </a:prstGeom>
          <a:noFill/>
        </p:spPr>
        <p:txBody>
          <a:bodyPr wrap="square" lIns="0" rIns="0" tIns="0" bIns="0" anchor="t">
            <a:spAutoFit/>
          </a:bodyPr>
          <a:lstStyle/>
          <a:p>
            <a:pPr algn="l"/>
            <a:r>
              <a:rPr sz="1200" b="0">
                <a:solidFill>
                  <a:srgbClr val="36454F"/>
                </a:solidFill>
                <a:latin typeface="Calibri"/>
              </a:rPr>
              <a:t>0.325</a:t>
            </a:r>
          </a:p>
        </p:txBody>
      </p:sp>
      <p:sp>
        <p:nvSpPr>
          <p:cNvPr id="14" name="TextBox 13"/>
          <p:cNvSpPr txBox="1"/>
          <p:nvPr/>
        </p:nvSpPr>
        <p:spPr>
          <a:xfrm>
            <a:off x="5166360" y="2395728"/>
            <a:ext cx="2743200" cy="320040"/>
          </a:xfrm>
          <a:prstGeom prst="rect">
            <a:avLst/>
          </a:prstGeom>
          <a:noFill/>
        </p:spPr>
        <p:txBody>
          <a:bodyPr wrap="square" lIns="0" rIns="0" tIns="0" bIns="0" anchor="t">
            <a:spAutoFit/>
          </a:bodyPr>
          <a:lstStyle/>
          <a:p>
            <a:pPr algn="l"/>
            <a:r>
              <a:rPr sz="1200" b="0">
                <a:solidFill>
                  <a:srgbClr val="36454F"/>
                </a:solidFill>
                <a:latin typeface="Calibri"/>
              </a:rPr>
              <a:t>~17</a:t>
            </a:r>
          </a:p>
        </p:txBody>
      </p:sp>
      <p:sp>
        <p:nvSpPr>
          <p:cNvPr id="15" name="TextBox 14"/>
          <p:cNvSpPr txBox="1"/>
          <p:nvPr/>
        </p:nvSpPr>
        <p:spPr>
          <a:xfrm>
            <a:off x="6629400" y="2395728"/>
            <a:ext cx="2743200" cy="320040"/>
          </a:xfrm>
          <a:prstGeom prst="rect">
            <a:avLst/>
          </a:prstGeom>
          <a:noFill/>
        </p:spPr>
        <p:txBody>
          <a:bodyPr wrap="square" lIns="0" rIns="0" tIns="0" bIns="0" anchor="t">
            <a:spAutoFit/>
          </a:bodyPr>
          <a:lstStyle/>
          <a:p>
            <a:pPr algn="l"/>
            <a:r>
              <a:rPr sz="1200" b="0">
                <a:solidFill>
                  <a:srgbClr val="36454F"/>
                </a:solidFill>
                <a:latin typeface="Calibri"/>
              </a:rPr>
              <a:t>Most interpretable</a:t>
            </a:r>
          </a:p>
        </p:txBody>
      </p:sp>
      <p:sp>
        <p:nvSpPr>
          <p:cNvPr id="16" name="TextBox 15"/>
          <p:cNvSpPr txBox="1"/>
          <p:nvPr/>
        </p:nvSpPr>
        <p:spPr>
          <a:xfrm>
            <a:off x="8915400" y="2395728"/>
            <a:ext cx="2743200" cy="320040"/>
          </a:xfrm>
          <a:prstGeom prst="rect">
            <a:avLst/>
          </a:prstGeom>
          <a:noFill/>
        </p:spPr>
        <p:txBody>
          <a:bodyPr wrap="square" lIns="0" rIns="0" tIns="0" bIns="0" anchor="t">
            <a:spAutoFit/>
          </a:bodyPr>
          <a:lstStyle/>
          <a:p>
            <a:pPr algn="l"/>
            <a:r>
              <a:rPr sz="1200" b="0">
                <a:solidFill>
                  <a:srgbClr val="36454F"/>
                </a:solidFill>
                <a:latin typeface="Calibri"/>
              </a:rPr>
              <a:t>The L03 baseline</a:t>
            </a:r>
          </a:p>
        </p:txBody>
      </p:sp>
      <p:sp>
        <p:nvSpPr>
          <p:cNvPr id="17" name="Rectangle 16"/>
          <p:cNvSpPr/>
          <p:nvPr/>
        </p:nvSpPr>
        <p:spPr>
          <a:xfrm>
            <a:off x="548640" y="2834640"/>
            <a:ext cx="110642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944368"/>
            <a:ext cx="2743200" cy="320040"/>
          </a:xfrm>
          <a:prstGeom prst="rect">
            <a:avLst/>
          </a:prstGeom>
          <a:noFill/>
        </p:spPr>
        <p:txBody>
          <a:bodyPr wrap="square" lIns="0" rIns="0" tIns="0" bIns="0" anchor="t">
            <a:spAutoFit/>
          </a:bodyPr>
          <a:lstStyle/>
          <a:p>
            <a:pPr algn="l"/>
            <a:r>
              <a:rPr sz="1200" b="0">
                <a:solidFill>
                  <a:srgbClr val="36454F"/>
                </a:solidFill>
                <a:latin typeface="Calibri"/>
              </a:rPr>
              <a:t>Random Forest (tuned)</a:t>
            </a:r>
          </a:p>
        </p:txBody>
      </p:sp>
      <p:sp>
        <p:nvSpPr>
          <p:cNvPr id="19" name="TextBox 18"/>
          <p:cNvSpPr txBox="1"/>
          <p:nvPr/>
        </p:nvSpPr>
        <p:spPr>
          <a:xfrm>
            <a:off x="3886200" y="2944368"/>
            <a:ext cx="2743200" cy="320040"/>
          </a:xfrm>
          <a:prstGeom prst="rect">
            <a:avLst/>
          </a:prstGeom>
          <a:noFill/>
        </p:spPr>
        <p:txBody>
          <a:bodyPr wrap="square" lIns="0" rIns="0" tIns="0" bIns="0" anchor="t">
            <a:spAutoFit/>
          </a:bodyPr>
          <a:lstStyle/>
          <a:p>
            <a:pPr algn="l"/>
            <a:r>
              <a:rPr sz="1200" b="0">
                <a:solidFill>
                  <a:srgbClr val="36454F"/>
                </a:solidFill>
                <a:latin typeface="Calibri"/>
              </a:rPr>
              <a:t>0.321</a:t>
            </a:r>
          </a:p>
        </p:txBody>
      </p:sp>
      <p:sp>
        <p:nvSpPr>
          <p:cNvPr id="20" name="TextBox 19"/>
          <p:cNvSpPr txBox="1"/>
          <p:nvPr/>
        </p:nvSpPr>
        <p:spPr>
          <a:xfrm>
            <a:off x="5166360" y="2944368"/>
            <a:ext cx="2743200" cy="320040"/>
          </a:xfrm>
          <a:prstGeom prst="rect">
            <a:avLst/>
          </a:prstGeom>
          <a:noFill/>
        </p:spPr>
        <p:txBody>
          <a:bodyPr wrap="square" lIns="0" rIns="0" tIns="0" bIns="0" anchor="t">
            <a:spAutoFit/>
          </a:bodyPr>
          <a:lstStyle/>
          <a:p>
            <a:pPr algn="l"/>
            <a:r>
              <a:rPr sz="1200" b="0">
                <a:solidFill>
                  <a:srgbClr val="36454F"/>
                </a:solidFill>
                <a:latin typeface="Calibri"/>
              </a:rPr>
              <a:t>~30</a:t>
            </a:r>
          </a:p>
        </p:txBody>
      </p:sp>
      <p:sp>
        <p:nvSpPr>
          <p:cNvPr id="21" name="TextBox 20"/>
          <p:cNvSpPr txBox="1"/>
          <p:nvPr/>
        </p:nvSpPr>
        <p:spPr>
          <a:xfrm>
            <a:off x="6629400" y="2944368"/>
            <a:ext cx="2743200" cy="320040"/>
          </a:xfrm>
          <a:prstGeom prst="rect">
            <a:avLst/>
          </a:prstGeom>
          <a:noFill/>
        </p:spPr>
        <p:txBody>
          <a:bodyPr wrap="square" lIns="0" rIns="0" tIns="0" bIns="0" anchor="t">
            <a:spAutoFit/>
          </a:bodyPr>
          <a:lstStyle/>
          <a:p>
            <a:pPr algn="l"/>
            <a:r>
              <a:rPr sz="1200" b="0">
                <a:solidFill>
                  <a:srgbClr val="36454F"/>
                </a:solidFill>
                <a:latin typeface="Calibri"/>
              </a:rPr>
              <a:t>Easy to support</a:t>
            </a:r>
          </a:p>
        </p:txBody>
      </p:sp>
      <p:sp>
        <p:nvSpPr>
          <p:cNvPr id="22" name="TextBox 21"/>
          <p:cNvSpPr txBox="1"/>
          <p:nvPr/>
        </p:nvSpPr>
        <p:spPr>
          <a:xfrm>
            <a:off x="8915400" y="2944368"/>
            <a:ext cx="2743200" cy="320040"/>
          </a:xfrm>
          <a:prstGeom prst="rect">
            <a:avLst/>
          </a:prstGeom>
          <a:noFill/>
        </p:spPr>
        <p:txBody>
          <a:bodyPr wrap="square" lIns="0" rIns="0" tIns="0" bIns="0" anchor="t">
            <a:spAutoFit/>
          </a:bodyPr>
          <a:lstStyle/>
          <a:p>
            <a:pPr algn="l"/>
            <a:r>
              <a:rPr sz="1200" b="0">
                <a:solidFill>
                  <a:srgbClr val="36454F"/>
                </a:solidFill>
                <a:latin typeface="Calibri"/>
              </a:rPr>
              <a:t>Less tuning sensitivity</a:t>
            </a:r>
          </a:p>
        </p:txBody>
      </p:sp>
      <p:sp>
        <p:nvSpPr>
          <p:cNvPr id="23" name="Rectangle 22"/>
          <p:cNvSpPr/>
          <p:nvPr/>
        </p:nvSpPr>
        <p:spPr>
          <a:xfrm>
            <a:off x="548640" y="3383280"/>
            <a:ext cx="11064240" cy="5029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493008"/>
            <a:ext cx="2743200" cy="320040"/>
          </a:xfrm>
          <a:prstGeom prst="rect">
            <a:avLst/>
          </a:prstGeom>
          <a:noFill/>
        </p:spPr>
        <p:txBody>
          <a:bodyPr wrap="square" lIns="0" rIns="0" tIns="0" bIns="0" anchor="t">
            <a:spAutoFit/>
          </a:bodyPr>
          <a:lstStyle/>
          <a:p>
            <a:pPr algn="l"/>
            <a:r>
              <a:rPr sz="1200" b="0">
                <a:solidFill>
                  <a:srgbClr val="36454F"/>
                </a:solidFill>
                <a:latin typeface="Calibri"/>
              </a:rPr>
              <a:t>Gradient Boosting (tuned)</a:t>
            </a:r>
          </a:p>
        </p:txBody>
      </p:sp>
      <p:sp>
        <p:nvSpPr>
          <p:cNvPr id="25" name="TextBox 24"/>
          <p:cNvSpPr txBox="1"/>
          <p:nvPr/>
        </p:nvSpPr>
        <p:spPr>
          <a:xfrm>
            <a:off x="3886200" y="3493008"/>
            <a:ext cx="2743200" cy="320040"/>
          </a:xfrm>
          <a:prstGeom prst="rect">
            <a:avLst/>
          </a:prstGeom>
          <a:noFill/>
        </p:spPr>
        <p:txBody>
          <a:bodyPr wrap="square" lIns="0" rIns="0" tIns="0" bIns="0" anchor="t">
            <a:spAutoFit/>
          </a:bodyPr>
          <a:lstStyle/>
          <a:p>
            <a:pPr algn="l"/>
            <a:r>
              <a:rPr sz="1200" b="0">
                <a:solidFill>
                  <a:srgbClr val="36454F"/>
                </a:solidFill>
                <a:latin typeface="Calibri"/>
              </a:rPr>
              <a:t>0.335</a:t>
            </a:r>
          </a:p>
        </p:txBody>
      </p:sp>
      <p:sp>
        <p:nvSpPr>
          <p:cNvPr id="26" name="TextBox 25"/>
          <p:cNvSpPr txBox="1"/>
          <p:nvPr/>
        </p:nvSpPr>
        <p:spPr>
          <a:xfrm>
            <a:off x="5166360" y="3493008"/>
            <a:ext cx="2743200" cy="320040"/>
          </a:xfrm>
          <a:prstGeom prst="rect">
            <a:avLst/>
          </a:prstGeom>
          <a:noFill/>
        </p:spPr>
        <p:txBody>
          <a:bodyPr wrap="square" lIns="0" rIns="0" tIns="0" bIns="0" anchor="t">
            <a:spAutoFit/>
          </a:bodyPr>
          <a:lstStyle/>
          <a:p>
            <a:pPr algn="l"/>
            <a:r>
              <a:rPr sz="1200" b="0">
                <a:solidFill>
                  <a:srgbClr val="36454F"/>
                </a:solidFill>
                <a:latin typeface="Calibri"/>
              </a:rPr>
              <a:t>~45</a:t>
            </a:r>
          </a:p>
        </p:txBody>
      </p:sp>
      <p:sp>
        <p:nvSpPr>
          <p:cNvPr id="27" name="TextBox 26"/>
          <p:cNvSpPr txBox="1"/>
          <p:nvPr/>
        </p:nvSpPr>
        <p:spPr>
          <a:xfrm>
            <a:off x="6629400" y="3493008"/>
            <a:ext cx="2743200" cy="320040"/>
          </a:xfrm>
          <a:prstGeom prst="rect">
            <a:avLst/>
          </a:prstGeom>
          <a:noFill/>
        </p:spPr>
        <p:txBody>
          <a:bodyPr wrap="square" lIns="0" rIns="0" tIns="0" bIns="0" anchor="t">
            <a:spAutoFit/>
          </a:bodyPr>
          <a:lstStyle/>
          <a:p>
            <a:pPr algn="l"/>
            <a:r>
              <a:rPr sz="1200" b="0">
                <a:solidFill>
                  <a:srgbClr val="36454F"/>
                </a:solidFill>
                <a:latin typeface="Calibri"/>
              </a:rPr>
              <a:t>Best F1</a:t>
            </a:r>
          </a:p>
        </p:txBody>
      </p:sp>
      <p:sp>
        <p:nvSpPr>
          <p:cNvPr id="28" name="TextBox 27"/>
          <p:cNvSpPr txBox="1"/>
          <p:nvPr/>
        </p:nvSpPr>
        <p:spPr>
          <a:xfrm>
            <a:off x="8915400" y="3493008"/>
            <a:ext cx="2743200" cy="320040"/>
          </a:xfrm>
          <a:prstGeom prst="rect">
            <a:avLst/>
          </a:prstGeom>
          <a:noFill/>
        </p:spPr>
        <p:txBody>
          <a:bodyPr wrap="square" lIns="0" rIns="0" tIns="0" bIns="0" anchor="t">
            <a:spAutoFit/>
          </a:bodyPr>
          <a:lstStyle/>
          <a:p>
            <a:pPr algn="l"/>
            <a:r>
              <a:rPr sz="1200" b="1">
                <a:solidFill>
                  <a:srgbClr val="065A82"/>
                </a:solidFill>
                <a:latin typeface="Calibri"/>
              </a:rPr>
              <a:t>★ Sarah's recommendation</a:t>
            </a:r>
          </a:p>
        </p:txBody>
      </p:sp>
      <p:sp>
        <p:nvSpPr>
          <p:cNvPr id="29" name="Rectangle 28"/>
          <p:cNvSpPr/>
          <p:nvPr/>
        </p:nvSpPr>
        <p:spPr>
          <a:xfrm>
            <a:off x="548640" y="4114800"/>
            <a:ext cx="11064240" cy="21945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251960"/>
            <a:ext cx="10515600" cy="365760"/>
          </a:xfrm>
          <a:prstGeom prst="rect">
            <a:avLst/>
          </a:prstGeom>
          <a:noFill/>
        </p:spPr>
        <p:txBody>
          <a:bodyPr wrap="square" lIns="0" rIns="0" tIns="0" bIns="0" anchor="t">
            <a:spAutoFit/>
          </a:bodyPr>
          <a:lstStyle/>
          <a:p>
            <a:pPr algn="l"/>
            <a:r>
              <a:rPr sz="1400" b="0">
                <a:solidFill>
                  <a:srgbClr val="E8F1F5"/>
                </a:solidFill>
                <a:latin typeface="Calibri"/>
              </a:rPr>
              <a:t>Sarah's pitch to Marcus:</a:t>
            </a:r>
          </a:p>
        </p:txBody>
      </p:sp>
      <p:sp>
        <p:nvSpPr>
          <p:cNvPr id="31" name="TextBox 30"/>
          <p:cNvSpPr txBox="1"/>
          <p:nvPr/>
        </p:nvSpPr>
        <p:spPr>
          <a:xfrm>
            <a:off x="822960" y="4663440"/>
            <a:ext cx="10515600" cy="1554480"/>
          </a:xfrm>
          <a:prstGeom prst="rect">
            <a:avLst/>
          </a:prstGeom>
          <a:noFill/>
        </p:spPr>
        <p:txBody>
          <a:bodyPr wrap="square" lIns="0" rIns="0" tIns="0" bIns="0" anchor="t">
            <a:spAutoFit/>
          </a:bodyPr>
          <a:lstStyle/>
          <a:p>
            <a:pPr algn="l"/>
            <a:r>
              <a:rPr sz="1400" b="0">
                <a:solidFill>
                  <a:srgbClr val="FFFFFF"/>
                </a:solidFill>
                <a:latin typeface="Trebuchet MS"/>
              </a:rPr>
              <a:t>"Gradient Boosting tuned is the highest-F1 model — about a 0.04 lift over the L03 baseline at the same threshold.</a:t>
            </a:r>
          </a:p>
          <a:p>
            <a:pPr algn="l"/>
            <a:r>
              <a:rPr sz="1400" b="0">
                <a:solidFill>
                  <a:srgbClr val="FFFFFF"/>
                </a:solidFill>
                <a:latin typeface="Trebuchet MS"/>
              </a:rPr>
              <a:t>Random Forest is 80% of the way there with less tuning sensitivity.</a:t>
            </a:r>
          </a:p>
          <a:p>
            <a:pPr algn="l"/>
            <a:r>
              <a:rPr sz="1400" b="0">
                <a:solidFill>
                  <a:srgbClr val="FFFFFF"/>
                </a:solidFill>
                <a:latin typeface="Trebuchet MS"/>
              </a:rPr>
              <a:t/>
            </a:r>
          </a:p>
          <a:p>
            <a:pPr algn="l"/>
            <a:r>
              <a:rPr sz="1400" b="0">
                <a:solidFill>
                  <a:srgbClr val="FFFFFF"/>
                </a:solidFill>
                <a:latin typeface="Trebuchet MS"/>
              </a:rPr>
              <a:t>I recommend Gradient Boosting for production. Random Forest is a defensible second choice if engineering wants less hyperparameter maintenance."</a:t>
            </a:r>
          </a:p>
        </p:txBody>
      </p:sp>
      <p:sp>
        <p:nvSpPr>
          <p:cNvPr id="32" name="TextBox 31"/>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18/28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457200"/>
          </a:xfrm>
          <a:prstGeom prst="rect">
            <a:avLst/>
          </a:prstGeom>
          <a:noFill/>
        </p:spPr>
        <p:txBody>
          <a:bodyPr wrap="square" lIns="0" rIns="0" tIns="0" bIns="0" anchor="t">
            <a:spAutoFit/>
          </a:bodyPr>
          <a:lstStyle/>
          <a:p>
            <a:pPr algn="l"/>
            <a:r>
              <a:rPr sz="1800" b="1">
                <a:solidFill>
                  <a:srgbClr val="E8F1F5"/>
                </a:solidFill>
                <a:latin typeface="Calibri"/>
              </a:rPr>
              <a:t>Bridge to Lesson 5</a:t>
            </a:r>
          </a:p>
        </p:txBody>
      </p:sp>
      <p:sp>
        <p:nvSpPr>
          <p:cNvPr id="4" name="Rectangle 3"/>
          <p:cNvSpPr/>
          <p:nvPr/>
        </p:nvSpPr>
        <p:spPr>
          <a:xfrm>
            <a:off x="914400" y="1645920"/>
            <a:ext cx="10332720" cy="23774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28800"/>
            <a:ext cx="9784080" cy="365760"/>
          </a:xfrm>
          <a:prstGeom prst="rect">
            <a:avLst/>
          </a:prstGeom>
          <a:noFill/>
        </p:spPr>
        <p:txBody>
          <a:bodyPr wrap="square" lIns="0" rIns="0" tIns="0" bIns="0" anchor="t">
            <a:spAutoFit/>
          </a:bodyPr>
          <a:lstStyle/>
          <a:p>
            <a:pPr algn="l"/>
            <a:r>
              <a:rPr sz="1400" b="0">
                <a:solidFill>
                  <a:srgbClr val="E8F1F5"/>
                </a:solidFill>
                <a:latin typeface="Calibri"/>
              </a:rPr>
              <a:t>Marcus, after Friday's presentation:</a:t>
            </a:r>
          </a:p>
        </p:txBody>
      </p:sp>
      <p:sp>
        <p:nvSpPr>
          <p:cNvPr id="6" name="TextBox 5"/>
          <p:cNvSpPr txBox="1"/>
          <p:nvPr/>
        </p:nvSpPr>
        <p:spPr>
          <a:xfrm>
            <a:off x="1188720" y="2286000"/>
            <a:ext cx="9784080" cy="1554480"/>
          </a:xfrm>
          <a:prstGeom prst="rect">
            <a:avLst/>
          </a:prstGeom>
          <a:noFill/>
        </p:spPr>
        <p:txBody>
          <a:bodyPr wrap="square" lIns="0" rIns="0" tIns="0" bIns="0" anchor="t">
            <a:spAutoFit/>
          </a:bodyPr>
          <a:lstStyle/>
          <a:p>
            <a:pPr algn="l"/>
            <a:r>
              <a:rPr sz="1500" b="0">
                <a:solidFill>
                  <a:srgbClr val="FFFFFF"/>
                </a:solidFill>
                <a:latin typeface="Trebuchet MS"/>
              </a:rPr>
              <a:t>"Ship the gradient boosting model. Now — what about the customers who DON'T churn but also don't log in for a year?</a:t>
            </a:r>
          </a:p>
          <a:p>
            <a:pPr algn="l"/>
            <a:r>
              <a:rPr sz="1500" b="0">
                <a:solidFill>
                  <a:srgbClr val="FFFFFF"/>
                </a:solidFill>
                <a:latin typeface="Trebuchet MS"/>
              </a:rPr>
              <a:t/>
            </a:r>
          </a:p>
          <a:p>
            <a:pPr algn="l"/>
            <a:r>
              <a:rPr sz="1500" b="0">
                <a:solidFill>
                  <a:srgbClr val="FFFFFF"/>
                </a:solidFill>
                <a:latin typeface="Trebuchet MS"/>
              </a:rPr>
              <a:t>Can we find natural CLUSTERS of customer behaviour? Without labels?"</a:t>
            </a:r>
          </a:p>
        </p:txBody>
      </p:sp>
      <p:sp>
        <p:nvSpPr>
          <p:cNvPr id="7" name="TextBox 6"/>
          <p:cNvSpPr txBox="1"/>
          <p:nvPr/>
        </p:nvSpPr>
        <p:spPr>
          <a:xfrm>
            <a:off x="914400" y="4389120"/>
            <a:ext cx="10332720" cy="457200"/>
          </a:xfrm>
          <a:prstGeom prst="rect">
            <a:avLst/>
          </a:prstGeom>
          <a:noFill/>
        </p:spPr>
        <p:txBody>
          <a:bodyPr wrap="square" lIns="0" rIns="0" tIns="0" bIns="0" anchor="t">
            <a:spAutoFit/>
          </a:bodyPr>
          <a:lstStyle/>
          <a:p>
            <a:pPr algn="l"/>
            <a:r>
              <a:rPr sz="2000" b="1">
                <a:solidFill>
                  <a:srgbClr val="E8F1F5"/>
                </a:solidFill>
                <a:latin typeface="Calibri"/>
              </a:rPr>
              <a:t>Lesson 5 — Unsupervised Learning</a:t>
            </a:r>
          </a:p>
        </p:txBody>
      </p:sp>
      <p:sp>
        <p:nvSpPr>
          <p:cNvPr id="8" name="TextBox 7"/>
          <p:cNvSpPr txBox="1"/>
          <p:nvPr/>
        </p:nvSpPr>
        <p:spPr>
          <a:xfrm>
            <a:off x="914400" y="4892040"/>
            <a:ext cx="10332720" cy="457200"/>
          </a:xfrm>
          <a:prstGeom prst="rect">
            <a:avLst/>
          </a:prstGeom>
          <a:noFill/>
        </p:spPr>
        <p:txBody>
          <a:bodyPr wrap="square" lIns="0" rIns="0" tIns="0" bIns="0" anchor="t">
            <a:spAutoFit/>
          </a:bodyPr>
          <a:lstStyle/>
          <a:p>
            <a:pPr algn="l"/>
            <a:r>
              <a:rPr sz="1500" b="0">
                <a:solidFill>
                  <a:srgbClr val="E8F1F5"/>
                </a:solidFill>
                <a:latin typeface="Calibri"/>
              </a:rPr>
              <a:t>k-means · hierarchical clustering · DBSCAN · anomaly detection · dimensionality reduction (PCA)</a:t>
            </a:r>
          </a:p>
        </p:txBody>
      </p:sp>
      <p:sp>
        <p:nvSpPr>
          <p:cNvPr id="9" name="TextBox 8"/>
          <p:cNvSpPr txBox="1"/>
          <p:nvPr/>
        </p:nvSpPr>
        <p:spPr>
          <a:xfrm>
            <a:off x="914400" y="5440680"/>
            <a:ext cx="10332720" cy="457200"/>
          </a:xfrm>
          <a:prstGeom prst="rect">
            <a:avLst/>
          </a:prstGeom>
          <a:noFill/>
        </p:spPr>
        <p:txBody>
          <a:bodyPr wrap="square" lIns="0" rIns="0" tIns="0" bIns="0" anchor="t">
            <a:spAutoFit/>
          </a:bodyPr>
          <a:lstStyle/>
          <a:p>
            <a:pPr algn="l"/>
            <a:r>
              <a:rPr sz="1400" b="0">
                <a:solidFill>
                  <a:srgbClr val="F9E795"/>
                </a:solidFill>
                <a:latin typeface="Calibri"/>
              </a:rPr>
              <a:t>No target column. Just data and structure.</a:t>
            </a:r>
          </a:p>
        </p:txBody>
      </p:sp>
      <p:sp>
        <p:nvSpPr>
          <p:cNvPr id="10" name="TextBox 9"/>
          <p:cNvSpPr txBox="1"/>
          <p:nvPr/>
        </p:nvSpPr>
        <p:spPr>
          <a:xfrm>
            <a:off x="914400" y="6035040"/>
            <a:ext cx="10332720" cy="365760"/>
          </a:xfrm>
          <a:prstGeom prst="rect">
            <a:avLst/>
          </a:prstGeom>
          <a:noFill/>
        </p:spPr>
        <p:txBody>
          <a:bodyPr wrap="square" lIns="0" rIns="0" tIns="0" bIns="0" anchor="t">
            <a:spAutoFit/>
          </a:bodyPr>
          <a:lstStyle/>
          <a:p>
            <a:pPr algn="l"/>
            <a:r>
              <a:rPr sz="1300" b="0">
                <a:solidFill>
                  <a:srgbClr val="E8F1F5"/>
                </a:solidFill>
                <a:latin typeface="Calibri"/>
              </a:rPr>
              <a:t>Before L05 — finish the Kaggle competition in notebooks/assignment.ipynb.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Assignment Preview — Kaggle Competition</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Same toolkit · new scoring set · public leaderboard rules</a:t>
            </a:r>
          </a:p>
        </p:txBody>
      </p:sp>
      <p:sp>
        <p:nvSpPr>
          <p:cNvPr id="5" name="Rectangle 4"/>
          <p:cNvSpPr/>
          <p:nvPr/>
        </p:nvSpPr>
        <p:spPr>
          <a:xfrm>
            <a:off x="548640" y="178308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0" cy="457200"/>
          </a:xfrm>
          <a:prstGeom prst="rect">
            <a:avLst/>
          </a:prstGeom>
          <a:noFill/>
        </p:spPr>
        <p:txBody>
          <a:bodyPr wrap="square" lIns="0" rIns="0" tIns="0" bIns="0" anchor="t">
            <a:spAutoFit/>
          </a:bodyPr>
          <a:lstStyle/>
          <a:p>
            <a:pPr algn="l"/>
            <a:r>
              <a:rPr sz="1800" b="1">
                <a:solidFill>
                  <a:srgbClr val="065A82"/>
                </a:solidFill>
                <a:latin typeface="Calibri"/>
              </a:rPr>
              <a:t>Part A — Kaggle Competition</a:t>
            </a:r>
          </a:p>
        </p:txBody>
      </p:sp>
      <p:sp>
        <p:nvSpPr>
          <p:cNvPr id="7" name="TextBox 6"/>
          <p:cNvSpPr txBox="1"/>
          <p:nvPr/>
        </p:nvSpPr>
        <p:spPr>
          <a:xfrm>
            <a:off x="777240" y="2423160"/>
            <a:ext cx="5029200" cy="457200"/>
          </a:xfrm>
          <a:prstGeom prst="rect">
            <a:avLst/>
          </a:prstGeom>
          <a:noFill/>
        </p:spPr>
        <p:txBody>
          <a:bodyPr wrap="square" lIns="0" rIns="0" tIns="0" bIns="0" anchor="t">
            <a:spAutoFit/>
          </a:bodyPr>
          <a:lstStyle/>
          <a:p>
            <a:pPr algn="l"/>
            <a:r>
              <a:rPr sz="1300" b="1">
                <a:solidFill>
                  <a:srgbClr val="36454F"/>
                </a:solidFill>
                <a:latin typeface="Calibri"/>
              </a:rPr>
              <a:t>Three tiers, F1 at threshold 0.5:</a:t>
            </a:r>
          </a:p>
        </p:txBody>
      </p:sp>
      <p:sp>
        <p:nvSpPr>
          <p:cNvPr id="8" name="TextBox 7"/>
          <p:cNvSpPr txBox="1"/>
          <p:nvPr/>
        </p:nvSpPr>
        <p:spPr>
          <a:xfrm>
            <a:off x="914400" y="3017520"/>
            <a:ext cx="4937760" cy="457200"/>
          </a:xfrm>
          <a:prstGeom prst="rect">
            <a:avLst/>
          </a:prstGeom>
          <a:noFill/>
        </p:spPr>
        <p:txBody>
          <a:bodyPr wrap="square" lIns="0" rIns="0" tIns="0" bIns="0" anchor="t">
            <a:spAutoFit/>
          </a:bodyPr>
          <a:lstStyle/>
          <a:p>
            <a:pPr algn="l"/>
            <a:r>
              <a:rPr sz="1200" b="0">
                <a:solidFill>
                  <a:srgbClr val="36454F"/>
                </a:solidFill>
                <a:latin typeface="Calibri"/>
              </a:rPr>
              <a:t>🟢 Tier 1: Beat F1 ≈ 0.20 — any model + class_weight='balanced'</a:t>
            </a:r>
          </a:p>
        </p:txBody>
      </p:sp>
      <p:sp>
        <p:nvSpPr>
          <p:cNvPr id="9" name="TextBox 8"/>
          <p:cNvSpPr txBox="1"/>
          <p:nvPr/>
        </p:nvSpPr>
        <p:spPr>
          <a:xfrm>
            <a:off x="914400" y="3520439"/>
            <a:ext cx="4937760" cy="457200"/>
          </a:xfrm>
          <a:prstGeom prst="rect">
            <a:avLst/>
          </a:prstGeom>
          <a:noFill/>
        </p:spPr>
        <p:txBody>
          <a:bodyPr wrap="square" lIns="0" rIns="0" tIns="0" bIns="0" anchor="t">
            <a:spAutoFit/>
          </a:bodyPr>
          <a:lstStyle/>
          <a:p>
            <a:pPr algn="l"/>
            <a:r>
              <a:rPr sz="1200" b="0">
                <a:solidFill>
                  <a:srgbClr val="36454F"/>
                </a:solidFill>
                <a:latin typeface="Calibri"/>
              </a:rPr>
              <a:t>🟡 Tier 2: Beat F1 ≈ 0.30 — tuned RF or default GB</a:t>
            </a:r>
          </a:p>
        </p:txBody>
      </p:sp>
      <p:sp>
        <p:nvSpPr>
          <p:cNvPr id="10" name="TextBox 9"/>
          <p:cNvSpPr txBox="1"/>
          <p:nvPr/>
        </p:nvSpPr>
        <p:spPr>
          <a:xfrm>
            <a:off x="914400" y="4023360"/>
            <a:ext cx="4937760" cy="457200"/>
          </a:xfrm>
          <a:prstGeom prst="rect">
            <a:avLst/>
          </a:prstGeom>
          <a:noFill/>
        </p:spPr>
        <p:txBody>
          <a:bodyPr wrap="square" lIns="0" rIns="0" tIns="0" bIns="0" anchor="t">
            <a:spAutoFit/>
          </a:bodyPr>
          <a:lstStyle/>
          <a:p>
            <a:pPr algn="l"/>
            <a:r>
              <a:rPr sz="1200" b="0">
                <a:solidFill>
                  <a:srgbClr val="36454F"/>
                </a:solidFill>
                <a:latin typeface="Calibri"/>
              </a:rPr>
              <a:t>🟠 Tier 3: F1 &gt; 0.35 — open optimisation with GridSearch</a:t>
            </a:r>
          </a:p>
        </p:txBody>
      </p:sp>
      <p:sp>
        <p:nvSpPr>
          <p:cNvPr id="11" name="TextBox 10"/>
          <p:cNvSpPr txBox="1"/>
          <p:nvPr/>
        </p:nvSpPr>
        <p:spPr>
          <a:xfrm>
            <a:off x="777240" y="4937760"/>
            <a:ext cx="5029200" cy="365760"/>
          </a:xfrm>
          <a:prstGeom prst="rect">
            <a:avLst/>
          </a:prstGeom>
          <a:noFill/>
        </p:spPr>
        <p:txBody>
          <a:bodyPr wrap="square" lIns="0" rIns="0" tIns="0" bIns="0" anchor="t">
            <a:spAutoFit/>
          </a:bodyPr>
          <a:lstStyle/>
          <a:p>
            <a:pPr algn="l"/>
            <a:r>
              <a:rPr sz="1200" b="0">
                <a:solidFill>
                  <a:srgbClr val="1C7293"/>
                </a:solidFill>
                <a:latin typeface="Calibri"/>
              </a:rPr>
              <a:t>Reproducible — same dataset as the in-class notebooks</a:t>
            </a:r>
          </a:p>
        </p:txBody>
      </p:sp>
      <p:sp>
        <p:nvSpPr>
          <p:cNvPr id="12" name="Rectangle 11"/>
          <p:cNvSpPr/>
          <p:nvPr/>
        </p:nvSpPr>
        <p:spPr>
          <a:xfrm>
            <a:off x="6263640" y="1783080"/>
            <a:ext cx="530352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920240"/>
            <a:ext cx="4937760" cy="457200"/>
          </a:xfrm>
          <a:prstGeom prst="rect">
            <a:avLst/>
          </a:prstGeom>
          <a:noFill/>
        </p:spPr>
        <p:txBody>
          <a:bodyPr wrap="square" lIns="0" rIns="0" tIns="0" bIns="0" anchor="t">
            <a:spAutoFit/>
          </a:bodyPr>
          <a:lstStyle/>
          <a:p>
            <a:pPr algn="l"/>
            <a:r>
              <a:rPr sz="1800" b="1">
                <a:solidFill>
                  <a:srgbClr val="FFFFFF"/>
                </a:solidFill>
                <a:latin typeface="Calibri"/>
              </a:rPr>
              <a:t>Part B — Banking Fraud</a:t>
            </a:r>
          </a:p>
        </p:txBody>
      </p:sp>
      <p:sp>
        <p:nvSpPr>
          <p:cNvPr id="14" name="TextBox 13"/>
          <p:cNvSpPr txBox="1"/>
          <p:nvPr/>
        </p:nvSpPr>
        <p:spPr>
          <a:xfrm>
            <a:off x="6537960" y="2423160"/>
            <a:ext cx="4937760" cy="457200"/>
          </a:xfrm>
          <a:prstGeom prst="rect">
            <a:avLst/>
          </a:prstGeom>
          <a:noFill/>
        </p:spPr>
        <p:txBody>
          <a:bodyPr wrap="square" lIns="0" rIns="0" tIns="0" bIns="0" anchor="t">
            <a:spAutoFit/>
          </a:bodyPr>
          <a:lstStyle/>
          <a:p>
            <a:pPr algn="l"/>
            <a:r>
              <a:rPr sz="1300" b="1">
                <a:solidFill>
                  <a:srgbClr val="E8F1F5"/>
                </a:solidFill>
                <a:latin typeface="Calibri"/>
              </a:rPr>
              <a:t>Three independent exercises:</a:t>
            </a:r>
          </a:p>
        </p:txBody>
      </p:sp>
      <p:sp>
        <p:nvSpPr>
          <p:cNvPr id="15" name="TextBox 14"/>
          <p:cNvSpPr txBox="1"/>
          <p:nvPr/>
        </p:nvSpPr>
        <p:spPr>
          <a:xfrm>
            <a:off x="6675120" y="3017520"/>
            <a:ext cx="4572000" cy="457200"/>
          </a:xfrm>
          <a:prstGeom prst="rect">
            <a:avLst/>
          </a:prstGeom>
          <a:noFill/>
        </p:spPr>
        <p:txBody>
          <a:bodyPr wrap="square" lIns="0" rIns="0" tIns="0" bIns="0" anchor="t">
            <a:spAutoFit/>
          </a:bodyPr>
          <a:lstStyle/>
          <a:p>
            <a:pPr algn="l"/>
            <a:r>
              <a:rPr sz="1200" b="0">
                <a:solidFill>
                  <a:srgbClr val="E8F1F5"/>
                </a:solidFill>
                <a:latin typeface="Calibri"/>
              </a:rPr>
              <a:t>1.  Build baseline LR + Random Forest</a:t>
            </a:r>
          </a:p>
        </p:txBody>
      </p:sp>
      <p:sp>
        <p:nvSpPr>
          <p:cNvPr id="16" name="TextBox 15"/>
          <p:cNvSpPr txBox="1"/>
          <p:nvPr/>
        </p:nvSpPr>
        <p:spPr>
          <a:xfrm>
            <a:off x="6675120" y="3520439"/>
            <a:ext cx="4572000" cy="457200"/>
          </a:xfrm>
          <a:prstGeom prst="rect">
            <a:avLst/>
          </a:prstGeom>
          <a:noFill/>
        </p:spPr>
        <p:txBody>
          <a:bodyPr wrap="square" lIns="0" rIns="0" tIns="0" bIns="0" anchor="t">
            <a:spAutoFit/>
          </a:bodyPr>
          <a:lstStyle/>
          <a:p>
            <a:pPr algn="l"/>
            <a:r>
              <a:rPr sz="1200" b="0">
                <a:solidFill>
                  <a:srgbClr val="E8F1F5"/>
                </a:solidFill>
                <a:latin typeface="Calibri"/>
              </a:rPr>
              <a:t>2.  Tune Gradient Boosting with GridSearchCV</a:t>
            </a:r>
          </a:p>
        </p:txBody>
      </p:sp>
      <p:sp>
        <p:nvSpPr>
          <p:cNvPr id="17" name="TextBox 16"/>
          <p:cNvSpPr txBox="1"/>
          <p:nvPr/>
        </p:nvSpPr>
        <p:spPr>
          <a:xfrm>
            <a:off x="6675120" y="4023360"/>
            <a:ext cx="4572000" cy="457200"/>
          </a:xfrm>
          <a:prstGeom prst="rect">
            <a:avLst/>
          </a:prstGeom>
          <a:noFill/>
        </p:spPr>
        <p:txBody>
          <a:bodyPr wrap="square" lIns="0" rIns="0" tIns="0" bIns="0" anchor="t">
            <a:spAutoFit/>
          </a:bodyPr>
          <a:lstStyle/>
          <a:p>
            <a:pPr algn="l"/>
            <a:r>
              <a:rPr sz="1200" b="0">
                <a:solidFill>
                  <a:srgbClr val="E8F1F5"/>
                </a:solidFill>
                <a:latin typeface="Calibri"/>
              </a:rPr>
              <a:t>3.  Capacity-based threshold (50 reviews/day)</a:t>
            </a:r>
          </a:p>
        </p:txBody>
      </p:sp>
      <p:sp>
        <p:nvSpPr>
          <p:cNvPr id="18" name="TextBox 17"/>
          <p:cNvSpPr txBox="1"/>
          <p:nvPr/>
        </p:nvSpPr>
        <p:spPr>
          <a:xfrm>
            <a:off x="6537960" y="4937760"/>
            <a:ext cx="4937760" cy="365760"/>
          </a:xfrm>
          <a:prstGeom prst="rect">
            <a:avLst/>
          </a:prstGeom>
          <a:noFill/>
        </p:spPr>
        <p:txBody>
          <a:bodyPr wrap="square" lIns="0" rIns="0" tIns="0" bIns="0" anchor="t">
            <a:spAutoFit/>
          </a:bodyPr>
          <a:lstStyle/>
          <a:p>
            <a:pPr algn="l"/>
            <a:r>
              <a:rPr sz="1200" b="0">
                <a:solidFill>
                  <a:srgbClr val="F9E795"/>
                </a:solidFill>
                <a:latin typeface="Calibri"/>
              </a:rPr>
              <a:t>Different domain — same pipeline</a:t>
            </a:r>
          </a:p>
        </p:txBody>
      </p:sp>
      <p:sp>
        <p:nvSpPr>
          <p:cNvPr id="19" name="TextBox 1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20/28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Q&amp;A and What's Next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Common questions · path to L05</a:t>
            </a:r>
          </a:p>
        </p:txBody>
      </p:sp>
      <p:sp>
        <p:nvSpPr>
          <p:cNvPr id="5" name="Rectangle 4"/>
          <p:cNvSpPr/>
          <p:nvPr/>
        </p:nvSpPr>
        <p:spPr>
          <a:xfrm>
            <a:off x="548640" y="178308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0" cy="457200"/>
          </a:xfrm>
          <a:prstGeom prst="rect">
            <a:avLst/>
          </a:prstGeom>
          <a:noFill/>
        </p:spPr>
        <p:txBody>
          <a:bodyPr wrap="square" lIns="0" rIns="0" tIns="0" bIns="0" anchor="t">
            <a:spAutoFit/>
          </a:bodyPr>
          <a:lstStyle/>
          <a:p>
            <a:pPr algn="l"/>
            <a:r>
              <a:rPr sz="1800" b="1">
                <a:solidFill>
                  <a:srgbClr val="065A82"/>
                </a:solidFill>
                <a:latin typeface="Calibri"/>
              </a:rPr>
              <a:t>💬  Common questions</a:t>
            </a:r>
          </a:p>
        </p:txBody>
      </p:sp>
      <p:sp>
        <p:nvSpPr>
          <p:cNvPr id="7" name="TextBox 6"/>
          <p:cNvSpPr txBox="1"/>
          <p:nvPr/>
        </p:nvSpPr>
        <p:spPr>
          <a:xfrm>
            <a:off x="914400" y="2606040"/>
            <a:ext cx="4937760" cy="457200"/>
          </a:xfrm>
          <a:prstGeom prst="rect">
            <a:avLst/>
          </a:prstGeom>
          <a:noFill/>
        </p:spPr>
        <p:txBody>
          <a:bodyPr wrap="square" lIns="0" rIns="0" tIns="0" bIns="0" anchor="t">
            <a:spAutoFit/>
          </a:bodyPr>
          <a:lstStyle/>
          <a:p>
            <a:pPr algn="l"/>
            <a:r>
              <a:rPr sz="1300" b="0">
                <a:solidFill>
                  <a:srgbClr val="36454F"/>
                </a:solidFill>
                <a:latin typeface="Calibri"/>
              </a:rPr>
              <a:t>• When should I prefer Random Forest over Gradient Boosting?</a:t>
            </a:r>
          </a:p>
        </p:txBody>
      </p:sp>
      <p:sp>
        <p:nvSpPr>
          <p:cNvPr id="8" name="TextBox 7"/>
          <p:cNvSpPr txBox="1"/>
          <p:nvPr/>
        </p:nvSpPr>
        <p:spPr>
          <a:xfrm>
            <a:off x="914400" y="3063240"/>
            <a:ext cx="4937760" cy="457200"/>
          </a:xfrm>
          <a:prstGeom prst="rect">
            <a:avLst/>
          </a:prstGeom>
          <a:noFill/>
        </p:spPr>
        <p:txBody>
          <a:bodyPr wrap="square" lIns="0" rIns="0" tIns="0" bIns="0" anchor="t">
            <a:spAutoFit/>
          </a:bodyPr>
          <a:lstStyle/>
          <a:p>
            <a:pPr algn="l"/>
            <a:r>
              <a:rPr sz="1300" b="0">
                <a:solidFill>
                  <a:srgbClr val="36454F"/>
                </a:solidFill>
                <a:latin typeface="Calibri"/>
              </a:rPr>
              <a:t>• Should I always tune learning_rate and max_iter together?</a:t>
            </a:r>
          </a:p>
        </p:txBody>
      </p:sp>
      <p:sp>
        <p:nvSpPr>
          <p:cNvPr id="9" name="TextBox 8"/>
          <p:cNvSpPr txBox="1"/>
          <p:nvPr/>
        </p:nvSpPr>
        <p:spPr>
          <a:xfrm>
            <a:off x="914400" y="3520440"/>
            <a:ext cx="4937760" cy="457200"/>
          </a:xfrm>
          <a:prstGeom prst="rect">
            <a:avLst/>
          </a:prstGeom>
          <a:noFill/>
        </p:spPr>
        <p:txBody>
          <a:bodyPr wrap="square" lIns="0" rIns="0" tIns="0" bIns="0" anchor="t">
            <a:spAutoFit/>
          </a:bodyPr>
          <a:lstStyle/>
          <a:p>
            <a:pPr algn="l"/>
            <a:r>
              <a:rPr sz="1300" b="0">
                <a:solidFill>
                  <a:srgbClr val="36454F"/>
                </a:solidFill>
                <a:latin typeface="Calibri"/>
              </a:rPr>
              <a:t>• How big can my GridSearchCV be before I switch to Random?</a:t>
            </a:r>
          </a:p>
        </p:txBody>
      </p:sp>
      <p:sp>
        <p:nvSpPr>
          <p:cNvPr id="10" name="TextBox 9"/>
          <p:cNvSpPr txBox="1"/>
          <p:nvPr/>
        </p:nvSpPr>
        <p:spPr>
          <a:xfrm>
            <a:off x="914400" y="3977639"/>
            <a:ext cx="4937760" cy="457200"/>
          </a:xfrm>
          <a:prstGeom prst="rect">
            <a:avLst/>
          </a:prstGeom>
          <a:noFill/>
        </p:spPr>
        <p:txBody>
          <a:bodyPr wrap="square" lIns="0" rIns="0" tIns="0" bIns="0" anchor="t">
            <a:spAutoFit/>
          </a:bodyPr>
          <a:lstStyle/>
          <a:p>
            <a:pPr algn="l"/>
            <a:r>
              <a:rPr sz="1300" b="0">
                <a:solidFill>
                  <a:srgbClr val="36454F"/>
                </a:solidFill>
                <a:latin typeface="Calibri"/>
              </a:rPr>
              <a:t>• Why does feature importance differ between RF and GB?</a:t>
            </a:r>
          </a:p>
        </p:txBody>
      </p:sp>
      <p:sp>
        <p:nvSpPr>
          <p:cNvPr id="11" name="TextBox 10"/>
          <p:cNvSpPr txBox="1"/>
          <p:nvPr/>
        </p:nvSpPr>
        <p:spPr>
          <a:xfrm>
            <a:off x="914400" y="4434840"/>
            <a:ext cx="4937760" cy="457200"/>
          </a:xfrm>
          <a:prstGeom prst="rect">
            <a:avLst/>
          </a:prstGeom>
          <a:noFill/>
        </p:spPr>
        <p:txBody>
          <a:bodyPr wrap="square" lIns="0" rIns="0" tIns="0" bIns="0" anchor="t">
            <a:spAutoFit/>
          </a:bodyPr>
          <a:lstStyle/>
          <a:p>
            <a:pPr algn="l"/>
            <a:r>
              <a:rPr sz="1300" b="0">
                <a:solidFill>
                  <a:srgbClr val="36454F"/>
                </a:solidFill>
                <a:latin typeface="Calibri"/>
              </a:rPr>
              <a:t>• Should I retune when I retrain on fresh data?</a:t>
            </a:r>
          </a:p>
        </p:txBody>
      </p:sp>
      <p:sp>
        <p:nvSpPr>
          <p:cNvPr id="12" name="TextBox 11"/>
          <p:cNvSpPr txBox="1"/>
          <p:nvPr/>
        </p:nvSpPr>
        <p:spPr>
          <a:xfrm>
            <a:off x="777240" y="5212080"/>
            <a:ext cx="5029200" cy="365760"/>
          </a:xfrm>
          <a:prstGeom prst="rect">
            <a:avLst/>
          </a:prstGeom>
          <a:noFill/>
        </p:spPr>
        <p:txBody>
          <a:bodyPr wrap="square" lIns="0" rIns="0" tIns="0" bIns="0" anchor="t">
            <a:spAutoFit/>
          </a:bodyPr>
          <a:lstStyle/>
          <a:p>
            <a:pPr algn="l"/>
            <a:r>
              <a:rPr sz="1300" b="1">
                <a:solidFill>
                  <a:srgbClr val="F96167"/>
                </a:solidFill>
                <a:latin typeface="Calibri"/>
              </a:rPr>
              <a:t>Bring your own — every question helps the room.</a:t>
            </a:r>
          </a:p>
        </p:txBody>
      </p:sp>
      <p:sp>
        <p:nvSpPr>
          <p:cNvPr id="13" name="Rectangle 12"/>
          <p:cNvSpPr/>
          <p:nvPr/>
        </p:nvSpPr>
        <p:spPr>
          <a:xfrm>
            <a:off x="6263640" y="1783080"/>
            <a:ext cx="530352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920240"/>
            <a:ext cx="4937760" cy="457200"/>
          </a:xfrm>
          <a:prstGeom prst="rect">
            <a:avLst/>
          </a:prstGeom>
          <a:noFill/>
        </p:spPr>
        <p:txBody>
          <a:bodyPr wrap="square" lIns="0" rIns="0" tIns="0" bIns="0" anchor="t">
            <a:spAutoFit/>
          </a:bodyPr>
          <a:lstStyle/>
          <a:p>
            <a:pPr algn="l"/>
            <a:r>
              <a:rPr sz="1800" b="1">
                <a:solidFill>
                  <a:srgbClr val="FFFFFF"/>
                </a:solidFill>
                <a:latin typeface="Calibri"/>
              </a:rPr>
              <a:t>📚  Going deeper</a:t>
            </a:r>
          </a:p>
        </p:txBody>
      </p:sp>
      <p:sp>
        <p:nvSpPr>
          <p:cNvPr id="15" name="TextBox 14"/>
          <p:cNvSpPr txBox="1"/>
          <p:nvPr/>
        </p:nvSpPr>
        <p:spPr>
          <a:xfrm>
            <a:off x="6537960" y="2468880"/>
            <a:ext cx="4937760" cy="457200"/>
          </a:xfrm>
          <a:prstGeom prst="rect">
            <a:avLst/>
          </a:prstGeom>
          <a:noFill/>
        </p:spPr>
        <p:txBody>
          <a:bodyPr wrap="square" lIns="0" rIns="0" tIns="0" bIns="0" anchor="t">
            <a:spAutoFit/>
          </a:bodyPr>
          <a:lstStyle/>
          <a:p>
            <a:pPr algn="l"/>
            <a:r>
              <a:rPr sz="1300" b="0">
                <a:solidFill>
                  <a:srgbClr val="E8F1F5"/>
                </a:solidFill>
                <a:latin typeface="Calibri"/>
              </a:rPr>
              <a:t>Optional notebook covers:</a:t>
            </a:r>
          </a:p>
        </p:txBody>
      </p:sp>
      <p:sp>
        <p:nvSpPr>
          <p:cNvPr id="16" name="TextBox 15"/>
          <p:cNvSpPr txBox="1"/>
          <p:nvPr/>
        </p:nvSpPr>
        <p:spPr>
          <a:xfrm>
            <a:off x="6537960" y="2880360"/>
            <a:ext cx="4937760" cy="457200"/>
          </a:xfrm>
          <a:prstGeom prst="rect">
            <a:avLst/>
          </a:prstGeom>
          <a:noFill/>
        </p:spPr>
        <p:txBody>
          <a:bodyPr wrap="square" lIns="0" rIns="0" tIns="0" bIns="0" anchor="t">
            <a:spAutoFit/>
          </a:bodyPr>
          <a:lstStyle/>
          <a:p>
            <a:pPr algn="l"/>
            <a:r>
              <a:rPr sz="1300" b="0">
                <a:solidFill>
                  <a:srgbClr val="E8F1F5"/>
                </a:solidFill>
                <a:latin typeface="Calibri"/>
              </a:rPr>
              <a:t>  · Ridge / Lasso / ElasticNet regularisation</a:t>
            </a:r>
          </a:p>
        </p:txBody>
      </p:sp>
      <p:sp>
        <p:nvSpPr>
          <p:cNvPr id="17" name="TextBox 16"/>
          <p:cNvSpPr txBox="1"/>
          <p:nvPr/>
        </p:nvSpPr>
        <p:spPr>
          <a:xfrm>
            <a:off x="6537960" y="3291840"/>
            <a:ext cx="4937760" cy="457200"/>
          </a:xfrm>
          <a:prstGeom prst="rect">
            <a:avLst/>
          </a:prstGeom>
          <a:noFill/>
        </p:spPr>
        <p:txBody>
          <a:bodyPr wrap="square" lIns="0" rIns="0" tIns="0" bIns="0" anchor="t">
            <a:spAutoFit/>
          </a:bodyPr>
          <a:lstStyle/>
          <a:p>
            <a:pPr algn="l"/>
            <a:r>
              <a:rPr sz="1300" b="0">
                <a:solidFill>
                  <a:srgbClr val="E8F1F5"/>
                </a:solidFill>
                <a:latin typeface="Calibri"/>
              </a:rPr>
              <a:t>  · Gini vs Entropy split criteria</a:t>
            </a:r>
          </a:p>
        </p:txBody>
      </p:sp>
      <p:sp>
        <p:nvSpPr>
          <p:cNvPr id="18" name="TextBox 17"/>
          <p:cNvSpPr txBox="1"/>
          <p:nvPr/>
        </p:nvSpPr>
        <p:spPr>
          <a:xfrm>
            <a:off x="6537960" y="3703320"/>
            <a:ext cx="4937760" cy="457200"/>
          </a:xfrm>
          <a:prstGeom prst="rect">
            <a:avLst/>
          </a:prstGeom>
          <a:noFill/>
        </p:spPr>
        <p:txBody>
          <a:bodyPr wrap="square" lIns="0" rIns="0" tIns="0" bIns="0" anchor="t">
            <a:spAutoFit/>
          </a:bodyPr>
          <a:lstStyle/>
          <a:p>
            <a:pPr algn="l"/>
            <a:r>
              <a:rPr sz="1300" b="0">
                <a:solidFill>
                  <a:srgbClr val="E8F1F5"/>
                </a:solidFill>
                <a:latin typeface="Calibri"/>
              </a:rPr>
              <a:t>  · GridSearchCV vs RandomizedSearchCV</a:t>
            </a:r>
          </a:p>
        </p:txBody>
      </p:sp>
      <p:sp>
        <p:nvSpPr>
          <p:cNvPr id="19" name="TextBox 18"/>
          <p:cNvSpPr txBox="1"/>
          <p:nvPr/>
        </p:nvSpPr>
        <p:spPr>
          <a:xfrm>
            <a:off x="6537960" y="4114800"/>
            <a:ext cx="4937760" cy="457200"/>
          </a:xfrm>
          <a:prstGeom prst="rect">
            <a:avLst/>
          </a:prstGeom>
          <a:noFill/>
        </p:spPr>
        <p:txBody>
          <a:bodyPr wrap="square" lIns="0" rIns="0" tIns="0" bIns="0" anchor="t">
            <a:spAutoFit/>
          </a:bodyPr>
          <a:lstStyle/>
          <a:p>
            <a:pPr algn="l"/>
            <a:r>
              <a:rPr sz="1300" b="0">
                <a:solidFill>
                  <a:srgbClr val="E8F1F5"/>
                </a:solidFill>
                <a:latin typeface="Calibri"/>
              </a:rPr>
              <a:t/>
            </a:r>
          </a:p>
        </p:txBody>
      </p:sp>
      <p:sp>
        <p:nvSpPr>
          <p:cNvPr id="20" name="TextBox 19"/>
          <p:cNvSpPr txBox="1"/>
          <p:nvPr/>
        </p:nvSpPr>
        <p:spPr>
          <a:xfrm>
            <a:off x="6537960" y="4526280"/>
            <a:ext cx="4937760" cy="457200"/>
          </a:xfrm>
          <a:prstGeom prst="rect">
            <a:avLst/>
          </a:prstGeom>
          <a:noFill/>
        </p:spPr>
        <p:txBody>
          <a:bodyPr wrap="square" lIns="0" rIns="0" tIns="0" bIns="0" anchor="t">
            <a:spAutoFit/>
          </a:bodyPr>
          <a:lstStyle/>
          <a:p>
            <a:pPr algn="l"/>
            <a:r>
              <a:rPr sz="1300" b="0">
                <a:solidFill>
                  <a:srgbClr val="E8F1F5"/>
                </a:solidFill>
                <a:latin typeface="Calibri"/>
              </a:rPr>
              <a:t>Open notebooks/optional_extensions.ipynb</a:t>
            </a:r>
          </a:p>
        </p:txBody>
      </p:sp>
      <p:sp>
        <p:nvSpPr>
          <p:cNvPr id="21" name="TextBox 20"/>
          <p:cNvSpPr txBox="1"/>
          <p:nvPr/>
        </p:nvSpPr>
        <p:spPr>
          <a:xfrm>
            <a:off x="6537960" y="4937760"/>
            <a:ext cx="4937760" cy="457200"/>
          </a:xfrm>
          <a:prstGeom prst="rect">
            <a:avLst/>
          </a:prstGeom>
          <a:noFill/>
        </p:spPr>
        <p:txBody>
          <a:bodyPr wrap="square" lIns="0" rIns="0" tIns="0" bIns="0" anchor="t">
            <a:spAutoFit/>
          </a:bodyPr>
          <a:lstStyle/>
          <a:p>
            <a:pPr algn="l"/>
            <a:r>
              <a:rPr sz="1300" b="0">
                <a:solidFill>
                  <a:srgbClr val="E8F1F5"/>
                </a:solidFill>
                <a:latin typeface="Calibri"/>
              </a:rPr>
              <a:t/>
            </a:r>
          </a:p>
        </p:txBody>
      </p:sp>
      <p:sp>
        <p:nvSpPr>
          <p:cNvPr id="22" name="TextBox 21"/>
          <p:cNvSpPr txBox="1"/>
          <p:nvPr/>
        </p:nvSpPr>
        <p:spPr>
          <a:xfrm>
            <a:off x="6537960" y="5349240"/>
            <a:ext cx="4937760" cy="457200"/>
          </a:xfrm>
          <a:prstGeom prst="rect">
            <a:avLst/>
          </a:prstGeom>
          <a:noFill/>
        </p:spPr>
        <p:txBody>
          <a:bodyPr wrap="square" lIns="0" rIns="0" tIns="0" bIns="0" anchor="t">
            <a:spAutoFit/>
          </a:bodyPr>
          <a:lstStyle/>
          <a:p>
            <a:pPr algn="l"/>
            <a:r>
              <a:rPr sz="1300" b="0">
                <a:solidFill>
                  <a:srgbClr val="E8F1F5"/>
                </a:solidFill>
                <a:latin typeface="Calibri"/>
              </a:rPr>
              <a:t>Or jump into the Kaggle competition.</a:t>
            </a:r>
          </a:p>
        </p:txBody>
      </p:sp>
      <p:sp>
        <p:nvSpPr>
          <p:cNvPr id="23" name="TextBox 2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21/28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Confusion Matrices — Side By Side</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Three models · threshold 0.25 · held-out test set</a:t>
            </a:r>
          </a:p>
        </p:txBody>
      </p:sp>
      <p:sp>
        <p:nvSpPr>
          <p:cNvPr id="5" name="Rectangle 4"/>
          <p:cNvSpPr/>
          <p:nvPr/>
        </p:nvSpPr>
        <p:spPr>
          <a:xfrm>
            <a:off x="548640" y="1828800"/>
            <a:ext cx="36576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3657600" cy="365760"/>
          </a:xfrm>
          <a:prstGeom prst="rect">
            <a:avLst/>
          </a:prstGeom>
          <a:noFill/>
        </p:spPr>
        <p:txBody>
          <a:bodyPr wrap="square" lIns="0" rIns="0" tIns="0" bIns="0" anchor="t">
            <a:spAutoFit/>
          </a:bodyPr>
          <a:lstStyle/>
          <a:p>
            <a:pPr algn="ctr"/>
            <a:r>
              <a:rPr sz="1400" b="1">
                <a:solidFill>
                  <a:srgbClr val="FFFFFF"/>
                </a:solidFill>
                <a:latin typeface="Calibri"/>
              </a:rPr>
              <a:t>LR (L03)</a:t>
            </a:r>
          </a:p>
        </p:txBody>
      </p:sp>
      <p:sp>
        <p:nvSpPr>
          <p:cNvPr id="7" name="Rectangle 6"/>
          <p:cNvSpPr/>
          <p:nvPr/>
        </p:nvSpPr>
        <p:spPr>
          <a:xfrm>
            <a:off x="548640" y="2331720"/>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23160"/>
            <a:ext cx="1828800" cy="274320"/>
          </a:xfrm>
          <a:prstGeom prst="rect">
            <a:avLst/>
          </a:prstGeom>
          <a:noFill/>
        </p:spPr>
        <p:txBody>
          <a:bodyPr wrap="square" lIns="0" rIns="0" tIns="0" bIns="0" anchor="t">
            <a:spAutoFit/>
          </a:bodyPr>
          <a:lstStyle/>
          <a:p>
            <a:pPr algn="ctr"/>
            <a:r>
              <a:rPr sz="900" b="0">
                <a:solidFill>
                  <a:srgbClr val="36454F"/>
                </a:solidFill>
                <a:latin typeface="Calibri"/>
              </a:rPr>
              <a:t>actual=stay</a:t>
            </a:r>
          </a:p>
          <a:p>
            <a:pPr algn="ctr"/>
            <a:r>
              <a:rPr sz="900" b="0">
                <a:solidFill>
                  <a:srgbClr val="36454F"/>
                </a:solidFill>
                <a:latin typeface="Calibri"/>
              </a:rPr>
              <a:t>pred=stay</a:t>
            </a:r>
          </a:p>
        </p:txBody>
      </p:sp>
      <p:sp>
        <p:nvSpPr>
          <p:cNvPr id="9" name="TextBox 8"/>
          <p:cNvSpPr txBox="1"/>
          <p:nvPr/>
        </p:nvSpPr>
        <p:spPr>
          <a:xfrm>
            <a:off x="548640" y="2834640"/>
            <a:ext cx="1828800" cy="640080"/>
          </a:xfrm>
          <a:prstGeom prst="rect">
            <a:avLst/>
          </a:prstGeom>
          <a:noFill/>
        </p:spPr>
        <p:txBody>
          <a:bodyPr wrap="square" lIns="0" rIns="0" tIns="0" bIns="0" anchor="t">
            <a:spAutoFit/>
          </a:bodyPr>
          <a:lstStyle/>
          <a:p>
            <a:pPr algn="ctr"/>
            <a:r>
              <a:rPr sz="2000" b="1">
                <a:solidFill>
                  <a:srgbClr val="21C39A"/>
                </a:solidFill>
                <a:latin typeface="Trebuchet MS"/>
              </a:rPr>
              <a:t>583</a:t>
            </a:r>
          </a:p>
        </p:txBody>
      </p:sp>
      <p:sp>
        <p:nvSpPr>
          <p:cNvPr id="10" name="TextBox 9"/>
          <p:cNvSpPr txBox="1"/>
          <p:nvPr/>
        </p:nvSpPr>
        <p:spPr>
          <a:xfrm>
            <a:off x="548640" y="3520440"/>
            <a:ext cx="1828800" cy="274320"/>
          </a:xfrm>
          <a:prstGeom prst="rect">
            <a:avLst/>
          </a:prstGeom>
          <a:noFill/>
        </p:spPr>
        <p:txBody>
          <a:bodyPr wrap="square" lIns="0" rIns="0" tIns="0" bIns="0" anchor="t">
            <a:spAutoFit/>
          </a:bodyPr>
          <a:lstStyle/>
          <a:p>
            <a:pPr algn="ctr"/>
            <a:r>
              <a:rPr sz="1000" b="0">
                <a:solidFill>
                  <a:srgbClr val="21C39A"/>
                </a:solidFill>
                <a:latin typeface="Calibri"/>
              </a:rPr>
              <a:t>TN:</a:t>
            </a:r>
          </a:p>
        </p:txBody>
      </p:sp>
      <p:sp>
        <p:nvSpPr>
          <p:cNvPr id="11" name="Rectangle 10"/>
          <p:cNvSpPr/>
          <p:nvPr/>
        </p:nvSpPr>
        <p:spPr>
          <a:xfrm>
            <a:off x="2377440" y="2331720"/>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2423160"/>
            <a:ext cx="1828800" cy="274320"/>
          </a:xfrm>
          <a:prstGeom prst="rect">
            <a:avLst/>
          </a:prstGeom>
          <a:noFill/>
        </p:spPr>
        <p:txBody>
          <a:bodyPr wrap="square" lIns="0" rIns="0" tIns="0" bIns="0" anchor="t">
            <a:spAutoFit/>
          </a:bodyPr>
          <a:lstStyle/>
          <a:p>
            <a:pPr algn="ctr"/>
            <a:r>
              <a:rPr sz="900" b="0">
                <a:solidFill>
                  <a:srgbClr val="36454F"/>
                </a:solidFill>
                <a:latin typeface="Calibri"/>
              </a:rPr>
              <a:t>actual=stay</a:t>
            </a:r>
          </a:p>
          <a:p>
            <a:pPr algn="ctr"/>
            <a:r>
              <a:rPr sz="900" b="0">
                <a:solidFill>
                  <a:srgbClr val="36454F"/>
                </a:solidFill>
                <a:latin typeface="Calibri"/>
              </a:rPr>
              <a:t>pred=churn</a:t>
            </a:r>
          </a:p>
        </p:txBody>
      </p:sp>
      <p:sp>
        <p:nvSpPr>
          <p:cNvPr id="13" name="TextBox 12"/>
          <p:cNvSpPr txBox="1"/>
          <p:nvPr/>
        </p:nvSpPr>
        <p:spPr>
          <a:xfrm>
            <a:off x="2377440" y="2834640"/>
            <a:ext cx="1828800" cy="640080"/>
          </a:xfrm>
          <a:prstGeom prst="rect">
            <a:avLst/>
          </a:prstGeom>
          <a:noFill/>
        </p:spPr>
        <p:txBody>
          <a:bodyPr wrap="square" lIns="0" rIns="0" tIns="0" bIns="0" anchor="t">
            <a:spAutoFit/>
          </a:bodyPr>
          <a:lstStyle/>
          <a:p>
            <a:pPr algn="ctr"/>
            <a:r>
              <a:rPr sz="2000" b="1">
                <a:solidFill>
                  <a:srgbClr val="F96167"/>
                </a:solidFill>
                <a:latin typeface="Trebuchet MS"/>
              </a:rPr>
              <a:t>1,177</a:t>
            </a:r>
          </a:p>
        </p:txBody>
      </p:sp>
      <p:sp>
        <p:nvSpPr>
          <p:cNvPr id="14" name="TextBox 13"/>
          <p:cNvSpPr txBox="1"/>
          <p:nvPr/>
        </p:nvSpPr>
        <p:spPr>
          <a:xfrm>
            <a:off x="2377440" y="3520440"/>
            <a:ext cx="1828800" cy="274320"/>
          </a:xfrm>
          <a:prstGeom prst="rect">
            <a:avLst/>
          </a:prstGeom>
          <a:noFill/>
        </p:spPr>
        <p:txBody>
          <a:bodyPr wrap="square" lIns="0" rIns="0" tIns="0" bIns="0" anchor="t">
            <a:spAutoFit/>
          </a:bodyPr>
          <a:lstStyle/>
          <a:p>
            <a:pPr algn="ctr"/>
            <a:r>
              <a:rPr sz="1000" b="0">
                <a:solidFill>
                  <a:srgbClr val="F96167"/>
                </a:solidFill>
                <a:latin typeface="Calibri"/>
              </a:rPr>
              <a:t>FP:</a:t>
            </a:r>
          </a:p>
        </p:txBody>
      </p:sp>
      <p:sp>
        <p:nvSpPr>
          <p:cNvPr id="15" name="Rectangle 14"/>
          <p:cNvSpPr/>
          <p:nvPr/>
        </p:nvSpPr>
        <p:spPr>
          <a:xfrm>
            <a:off x="548640" y="3977639"/>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69079"/>
            <a:ext cx="1828800" cy="274320"/>
          </a:xfrm>
          <a:prstGeom prst="rect">
            <a:avLst/>
          </a:prstGeom>
          <a:noFill/>
        </p:spPr>
        <p:txBody>
          <a:bodyPr wrap="square" lIns="0" rIns="0" tIns="0" bIns="0" anchor="t">
            <a:spAutoFit/>
          </a:bodyPr>
          <a:lstStyle/>
          <a:p>
            <a:pPr algn="ctr"/>
            <a:r>
              <a:rPr sz="900" b="0">
                <a:solidFill>
                  <a:srgbClr val="36454F"/>
                </a:solidFill>
                <a:latin typeface="Calibri"/>
              </a:rPr>
              <a:t>actual=churn</a:t>
            </a:r>
          </a:p>
          <a:p>
            <a:pPr algn="ctr"/>
            <a:r>
              <a:rPr sz="900" b="0">
                <a:solidFill>
                  <a:srgbClr val="36454F"/>
                </a:solidFill>
                <a:latin typeface="Calibri"/>
              </a:rPr>
              <a:t>pred=stay</a:t>
            </a:r>
          </a:p>
        </p:txBody>
      </p:sp>
      <p:sp>
        <p:nvSpPr>
          <p:cNvPr id="17" name="TextBox 16"/>
          <p:cNvSpPr txBox="1"/>
          <p:nvPr/>
        </p:nvSpPr>
        <p:spPr>
          <a:xfrm>
            <a:off x="548640" y="4480559"/>
            <a:ext cx="1828800" cy="640080"/>
          </a:xfrm>
          <a:prstGeom prst="rect">
            <a:avLst/>
          </a:prstGeom>
          <a:noFill/>
        </p:spPr>
        <p:txBody>
          <a:bodyPr wrap="square" lIns="0" rIns="0" tIns="0" bIns="0" anchor="t">
            <a:spAutoFit/>
          </a:bodyPr>
          <a:lstStyle/>
          <a:p>
            <a:pPr algn="ctr"/>
            <a:r>
              <a:rPr sz="2000" b="1">
                <a:solidFill>
                  <a:srgbClr val="F96167"/>
                </a:solidFill>
                <a:latin typeface="Trebuchet MS"/>
              </a:rPr>
              <a:t>5</a:t>
            </a:r>
          </a:p>
        </p:txBody>
      </p:sp>
      <p:sp>
        <p:nvSpPr>
          <p:cNvPr id="18" name="TextBox 17"/>
          <p:cNvSpPr txBox="1"/>
          <p:nvPr/>
        </p:nvSpPr>
        <p:spPr>
          <a:xfrm>
            <a:off x="548640" y="5166359"/>
            <a:ext cx="1828800" cy="274320"/>
          </a:xfrm>
          <a:prstGeom prst="rect">
            <a:avLst/>
          </a:prstGeom>
          <a:noFill/>
        </p:spPr>
        <p:txBody>
          <a:bodyPr wrap="square" lIns="0" rIns="0" tIns="0" bIns="0" anchor="t">
            <a:spAutoFit/>
          </a:bodyPr>
          <a:lstStyle/>
          <a:p>
            <a:pPr algn="ctr"/>
            <a:r>
              <a:rPr sz="1000" b="0">
                <a:solidFill>
                  <a:srgbClr val="F96167"/>
                </a:solidFill>
                <a:latin typeface="Calibri"/>
              </a:rPr>
              <a:t>FN:</a:t>
            </a:r>
          </a:p>
        </p:txBody>
      </p:sp>
      <p:sp>
        <p:nvSpPr>
          <p:cNvPr id="19" name="Rectangle 18"/>
          <p:cNvSpPr/>
          <p:nvPr/>
        </p:nvSpPr>
        <p:spPr>
          <a:xfrm>
            <a:off x="2377440" y="3977639"/>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77440" y="4069079"/>
            <a:ext cx="1828800" cy="274320"/>
          </a:xfrm>
          <a:prstGeom prst="rect">
            <a:avLst/>
          </a:prstGeom>
          <a:noFill/>
        </p:spPr>
        <p:txBody>
          <a:bodyPr wrap="square" lIns="0" rIns="0" tIns="0" bIns="0" anchor="t">
            <a:spAutoFit/>
          </a:bodyPr>
          <a:lstStyle/>
          <a:p>
            <a:pPr algn="ctr"/>
            <a:r>
              <a:rPr sz="900" b="0">
                <a:solidFill>
                  <a:srgbClr val="36454F"/>
                </a:solidFill>
                <a:latin typeface="Calibri"/>
              </a:rPr>
              <a:t>actual=churn</a:t>
            </a:r>
          </a:p>
          <a:p>
            <a:pPr algn="ctr"/>
            <a:r>
              <a:rPr sz="900" b="0">
                <a:solidFill>
                  <a:srgbClr val="36454F"/>
                </a:solidFill>
                <a:latin typeface="Calibri"/>
              </a:rPr>
              <a:t>pred=churn</a:t>
            </a:r>
          </a:p>
        </p:txBody>
      </p:sp>
      <p:sp>
        <p:nvSpPr>
          <p:cNvPr id="21" name="TextBox 20"/>
          <p:cNvSpPr txBox="1"/>
          <p:nvPr/>
        </p:nvSpPr>
        <p:spPr>
          <a:xfrm>
            <a:off x="2377440" y="4480559"/>
            <a:ext cx="1828800" cy="640080"/>
          </a:xfrm>
          <a:prstGeom prst="rect">
            <a:avLst/>
          </a:prstGeom>
          <a:noFill/>
        </p:spPr>
        <p:txBody>
          <a:bodyPr wrap="square" lIns="0" rIns="0" tIns="0" bIns="0" anchor="t">
            <a:spAutoFit/>
          </a:bodyPr>
          <a:lstStyle/>
          <a:p>
            <a:pPr algn="ctr"/>
            <a:r>
              <a:rPr sz="2000" b="1">
                <a:solidFill>
                  <a:srgbClr val="21C39A"/>
                </a:solidFill>
                <a:latin typeface="Trebuchet MS"/>
              </a:rPr>
              <a:t>235</a:t>
            </a:r>
          </a:p>
        </p:txBody>
      </p:sp>
      <p:sp>
        <p:nvSpPr>
          <p:cNvPr id="22" name="TextBox 21"/>
          <p:cNvSpPr txBox="1"/>
          <p:nvPr/>
        </p:nvSpPr>
        <p:spPr>
          <a:xfrm>
            <a:off x="2377440" y="5166359"/>
            <a:ext cx="1828800" cy="274320"/>
          </a:xfrm>
          <a:prstGeom prst="rect">
            <a:avLst/>
          </a:prstGeom>
          <a:noFill/>
        </p:spPr>
        <p:txBody>
          <a:bodyPr wrap="square" lIns="0" rIns="0" tIns="0" bIns="0" anchor="t">
            <a:spAutoFit/>
          </a:bodyPr>
          <a:lstStyle/>
          <a:p>
            <a:pPr algn="ctr"/>
            <a:r>
              <a:rPr sz="1000" b="0">
                <a:solidFill>
                  <a:srgbClr val="21C39A"/>
                </a:solidFill>
                <a:latin typeface="Calibri"/>
              </a:rPr>
              <a:t>TP:</a:t>
            </a:r>
          </a:p>
        </p:txBody>
      </p:sp>
      <p:sp>
        <p:nvSpPr>
          <p:cNvPr id="23" name="Rectangle 22"/>
          <p:cNvSpPr/>
          <p:nvPr/>
        </p:nvSpPr>
        <p:spPr>
          <a:xfrm>
            <a:off x="4434840" y="1828800"/>
            <a:ext cx="36576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1874519"/>
            <a:ext cx="3657600" cy="365760"/>
          </a:xfrm>
          <a:prstGeom prst="rect">
            <a:avLst/>
          </a:prstGeom>
          <a:noFill/>
        </p:spPr>
        <p:txBody>
          <a:bodyPr wrap="square" lIns="0" rIns="0" tIns="0" bIns="0" anchor="t">
            <a:spAutoFit/>
          </a:bodyPr>
          <a:lstStyle/>
          <a:p>
            <a:pPr algn="ctr"/>
            <a:r>
              <a:rPr sz="1400" b="1">
                <a:solidFill>
                  <a:srgbClr val="FFFFFF"/>
                </a:solidFill>
                <a:latin typeface="Calibri"/>
              </a:rPr>
              <a:t>RF (tuned)</a:t>
            </a:r>
          </a:p>
        </p:txBody>
      </p:sp>
      <p:sp>
        <p:nvSpPr>
          <p:cNvPr id="25" name="Rectangle 24"/>
          <p:cNvSpPr/>
          <p:nvPr/>
        </p:nvSpPr>
        <p:spPr>
          <a:xfrm>
            <a:off x="4434840" y="2331720"/>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2423160"/>
            <a:ext cx="1828800" cy="274320"/>
          </a:xfrm>
          <a:prstGeom prst="rect">
            <a:avLst/>
          </a:prstGeom>
          <a:noFill/>
        </p:spPr>
        <p:txBody>
          <a:bodyPr wrap="square" lIns="0" rIns="0" tIns="0" bIns="0" anchor="t">
            <a:spAutoFit/>
          </a:bodyPr>
          <a:lstStyle/>
          <a:p>
            <a:pPr algn="ctr"/>
            <a:r>
              <a:rPr sz="900" b="0">
                <a:solidFill>
                  <a:srgbClr val="36454F"/>
                </a:solidFill>
                <a:latin typeface="Calibri"/>
              </a:rPr>
              <a:t>actual=stay</a:t>
            </a:r>
          </a:p>
          <a:p>
            <a:pPr algn="ctr"/>
            <a:r>
              <a:rPr sz="900" b="0">
                <a:solidFill>
                  <a:srgbClr val="36454F"/>
                </a:solidFill>
                <a:latin typeface="Calibri"/>
              </a:rPr>
              <a:t>pred=stay</a:t>
            </a:r>
          </a:p>
        </p:txBody>
      </p:sp>
      <p:sp>
        <p:nvSpPr>
          <p:cNvPr id="27" name="TextBox 26"/>
          <p:cNvSpPr txBox="1"/>
          <p:nvPr/>
        </p:nvSpPr>
        <p:spPr>
          <a:xfrm>
            <a:off x="4434840" y="2834640"/>
            <a:ext cx="1828800" cy="640080"/>
          </a:xfrm>
          <a:prstGeom prst="rect">
            <a:avLst/>
          </a:prstGeom>
          <a:noFill/>
        </p:spPr>
        <p:txBody>
          <a:bodyPr wrap="square" lIns="0" rIns="0" tIns="0" bIns="0" anchor="t">
            <a:spAutoFit/>
          </a:bodyPr>
          <a:lstStyle/>
          <a:p>
            <a:pPr algn="ctr"/>
            <a:r>
              <a:rPr sz="2000" b="1">
                <a:solidFill>
                  <a:srgbClr val="21C39A"/>
                </a:solidFill>
                <a:latin typeface="Trebuchet MS"/>
              </a:rPr>
              <a:t>596</a:t>
            </a:r>
          </a:p>
        </p:txBody>
      </p:sp>
      <p:sp>
        <p:nvSpPr>
          <p:cNvPr id="28" name="TextBox 27"/>
          <p:cNvSpPr txBox="1"/>
          <p:nvPr/>
        </p:nvSpPr>
        <p:spPr>
          <a:xfrm>
            <a:off x="4434840" y="3520440"/>
            <a:ext cx="1828800" cy="274320"/>
          </a:xfrm>
          <a:prstGeom prst="rect">
            <a:avLst/>
          </a:prstGeom>
          <a:noFill/>
        </p:spPr>
        <p:txBody>
          <a:bodyPr wrap="square" lIns="0" rIns="0" tIns="0" bIns="0" anchor="t">
            <a:spAutoFit/>
          </a:bodyPr>
          <a:lstStyle/>
          <a:p>
            <a:pPr algn="ctr"/>
            <a:r>
              <a:rPr sz="1000" b="0">
                <a:solidFill>
                  <a:srgbClr val="21C39A"/>
                </a:solidFill>
                <a:latin typeface="Calibri"/>
              </a:rPr>
              <a:t>TN:</a:t>
            </a:r>
          </a:p>
        </p:txBody>
      </p:sp>
      <p:sp>
        <p:nvSpPr>
          <p:cNvPr id="29" name="Rectangle 28"/>
          <p:cNvSpPr/>
          <p:nvPr/>
        </p:nvSpPr>
        <p:spPr>
          <a:xfrm>
            <a:off x="6263640" y="2331720"/>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2423160"/>
            <a:ext cx="1828800" cy="274320"/>
          </a:xfrm>
          <a:prstGeom prst="rect">
            <a:avLst/>
          </a:prstGeom>
          <a:noFill/>
        </p:spPr>
        <p:txBody>
          <a:bodyPr wrap="square" lIns="0" rIns="0" tIns="0" bIns="0" anchor="t">
            <a:spAutoFit/>
          </a:bodyPr>
          <a:lstStyle/>
          <a:p>
            <a:pPr algn="ctr"/>
            <a:r>
              <a:rPr sz="900" b="0">
                <a:solidFill>
                  <a:srgbClr val="36454F"/>
                </a:solidFill>
                <a:latin typeface="Calibri"/>
              </a:rPr>
              <a:t>actual=stay</a:t>
            </a:r>
          </a:p>
          <a:p>
            <a:pPr algn="ctr"/>
            <a:r>
              <a:rPr sz="900" b="0">
                <a:solidFill>
                  <a:srgbClr val="36454F"/>
                </a:solidFill>
                <a:latin typeface="Calibri"/>
              </a:rPr>
              <a:t>pred=churn</a:t>
            </a:r>
          </a:p>
        </p:txBody>
      </p:sp>
      <p:sp>
        <p:nvSpPr>
          <p:cNvPr id="31" name="TextBox 30"/>
          <p:cNvSpPr txBox="1"/>
          <p:nvPr/>
        </p:nvSpPr>
        <p:spPr>
          <a:xfrm>
            <a:off x="6263640" y="2834640"/>
            <a:ext cx="1828800" cy="640080"/>
          </a:xfrm>
          <a:prstGeom prst="rect">
            <a:avLst/>
          </a:prstGeom>
          <a:noFill/>
        </p:spPr>
        <p:txBody>
          <a:bodyPr wrap="square" lIns="0" rIns="0" tIns="0" bIns="0" anchor="t">
            <a:spAutoFit/>
          </a:bodyPr>
          <a:lstStyle/>
          <a:p>
            <a:pPr algn="ctr"/>
            <a:r>
              <a:rPr sz="2000" b="1">
                <a:solidFill>
                  <a:srgbClr val="F96167"/>
                </a:solidFill>
                <a:latin typeface="Trebuchet MS"/>
              </a:rPr>
              <a:t>1,164</a:t>
            </a:r>
          </a:p>
        </p:txBody>
      </p:sp>
      <p:sp>
        <p:nvSpPr>
          <p:cNvPr id="32" name="TextBox 31"/>
          <p:cNvSpPr txBox="1"/>
          <p:nvPr/>
        </p:nvSpPr>
        <p:spPr>
          <a:xfrm>
            <a:off x="6263640" y="3520440"/>
            <a:ext cx="1828800" cy="274320"/>
          </a:xfrm>
          <a:prstGeom prst="rect">
            <a:avLst/>
          </a:prstGeom>
          <a:noFill/>
        </p:spPr>
        <p:txBody>
          <a:bodyPr wrap="square" lIns="0" rIns="0" tIns="0" bIns="0" anchor="t">
            <a:spAutoFit/>
          </a:bodyPr>
          <a:lstStyle/>
          <a:p>
            <a:pPr algn="ctr"/>
            <a:r>
              <a:rPr sz="1000" b="0">
                <a:solidFill>
                  <a:srgbClr val="F96167"/>
                </a:solidFill>
                <a:latin typeface="Calibri"/>
              </a:rPr>
              <a:t>FP:</a:t>
            </a:r>
          </a:p>
        </p:txBody>
      </p:sp>
      <p:sp>
        <p:nvSpPr>
          <p:cNvPr id="33" name="Rectangle 32"/>
          <p:cNvSpPr/>
          <p:nvPr/>
        </p:nvSpPr>
        <p:spPr>
          <a:xfrm>
            <a:off x="4434840" y="3977639"/>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4069079"/>
            <a:ext cx="1828800" cy="274320"/>
          </a:xfrm>
          <a:prstGeom prst="rect">
            <a:avLst/>
          </a:prstGeom>
          <a:noFill/>
        </p:spPr>
        <p:txBody>
          <a:bodyPr wrap="square" lIns="0" rIns="0" tIns="0" bIns="0" anchor="t">
            <a:spAutoFit/>
          </a:bodyPr>
          <a:lstStyle/>
          <a:p>
            <a:pPr algn="ctr"/>
            <a:r>
              <a:rPr sz="900" b="0">
                <a:solidFill>
                  <a:srgbClr val="36454F"/>
                </a:solidFill>
                <a:latin typeface="Calibri"/>
              </a:rPr>
              <a:t>actual=churn</a:t>
            </a:r>
          </a:p>
          <a:p>
            <a:pPr algn="ctr"/>
            <a:r>
              <a:rPr sz="900" b="0">
                <a:solidFill>
                  <a:srgbClr val="36454F"/>
                </a:solidFill>
                <a:latin typeface="Calibri"/>
              </a:rPr>
              <a:t>pred=stay</a:t>
            </a:r>
          </a:p>
        </p:txBody>
      </p:sp>
      <p:sp>
        <p:nvSpPr>
          <p:cNvPr id="35" name="TextBox 34"/>
          <p:cNvSpPr txBox="1"/>
          <p:nvPr/>
        </p:nvSpPr>
        <p:spPr>
          <a:xfrm>
            <a:off x="4434840" y="4480559"/>
            <a:ext cx="1828800" cy="640080"/>
          </a:xfrm>
          <a:prstGeom prst="rect">
            <a:avLst/>
          </a:prstGeom>
          <a:noFill/>
        </p:spPr>
        <p:txBody>
          <a:bodyPr wrap="square" lIns="0" rIns="0" tIns="0" bIns="0" anchor="t">
            <a:spAutoFit/>
          </a:bodyPr>
          <a:lstStyle/>
          <a:p>
            <a:pPr algn="ctr"/>
            <a:r>
              <a:rPr sz="2000" b="1">
                <a:solidFill>
                  <a:srgbClr val="F96167"/>
                </a:solidFill>
                <a:latin typeface="Trebuchet MS"/>
              </a:rPr>
              <a:t>14</a:t>
            </a:r>
          </a:p>
        </p:txBody>
      </p:sp>
      <p:sp>
        <p:nvSpPr>
          <p:cNvPr id="36" name="TextBox 35"/>
          <p:cNvSpPr txBox="1"/>
          <p:nvPr/>
        </p:nvSpPr>
        <p:spPr>
          <a:xfrm>
            <a:off x="4434840" y="5166359"/>
            <a:ext cx="1828800" cy="274320"/>
          </a:xfrm>
          <a:prstGeom prst="rect">
            <a:avLst/>
          </a:prstGeom>
          <a:noFill/>
        </p:spPr>
        <p:txBody>
          <a:bodyPr wrap="square" lIns="0" rIns="0" tIns="0" bIns="0" anchor="t">
            <a:spAutoFit/>
          </a:bodyPr>
          <a:lstStyle/>
          <a:p>
            <a:pPr algn="ctr"/>
            <a:r>
              <a:rPr sz="1000" b="0">
                <a:solidFill>
                  <a:srgbClr val="F96167"/>
                </a:solidFill>
                <a:latin typeface="Calibri"/>
              </a:rPr>
              <a:t>FN:</a:t>
            </a:r>
          </a:p>
        </p:txBody>
      </p:sp>
      <p:sp>
        <p:nvSpPr>
          <p:cNvPr id="37" name="Rectangle 36"/>
          <p:cNvSpPr/>
          <p:nvPr/>
        </p:nvSpPr>
        <p:spPr>
          <a:xfrm>
            <a:off x="6263640" y="3977639"/>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4069079"/>
            <a:ext cx="1828800" cy="274320"/>
          </a:xfrm>
          <a:prstGeom prst="rect">
            <a:avLst/>
          </a:prstGeom>
          <a:noFill/>
        </p:spPr>
        <p:txBody>
          <a:bodyPr wrap="square" lIns="0" rIns="0" tIns="0" bIns="0" anchor="t">
            <a:spAutoFit/>
          </a:bodyPr>
          <a:lstStyle/>
          <a:p>
            <a:pPr algn="ctr"/>
            <a:r>
              <a:rPr sz="900" b="0">
                <a:solidFill>
                  <a:srgbClr val="36454F"/>
                </a:solidFill>
                <a:latin typeface="Calibri"/>
              </a:rPr>
              <a:t>actual=churn</a:t>
            </a:r>
          </a:p>
          <a:p>
            <a:pPr algn="ctr"/>
            <a:r>
              <a:rPr sz="900" b="0">
                <a:solidFill>
                  <a:srgbClr val="36454F"/>
                </a:solidFill>
                <a:latin typeface="Calibri"/>
              </a:rPr>
              <a:t>pred=churn</a:t>
            </a:r>
          </a:p>
        </p:txBody>
      </p:sp>
      <p:sp>
        <p:nvSpPr>
          <p:cNvPr id="39" name="TextBox 38"/>
          <p:cNvSpPr txBox="1"/>
          <p:nvPr/>
        </p:nvSpPr>
        <p:spPr>
          <a:xfrm>
            <a:off x="6263640" y="4480559"/>
            <a:ext cx="1828800" cy="640080"/>
          </a:xfrm>
          <a:prstGeom prst="rect">
            <a:avLst/>
          </a:prstGeom>
          <a:noFill/>
        </p:spPr>
        <p:txBody>
          <a:bodyPr wrap="square" lIns="0" rIns="0" tIns="0" bIns="0" anchor="t">
            <a:spAutoFit/>
          </a:bodyPr>
          <a:lstStyle/>
          <a:p>
            <a:pPr algn="ctr"/>
            <a:r>
              <a:rPr sz="2000" b="1">
                <a:solidFill>
                  <a:srgbClr val="21C39A"/>
                </a:solidFill>
                <a:latin typeface="Trebuchet MS"/>
              </a:rPr>
              <a:t>226</a:t>
            </a:r>
          </a:p>
        </p:txBody>
      </p:sp>
      <p:sp>
        <p:nvSpPr>
          <p:cNvPr id="40" name="TextBox 39"/>
          <p:cNvSpPr txBox="1"/>
          <p:nvPr/>
        </p:nvSpPr>
        <p:spPr>
          <a:xfrm>
            <a:off x="6263640" y="5166359"/>
            <a:ext cx="1828800" cy="274320"/>
          </a:xfrm>
          <a:prstGeom prst="rect">
            <a:avLst/>
          </a:prstGeom>
          <a:noFill/>
        </p:spPr>
        <p:txBody>
          <a:bodyPr wrap="square" lIns="0" rIns="0" tIns="0" bIns="0" anchor="t">
            <a:spAutoFit/>
          </a:bodyPr>
          <a:lstStyle/>
          <a:p>
            <a:pPr algn="ctr"/>
            <a:r>
              <a:rPr sz="1000" b="0">
                <a:solidFill>
                  <a:srgbClr val="21C39A"/>
                </a:solidFill>
                <a:latin typeface="Calibri"/>
              </a:rPr>
              <a:t>TP:</a:t>
            </a:r>
          </a:p>
        </p:txBody>
      </p:sp>
      <p:sp>
        <p:nvSpPr>
          <p:cNvPr id="41" name="Rectangle 40"/>
          <p:cNvSpPr/>
          <p:nvPr/>
        </p:nvSpPr>
        <p:spPr>
          <a:xfrm>
            <a:off x="8321040" y="1828800"/>
            <a:ext cx="36576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21040" y="1874519"/>
            <a:ext cx="3657600" cy="365760"/>
          </a:xfrm>
          <a:prstGeom prst="rect">
            <a:avLst/>
          </a:prstGeom>
          <a:noFill/>
        </p:spPr>
        <p:txBody>
          <a:bodyPr wrap="square" lIns="0" rIns="0" tIns="0" bIns="0" anchor="t">
            <a:spAutoFit/>
          </a:bodyPr>
          <a:lstStyle/>
          <a:p>
            <a:pPr algn="ctr"/>
            <a:r>
              <a:rPr sz="1400" b="1">
                <a:solidFill>
                  <a:srgbClr val="FFFFFF"/>
                </a:solidFill>
                <a:latin typeface="Calibri"/>
              </a:rPr>
              <a:t>GB (tuned)</a:t>
            </a:r>
          </a:p>
        </p:txBody>
      </p:sp>
      <p:sp>
        <p:nvSpPr>
          <p:cNvPr id="43" name="Rectangle 42"/>
          <p:cNvSpPr/>
          <p:nvPr/>
        </p:nvSpPr>
        <p:spPr>
          <a:xfrm>
            <a:off x="8321040" y="2331720"/>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1040" y="2423160"/>
            <a:ext cx="1828800" cy="274320"/>
          </a:xfrm>
          <a:prstGeom prst="rect">
            <a:avLst/>
          </a:prstGeom>
          <a:noFill/>
        </p:spPr>
        <p:txBody>
          <a:bodyPr wrap="square" lIns="0" rIns="0" tIns="0" bIns="0" anchor="t">
            <a:spAutoFit/>
          </a:bodyPr>
          <a:lstStyle/>
          <a:p>
            <a:pPr algn="ctr"/>
            <a:r>
              <a:rPr sz="900" b="0">
                <a:solidFill>
                  <a:srgbClr val="36454F"/>
                </a:solidFill>
                <a:latin typeface="Calibri"/>
              </a:rPr>
              <a:t>actual=stay</a:t>
            </a:r>
          </a:p>
          <a:p>
            <a:pPr algn="ctr"/>
            <a:r>
              <a:rPr sz="900" b="0">
                <a:solidFill>
                  <a:srgbClr val="36454F"/>
                </a:solidFill>
                <a:latin typeface="Calibri"/>
              </a:rPr>
              <a:t>pred=stay</a:t>
            </a:r>
          </a:p>
        </p:txBody>
      </p:sp>
      <p:sp>
        <p:nvSpPr>
          <p:cNvPr id="45" name="TextBox 44"/>
          <p:cNvSpPr txBox="1"/>
          <p:nvPr/>
        </p:nvSpPr>
        <p:spPr>
          <a:xfrm>
            <a:off x="8321040" y="2834640"/>
            <a:ext cx="1828800" cy="640080"/>
          </a:xfrm>
          <a:prstGeom prst="rect">
            <a:avLst/>
          </a:prstGeom>
          <a:noFill/>
        </p:spPr>
        <p:txBody>
          <a:bodyPr wrap="square" lIns="0" rIns="0" tIns="0" bIns="0" anchor="t">
            <a:spAutoFit/>
          </a:bodyPr>
          <a:lstStyle/>
          <a:p>
            <a:pPr algn="ctr"/>
            <a:r>
              <a:rPr sz="2000" b="1">
                <a:solidFill>
                  <a:srgbClr val="21C39A"/>
                </a:solidFill>
                <a:latin typeface="Trebuchet MS"/>
              </a:rPr>
              <a:t>791</a:t>
            </a:r>
          </a:p>
        </p:txBody>
      </p:sp>
      <p:sp>
        <p:nvSpPr>
          <p:cNvPr id="46" name="TextBox 45"/>
          <p:cNvSpPr txBox="1"/>
          <p:nvPr/>
        </p:nvSpPr>
        <p:spPr>
          <a:xfrm>
            <a:off x="8321040" y="3520440"/>
            <a:ext cx="1828800" cy="274320"/>
          </a:xfrm>
          <a:prstGeom prst="rect">
            <a:avLst/>
          </a:prstGeom>
          <a:noFill/>
        </p:spPr>
        <p:txBody>
          <a:bodyPr wrap="square" lIns="0" rIns="0" tIns="0" bIns="0" anchor="t">
            <a:spAutoFit/>
          </a:bodyPr>
          <a:lstStyle/>
          <a:p>
            <a:pPr algn="ctr"/>
            <a:r>
              <a:rPr sz="1000" b="0">
                <a:solidFill>
                  <a:srgbClr val="21C39A"/>
                </a:solidFill>
                <a:latin typeface="Calibri"/>
              </a:rPr>
              <a:t>TN:</a:t>
            </a:r>
          </a:p>
        </p:txBody>
      </p:sp>
      <p:sp>
        <p:nvSpPr>
          <p:cNvPr id="47" name="Rectangle 46"/>
          <p:cNvSpPr/>
          <p:nvPr/>
        </p:nvSpPr>
        <p:spPr>
          <a:xfrm>
            <a:off x="10149840" y="2331720"/>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49840" y="2423160"/>
            <a:ext cx="1828800" cy="274320"/>
          </a:xfrm>
          <a:prstGeom prst="rect">
            <a:avLst/>
          </a:prstGeom>
          <a:noFill/>
        </p:spPr>
        <p:txBody>
          <a:bodyPr wrap="square" lIns="0" rIns="0" tIns="0" bIns="0" anchor="t">
            <a:spAutoFit/>
          </a:bodyPr>
          <a:lstStyle/>
          <a:p>
            <a:pPr algn="ctr"/>
            <a:r>
              <a:rPr sz="900" b="0">
                <a:solidFill>
                  <a:srgbClr val="36454F"/>
                </a:solidFill>
                <a:latin typeface="Calibri"/>
              </a:rPr>
              <a:t>actual=stay</a:t>
            </a:r>
          </a:p>
          <a:p>
            <a:pPr algn="ctr"/>
            <a:r>
              <a:rPr sz="900" b="0">
                <a:solidFill>
                  <a:srgbClr val="36454F"/>
                </a:solidFill>
                <a:latin typeface="Calibri"/>
              </a:rPr>
              <a:t>pred=churn</a:t>
            </a:r>
          </a:p>
        </p:txBody>
      </p:sp>
      <p:sp>
        <p:nvSpPr>
          <p:cNvPr id="49" name="TextBox 48"/>
          <p:cNvSpPr txBox="1"/>
          <p:nvPr/>
        </p:nvSpPr>
        <p:spPr>
          <a:xfrm>
            <a:off x="10149840" y="2834640"/>
            <a:ext cx="1828800" cy="640080"/>
          </a:xfrm>
          <a:prstGeom prst="rect">
            <a:avLst/>
          </a:prstGeom>
          <a:noFill/>
        </p:spPr>
        <p:txBody>
          <a:bodyPr wrap="square" lIns="0" rIns="0" tIns="0" bIns="0" anchor="t">
            <a:spAutoFit/>
          </a:bodyPr>
          <a:lstStyle/>
          <a:p>
            <a:pPr algn="ctr"/>
            <a:r>
              <a:rPr sz="2000" b="1">
                <a:solidFill>
                  <a:srgbClr val="F96167"/>
                </a:solidFill>
                <a:latin typeface="Trebuchet MS"/>
              </a:rPr>
              <a:t>969</a:t>
            </a:r>
          </a:p>
        </p:txBody>
      </p:sp>
      <p:sp>
        <p:nvSpPr>
          <p:cNvPr id="50" name="TextBox 49"/>
          <p:cNvSpPr txBox="1"/>
          <p:nvPr/>
        </p:nvSpPr>
        <p:spPr>
          <a:xfrm>
            <a:off x="10149840" y="3520440"/>
            <a:ext cx="1828800" cy="274320"/>
          </a:xfrm>
          <a:prstGeom prst="rect">
            <a:avLst/>
          </a:prstGeom>
          <a:noFill/>
        </p:spPr>
        <p:txBody>
          <a:bodyPr wrap="square" lIns="0" rIns="0" tIns="0" bIns="0" anchor="t">
            <a:spAutoFit/>
          </a:bodyPr>
          <a:lstStyle/>
          <a:p>
            <a:pPr algn="ctr"/>
            <a:r>
              <a:rPr sz="1000" b="0">
                <a:solidFill>
                  <a:srgbClr val="F96167"/>
                </a:solidFill>
                <a:latin typeface="Calibri"/>
              </a:rPr>
              <a:t>FP:</a:t>
            </a:r>
          </a:p>
        </p:txBody>
      </p:sp>
      <p:sp>
        <p:nvSpPr>
          <p:cNvPr id="51" name="Rectangle 50"/>
          <p:cNvSpPr/>
          <p:nvPr/>
        </p:nvSpPr>
        <p:spPr>
          <a:xfrm>
            <a:off x="8321040" y="3977639"/>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21040" y="4069079"/>
            <a:ext cx="1828800" cy="274320"/>
          </a:xfrm>
          <a:prstGeom prst="rect">
            <a:avLst/>
          </a:prstGeom>
          <a:noFill/>
        </p:spPr>
        <p:txBody>
          <a:bodyPr wrap="square" lIns="0" rIns="0" tIns="0" bIns="0" anchor="t">
            <a:spAutoFit/>
          </a:bodyPr>
          <a:lstStyle/>
          <a:p>
            <a:pPr algn="ctr"/>
            <a:r>
              <a:rPr sz="900" b="0">
                <a:solidFill>
                  <a:srgbClr val="36454F"/>
                </a:solidFill>
                <a:latin typeface="Calibri"/>
              </a:rPr>
              <a:t>actual=churn</a:t>
            </a:r>
          </a:p>
          <a:p>
            <a:pPr algn="ctr"/>
            <a:r>
              <a:rPr sz="900" b="0">
                <a:solidFill>
                  <a:srgbClr val="36454F"/>
                </a:solidFill>
                <a:latin typeface="Calibri"/>
              </a:rPr>
              <a:t>pred=stay</a:t>
            </a:r>
          </a:p>
        </p:txBody>
      </p:sp>
      <p:sp>
        <p:nvSpPr>
          <p:cNvPr id="53" name="TextBox 52"/>
          <p:cNvSpPr txBox="1"/>
          <p:nvPr/>
        </p:nvSpPr>
        <p:spPr>
          <a:xfrm>
            <a:off x="8321040" y="4480559"/>
            <a:ext cx="1828800" cy="640080"/>
          </a:xfrm>
          <a:prstGeom prst="rect">
            <a:avLst/>
          </a:prstGeom>
          <a:noFill/>
        </p:spPr>
        <p:txBody>
          <a:bodyPr wrap="square" lIns="0" rIns="0" tIns="0" bIns="0" anchor="t">
            <a:spAutoFit/>
          </a:bodyPr>
          <a:lstStyle/>
          <a:p>
            <a:pPr algn="ctr"/>
            <a:r>
              <a:rPr sz="2000" b="1">
                <a:solidFill>
                  <a:srgbClr val="F96167"/>
                </a:solidFill>
                <a:latin typeface="Trebuchet MS"/>
              </a:rPr>
              <a:t>28</a:t>
            </a:r>
          </a:p>
        </p:txBody>
      </p:sp>
      <p:sp>
        <p:nvSpPr>
          <p:cNvPr id="54" name="TextBox 53"/>
          <p:cNvSpPr txBox="1"/>
          <p:nvPr/>
        </p:nvSpPr>
        <p:spPr>
          <a:xfrm>
            <a:off x="8321040" y="5166359"/>
            <a:ext cx="1828800" cy="274320"/>
          </a:xfrm>
          <a:prstGeom prst="rect">
            <a:avLst/>
          </a:prstGeom>
          <a:noFill/>
        </p:spPr>
        <p:txBody>
          <a:bodyPr wrap="square" lIns="0" rIns="0" tIns="0" bIns="0" anchor="t">
            <a:spAutoFit/>
          </a:bodyPr>
          <a:lstStyle/>
          <a:p>
            <a:pPr algn="ctr"/>
            <a:r>
              <a:rPr sz="1000" b="0">
                <a:solidFill>
                  <a:srgbClr val="F96167"/>
                </a:solidFill>
                <a:latin typeface="Calibri"/>
              </a:rPr>
              <a:t>FN:</a:t>
            </a:r>
          </a:p>
        </p:txBody>
      </p:sp>
      <p:sp>
        <p:nvSpPr>
          <p:cNvPr id="55" name="Rectangle 54"/>
          <p:cNvSpPr/>
          <p:nvPr/>
        </p:nvSpPr>
        <p:spPr>
          <a:xfrm>
            <a:off x="10149840" y="3977639"/>
            <a:ext cx="1828800" cy="15544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49840" y="4069079"/>
            <a:ext cx="1828800" cy="274320"/>
          </a:xfrm>
          <a:prstGeom prst="rect">
            <a:avLst/>
          </a:prstGeom>
          <a:noFill/>
        </p:spPr>
        <p:txBody>
          <a:bodyPr wrap="square" lIns="0" rIns="0" tIns="0" bIns="0" anchor="t">
            <a:spAutoFit/>
          </a:bodyPr>
          <a:lstStyle/>
          <a:p>
            <a:pPr algn="ctr"/>
            <a:r>
              <a:rPr sz="900" b="0">
                <a:solidFill>
                  <a:srgbClr val="36454F"/>
                </a:solidFill>
                <a:latin typeface="Calibri"/>
              </a:rPr>
              <a:t>actual=churn</a:t>
            </a:r>
          </a:p>
          <a:p>
            <a:pPr algn="ctr"/>
            <a:r>
              <a:rPr sz="900" b="0">
                <a:solidFill>
                  <a:srgbClr val="36454F"/>
                </a:solidFill>
                <a:latin typeface="Calibri"/>
              </a:rPr>
              <a:t>pred=churn</a:t>
            </a:r>
          </a:p>
        </p:txBody>
      </p:sp>
      <p:sp>
        <p:nvSpPr>
          <p:cNvPr id="57" name="TextBox 56"/>
          <p:cNvSpPr txBox="1"/>
          <p:nvPr/>
        </p:nvSpPr>
        <p:spPr>
          <a:xfrm>
            <a:off x="10149840" y="4480559"/>
            <a:ext cx="1828800" cy="640080"/>
          </a:xfrm>
          <a:prstGeom prst="rect">
            <a:avLst/>
          </a:prstGeom>
          <a:noFill/>
        </p:spPr>
        <p:txBody>
          <a:bodyPr wrap="square" lIns="0" rIns="0" tIns="0" bIns="0" anchor="t">
            <a:spAutoFit/>
          </a:bodyPr>
          <a:lstStyle/>
          <a:p>
            <a:pPr algn="ctr"/>
            <a:r>
              <a:rPr sz="2000" b="1">
                <a:solidFill>
                  <a:srgbClr val="21C39A"/>
                </a:solidFill>
                <a:latin typeface="Trebuchet MS"/>
              </a:rPr>
              <a:t>212</a:t>
            </a:r>
          </a:p>
        </p:txBody>
      </p:sp>
      <p:sp>
        <p:nvSpPr>
          <p:cNvPr id="58" name="TextBox 57"/>
          <p:cNvSpPr txBox="1"/>
          <p:nvPr/>
        </p:nvSpPr>
        <p:spPr>
          <a:xfrm>
            <a:off x="10149840" y="5166359"/>
            <a:ext cx="1828800" cy="274320"/>
          </a:xfrm>
          <a:prstGeom prst="rect">
            <a:avLst/>
          </a:prstGeom>
          <a:noFill/>
        </p:spPr>
        <p:txBody>
          <a:bodyPr wrap="square" lIns="0" rIns="0" tIns="0" bIns="0" anchor="t">
            <a:spAutoFit/>
          </a:bodyPr>
          <a:lstStyle/>
          <a:p>
            <a:pPr algn="ctr"/>
            <a:r>
              <a:rPr sz="1000" b="0">
                <a:solidFill>
                  <a:srgbClr val="21C39A"/>
                </a:solidFill>
                <a:latin typeface="Calibri"/>
              </a:rPr>
              <a:t>TP:</a:t>
            </a:r>
          </a:p>
        </p:txBody>
      </p:sp>
      <p:sp>
        <p:nvSpPr>
          <p:cNvPr id="59" name="TextBox 5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22/28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Performance Recap</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Where we started · where we landed</a:t>
            </a:r>
          </a:p>
        </p:txBody>
      </p:sp>
      <p:sp>
        <p:nvSpPr>
          <p:cNvPr id="5" name="Rectangle 4"/>
          <p:cNvSpPr/>
          <p:nvPr/>
        </p:nvSpPr>
        <p:spPr>
          <a:xfrm>
            <a:off x="548640" y="1783080"/>
            <a:ext cx="365760" cy="777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1783080"/>
            <a:ext cx="10698480" cy="777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874520"/>
            <a:ext cx="4572000" cy="365760"/>
          </a:xfrm>
          <a:prstGeom prst="rect">
            <a:avLst/>
          </a:prstGeom>
          <a:noFill/>
        </p:spPr>
        <p:txBody>
          <a:bodyPr wrap="square" lIns="0" rIns="0" tIns="0" bIns="0" anchor="t">
            <a:spAutoFit/>
          </a:bodyPr>
          <a:lstStyle/>
          <a:p>
            <a:pPr algn="l"/>
            <a:r>
              <a:rPr sz="1500" b="1">
                <a:solidFill>
                  <a:srgbClr val="065A82"/>
                </a:solidFill>
                <a:latin typeface="Calibri"/>
              </a:rPr>
              <a:t>L03 baseline</a:t>
            </a:r>
          </a:p>
        </p:txBody>
      </p:sp>
      <p:sp>
        <p:nvSpPr>
          <p:cNvPr id="8" name="TextBox 7"/>
          <p:cNvSpPr txBox="1"/>
          <p:nvPr/>
        </p:nvSpPr>
        <p:spPr>
          <a:xfrm>
            <a:off x="1188720" y="2240280"/>
            <a:ext cx="4572000" cy="320040"/>
          </a:xfrm>
          <a:prstGeom prst="rect">
            <a:avLst/>
          </a:prstGeom>
          <a:noFill/>
        </p:spPr>
        <p:txBody>
          <a:bodyPr wrap="square" lIns="0" rIns="0" tIns="0" bIns="0" anchor="t">
            <a:spAutoFit/>
          </a:bodyPr>
          <a:lstStyle/>
          <a:p>
            <a:pPr algn="l"/>
            <a:r>
              <a:rPr sz="1200" b="0">
                <a:solidFill>
                  <a:srgbClr val="36454F"/>
                </a:solidFill>
                <a:latin typeface="Calibri"/>
              </a:rPr>
              <a:t>Logistic regression, threshold 0.25</a:t>
            </a:r>
          </a:p>
        </p:txBody>
      </p:sp>
      <p:sp>
        <p:nvSpPr>
          <p:cNvPr id="9" name="TextBox 8"/>
          <p:cNvSpPr txBox="1"/>
          <p:nvPr/>
        </p:nvSpPr>
        <p:spPr>
          <a:xfrm>
            <a:off x="7772400" y="1920240"/>
            <a:ext cx="3657600" cy="548640"/>
          </a:xfrm>
          <a:prstGeom prst="rect">
            <a:avLst/>
          </a:prstGeom>
          <a:noFill/>
        </p:spPr>
        <p:txBody>
          <a:bodyPr wrap="square" lIns="0" rIns="0" tIns="0" bIns="0" anchor="t">
            <a:spAutoFit/>
          </a:bodyPr>
          <a:lstStyle/>
          <a:p>
            <a:pPr algn="r"/>
            <a:r>
              <a:rPr sz="3200" b="1">
                <a:solidFill>
                  <a:srgbClr val="065A82"/>
                </a:solidFill>
                <a:latin typeface="Trebuchet MS"/>
              </a:rPr>
              <a:t>0.282</a:t>
            </a:r>
          </a:p>
        </p:txBody>
      </p:sp>
      <p:sp>
        <p:nvSpPr>
          <p:cNvPr id="10" name="Rectangle 9"/>
          <p:cNvSpPr/>
          <p:nvPr/>
        </p:nvSpPr>
        <p:spPr>
          <a:xfrm>
            <a:off x="548640" y="2651760"/>
            <a:ext cx="365760" cy="777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2651760"/>
            <a:ext cx="10698480" cy="777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743200"/>
            <a:ext cx="4572000" cy="365760"/>
          </a:xfrm>
          <a:prstGeom prst="rect">
            <a:avLst/>
          </a:prstGeom>
          <a:noFill/>
        </p:spPr>
        <p:txBody>
          <a:bodyPr wrap="square" lIns="0" rIns="0" tIns="0" bIns="0" anchor="t">
            <a:spAutoFit/>
          </a:bodyPr>
          <a:lstStyle/>
          <a:p>
            <a:pPr algn="l"/>
            <a:r>
              <a:rPr sz="1500" b="1">
                <a:solidFill>
                  <a:srgbClr val="065A82"/>
                </a:solidFill>
                <a:latin typeface="Calibri"/>
              </a:rPr>
              <a:t>Default Random Forest</a:t>
            </a:r>
          </a:p>
        </p:txBody>
      </p:sp>
      <p:sp>
        <p:nvSpPr>
          <p:cNvPr id="13" name="TextBox 12"/>
          <p:cNvSpPr txBox="1"/>
          <p:nvPr/>
        </p:nvSpPr>
        <p:spPr>
          <a:xfrm>
            <a:off x="1188720" y="3108960"/>
            <a:ext cx="4572000" cy="320040"/>
          </a:xfrm>
          <a:prstGeom prst="rect">
            <a:avLst/>
          </a:prstGeom>
          <a:noFill/>
        </p:spPr>
        <p:txBody>
          <a:bodyPr wrap="square" lIns="0" rIns="0" tIns="0" bIns="0" anchor="t">
            <a:spAutoFit/>
          </a:bodyPr>
          <a:lstStyle/>
          <a:p>
            <a:pPr algn="l"/>
            <a:r>
              <a:rPr sz="1200" b="0">
                <a:solidFill>
                  <a:srgbClr val="36454F"/>
                </a:solidFill>
                <a:latin typeface="Calibri"/>
              </a:rPr>
              <a:t>+ class_weight='balanced'</a:t>
            </a:r>
          </a:p>
        </p:txBody>
      </p:sp>
      <p:sp>
        <p:nvSpPr>
          <p:cNvPr id="14" name="TextBox 13"/>
          <p:cNvSpPr txBox="1"/>
          <p:nvPr/>
        </p:nvSpPr>
        <p:spPr>
          <a:xfrm>
            <a:off x="7772400" y="2788920"/>
            <a:ext cx="3657600" cy="548640"/>
          </a:xfrm>
          <a:prstGeom prst="rect">
            <a:avLst/>
          </a:prstGeom>
          <a:noFill/>
        </p:spPr>
        <p:txBody>
          <a:bodyPr wrap="square" lIns="0" rIns="0" tIns="0" bIns="0" anchor="t">
            <a:spAutoFit/>
          </a:bodyPr>
          <a:lstStyle/>
          <a:p>
            <a:pPr algn="r"/>
            <a:r>
              <a:rPr sz="3200" b="1">
                <a:solidFill>
                  <a:srgbClr val="1C7293"/>
                </a:solidFill>
                <a:latin typeface="Trebuchet MS"/>
              </a:rPr>
              <a:t>0.313</a:t>
            </a:r>
          </a:p>
        </p:txBody>
      </p:sp>
      <p:sp>
        <p:nvSpPr>
          <p:cNvPr id="15" name="Rectangle 14"/>
          <p:cNvSpPr/>
          <p:nvPr/>
        </p:nvSpPr>
        <p:spPr>
          <a:xfrm>
            <a:off x="548640" y="3520439"/>
            <a:ext cx="365760" cy="7772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 y="3520439"/>
            <a:ext cx="10698480" cy="777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611879"/>
            <a:ext cx="4572000" cy="365760"/>
          </a:xfrm>
          <a:prstGeom prst="rect">
            <a:avLst/>
          </a:prstGeom>
          <a:noFill/>
        </p:spPr>
        <p:txBody>
          <a:bodyPr wrap="square" lIns="0" rIns="0" tIns="0" bIns="0" anchor="t">
            <a:spAutoFit/>
          </a:bodyPr>
          <a:lstStyle/>
          <a:p>
            <a:pPr algn="l"/>
            <a:r>
              <a:rPr sz="1500" b="1">
                <a:solidFill>
                  <a:srgbClr val="065A82"/>
                </a:solidFill>
                <a:latin typeface="Calibri"/>
              </a:rPr>
              <a:t>Default Gradient Boosting</a:t>
            </a:r>
          </a:p>
        </p:txBody>
      </p:sp>
      <p:sp>
        <p:nvSpPr>
          <p:cNvPr id="18" name="TextBox 17"/>
          <p:cNvSpPr txBox="1"/>
          <p:nvPr/>
        </p:nvSpPr>
        <p:spPr>
          <a:xfrm>
            <a:off x="1188720" y="3977639"/>
            <a:ext cx="4572000" cy="320040"/>
          </a:xfrm>
          <a:prstGeom prst="rect">
            <a:avLst/>
          </a:prstGeom>
          <a:noFill/>
        </p:spPr>
        <p:txBody>
          <a:bodyPr wrap="square" lIns="0" rIns="0" tIns="0" bIns="0" anchor="t">
            <a:spAutoFit/>
          </a:bodyPr>
          <a:lstStyle/>
          <a:p>
            <a:pPr algn="l"/>
            <a:r>
              <a:rPr sz="1200" b="0">
                <a:solidFill>
                  <a:srgbClr val="36454F"/>
                </a:solidFill>
                <a:latin typeface="Calibri"/>
              </a:rPr>
              <a:t>+ class_weight='balanced'</a:t>
            </a:r>
          </a:p>
        </p:txBody>
      </p:sp>
      <p:sp>
        <p:nvSpPr>
          <p:cNvPr id="19" name="TextBox 18"/>
          <p:cNvSpPr txBox="1"/>
          <p:nvPr/>
        </p:nvSpPr>
        <p:spPr>
          <a:xfrm>
            <a:off x="7772400" y="3657599"/>
            <a:ext cx="3657600" cy="548640"/>
          </a:xfrm>
          <a:prstGeom prst="rect">
            <a:avLst/>
          </a:prstGeom>
          <a:noFill/>
        </p:spPr>
        <p:txBody>
          <a:bodyPr wrap="square" lIns="0" rIns="0" tIns="0" bIns="0" anchor="t">
            <a:spAutoFit/>
          </a:bodyPr>
          <a:lstStyle/>
          <a:p>
            <a:pPr algn="r"/>
            <a:r>
              <a:rPr sz="3200" b="1">
                <a:solidFill>
                  <a:srgbClr val="1C7293"/>
                </a:solidFill>
                <a:latin typeface="Trebuchet MS"/>
              </a:rPr>
              <a:t>0.289</a:t>
            </a:r>
          </a:p>
        </p:txBody>
      </p:sp>
      <p:sp>
        <p:nvSpPr>
          <p:cNvPr id="20" name="Rectangle 19"/>
          <p:cNvSpPr/>
          <p:nvPr/>
        </p:nvSpPr>
        <p:spPr>
          <a:xfrm>
            <a:off x="548640" y="4389120"/>
            <a:ext cx="365760" cy="777240"/>
          </a:xfrm>
          <a:prstGeom prst="rect">
            <a:avLst/>
          </a:prstGeom>
          <a:solidFill>
            <a:srgbClr val="21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4389120"/>
            <a:ext cx="10698480" cy="777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480560"/>
            <a:ext cx="4572000" cy="365760"/>
          </a:xfrm>
          <a:prstGeom prst="rect">
            <a:avLst/>
          </a:prstGeom>
          <a:noFill/>
        </p:spPr>
        <p:txBody>
          <a:bodyPr wrap="square" lIns="0" rIns="0" tIns="0" bIns="0" anchor="t">
            <a:spAutoFit/>
          </a:bodyPr>
          <a:lstStyle/>
          <a:p>
            <a:pPr algn="l"/>
            <a:r>
              <a:rPr sz="1500" b="1">
                <a:solidFill>
                  <a:srgbClr val="065A82"/>
                </a:solidFill>
                <a:latin typeface="Calibri"/>
              </a:rPr>
              <a:t>Tuned Random Forest</a:t>
            </a:r>
          </a:p>
        </p:txBody>
      </p:sp>
      <p:sp>
        <p:nvSpPr>
          <p:cNvPr id="23" name="TextBox 22"/>
          <p:cNvSpPr txBox="1"/>
          <p:nvPr/>
        </p:nvSpPr>
        <p:spPr>
          <a:xfrm>
            <a:off x="1188720" y="4846320"/>
            <a:ext cx="4572000" cy="320040"/>
          </a:xfrm>
          <a:prstGeom prst="rect">
            <a:avLst/>
          </a:prstGeom>
          <a:noFill/>
        </p:spPr>
        <p:txBody>
          <a:bodyPr wrap="square" lIns="0" rIns="0" tIns="0" bIns="0" anchor="t">
            <a:spAutoFit/>
          </a:bodyPr>
          <a:lstStyle/>
          <a:p>
            <a:pPr algn="l"/>
            <a:r>
              <a:rPr sz="1200" b="0">
                <a:solidFill>
                  <a:srgbClr val="36454F"/>
                </a:solidFill>
                <a:latin typeface="Calibri"/>
              </a:rPr>
              <a:t>GridSearchCV — top of small grid</a:t>
            </a:r>
          </a:p>
        </p:txBody>
      </p:sp>
      <p:sp>
        <p:nvSpPr>
          <p:cNvPr id="24" name="TextBox 23"/>
          <p:cNvSpPr txBox="1"/>
          <p:nvPr/>
        </p:nvSpPr>
        <p:spPr>
          <a:xfrm>
            <a:off x="7772400" y="4526280"/>
            <a:ext cx="3657600" cy="548640"/>
          </a:xfrm>
          <a:prstGeom prst="rect">
            <a:avLst/>
          </a:prstGeom>
          <a:noFill/>
        </p:spPr>
        <p:txBody>
          <a:bodyPr wrap="square" lIns="0" rIns="0" tIns="0" bIns="0" anchor="t">
            <a:spAutoFit/>
          </a:bodyPr>
          <a:lstStyle/>
          <a:p>
            <a:pPr algn="r"/>
            <a:r>
              <a:rPr sz="3200" b="1">
                <a:solidFill>
                  <a:srgbClr val="21C39A"/>
                </a:solidFill>
                <a:latin typeface="Trebuchet MS"/>
              </a:rPr>
              <a:t>0.321</a:t>
            </a:r>
          </a:p>
        </p:txBody>
      </p:sp>
      <p:sp>
        <p:nvSpPr>
          <p:cNvPr id="25" name="Rectangle 24"/>
          <p:cNvSpPr/>
          <p:nvPr/>
        </p:nvSpPr>
        <p:spPr>
          <a:xfrm>
            <a:off x="548640" y="5257800"/>
            <a:ext cx="365760" cy="777240"/>
          </a:xfrm>
          <a:prstGeom prst="rect">
            <a:avLst/>
          </a:prstGeom>
          <a:solidFill>
            <a:srgbClr val="F9E7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0120" y="5257800"/>
            <a:ext cx="10698480" cy="777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5349240"/>
            <a:ext cx="4572000" cy="365760"/>
          </a:xfrm>
          <a:prstGeom prst="rect">
            <a:avLst/>
          </a:prstGeom>
          <a:noFill/>
        </p:spPr>
        <p:txBody>
          <a:bodyPr wrap="square" lIns="0" rIns="0" tIns="0" bIns="0" anchor="t">
            <a:spAutoFit/>
          </a:bodyPr>
          <a:lstStyle/>
          <a:p>
            <a:pPr algn="l"/>
            <a:r>
              <a:rPr sz="1500" b="1">
                <a:solidFill>
                  <a:srgbClr val="065A82"/>
                </a:solidFill>
                <a:latin typeface="Calibri"/>
              </a:rPr>
              <a:t>Tuned Gradient Boosting</a:t>
            </a:r>
          </a:p>
        </p:txBody>
      </p:sp>
      <p:sp>
        <p:nvSpPr>
          <p:cNvPr id="28" name="TextBox 27"/>
          <p:cNvSpPr txBox="1"/>
          <p:nvPr/>
        </p:nvSpPr>
        <p:spPr>
          <a:xfrm>
            <a:off x="1188720" y="5715000"/>
            <a:ext cx="4572000" cy="320040"/>
          </a:xfrm>
          <a:prstGeom prst="rect">
            <a:avLst/>
          </a:prstGeom>
          <a:noFill/>
        </p:spPr>
        <p:txBody>
          <a:bodyPr wrap="square" lIns="0" rIns="0" tIns="0" bIns="0" anchor="t">
            <a:spAutoFit/>
          </a:bodyPr>
          <a:lstStyle/>
          <a:p>
            <a:pPr algn="l"/>
            <a:r>
              <a:rPr sz="1200" b="0">
                <a:solidFill>
                  <a:srgbClr val="36454F"/>
                </a:solidFill>
                <a:latin typeface="Calibri"/>
              </a:rPr>
              <a:t>GridSearchCV — the winner</a:t>
            </a:r>
          </a:p>
        </p:txBody>
      </p:sp>
      <p:sp>
        <p:nvSpPr>
          <p:cNvPr id="29" name="TextBox 28"/>
          <p:cNvSpPr txBox="1"/>
          <p:nvPr/>
        </p:nvSpPr>
        <p:spPr>
          <a:xfrm>
            <a:off x="7772400" y="5394960"/>
            <a:ext cx="3657600" cy="548640"/>
          </a:xfrm>
          <a:prstGeom prst="rect">
            <a:avLst/>
          </a:prstGeom>
          <a:noFill/>
        </p:spPr>
        <p:txBody>
          <a:bodyPr wrap="square" lIns="0" rIns="0" tIns="0" bIns="0" anchor="t">
            <a:spAutoFit/>
          </a:bodyPr>
          <a:lstStyle/>
          <a:p>
            <a:pPr algn="r"/>
            <a:r>
              <a:rPr sz="3200" b="1">
                <a:solidFill>
                  <a:srgbClr val="F9E795"/>
                </a:solidFill>
                <a:latin typeface="Trebuchet MS"/>
              </a:rPr>
              <a:t>0.335</a:t>
            </a:r>
          </a:p>
        </p:txBody>
      </p:sp>
      <p:sp>
        <p:nvSpPr>
          <p:cNvPr id="30" name="TextBox 2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23/28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Three Things to Remember</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Beyond the algorithms — the practical wisdom</a:t>
            </a:r>
          </a:p>
        </p:txBody>
      </p:sp>
      <p:sp>
        <p:nvSpPr>
          <p:cNvPr id="5" name="Rectangle 4"/>
          <p:cNvSpPr/>
          <p:nvPr/>
        </p:nvSpPr>
        <p:spPr>
          <a:xfrm>
            <a:off x="548640" y="1783080"/>
            <a:ext cx="731520" cy="13258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731520" cy="822960"/>
          </a:xfrm>
          <a:prstGeom prst="rect">
            <a:avLst/>
          </a:prstGeom>
          <a:noFill/>
        </p:spPr>
        <p:txBody>
          <a:bodyPr wrap="square" lIns="0" rIns="0" tIns="0" bIns="0" anchor="t">
            <a:spAutoFit/>
          </a:bodyPr>
          <a:lstStyle/>
          <a:p>
            <a:pPr algn="ctr"/>
            <a:r>
              <a:rPr sz="4800" b="1">
                <a:solidFill>
                  <a:srgbClr val="FFFFFF"/>
                </a:solidFill>
                <a:latin typeface="Trebuchet MS"/>
              </a:rPr>
              <a:t>1</a:t>
            </a:r>
          </a:p>
        </p:txBody>
      </p:sp>
      <p:sp>
        <p:nvSpPr>
          <p:cNvPr id="7" name="Rectangle 6"/>
          <p:cNvSpPr/>
          <p:nvPr/>
        </p:nvSpPr>
        <p:spPr>
          <a:xfrm>
            <a:off x="1417320" y="1783080"/>
            <a:ext cx="10149840" cy="13258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965960"/>
            <a:ext cx="9784080" cy="457200"/>
          </a:xfrm>
          <a:prstGeom prst="rect">
            <a:avLst/>
          </a:prstGeom>
          <a:noFill/>
        </p:spPr>
        <p:txBody>
          <a:bodyPr wrap="square" lIns="0" rIns="0" tIns="0" bIns="0" anchor="t">
            <a:spAutoFit/>
          </a:bodyPr>
          <a:lstStyle/>
          <a:p>
            <a:pPr algn="l"/>
            <a:r>
              <a:rPr sz="1700" b="1">
                <a:solidFill>
                  <a:srgbClr val="065A82"/>
                </a:solidFill>
                <a:latin typeface="Calibri"/>
              </a:rPr>
              <a:t>class_weight='balanced' is the unlock on imbalanced data</a:t>
            </a:r>
          </a:p>
        </p:txBody>
      </p:sp>
      <p:sp>
        <p:nvSpPr>
          <p:cNvPr id="9" name="TextBox 8"/>
          <p:cNvSpPr txBox="1"/>
          <p:nvPr/>
        </p:nvSpPr>
        <p:spPr>
          <a:xfrm>
            <a:off x="1645920" y="2423160"/>
            <a:ext cx="9784080" cy="640080"/>
          </a:xfrm>
          <a:prstGeom prst="rect">
            <a:avLst/>
          </a:prstGeom>
          <a:noFill/>
        </p:spPr>
        <p:txBody>
          <a:bodyPr wrap="square" lIns="0" rIns="0" tIns="0" bIns="0" anchor="t">
            <a:spAutoFit/>
          </a:bodyPr>
          <a:lstStyle/>
          <a:p>
            <a:pPr algn="l"/>
            <a:r>
              <a:rPr sz="1300" b="0">
                <a:solidFill>
                  <a:srgbClr val="36454F"/>
                </a:solidFill>
                <a:latin typeface="Calibri"/>
              </a:rPr>
              <a:t>Bigger F1 win than any single hyperparameter. Always check.</a:t>
            </a:r>
          </a:p>
        </p:txBody>
      </p:sp>
      <p:sp>
        <p:nvSpPr>
          <p:cNvPr id="10" name="Rectangle 9"/>
          <p:cNvSpPr/>
          <p:nvPr/>
        </p:nvSpPr>
        <p:spPr>
          <a:xfrm>
            <a:off x="548640" y="3246120"/>
            <a:ext cx="731520" cy="13258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731520" cy="822960"/>
          </a:xfrm>
          <a:prstGeom prst="rect">
            <a:avLst/>
          </a:prstGeom>
          <a:noFill/>
        </p:spPr>
        <p:txBody>
          <a:bodyPr wrap="square" lIns="0" rIns="0" tIns="0" bIns="0" anchor="t">
            <a:spAutoFit/>
          </a:bodyPr>
          <a:lstStyle/>
          <a:p>
            <a:pPr algn="ctr"/>
            <a:r>
              <a:rPr sz="4800" b="1">
                <a:solidFill>
                  <a:srgbClr val="FFFFFF"/>
                </a:solidFill>
                <a:latin typeface="Trebuchet MS"/>
              </a:rPr>
              <a:t>2</a:t>
            </a:r>
          </a:p>
        </p:txBody>
      </p:sp>
      <p:sp>
        <p:nvSpPr>
          <p:cNvPr id="12" name="Rectangle 11"/>
          <p:cNvSpPr/>
          <p:nvPr/>
        </p:nvSpPr>
        <p:spPr>
          <a:xfrm>
            <a:off x="1417320" y="3246120"/>
            <a:ext cx="10149840" cy="13258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3429000"/>
            <a:ext cx="9784080" cy="457200"/>
          </a:xfrm>
          <a:prstGeom prst="rect">
            <a:avLst/>
          </a:prstGeom>
          <a:noFill/>
        </p:spPr>
        <p:txBody>
          <a:bodyPr wrap="square" lIns="0" rIns="0" tIns="0" bIns="0" anchor="t">
            <a:spAutoFit/>
          </a:bodyPr>
          <a:lstStyle/>
          <a:p>
            <a:pPr algn="l"/>
            <a:r>
              <a:rPr sz="1700" b="1">
                <a:solidFill>
                  <a:srgbClr val="065A82"/>
                </a:solidFill>
                <a:latin typeface="Calibri"/>
              </a:rPr>
              <a:t>Tuning beats algorithm choice on this problem</a:t>
            </a:r>
          </a:p>
        </p:txBody>
      </p:sp>
      <p:sp>
        <p:nvSpPr>
          <p:cNvPr id="14" name="TextBox 13"/>
          <p:cNvSpPr txBox="1"/>
          <p:nvPr/>
        </p:nvSpPr>
        <p:spPr>
          <a:xfrm>
            <a:off x="1645920" y="3886200"/>
            <a:ext cx="9784080" cy="640080"/>
          </a:xfrm>
          <a:prstGeom prst="rect">
            <a:avLst/>
          </a:prstGeom>
          <a:noFill/>
        </p:spPr>
        <p:txBody>
          <a:bodyPr wrap="square" lIns="0" rIns="0" tIns="0" bIns="0" anchor="t">
            <a:spAutoFit/>
          </a:bodyPr>
          <a:lstStyle/>
          <a:p>
            <a:pPr algn="l"/>
            <a:r>
              <a:rPr sz="1300" b="0">
                <a:solidFill>
                  <a:srgbClr val="36454F"/>
                </a:solidFill>
                <a:latin typeface="Calibri"/>
              </a:rPr>
              <a:t>Defaults: RF and GB tied. Tuned: GB ahead by 0.01–0.02 F1. The lift from tuning &gt; lift from switching algorithms.</a:t>
            </a:r>
          </a:p>
        </p:txBody>
      </p:sp>
      <p:sp>
        <p:nvSpPr>
          <p:cNvPr id="15" name="Rectangle 14"/>
          <p:cNvSpPr/>
          <p:nvPr/>
        </p:nvSpPr>
        <p:spPr>
          <a:xfrm>
            <a:off x="548640" y="4709160"/>
            <a:ext cx="731520" cy="13258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937760"/>
            <a:ext cx="731520" cy="822960"/>
          </a:xfrm>
          <a:prstGeom prst="rect">
            <a:avLst/>
          </a:prstGeom>
          <a:noFill/>
        </p:spPr>
        <p:txBody>
          <a:bodyPr wrap="square" lIns="0" rIns="0" tIns="0" bIns="0" anchor="t">
            <a:spAutoFit/>
          </a:bodyPr>
          <a:lstStyle/>
          <a:p>
            <a:pPr algn="ctr"/>
            <a:r>
              <a:rPr sz="4800" b="1">
                <a:solidFill>
                  <a:srgbClr val="FFFFFF"/>
                </a:solidFill>
                <a:latin typeface="Trebuchet MS"/>
              </a:rPr>
              <a:t>3</a:t>
            </a:r>
          </a:p>
        </p:txBody>
      </p:sp>
      <p:sp>
        <p:nvSpPr>
          <p:cNvPr id="17" name="Rectangle 16"/>
          <p:cNvSpPr/>
          <p:nvPr/>
        </p:nvSpPr>
        <p:spPr>
          <a:xfrm>
            <a:off x="1417320" y="4709160"/>
            <a:ext cx="10149840" cy="13258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4892040"/>
            <a:ext cx="9784080" cy="457200"/>
          </a:xfrm>
          <a:prstGeom prst="rect">
            <a:avLst/>
          </a:prstGeom>
          <a:noFill/>
        </p:spPr>
        <p:txBody>
          <a:bodyPr wrap="square" lIns="0" rIns="0" tIns="0" bIns="0" anchor="t">
            <a:spAutoFit/>
          </a:bodyPr>
          <a:lstStyle/>
          <a:p>
            <a:pPr algn="l"/>
            <a:r>
              <a:rPr sz="1700" b="1">
                <a:solidFill>
                  <a:srgbClr val="065A82"/>
                </a:solidFill>
                <a:latin typeface="Calibri"/>
              </a:rPr>
              <a:t>The Friday recommendation is a judgement call</a:t>
            </a:r>
          </a:p>
        </p:txBody>
      </p:sp>
      <p:sp>
        <p:nvSpPr>
          <p:cNvPr id="19" name="TextBox 18"/>
          <p:cNvSpPr txBox="1"/>
          <p:nvPr/>
        </p:nvSpPr>
        <p:spPr>
          <a:xfrm>
            <a:off x="1645920" y="5349240"/>
            <a:ext cx="9784080" cy="640080"/>
          </a:xfrm>
          <a:prstGeom prst="rect">
            <a:avLst/>
          </a:prstGeom>
          <a:noFill/>
        </p:spPr>
        <p:txBody>
          <a:bodyPr wrap="square" lIns="0" rIns="0" tIns="0" bIns="0" anchor="t">
            <a:spAutoFit/>
          </a:bodyPr>
          <a:lstStyle/>
          <a:p>
            <a:pPr algn="l"/>
            <a:r>
              <a:rPr sz="1300" b="0">
                <a:solidFill>
                  <a:srgbClr val="36454F"/>
                </a:solidFill>
                <a:latin typeface="Calibri"/>
              </a:rPr>
              <a:t>F1 isn't the only criterion. Interpretability, operational complexity, team familiarity — all matter.</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24/28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698480" cy="640080"/>
          </a:xfrm>
          <a:prstGeom prst="rect">
            <a:avLst/>
          </a:prstGeom>
          <a:noFill/>
        </p:spPr>
        <p:txBody>
          <a:bodyPr wrap="square" lIns="0" rIns="0" tIns="0" bIns="0" anchor="t">
            <a:spAutoFit/>
          </a:bodyPr>
          <a:lstStyle/>
          <a:p>
            <a:pPr algn="l"/>
            <a:r>
              <a:rPr sz="4200" b="1">
                <a:solidFill>
                  <a:srgbClr val="FFFFFF"/>
                </a:solidFill>
                <a:latin typeface="Trebuchet MS"/>
              </a:rPr>
              <a:t>L04 — Recap</a:t>
            </a:r>
          </a:p>
        </p:txBody>
      </p:sp>
      <p:sp>
        <p:nvSpPr>
          <p:cNvPr id="4" name="TextBox 3"/>
          <p:cNvSpPr txBox="1"/>
          <p:nvPr/>
        </p:nvSpPr>
        <p:spPr>
          <a:xfrm>
            <a:off x="731520" y="2011680"/>
            <a:ext cx="10698480" cy="457200"/>
          </a:xfrm>
          <a:prstGeom prst="rect">
            <a:avLst/>
          </a:prstGeom>
          <a:noFill/>
        </p:spPr>
        <p:txBody>
          <a:bodyPr wrap="square" lIns="0" rIns="0" tIns="0" bIns="0" anchor="t">
            <a:spAutoFit/>
          </a:bodyPr>
          <a:lstStyle/>
          <a:p>
            <a:pPr algn="l"/>
            <a:r>
              <a:rPr sz="1800" b="1">
                <a:solidFill>
                  <a:srgbClr val="F9E795"/>
                </a:solidFill>
                <a:latin typeface="Calibri"/>
              </a:rPr>
              <a:t>Sarah's journey so far</a:t>
            </a:r>
          </a:p>
        </p:txBody>
      </p:sp>
      <p:sp>
        <p:nvSpPr>
          <p:cNvPr id="5" name="TextBox 4"/>
          <p:cNvSpPr txBox="1"/>
          <p:nvPr/>
        </p:nvSpPr>
        <p:spPr>
          <a:xfrm>
            <a:off x="731520" y="2697480"/>
            <a:ext cx="914400" cy="457200"/>
          </a:xfrm>
          <a:prstGeom prst="rect">
            <a:avLst/>
          </a:prstGeom>
          <a:noFill/>
        </p:spPr>
        <p:txBody>
          <a:bodyPr wrap="square" lIns="0" rIns="0" tIns="0" bIns="0" anchor="t">
            <a:spAutoFit/>
          </a:bodyPr>
          <a:lstStyle/>
          <a:p>
            <a:pPr algn="l"/>
            <a:r>
              <a:rPr sz="2200" b="1">
                <a:solidFill>
                  <a:srgbClr val="E8F1F5"/>
                </a:solidFill>
                <a:latin typeface="Trebuchet MS"/>
              </a:rPr>
              <a:t>L01</a:t>
            </a:r>
          </a:p>
        </p:txBody>
      </p:sp>
      <p:sp>
        <p:nvSpPr>
          <p:cNvPr id="6" name="TextBox 5"/>
          <p:cNvSpPr txBox="1"/>
          <p:nvPr/>
        </p:nvSpPr>
        <p:spPr>
          <a:xfrm>
            <a:off x="1737360" y="2697480"/>
            <a:ext cx="6858000" cy="457200"/>
          </a:xfrm>
          <a:prstGeom prst="rect">
            <a:avLst/>
          </a:prstGeom>
          <a:noFill/>
        </p:spPr>
        <p:txBody>
          <a:bodyPr wrap="square" lIns="0" rIns="0" tIns="0" bIns="0" anchor="t">
            <a:spAutoFit/>
          </a:bodyPr>
          <a:lstStyle/>
          <a:p>
            <a:pPr algn="l"/>
            <a:r>
              <a:rPr sz="1400" b="0">
                <a:solidFill>
                  <a:srgbClr val="E8F1F5"/>
                </a:solidFill>
                <a:latin typeface="Calibri"/>
              </a:rPr>
              <a:t>Ran a pre-trained model on 10,000 reviews</a:t>
            </a:r>
          </a:p>
        </p:txBody>
      </p:sp>
      <p:sp>
        <p:nvSpPr>
          <p:cNvPr id="7" name="TextBox 6"/>
          <p:cNvSpPr txBox="1"/>
          <p:nvPr/>
        </p:nvSpPr>
        <p:spPr>
          <a:xfrm>
            <a:off x="8686800" y="2697480"/>
            <a:ext cx="2926080" cy="457200"/>
          </a:xfrm>
          <a:prstGeom prst="rect">
            <a:avLst/>
          </a:prstGeom>
          <a:noFill/>
        </p:spPr>
        <p:txBody>
          <a:bodyPr wrap="square" lIns="0" rIns="0" tIns="0" bIns="0" anchor="t">
            <a:spAutoFit/>
          </a:bodyPr>
          <a:lstStyle/>
          <a:p>
            <a:pPr algn="l"/>
            <a:r>
              <a:rPr sz="1300" b="0">
                <a:solidFill>
                  <a:srgbClr val="E8F1F5"/>
                </a:solidFill>
                <a:latin typeface="Calibri"/>
              </a:rPr>
              <a:t>→ 'how sure are we?'</a:t>
            </a:r>
          </a:p>
        </p:txBody>
      </p:sp>
      <p:sp>
        <p:nvSpPr>
          <p:cNvPr id="8" name="TextBox 7"/>
          <p:cNvSpPr txBox="1"/>
          <p:nvPr/>
        </p:nvSpPr>
        <p:spPr>
          <a:xfrm>
            <a:off x="731520" y="3291840"/>
            <a:ext cx="914400" cy="457200"/>
          </a:xfrm>
          <a:prstGeom prst="rect">
            <a:avLst/>
          </a:prstGeom>
          <a:noFill/>
        </p:spPr>
        <p:txBody>
          <a:bodyPr wrap="square" lIns="0" rIns="0" tIns="0" bIns="0" anchor="t">
            <a:spAutoFit/>
          </a:bodyPr>
          <a:lstStyle/>
          <a:p>
            <a:pPr algn="l"/>
            <a:r>
              <a:rPr sz="2200" b="1">
                <a:solidFill>
                  <a:srgbClr val="E8F1F5"/>
                </a:solidFill>
                <a:latin typeface="Trebuchet MS"/>
              </a:rPr>
              <a:t>L02</a:t>
            </a:r>
          </a:p>
        </p:txBody>
      </p:sp>
      <p:sp>
        <p:nvSpPr>
          <p:cNvPr id="9" name="TextBox 8"/>
          <p:cNvSpPr txBox="1"/>
          <p:nvPr/>
        </p:nvSpPr>
        <p:spPr>
          <a:xfrm>
            <a:off x="1737360" y="3291840"/>
            <a:ext cx="6858000" cy="457200"/>
          </a:xfrm>
          <a:prstGeom prst="rect">
            <a:avLst/>
          </a:prstGeom>
          <a:noFill/>
        </p:spPr>
        <p:txBody>
          <a:bodyPr wrap="square" lIns="0" rIns="0" tIns="0" bIns="0" anchor="t">
            <a:spAutoFit/>
          </a:bodyPr>
          <a:lstStyle/>
          <a:p>
            <a:pPr algn="l"/>
            <a:r>
              <a:rPr sz="1400" b="0">
                <a:solidFill>
                  <a:srgbClr val="E8F1F5"/>
                </a:solidFill>
                <a:latin typeface="Calibri"/>
              </a:rPr>
              <a:t>Bracketed every number with CIs and tested the coupon</a:t>
            </a:r>
          </a:p>
        </p:txBody>
      </p:sp>
      <p:sp>
        <p:nvSpPr>
          <p:cNvPr id="10" name="TextBox 9"/>
          <p:cNvSpPr txBox="1"/>
          <p:nvPr/>
        </p:nvSpPr>
        <p:spPr>
          <a:xfrm>
            <a:off x="8686800" y="3291840"/>
            <a:ext cx="2926080" cy="457200"/>
          </a:xfrm>
          <a:prstGeom prst="rect">
            <a:avLst/>
          </a:prstGeom>
          <a:noFill/>
        </p:spPr>
        <p:txBody>
          <a:bodyPr wrap="square" lIns="0" rIns="0" tIns="0" bIns="0" anchor="t">
            <a:spAutoFit/>
          </a:bodyPr>
          <a:lstStyle/>
          <a:p>
            <a:pPr algn="l"/>
            <a:r>
              <a:rPr sz="1300" b="0">
                <a:solidFill>
                  <a:srgbClr val="E8F1F5"/>
                </a:solidFill>
                <a:latin typeface="Calibri"/>
              </a:rPr>
              <a:t>→ 'train your own?'</a:t>
            </a:r>
          </a:p>
        </p:txBody>
      </p:sp>
      <p:sp>
        <p:nvSpPr>
          <p:cNvPr id="11" name="TextBox 10"/>
          <p:cNvSpPr txBox="1"/>
          <p:nvPr/>
        </p:nvSpPr>
        <p:spPr>
          <a:xfrm>
            <a:off x="731520" y="3886200"/>
            <a:ext cx="914400" cy="457200"/>
          </a:xfrm>
          <a:prstGeom prst="rect">
            <a:avLst/>
          </a:prstGeom>
          <a:noFill/>
        </p:spPr>
        <p:txBody>
          <a:bodyPr wrap="square" lIns="0" rIns="0" tIns="0" bIns="0" anchor="t">
            <a:spAutoFit/>
          </a:bodyPr>
          <a:lstStyle/>
          <a:p>
            <a:pPr algn="l"/>
            <a:r>
              <a:rPr sz="2200" b="1">
                <a:solidFill>
                  <a:srgbClr val="E8F1F5"/>
                </a:solidFill>
                <a:latin typeface="Trebuchet MS"/>
              </a:rPr>
              <a:t>L03</a:t>
            </a:r>
          </a:p>
        </p:txBody>
      </p:sp>
      <p:sp>
        <p:nvSpPr>
          <p:cNvPr id="12" name="TextBox 11"/>
          <p:cNvSpPr txBox="1"/>
          <p:nvPr/>
        </p:nvSpPr>
        <p:spPr>
          <a:xfrm>
            <a:off x="1737360" y="3886200"/>
            <a:ext cx="6858000" cy="457200"/>
          </a:xfrm>
          <a:prstGeom prst="rect">
            <a:avLst/>
          </a:prstGeom>
          <a:noFill/>
        </p:spPr>
        <p:txBody>
          <a:bodyPr wrap="square" lIns="0" rIns="0" tIns="0" bIns="0" anchor="t">
            <a:spAutoFit/>
          </a:bodyPr>
          <a:lstStyle/>
          <a:p>
            <a:pPr algn="l"/>
            <a:r>
              <a:rPr sz="1400" b="0">
                <a:solidFill>
                  <a:srgbClr val="E8F1F5"/>
                </a:solidFill>
                <a:latin typeface="Calibri"/>
              </a:rPr>
              <a:t>Trained logistic regression + made threshold call</a:t>
            </a:r>
          </a:p>
        </p:txBody>
      </p:sp>
      <p:sp>
        <p:nvSpPr>
          <p:cNvPr id="13" name="TextBox 12"/>
          <p:cNvSpPr txBox="1"/>
          <p:nvPr/>
        </p:nvSpPr>
        <p:spPr>
          <a:xfrm>
            <a:off x="8686800" y="3886200"/>
            <a:ext cx="2926080" cy="457200"/>
          </a:xfrm>
          <a:prstGeom prst="rect">
            <a:avLst/>
          </a:prstGeom>
          <a:noFill/>
        </p:spPr>
        <p:txBody>
          <a:bodyPr wrap="square" lIns="0" rIns="0" tIns="0" bIns="0" anchor="t">
            <a:spAutoFit/>
          </a:bodyPr>
          <a:lstStyle/>
          <a:p>
            <a:pPr algn="l"/>
            <a:r>
              <a:rPr sz="1300" b="0">
                <a:solidFill>
                  <a:srgbClr val="E8F1F5"/>
                </a:solidFill>
                <a:latin typeface="Calibri"/>
              </a:rPr>
              <a:t>→ 'make it better?'</a:t>
            </a:r>
          </a:p>
        </p:txBody>
      </p:sp>
      <p:sp>
        <p:nvSpPr>
          <p:cNvPr id="14" name="TextBox 13"/>
          <p:cNvSpPr txBox="1"/>
          <p:nvPr/>
        </p:nvSpPr>
        <p:spPr>
          <a:xfrm>
            <a:off x="731520" y="4480560"/>
            <a:ext cx="914400" cy="457200"/>
          </a:xfrm>
          <a:prstGeom prst="rect">
            <a:avLst/>
          </a:prstGeom>
          <a:noFill/>
        </p:spPr>
        <p:txBody>
          <a:bodyPr wrap="square" lIns="0" rIns="0" tIns="0" bIns="0" anchor="t">
            <a:spAutoFit/>
          </a:bodyPr>
          <a:lstStyle/>
          <a:p>
            <a:pPr algn="l"/>
            <a:r>
              <a:rPr sz="2200" b="1">
                <a:solidFill>
                  <a:srgbClr val="F9E795"/>
                </a:solidFill>
                <a:latin typeface="Trebuchet MS"/>
              </a:rPr>
              <a:t>L04</a:t>
            </a:r>
          </a:p>
        </p:txBody>
      </p:sp>
      <p:sp>
        <p:nvSpPr>
          <p:cNvPr id="15" name="TextBox 14"/>
          <p:cNvSpPr txBox="1"/>
          <p:nvPr/>
        </p:nvSpPr>
        <p:spPr>
          <a:xfrm>
            <a:off x="1737360" y="4480560"/>
            <a:ext cx="6858000" cy="457200"/>
          </a:xfrm>
          <a:prstGeom prst="rect">
            <a:avLst/>
          </a:prstGeom>
          <a:noFill/>
        </p:spPr>
        <p:txBody>
          <a:bodyPr wrap="square" lIns="0" rIns="0" tIns="0" bIns="0" anchor="t">
            <a:spAutoFit/>
          </a:bodyPr>
          <a:lstStyle/>
          <a:p>
            <a:pPr algn="l"/>
            <a:r>
              <a:rPr sz="1400" b="0">
                <a:solidFill>
                  <a:srgbClr val="F9E795"/>
                </a:solidFill>
                <a:latin typeface="Calibri"/>
              </a:rPr>
              <a:t>Random Forest + Gradient Boosting + GridSearch</a:t>
            </a:r>
          </a:p>
        </p:txBody>
      </p:sp>
      <p:sp>
        <p:nvSpPr>
          <p:cNvPr id="16" name="TextBox 15"/>
          <p:cNvSpPr txBox="1"/>
          <p:nvPr/>
        </p:nvSpPr>
        <p:spPr>
          <a:xfrm>
            <a:off x="8686800" y="4480560"/>
            <a:ext cx="2926080" cy="457200"/>
          </a:xfrm>
          <a:prstGeom prst="rect">
            <a:avLst/>
          </a:prstGeom>
          <a:noFill/>
        </p:spPr>
        <p:txBody>
          <a:bodyPr wrap="square" lIns="0" rIns="0" tIns="0" bIns="0" anchor="t">
            <a:spAutoFit/>
          </a:bodyPr>
          <a:lstStyle/>
          <a:p>
            <a:pPr algn="l"/>
            <a:r>
              <a:rPr sz="1300" b="1">
                <a:solidFill>
                  <a:srgbClr val="F9E795"/>
                </a:solidFill>
                <a:latin typeface="Calibri"/>
              </a:rPr>
              <a:t>→ 'cluster customers?'</a:t>
            </a:r>
          </a:p>
        </p:txBody>
      </p:sp>
      <p:sp>
        <p:nvSpPr>
          <p:cNvPr id="17" name="TextBox 16"/>
          <p:cNvSpPr txBox="1"/>
          <p:nvPr/>
        </p:nvSpPr>
        <p:spPr>
          <a:xfrm>
            <a:off x="731520" y="5074920"/>
            <a:ext cx="914400" cy="457200"/>
          </a:xfrm>
          <a:prstGeom prst="rect">
            <a:avLst/>
          </a:prstGeom>
          <a:noFill/>
        </p:spPr>
        <p:txBody>
          <a:bodyPr wrap="square" lIns="0" rIns="0" tIns="0" bIns="0" anchor="t">
            <a:spAutoFit/>
          </a:bodyPr>
          <a:lstStyle/>
          <a:p>
            <a:pPr algn="l"/>
            <a:r>
              <a:rPr sz="2200" b="1">
                <a:solidFill>
                  <a:srgbClr val="E8F1F5"/>
                </a:solidFill>
                <a:latin typeface="Trebuchet MS"/>
              </a:rPr>
              <a:t>L05</a:t>
            </a:r>
          </a:p>
        </p:txBody>
      </p:sp>
      <p:sp>
        <p:nvSpPr>
          <p:cNvPr id="18" name="TextBox 17"/>
          <p:cNvSpPr txBox="1"/>
          <p:nvPr/>
        </p:nvSpPr>
        <p:spPr>
          <a:xfrm>
            <a:off x="1737360" y="5074920"/>
            <a:ext cx="6858000" cy="457200"/>
          </a:xfrm>
          <a:prstGeom prst="rect">
            <a:avLst/>
          </a:prstGeom>
          <a:noFill/>
        </p:spPr>
        <p:txBody>
          <a:bodyPr wrap="square" lIns="0" rIns="0" tIns="0" bIns="0" anchor="t">
            <a:spAutoFit/>
          </a:bodyPr>
          <a:lstStyle/>
          <a:p>
            <a:pPr algn="l"/>
            <a:r>
              <a:rPr sz="1400" b="0">
                <a:solidFill>
                  <a:srgbClr val="E8F1F5"/>
                </a:solidFill>
                <a:latin typeface="Calibri"/>
              </a:rPr>
              <a:t>Unsupervised learning — k-means, hierarchical, anomaly detection</a:t>
            </a:r>
          </a:p>
        </p:txBody>
      </p:sp>
      <p:sp>
        <p:nvSpPr>
          <p:cNvPr id="19" name="TextBox 18"/>
          <p:cNvSpPr txBox="1"/>
          <p:nvPr/>
        </p:nvSpPr>
        <p:spPr>
          <a:xfrm>
            <a:off x="8686800" y="5074920"/>
            <a:ext cx="2926080" cy="457200"/>
          </a:xfrm>
          <a:prstGeom prst="rect">
            <a:avLst/>
          </a:prstGeom>
          <a:noFill/>
        </p:spPr>
        <p:txBody>
          <a:bodyPr wrap="square" lIns="0" rIns="0" tIns="0" bIns="0" anchor="t">
            <a:spAutoFit/>
          </a:bodyPr>
          <a:lstStyle/>
          <a:p>
            <a:pPr algn="l"/>
            <a:r>
              <a:rPr sz="1300" b="0">
                <a:solidFill>
                  <a:srgbClr val="E8F1F5"/>
                </a:solidFill>
                <a:latin typeface="Calibri"/>
              </a:rPr>
              <a:t>Coming next</a:t>
            </a:r>
          </a:p>
        </p:txBody>
      </p:sp>
      <p:sp>
        <p:nvSpPr>
          <p:cNvPr id="20" name="Rectangle 19"/>
          <p:cNvSpPr/>
          <p:nvPr/>
        </p:nvSpPr>
        <p:spPr>
          <a:xfrm>
            <a:off x="731520" y="5852160"/>
            <a:ext cx="1069848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943600"/>
            <a:ext cx="10515600" cy="457200"/>
          </a:xfrm>
          <a:prstGeom prst="rect">
            <a:avLst/>
          </a:prstGeom>
          <a:noFill/>
        </p:spPr>
        <p:txBody>
          <a:bodyPr wrap="square" lIns="0" rIns="0" tIns="0" bIns="0" anchor="t">
            <a:spAutoFit/>
          </a:bodyPr>
          <a:lstStyle/>
          <a:p>
            <a:pPr algn="l"/>
            <a:r>
              <a:rPr sz="1400" b="1">
                <a:solidFill>
                  <a:srgbClr val="E8F1F5"/>
                </a:solidFill>
                <a:latin typeface="Trebuchet MS"/>
              </a:rPr>
              <a:t>Thank you. Kaggle competition in notebooks/assignment.ipynb — due before L05.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Kaggle Context</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Why Gradient Boosting dominates tabular competitions</a:t>
            </a:r>
          </a:p>
        </p:txBody>
      </p:sp>
      <p:sp>
        <p:nvSpPr>
          <p:cNvPr id="5" name="Rectangle 4"/>
          <p:cNvSpPr/>
          <p:nvPr/>
        </p:nvSpPr>
        <p:spPr>
          <a:xfrm>
            <a:off x="548640" y="1874519"/>
            <a:ext cx="411480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48839"/>
            <a:ext cx="3840480" cy="457200"/>
          </a:xfrm>
          <a:prstGeom prst="rect">
            <a:avLst/>
          </a:prstGeom>
          <a:noFill/>
        </p:spPr>
        <p:txBody>
          <a:bodyPr wrap="square" lIns="0" rIns="0" tIns="0" bIns="0" anchor="t">
            <a:spAutoFit/>
          </a:bodyPr>
          <a:lstStyle/>
          <a:p>
            <a:pPr algn="l"/>
            <a:r>
              <a:rPr sz="1400" b="1">
                <a:solidFill>
                  <a:srgbClr val="E8F1F5"/>
                </a:solidFill>
                <a:latin typeface="Calibri"/>
              </a:rPr>
              <a:t>Most-won-by algorithm on tabular Kaggle</a:t>
            </a:r>
          </a:p>
        </p:txBody>
      </p:sp>
      <p:sp>
        <p:nvSpPr>
          <p:cNvPr id="7" name="Rectangle 6"/>
          <p:cNvSpPr/>
          <p:nvPr/>
        </p:nvSpPr>
        <p:spPr>
          <a:xfrm>
            <a:off x="4709160" y="1874519"/>
            <a:ext cx="690372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2148839"/>
            <a:ext cx="6583680" cy="457200"/>
          </a:xfrm>
          <a:prstGeom prst="rect">
            <a:avLst/>
          </a:prstGeom>
          <a:noFill/>
        </p:spPr>
        <p:txBody>
          <a:bodyPr wrap="square" lIns="0" rIns="0" tIns="0" bIns="0" anchor="t">
            <a:spAutoFit/>
          </a:bodyPr>
          <a:lstStyle/>
          <a:p>
            <a:pPr algn="l"/>
            <a:r>
              <a:rPr sz="1300" b="0">
                <a:solidFill>
                  <a:srgbClr val="36454F"/>
                </a:solidFill>
                <a:latin typeface="Calibri"/>
              </a:rPr>
              <a:t>XGBoost / LightGBM / HistGradientBoosting</a:t>
            </a:r>
          </a:p>
        </p:txBody>
      </p:sp>
      <p:sp>
        <p:nvSpPr>
          <p:cNvPr id="9" name="Rectangle 8"/>
          <p:cNvSpPr/>
          <p:nvPr/>
        </p:nvSpPr>
        <p:spPr>
          <a:xfrm>
            <a:off x="548640" y="2880360"/>
            <a:ext cx="411480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54680"/>
            <a:ext cx="3840480" cy="457200"/>
          </a:xfrm>
          <a:prstGeom prst="rect">
            <a:avLst/>
          </a:prstGeom>
          <a:noFill/>
        </p:spPr>
        <p:txBody>
          <a:bodyPr wrap="square" lIns="0" rIns="0" tIns="0" bIns="0" anchor="t">
            <a:spAutoFit/>
          </a:bodyPr>
          <a:lstStyle/>
          <a:p>
            <a:pPr algn="l"/>
            <a:r>
              <a:rPr sz="1400" b="1">
                <a:solidFill>
                  <a:srgbClr val="E8F1F5"/>
                </a:solidFill>
                <a:latin typeface="Calibri"/>
              </a:rPr>
              <a:t>Why</a:t>
            </a:r>
          </a:p>
        </p:txBody>
      </p:sp>
      <p:sp>
        <p:nvSpPr>
          <p:cNvPr id="11" name="Rectangle 10"/>
          <p:cNvSpPr/>
          <p:nvPr/>
        </p:nvSpPr>
        <p:spPr>
          <a:xfrm>
            <a:off x="4709160" y="2880360"/>
            <a:ext cx="690372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3154680"/>
            <a:ext cx="6583680" cy="457200"/>
          </a:xfrm>
          <a:prstGeom prst="rect">
            <a:avLst/>
          </a:prstGeom>
          <a:noFill/>
        </p:spPr>
        <p:txBody>
          <a:bodyPr wrap="square" lIns="0" rIns="0" tIns="0" bIns="0" anchor="t">
            <a:spAutoFit/>
          </a:bodyPr>
          <a:lstStyle/>
          <a:p>
            <a:pPr algn="l"/>
            <a:r>
              <a:rPr sz="1300" b="0">
                <a:solidFill>
                  <a:srgbClr val="36454F"/>
                </a:solidFill>
                <a:latin typeface="Calibri"/>
              </a:rPr>
              <a:t>Sequential error correction + shallow trees + smart regularisation</a:t>
            </a:r>
          </a:p>
        </p:txBody>
      </p:sp>
      <p:sp>
        <p:nvSpPr>
          <p:cNvPr id="13" name="Rectangle 12"/>
          <p:cNvSpPr/>
          <p:nvPr/>
        </p:nvSpPr>
        <p:spPr>
          <a:xfrm>
            <a:off x="548640" y="3886200"/>
            <a:ext cx="411480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60520"/>
            <a:ext cx="3840480" cy="457200"/>
          </a:xfrm>
          <a:prstGeom prst="rect">
            <a:avLst/>
          </a:prstGeom>
          <a:noFill/>
        </p:spPr>
        <p:txBody>
          <a:bodyPr wrap="square" lIns="0" rIns="0" tIns="0" bIns="0" anchor="t">
            <a:spAutoFit/>
          </a:bodyPr>
          <a:lstStyle/>
          <a:p>
            <a:pPr algn="l"/>
            <a:r>
              <a:rPr sz="1400" b="1">
                <a:solidFill>
                  <a:srgbClr val="E8F1F5"/>
                </a:solidFill>
                <a:latin typeface="Calibri"/>
              </a:rPr>
              <a:t>What you'd add for a real Kaggle entry</a:t>
            </a:r>
          </a:p>
        </p:txBody>
      </p:sp>
      <p:sp>
        <p:nvSpPr>
          <p:cNvPr id="15" name="Rectangle 14"/>
          <p:cNvSpPr/>
          <p:nvPr/>
        </p:nvSpPr>
        <p:spPr>
          <a:xfrm>
            <a:off x="4709160" y="3886200"/>
            <a:ext cx="690372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4160520"/>
            <a:ext cx="6583680" cy="457200"/>
          </a:xfrm>
          <a:prstGeom prst="rect">
            <a:avLst/>
          </a:prstGeom>
          <a:noFill/>
        </p:spPr>
        <p:txBody>
          <a:bodyPr wrap="square" lIns="0" rIns="0" tIns="0" bIns="0" anchor="t">
            <a:spAutoFit/>
          </a:bodyPr>
          <a:lstStyle/>
          <a:p>
            <a:pPr algn="l"/>
            <a:r>
              <a:rPr sz="1300" b="0">
                <a:solidFill>
                  <a:srgbClr val="36454F"/>
                </a:solidFill>
                <a:latin typeface="Calibri"/>
              </a:rPr>
              <a:t>Feature engineering · stacking · careful CV strategy</a:t>
            </a:r>
          </a:p>
        </p:txBody>
      </p:sp>
      <p:sp>
        <p:nvSpPr>
          <p:cNvPr id="17" name="Rectangle 16"/>
          <p:cNvSpPr/>
          <p:nvPr/>
        </p:nvSpPr>
        <p:spPr>
          <a:xfrm>
            <a:off x="548640" y="4892040"/>
            <a:ext cx="411480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66360"/>
            <a:ext cx="3840480" cy="457200"/>
          </a:xfrm>
          <a:prstGeom prst="rect">
            <a:avLst/>
          </a:prstGeom>
          <a:noFill/>
        </p:spPr>
        <p:txBody>
          <a:bodyPr wrap="square" lIns="0" rIns="0" tIns="0" bIns="0" anchor="t">
            <a:spAutoFit/>
          </a:bodyPr>
          <a:lstStyle/>
          <a:p>
            <a:pPr algn="l"/>
            <a:r>
              <a:rPr sz="1400" b="1">
                <a:solidFill>
                  <a:srgbClr val="E8F1F5"/>
                </a:solidFill>
                <a:latin typeface="Calibri"/>
              </a:rPr>
              <a:t>Where to start</a:t>
            </a:r>
          </a:p>
        </p:txBody>
      </p:sp>
      <p:sp>
        <p:nvSpPr>
          <p:cNvPr id="19" name="Rectangle 18"/>
          <p:cNvSpPr/>
          <p:nvPr/>
        </p:nvSpPr>
        <p:spPr>
          <a:xfrm>
            <a:off x="4709160" y="4892040"/>
            <a:ext cx="690372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5166360"/>
            <a:ext cx="6583680" cy="457200"/>
          </a:xfrm>
          <a:prstGeom prst="rect">
            <a:avLst/>
          </a:prstGeom>
          <a:noFill/>
        </p:spPr>
        <p:txBody>
          <a:bodyPr wrap="square" lIns="0" rIns="0" tIns="0" bIns="0" anchor="t">
            <a:spAutoFit/>
          </a:bodyPr>
          <a:lstStyle/>
          <a:p>
            <a:pPr algn="l"/>
            <a:r>
              <a:rPr sz="1300" b="0">
                <a:solidFill>
                  <a:srgbClr val="36454F"/>
                </a:solidFill>
                <a:latin typeface="Calibri"/>
              </a:rPr>
              <a:t>kaggle.com — pick a tabular competition, apply the L04 pipeline</a:t>
            </a:r>
          </a:p>
        </p:txBody>
      </p:sp>
      <p:sp>
        <p:nvSpPr>
          <p:cNvPr id="21" name="TextBox 20"/>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26/28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000" b="1">
                <a:solidFill>
                  <a:srgbClr val="065A82"/>
                </a:solidFill>
                <a:latin typeface="Trebuchet MS"/>
              </a:rPr>
              <a:t>Interpretability vs Accuracy</a:t>
            </a:r>
          </a:p>
        </p:txBody>
      </p:sp>
      <p:sp>
        <p:nvSpPr>
          <p:cNvPr id="4" name="TextBox 3"/>
          <p:cNvSpPr txBox="1"/>
          <p:nvPr/>
        </p:nvSpPr>
        <p:spPr>
          <a:xfrm>
            <a:off x="548640" y="914400"/>
            <a:ext cx="10972800" cy="457200"/>
          </a:xfrm>
          <a:prstGeom prst="rect">
            <a:avLst/>
          </a:prstGeom>
          <a:noFill/>
        </p:spPr>
        <p:txBody>
          <a:bodyPr wrap="square" lIns="0" rIns="0" tIns="0" bIns="0" anchor="t">
            <a:spAutoFit/>
          </a:bodyPr>
          <a:lstStyle/>
          <a:p>
            <a:pPr algn="l"/>
            <a:r>
              <a:rPr sz="1400" b="0">
                <a:solidFill>
                  <a:srgbClr val="36454F"/>
                </a:solidFill>
                <a:latin typeface="Calibri"/>
              </a:rPr>
              <a:t>The classic tradeoff — pick your seat carefully</a:t>
            </a:r>
          </a:p>
        </p:txBody>
      </p:sp>
      <p:sp>
        <p:nvSpPr>
          <p:cNvPr id="5" name="Rectangle 4"/>
          <p:cNvSpPr/>
          <p:nvPr/>
        </p:nvSpPr>
        <p:spPr>
          <a:xfrm>
            <a:off x="548640" y="2286000"/>
            <a:ext cx="1106424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377440"/>
            <a:ext cx="10972800" cy="274320"/>
          </a:xfrm>
          <a:prstGeom prst="rect">
            <a:avLst/>
          </a:prstGeom>
          <a:noFill/>
        </p:spPr>
        <p:txBody>
          <a:bodyPr wrap="square" lIns="0" rIns="0" tIns="0" bIns="0" anchor="t">
            <a:spAutoFit/>
          </a:bodyPr>
          <a:lstStyle/>
          <a:p>
            <a:pPr algn="ctr"/>
            <a:r>
              <a:rPr sz="1400" b="0">
                <a:solidFill>
                  <a:srgbClr val="FFFFFF"/>
                </a:solidFill>
                <a:latin typeface="Calibri"/>
              </a:rPr>
              <a:t>Interpretability  ◄──────────────────────────────────────────────►  Accuracy</a:t>
            </a:r>
          </a:p>
        </p:txBody>
      </p:sp>
      <p:sp>
        <p:nvSpPr>
          <p:cNvPr id="7" name="Rectangle 6"/>
          <p:cNvSpPr/>
          <p:nvPr/>
        </p:nvSpPr>
        <p:spPr>
          <a:xfrm>
            <a:off x="731520" y="3017520"/>
            <a:ext cx="2194560" cy="2286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154680"/>
            <a:ext cx="2194560" cy="640080"/>
          </a:xfrm>
          <a:prstGeom prst="rect">
            <a:avLst/>
          </a:prstGeom>
          <a:noFill/>
        </p:spPr>
        <p:txBody>
          <a:bodyPr wrap="square" lIns="0" rIns="0" tIns="0" bIns="0" anchor="t">
            <a:spAutoFit/>
          </a:bodyPr>
          <a:lstStyle/>
          <a:p>
            <a:pPr algn="ctr"/>
            <a:r>
              <a:rPr sz="1400" b="1">
                <a:solidFill>
                  <a:srgbClr val="065A82"/>
                </a:solidFill>
                <a:latin typeface="Calibri"/>
              </a:rPr>
              <a:t>Logistic</a:t>
            </a:r>
          </a:p>
          <a:p>
            <a:pPr algn="ctr"/>
            <a:r>
              <a:rPr sz="1400" b="1">
                <a:solidFill>
                  <a:srgbClr val="065A82"/>
                </a:solidFill>
                <a:latin typeface="Calibri"/>
              </a:rPr>
              <a:t>Regression</a:t>
            </a:r>
          </a:p>
        </p:txBody>
      </p:sp>
      <p:sp>
        <p:nvSpPr>
          <p:cNvPr id="9" name="TextBox 8"/>
          <p:cNvSpPr txBox="1"/>
          <p:nvPr/>
        </p:nvSpPr>
        <p:spPr>
          <a:xfrm>
            <a:off x="731520" y="3931920"/>
            <a:ext cx="2194560" cy="1280160"/>
          </a:xfrm>
          <a:prstGeom prst="rect">
            <a:avLst/>
          </a:prstGeom>
          <a:noFill/>
        </p:spPr>
        <p:txBody>
          <a:bodyPr wrap="square" lIns="0" rIns="0" tIns="0" bIns="0" anchor="t">
            <a:spAutoFit/>
          </a:bodyPr>
          <a:lstStyle/>
          <a:p>
            <a:pPr algn="ctr"/>
            <a:r>
              <a:rPr sz="1100" b="0">
                <a:solidFill>
                  <a:srgbClr val="065A82"/>
                </a:solidFill>
                <a:latin typeface="Calibri"/>
              </a:rPr>
              <a:t>Coefficients are direct interpretations</a:t>
            </a:r>
          </a:p>
        </p:txBody>
      </p:sp>
      <p:sp>
        <p:nvSpPr>
          <p:cNvPr id="10" name="Rectangle 9"/>
          <p:cNvSpPr/>
          <p:nvPr/>
        </p:nvSpPr>
        <p:spPr>
          <a:xfrm>
            <a:off x="3200400" y="3017520"/>
            <a:ext cx="2194560" cy="2286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3154680"/>
            <a:ext cx="2194560" cy="640080"/>
          </a:xfrm>
          <a:prstGeom prst="rect">
            <a:avLst/>
          </a:prstGeom>
          <a:noFill/>
        </p:spPr>
        <p:txBody>
          <a:bodyPr wrap="square" lIns="0" rIns="0" tIns="0" bIns="0" anchor="t">
            <a:spAutoFit/>
          </a:bodyPr>
          <a:lstStyle/>
          <a:p>
            <a:pPr algn="ctr"/>
            <a:r>
              <a:rPr sz="1400" b="1">
                <a:solidFill>
                  <a:srgbClr val="065A82"/>
                </a:solidFill>
                <a:latin typeface="Calibri"/>
              </a:rPr>
              <a:t>Decision</a:t>
            </a:r>
          </a:p>
          <a:p>
            <a:pPr algn="ctr"/>
            <a:r>
              <a:rPr sz="1400" b="1">
                <a:solidFill>
                  <a:srgbClr val="065A82"/>
                </a:solidFill>
                <a:latin typeface="Calibri"/>
              </a:rPr>
              <a:t>Tree</a:t>
            </a:r>
          </a:p>
        </p:txBody>
      </p:sp>
      <p:sp>
        <p:nvSpPr>
          <p:cNvPr id="12" name="TextBox 11"/>
          <p:cNvSpPr txBox="1"/>
          <p:nvPr/>
        </p:nvSpPr>
        <p:spPr>
          <a:xfrm>
            <a:off x="3200400" y="3931920"/>
            <a:ext cx="2194560" cy="1280160"/>
          </a:xfrm>
          <a:prstGeom prst="rect">
            <a:avLst/>
          </a:prstGeom>
          <a:noFill/>
        </p:spPr>
        <p:txBody>
          <a:bodyPr wrap="square" lIns="0" rIns="0" tIns="0" bIns="0" anchor="t">
            <a:spAutoFit/>
          </a:bodyPr>
          <a:lstStyle/>
          <a:p>
            <a:pPr algn="ctr"/>
            <a:r>
              <a:rPr sz="1100" b="0">
                <a:solidFill>
                  <a:srgbClr val="065A82"/>
                </a:solidFill>
                <a:latin typeface="Calibri"/>
              </a:rPr>
              <a:t>Visualisable as a flowchart</a:t>
            </a:r>
          </a:p>
        </p:txBody>
      </p:sp>
      <p:sp>
        <p:nvSpPr>
          <p:cNvPr id="13" name="Rectangle 12"/>
          <p:cNvSpPr/>
          <p:nvPr/>
        </p:nvSpPr>
        <p:spPr>
          <a:xfrm>
            <a:off x="5669280" y="3017520"/>
            <a:ext cx="2194560" cy="22860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3154680"/>
            <a:ext cx="2194560" cy="640080"/>
          </a:xfrm>
          <a:prstGeom prst="rect">
            <a:avLst/>
          </a:prstGeom>
          <a:noFill/>
        </p:spPr>
        <p:txBody>
          <a:bodyPr wrap="square" lIns="0" rIns="0" tIns="0" bIns="0" anchor="t">
            <a:spAutoFit/>
          </a:bodyPr>
          <a:lstStyle/>
          <a:p>
            <a:pPr algn="ctr"/>
            <a:r>
              <a:rPr sz="1400" b="1">
                <a:solidFill>
                  <a:srgbClr val="FFFFFF"/>
                </a:solidFill>
                <a:latin typeface="Calibri"/>
              </a:rPr>
              <a:t>Random</a:t>
            </a:r>
          </a:p>
          <a:p>
            <a:pPr algn="ctr"/>
            <a:r>
              <a:rPr sz="1400" b="1">
                <a:solidFill>
                  <a:srgbClr val="FFFFFF"/>
                </a:solidFill>
                <a:latin typeface="Calibri"/>
              </a:rPr>
              <a:t>Forest</a:t>
            </a:r>
          </a:p>
        </p:txBody>
      </p:sp>
      <p:sp>
        <p:nvSpPr>
          <p:cNvPr id="15" name="TextBox 14"/>
          <p:cNvSpPr txBox="1"/>
          <p:nvPr/>
        </p:nvSpPr>
        <p:spPr>
          <a:xfrm>
            <a:off x="5669280" y="3931920"/>
            <a:ext cx="2194560" cy="1280160"/>
          </a:xfrm>
          <a:prstGeom prst="rect">
            <a:avLst/>
          </a:prstGeom>
          <a:noFill/>
        </p:spPr>
        <p:txBody>
          <a:bodyPr wrap="square" lIns="0" rIns="0" tIns="0" bIns="0" anchor="t">
            <a:spAutoFit/>
          </a:bodyPr>
          <a:lstStyle/>
          <a:p>
            <a:pPr algn="ctr"/>
            <a:r>
              <a:rPr sz="1100" b="0">
                <a:solidFill>
                  <a:srgbClr val="FFFFFF"/>
                </a:solidFill>
                <a:latin typeface="Calibri"/>
              </a:rPr>
              <a:t>Feature importance still intuitive</a:t>
            </a:r>
          </a:p>
        </p:txBody>
      </p:sp>
      <p:sp>
        <p:nvSpPr>
          <p:cNvPr id="16" name="Rectangle 15"/>
          <p:cNvSpPr/>
          <p:nvPr/>
        </p:nvSpPr>
        <p:spPr>
          <a:xfrm>
            <a:off x="8138160" y="3017520"/>
            <a:ext cx="2194560" cy="22860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3154680"/>
            <a:ext cx="2194560" cy="640080"/>
          </a:xfrm>
          <a:prstGeom prst="rect">
            <a:avLst/>
          </a:prstGeom>
          <a:noFill/>
        </p:spPr>
        <p:txBody>
          <a:bodyPr wrap="square" lIns="0" rIns="0" tIns="0" bIns="0" anchor="t">
            <a:spAutoFit/>
          </a:bodyPr>
          <a:lstStyle/>
          <a:p>
            <a:pPr algn="ctr"/>
            <a:r>
              <a:rPr sz="1400" b="1">
                <a:solidFill>
                  <a:srgbClr val="FFFFFF"/>
                </a:solidFill>
                <a:latin typeface="Calibri"/>
              </a:rPr>
              <a:t>Gradient</a:t>
            </a:r>
          </a:p>
          <a:p>
            <a:pPr algn="ctr"/>
            <a:r>
              <a:rPr sz="1400" b="1">
                <a:solidFill>
                  <a:srgbClr val="FFFFFF"/>
                </a:solidFill>
                <a:latin typeface="Calibri"/>
              </a:rPr>
              <a:t>Boosting</a:t>
            </a:r>
          </a:p>
        </p:txBody>
      </p:sp>
      <p:sp>
        <p:nvSpPr>
          <p:cNvPr id="18" name="TextBox 17"/>
          <p:cNvSpPr txBox="1"/>
          <p:nvPr/>
        </p:nvSpPr>
        <p:spPr>
          <a:xfrm>
            <a:off x="8138160" y="3931920"/>
            <a:ext cx="2194560" cy="1280160"/>
          </a:xfrm>
          <a:prstGeom prst="rect">
            <a:avLst/>
          </a:prstGeom>
          <a:noFill/>
        </p:spPr>
        <p:txBody>
          <a:bodyPr wrap="square" lIns="0" rIns="0" tIns="0" bIns="0" anchor="t">
            <a:spAutoFit/>
          </a:bodyPr>
          <a:lstStyle/>
          <a:p>
            <a:pPr algn="ctr"/>
            <a:r>
              <a:rPr sz="1100" b="0">
                <a:solidFill>
                  <a:srgbClr val="FFFFFF"/>
                </a:solidFill>
                <a:latin typeface="Calibri"/>
              </a:rPr>
              <a:t>SHAP values needed for individual predictions</a:t>
            </a:r>
          </a:p>
        </p:txBody>
      </p:sp>
      <p:sp>
        <p:nvSpPr>
          <p:cNvPr id="19" name="Rectangle 18"/>
          <p:cNvSpPr/>
          <p:nvPr/>
        </p:nvSpPr>
        <p:spPr>
          <a:xfrm>
            <a:off x="10515600" y="3017520"/>
            <a:ext cx="219456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0" y="3154680"/>
            <a:ext cx="2194560" cy="640080"/>
          </a:xfrm>
          <a:prstGeom prst="rect">
            <a:avLst/>
          </a:prstGeom>
          <a:noFill/>
        </p:spPr>
        <p:txBody>
          <a:bodyPr wrap="square" lIns="0" rIns="0" tIns="0" bIns="0" anchor="t">
            <a:spAutoFit/>
          </a:bodyPr>
          <a:lstStyle/>
          <a:p>
            <a:pPr algn="ctr"/>
            <a:r>
              <a:rPr sz="1400" b="1">
                <a:solidFill>
                  <a:srgbClr val="FFFFFF"/>
                </a:solidFill>
                <a:latin typeface="Calibri"/>
              </a:rPr>
              <a:t>Neural</a:t>
            </a:r>
          </a:p>
          <a:p>
            <a:pPr algn="ctr"/>
            <a:r>
              <a:rPr sz="1400" b="1">
                <a:solidFill>
                  <a:srgbClr val="FFFFFF"/>
                </a:solidFill>
                <a:latin typeface="Calibri"/>
              </a:rPr>
              <a:t>Network</a:t>
            </a:r>
          </a:p>
        </p:txBody>
      </p:sp>
      <p:sp>
        <p:nvSpPr>
          <p:cNvPr id="21" name="TextBox 20"/>
          <p:cNvSpPr txBox="1"/>
          <p:nvPr/>
        </p:nvSpPr>
        <p:spPr>
          <a:xfrm>
            <a:off x="10515600" y="3931920"/>
            <a:ext cx="2194560" cy="1280160"/>
          </a:xfrm>
          <a:prstGeom prst="rect">
            <a:avLst/>
          </a:prstGeom>
          <a:noFill/>
        </p:spPr>
        <p:txBody>
          <a:bodyPr wrap="square" lIns="0" rIns="0" tIns="0" bIns="0" anchor="t">
            <a:spAutoFit/>
          </a:bodyPr>
          <a:lstStyle/>
          <a:p>
            <a:pPr algn="ctr"/>
            <a:r>
              <a:rPr sz="1100" b="0">
                <a:solidFill>
                  <a:srgbClr val="FFFFFF"/>
                </a:solidFill>
                <a:latin typeface="Calibri"/>
              </a:rPr>
              <a:t>Mostly opaque (saliency, attention, etc.)</a:t>
            </a:r>
          </a:p>
        </p:txBody>
      </p:sp>
      <p:sp>
        <p:nvSpPr>
          <p:cNvPr id="22" name="TextBox 21"/>
          <p:cNvSpPr txBox="1"/>
          <p:nvPr/>
        </p:nvSpPr>
        <p:spPr>
          <a:xfrm>
            <a:off x="548640" y="5577840"/>
            <a:ext cx="11064240" cy="365760"/>
          </a:xfrm>
          <a:prstGeom prst="rect">
            <a:avLst/>
          </a:prstGeom>
          <a:noFill/>
        </p:spPr>
        <p:txBody>
          <a:bodyPr wrap="square" lIns="0" rIns="0" tIns="0" bIns="0" anchor="t">
            <a:spAutoFit/>
          </a:bodyPr>
          <a:lstStyle/>
          <a:p>
            <a:pPr algn="l"/>
            <a:r>
              <a:rPr sz="1400" b="1">
                <a:solidFill>
                  <a:srgbClr val="1C7293"/>
                </a:solidFill>
                <a:latin typeface="Calibri"/>
              </a:rPr>
              <a:t>For NorthStar:</a:t>
            </a:r>
          </a:p>
        </p:txBody>
      </p:sp>
      <p:sp>
        <p:nvSpPr>
          <p:cNvPr id="23" name="TextBox 22"/>
          <p:cNvSpPr txBox="1"/>
          <p:nvPr/>
        </p:nvSpPr>
        <p:spPr>
          <a:xfrm>
            <a:off x="548640" y="5943600"/>
            <a:ext cx="11064240" cy="457200"/>
          </a:xfrm>
          <a:prstGeom prst="rect">
            <a:avLst/>
          </a:prstGeom>
          <a:noFill/>
        </p:spPr>
        <p:txBody>
          <a:bodyPr wrap="square" lIns="0" rIns="0" tIns="0" bIns="0" anchor="t">
            <a:spAutoFit/>
          </a:bodyPr>
          <a:lstStyle/>
          <a:p>
            <a:pPr algn="l"/>
            <a:r>
              <a:rPr sz="1300" b="0">
                <a:solidFill>
                  <a:srgbClr val="36454F"/>
                </a:solidFill>
                <a:latin typeface="Calibri"/>
              </a:rPr>
              <a:t>Gradient Boosting strikes the right balance — feature importance is reportable to Marcus, F1 beats RF.</a:t>
            </a:r>
          </a:p>
        </p:txBody>
      </p:sp>
      <p:sp>
        <p:nvSpPr>
          <p:cNvPr id="24" name="TextBox 23"/>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L04 — Slide 27/28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914400"/>
          </a:xfrm>
          <a:prstGeom prst="rect">
            <a:avLst/>
          </a:prstGeom>
          <a:noFill/>
        </p:spPr>
        <p:txBody>
          <a:bodyPr wrap="square" lIns="0" rIns="0" tIns="0" bIns="0" anchor="t">
            <a:spAutoFit/>
          </a:bodyPr>
          <a:lstStyle/>
          <a:p>
            <a:pPr algn="l"/>
            <a:r>
              <a:rPr sz="5400" b="1">
                <a:solidFill>
                  <a:srgbClr val="FFFFFF"/>
                </a:solidFill>
                <a:latin typeface="Trebuchet MS"/>
              </a:rPr>
              <a:t>See You in L05</a:t>
            </a:r>
          </a:p>
        </p:txBody>
      </p:sp>
      <p:sp>
        <p:nvSpPr>
          <p:cNvPr id="4" name="TextBox 3"/>
          <p:cNvSpPr txBox="1"/>
          <p:nvPr/>
        </p:nvSpPr>
        <p:spPr>
          <a:xfrm>
            <a:off x="731520" y="3291840"/>
            <a:ext cx="10698480" cy="457200"/>
          </a:xfrm>
          <a:prstGeom prst="rect">
            <a:avLst/>
          </a:prstGeom>
          <a:noFill/>
        </p:spPr>
        <p:txBody>
          <a:bodyPr wrap="square" lIns="0" rIns="0" tIns="0" bIns="0" anchor="t">
            <a:spAutoFit/>
          </a:bodyPr>
          <a:lstStyle/>
          <a:p>
            <a:pPr algn="l"/>
            <a:r>
              <a:rPr sz="1800" b="0">
                <a:solidFill>
                  <a:srgbClr val="E8F1F5"/>
                </a:solidFill>
                <a:latin typeface="Calibri"/>
              </a:rPr>
              <a:t>Unsupervised Learning — k-means · hierarchical clustering · anomaly detection · PCA</a:t>
            </a:r>
          </a:p>
        </p:txBody>
      </p:sp>
      <p:sp>
        <p:nvSpPr>
          <p:cNvPr id="5" name="TextBox 4"/>
          <p:cNvSpPr txBox="1"/>
          <p:nvPr/>
        </p:nvSpPr>
        <p:spPr>
          <a:xfrm>
            <a:off x="731520" y="4114800"/>
            <a:ext cx="10698480" cy="457200"/>
          </a:xfrm>
          <a:prstGeom prst="rect">
            <a:avLst/>
          </a:prstGeom>
          <a:noFill/>
        </p:spPr>
        <p:txBody>
          <a:bodyPr wrap="square" lIns="0" rIns="0" tIns="0" bIns="0" anchor="t">
            <a:spAutoFit/>
          </a:bodyPr>
          <a:lstStyle/>
          <a:p>
            <a:pPr algn="l"/>
            <a:r>
              <a:rPr sz="1400" b="0">
                <a:solidFill>
                  <a:srgbClr val="F9E795"/>
                </a:solidFill>
                <a:latin typeface="Calibri"/>
              </a:rPr>
              <a:t>Before then: finish the Kaggle competition in notebooks/assignment.ipynb</a:t>
            </a:r>
          </a:p>
        </p:txBody>
      </p:sp>
      <p:sp>
        <p:nvSpPr>
          <p:cNvPr id="6" name="TextBox 5"/>
          <p:cNvSpPr txBox="1"/>
          <p:nvPr/>
        </p:nvSpPr>
        <p:spPr>
          <a:xfrm>
            <a:off x="731520" y="4937760"/>
            <a:ext cx="10698480" cy="457200"/>
          </a:xfrm>
          <a:prstGeom prst="rect">
            <a:avLst/>
          </a:prstGeom>
          <a:noFill/>
        </p:spPr>
        <p:txBody>
          <a:bodyPr wrap="square" lIns="0" rIns="0" tIns="0" bIns="0" anchor="t">
            <a:spAutoFit/>
          </a:bodyPr>
          <a:lstStyle/>
          <a:p>
            <a:pPr algn="l"/>
            <a:r>
              <a:rPr sz="1200" b="0">
                <a:solidFill>
                  <a:srgbClr val="E8F1F5"/>
                </a:solidFill>
                <a:latin typeface="Calibri"/>
              </a:rPr>
              <a:t>And consider XGBoost or LightGBM in optional_extensions.ipynb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