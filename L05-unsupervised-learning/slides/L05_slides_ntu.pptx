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Lesson 5 — Unsupervised Learning. Marcus's question from L04 — 'can we find clusters WITHOUT labels?' — is this week's brief. Three algorithms: PCA, K-Means, Isolation Forest. ~90 min slides + ~90 min hands-on.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recap. Marcus signed off on the L04 gradient boosting model. Then asked a new kind of question: clusters without labels. That's the unsupervised toolkit.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Unsupervised learning isn't just clustering. Three distinct categories: dimensionality reduction, clustering, and anomaly detection. We cover one algorithm from each — together they're ~90% of unsupervised work in industry.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PCA finds new AXES — principal components — along which the data is most spread out. The first component captures the most variance; the second is the next-most variance perpendicular to PC1; and so on. If most variance lives in a few directions, you can drop the rest without losing much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PCA in sklearn is one line. The key output to look at is explained_variance_ratio_ — how much variance each component captures. Plot it as a scree plot to find the elbow.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fitting PCA, READ the loadings — they tell you what each PC 'means' in original feature terms. Large absolute loadings on a feature mean that feature contributes strongly to that PC. Sign indicates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02_pca.ipynb: 30 min, Core only, stop at the 🟡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K-Means partitions data into K groups by minimising within-cluster distance. Algorithm: assign each point to its nearest centroid, move centroids to cluster means, repeat. The result: K compact spherical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K-Means doesn't tell you K. You have to decide. Three standard approaches: elbow method (find the bend in inertia), silhouette score (peaks at a 'right' K), and business judgement (4 segments are easier to act on than 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clustering, the model gives you numbers (0, 1, 2, 3). The VALUE comes from profiling — for each cluster, compute the mean of every feature and compare to global. Then NAME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03_kmeans.ipynb: 30 min, Core only, stop at the 🟡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Anomaly detection finds INDIVIDUAL items that look unlike everything else. Clustering finds groups; anomaly detection finds outliers. Same data, different question. Isolation Forest is the industry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Isolation Forest builds many random trees that recursively split the data. Normal points need MANY splits to be isolated; anomalies are isolated in FEW splits. The output: an anomaly score per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contamination parameter is your prior on how many anomalies exist. But the SCORE is what's robust — you can re-threshold after fitting. Operationally, the score is what you should use, not the binary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04_isolation_forest.ipynb: 30 min, Core only, stop at the 🟡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Friday morning. Sarah has three deliverables: the PCA visualisation for context, the segment table for marketing, and the anomaly list for customer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Marcus's new question — 'can you forecast next quarter's revenue?' — is the engine of L06. Time series forecasting. Different toolkit entirely: ETS, ARIMA, and modern ML-based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parts to the assignment. Part A: segment 8,000 new e-commerce customers (StyleHub). Part B: flag anomalous credit-card transactions for fraud review. Same toolkit, different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and Q&amp;A. Common questions + floor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big lessons from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comparison of the methods covered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journey to date. L01-L05 covers supervised and unsupervised learning. L06 introduces time series — a different way of looking at data altogether.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quick scan of real-world applications. The Core L05 toolkit shows up across marketing, ops, fraud, and analytics functions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reference card you can keep open while working. The five things to remember about unsupervised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Numerical results learners will see in the notebooks. These are the milestones for the L05 in-class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reminder about PCA loadings. After fitting, READ the components_ attribute — it's where the interpretability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unsupervised arc beyond L05. Once you have PCA + K-Means + Isolation Forest, the natural extensions are: deep autoencoders, embedding spaces, and topic modelling. All built on the same foundations.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L06 — time series forecasting —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17320"/>
            <a:ext cx="5349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L05 — Unsupervised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Sarah's week of finding structure without labels</a:t>
            </a:r>
          </a:p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PCA · K-Means · Isolation Forest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L04 → L05 — from prediction to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097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Marcus, end of L04: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Trebuchet MS"/>
              </a:rPr>
              <a:t>"Now — what about the customers who DON'T churn but also don't log in for a year?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Trebuchet MS"/>
              </a:rPr>
              <a:t>Can we find natural CLUSTERS of customer behaviour without labels?"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7462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What's different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3086100"/>
            <a:ext cx="4114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454F"/>
                </a:solidFill>
                <a:latin typeface="Trebuchet MS"/>
              </a:rPr>
              <a:t>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" y="308610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Same dataset, no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6100" y="308610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10,000 NorthStar customers — `churned` column dropped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" y="3463290"/>
            <a:ext cx="4114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454F"/>
                </a:solidFill>
                <a:latin typeface="Trebuchet MS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" y="346329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No 'right answer'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6100" y="346329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We're looking for structure, not predicting a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" y="3840480"/>
            <a:ext cx="4114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454F"/>
                </a:solidFill>
                <a:latin typeface="Trebuchet MS"/>
              </a:rPr>
              <a:t>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" y="38404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Three new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6100" y="384048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PCA (compress) · K-Means (group) · Isolation Forest (flag)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" y="4217670"/>
            <a:ext cx="4114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36454F"/>
                </a:solidFill>
                <a:latin typeface="Trebuchet MS"/>
              </a:rPr>
              <a:t>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" y="421767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Friday deliverable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6100" y="421767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Segments + anomaly list for marketing and customer success</a:t>
            </a:r>
          </a:p>
        </p:txBody>
      </p:sp>
      <p:pic>
        <p:nvPicPr>
          <p:cNvPr id="22" name="Picture 2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Three Categories of Unsupervised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One algorithm from each — covers most of industry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68580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1163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0">
                <a:solidFill>
                  <a:srgbClr val="FFFFFF"/>
                </a:solidFill>
                <a:latin typeface="Trebuchet MS"/>
              </a:rPr>
              <a:t>📐</a:t>
            </a:r>
          </a:p>
        </p:txBody>
      </p:sp>
      <p:sp>
        <p:nvSpPr>
          <p:cNvPr id="7" name="Rectangle 6"/>
          <p:cNvSpPr/>
          <p:nvPr/>
        </p:nvSpPr>
        <p:spPr>
          <a:xfrm>
            <a:off x="1200150" y="1337310"/>
            <a:ext cx="747522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440180"/>
            <a:ext cx="7200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Dimensionality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83080"/>
            <a:ext cx="4800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Squeeze high-dim data into fewer dimensions without losing the signal.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1783080"/>
            <a:ext cx="2057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PCA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34590"/>
            <a:ext cx="68580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0891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0">
                <a:solidFill>
                  <a:srgbClr val="FFFFFF"/>
                </a:solidFill>
                <a:latin typeface="Trebuchet MS"/>
              </a:rPr>
              <a:t>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0150" y="2434590"/>
            <a:ext cx="747522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537460"/>
            <a:ext cx="7200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Clustering / segmentation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880360"/>
            <a:ext cx="4800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Group similar items together.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2880360"/>
            <a:ext cx="2057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7293"/>
                </a:solidFill>
                <a:latin typeface="Calibri"/>
              </a:rPr>
              <a:t>▸ K-Means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31870"/>
            <a:ext cx="68580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806190"/>
            <a:ext cx="685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0">
                <a:solidFill>
                  <a:srgbClr val="FFFFFF"/>
                </a:solidFill>
                <a:latin typeface="Trebuchet MS"/>
              </a:rPr>
              <a:t>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0150" y="3531870"/>
            <a:ext cx="747522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634740"/>
            <a:ext cx="7200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Anomaly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77640"/>
            <a:ext cx="4800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Flag items that look unlike everything else.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3977640"/>
            <a:ext cx="20574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6167"/>
                </a:solidFill>
                <a:latin typeface="Calibri"/>
              </a:rPr>
              <a:t>▸ Isolation Forest</a:t>
            </a:r>
          </a:p>
        </p:txBody>
      </p:sp>
      <p:pic>
        <p:nvPicPr>
          <p:cNvPr id="24" name="Picture 2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PCA — Principal Component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Find new axes that capture the most variance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8298180" cy="11658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4018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48790"/>
            <a:ext cx="78867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"Find new axes — PC1, PC2, ... — that capture the data's variance.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If most variance lives in a few axes, the rest are mostly noise. Drop them."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7462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When to reach for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312039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Visualisation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8940" y="312039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Project 10D customer data into 2D for a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349758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8940" y="349758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Feed a 5-component representation into a downstream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" y="387477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Decorrelation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8940" y="387477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PCs are orthogonal — useful before some algorithms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PCA Mechanics + Scree Plot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Read variance per component, decide how many to keep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645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40180"/>
            <a:ext cx="80238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from sklearn.preprocessing import StandardScaler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from sklearn.decomposition import PCA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scaler = StandardScaler()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X_scaled = scaler.fit_transform(X_numeric)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pca = PCA(n_components=2)     # keep top 2 components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X_2d = pca.fit_transform(X_scaled)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print(pca.explained_variance_ratio_)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# e.g.  [0.42, 0.18]  ← first 2 PCs capture 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08610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Reading the scree plot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463290"/>
            <a:ext cx="8298180" cy="126873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" y="3566160"/>
            <a:ext cx="78867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Look for the ELBOW — the point where adding more PCs gains little.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For visualisation: keep 2 (it's all that fits on a chart).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For preprocessing: keep enough for 80-90% cumulative variance.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If there is no elbow, your data is mostly uncorrelated — PCA won't compress much.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PCA Loadings — Naming the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 each principal component actually represents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8298180" cy="3429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405889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PC1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5100" y="1405889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PC2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14500"/>
            <a:ext cx="8298180" cy="2743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" y="1769364"/>
            <a:ext cx="4114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support_tickets_quarter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76936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onsolas"/>
              </a:rPr>
              <a:t>+0.555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176936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onsolas"/>
              </a:rPr>
              <a:t>+0.009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988820"/>
            <a:ext cx="82981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" y="2043684"/>
            <a:ext cx="4114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04368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onsolas"/>
              </a:rPr>
              <a:t>+0.452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204368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onsolas"/>
              </a:rPr>
              <a:t>−0.405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263140"/>
            <a:ext cx="8298180" cy="2743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" y="2318004"/>
            <a:ext cx="4114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avg_review_polarity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31800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onsolas"/>
              </a:rPr>
              <a:t>−0.432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5100" y="231800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onsolas"/>
              </a:rPr>
              <a:t>+0.113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537460"/>
            <a:ext cx="82981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" y="2592324"/>
            <a:ext cx="4114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tenure_months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59232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onsolas"/>
              </a:rPr>
              <a:t>+0.352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5100" y="259232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onsolas"/>
              </a:rPr>
              <a:t>−0.239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811779"/>
            <a:ext cx="8298180" cy="2743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" y="2866643"/>
            <a:ext cx="4114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last_login_days_ago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866643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onsolas"/>
              </a:rPr>
              <a:t>+0.307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5100" y="2866643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onsolas"/>
              </a:rPr>
              <a:t>+0.468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086100"/>
            <a:ext cx="82981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" y="3140964"/>
            <a:ext cx="4114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returns_per_purchase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314096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onsolas"/>
              </a:rPr>
              <a:t>−0.233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5100" y="314096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onsolas"/>
              </a:rPr>
              <a:t>−0.437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360420"/>
            <a:ext cx="8298180" cy="2743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" y="3415284"/>
            <a:ext cx="41148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num_purchases_quarter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341528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onsolas"/>
              </a:rPr>
              <a:t>+0.126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5100" y="341528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onsolas"/>
              </a:rPr>
              <a:t>+0.591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3874770"/>
            <a:ext cx="8298180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" y="397764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Sarah's interpretation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" y="42862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Trebuchet MS"/>
              </a:rPr>
              <a:t>PC1 → 'frustration': high tickets, age, low reviews. PC2 → 'activity': high purchases, low returns.</a:t>
            </a:r>
          </a:p>
        </p:txBody>
      </p:sp>
      <p:pic>
        <p:nvPicPr>
          <p:cNvPr id="41" name="Picture 4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nsolas"/>
              </a:rPr>
              <a:t>Open: 02_pca.ipynb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1.  Apply PCA to the preprocessed NorthStar features.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2.  Read the scree plot — find the elbow.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3.  Project to 2D and interpret the loadings.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⏱  30 minutes  ·  Stop at the 🟡 Extension marker  ·  Extension is self-paced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K-Means — The Standard Clustering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Partition data into K groups by minimising within-cluster variance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8730"/>
            <a:ext cx="8298180" cy="2057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37160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E8F1F5"/>
                </a:solidFill>
                <a:latin typeface="Calibri"/>
              </a:rPr>
              <a:t>The algorithm (Lloyd's algorithm)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83080"/>
            <a:ext cx="78867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1.  Pick K starting centroids (randomly or with k-means++)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2.  Assign each point to its nearest centroid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3.  Move each centroid to the mean of its assigned points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4.  Repeat from step 2 until centroids stop moving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429000"/>
            <a:ext cx="8298180" cy="13030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" y="353187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When K-Means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74770"/>
            <a:ext cx="7886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✓  Compact, roughly spherical clusters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94226"/>
            <a:ext cx="78867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✓  Moderate dimensionality (run PCA first if you have &gt; 50 features)</a:t>
            </a:r>
          </a:p>
        </p:txBody>
      </p:sp>
      <p:pic>
        <p:nvPicPr>
          <p:cNvPr id="15" name="Picture 1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Choosing K — Three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Mathematics + judgement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54864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4305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337310"/>
            <a:ext cx="761238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4018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Elbow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4879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Plot inertia vs K. Look for the 'bend' where adding more K stops helping much.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2311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▸ Run K=2..10. Plot. Find the kink.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00300"/>
            <a:ext cx="548640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6060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2990" y="2400300"/>
            <a:ext cx="761238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250317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Silhouette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81178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Per-point measure of cluster fit, averaged. Higher = better.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08610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C7293"/>
                </a:solidFill>
                <a:latin typeface="Calibri"/>
              </a:rPr>
              <a:t>▸ Peak score → that K is mathematically the best.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463290"/>
            <a:ext cx="548640" cy="9601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66903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2990" y="3463290"/>
            <a:ext cx="761238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56616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Business judgement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87477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Are 4 segments more actionable than 7? Marketing teams have limits.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14909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6167"/>
                </a:solidFill>
                <a:latin typeface="Calibri"/>
              </a:rPr>
              <a:t>▸ Don't ignore operational reality.</a:t>
            </a:r>
          </a:p>
        </p:txBody>
      </p:sp>
      <p:pic>
        <p:nvPicPr>
          <p:cNvPr id="24" name="Picture 2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Cluster Profiling — From Numbers to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 makes each cluster distinctive?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8298180" cy="3429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19605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Calibri"/>
              </a:rPr>
              <a:t>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500" y="1419605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Calibri"/>
              </a:rPr>
              <a:t>tenure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19605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Calibri"/>
              </a:rPr>
              <a:t>spend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419605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Calibri"/>
              </a:rPr>
              <a:t>returns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419605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Calibri"/>
              </a:rPr>
              <a:t>last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1419605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Calibri"/>
              </a:rPr>
              <a:t>polarity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3740" y="1419605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FFFFF"/>
                </a:solidFill>
                <a:latin typeface="Calibri"/>
              </a:rPr>
              <a:t>Sarah's 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71450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" y="179679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Cluster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4500" y="179679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55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79679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£71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179679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0.09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79679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21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179679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+0.16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3740" y="179679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Loyal long-term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09169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" y="217398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Cluster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4500" y="217398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36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17398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£71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217398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0.13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17398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92 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217398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+0.12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3740" y="217398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Dormant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46888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" y="255117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Cluster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14500" y="255117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17 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255117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£69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255117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0.10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255117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21 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97880" y="255117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+0.13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63740" y="255117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New &amp; active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84607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" y="292836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Cluster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14500" y="292836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36 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292836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£69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03320" y="292836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0.31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292836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22 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292836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onsolas"/>
              </a:rPr>
              <a:t>+0.18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63740" y="2928366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5A82"/>
                </a:solidFill>
                <a:latin typeface="Calibri"/>
              </a:rPr>
              <a:t>High returns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429000"/>
            <a:ext cx="8298180" cy="13030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" y="353187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The Sarah → Marcus translation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7220" y="3909060"/>
            <a:ext cx="78867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FFFFF"/>
                </a:solidFill>
                <a:latin typeface="Trebuchet MS"/>
              </a:rPr>
              <a:t>"Cluster 0 isn't a number. It's our LOYAL LONG-TERM segment — 35% of our base, low return rate, the people we keep happy.</a:t>
            </a:r>
          </a:p>
          <a:p>
            <a:pPr algn="l"/>
            <a:r>
              <a:rPr sz="975" b="0">
                <a:solidFill>
                  <a:srgbClr val="FFFFFF"/>
                </a:solidFill>
                <a:latin typeface="Trebuchet MS"/>
              </a:rPr>
              <a:t>Cluster 1 are the DORMANT — they haven't logged in for three months on average. That's the re-engagement target."</a:t>
            </a:r>
          </a:p>
        </p:txBody>
      </p:sp>
      <p:pic>
        <p:nvPicPr>
          <p:cNvPr id="49" name="Picture 48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nsolas"/>
              </a:rPr>
              <a:t>Open: 03_kmeans.ipynb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1.  Compute elbow + silhouette for K = 2 to 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2.  Pick K = 4 (or your own choice) and fit K-Means.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3.  Profile each cluster + give them business names.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⏱  30 minutes  ·  Stop at the 🟡 Extension marker  ·  Extension is self-paced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Anomaly Detection — Find Unusual Individuals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Different question from clustering — same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4114800" cy="20574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4018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Clustering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1817370"/>
            <a:ext cx="37719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Trebuchet MS"/>
              </a:rPr>
              <a:t>"What GROUPS does my data fall into?"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Trebuchet MS"/>
              </a:rPr>
              <a:t/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Trebuchet MS"/>
              </a:rPr>
              <a:t>→ Output: K labels, one per point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Trebuchet MS"/>
              </a:rPr>
              <a:t/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Trebuchet MS"/>
              </a:rPr>
              <a:t>→ Tool: K-Means, hierarchical, DBSCAN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629150" y="1303020"/>
            <a:ext cx="4114800" cy="20574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44018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E795"/>
                </a:solidFill>
                <a:latin typeface="Calibri"/>
              </a:rPr>
              <a:t>Anomaly detection 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817370"/>
            <a:ext cx="37719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Trebuchet MS"/>
              </a:rPr>
              <a:t>"Which INDIVIDUAL points are unusual?"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Trebuchet M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Trebuchet MS"/>
              </a:rPr>
              <a:t>→ Output: score per point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Trebuchet M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Trebuchet MS"/>
              </a:rPr>
              <a:t>→ Tool: Isolation Forest, One-Class SVM, autoencoders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49758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Common use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" y="3909060"/>
            <a:ext cx="8229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🚨  Fraud detection (banking, e-commerce, insurance)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" y="4128516"/>
            <a:ext cx="82296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🔧  Manufacturing defects</a:t>
            </a:r>
          </a:p>
        </p:txBody>
      </p:sp>
      <p:pic>
        <p:nvPicPr>
          <p:cNvPr id="17" name="Picture 1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Isolation Forest —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Random trees isolate normal points; anomalies get isolated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8298180" cy="1028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4018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The intuition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48790"/>
            <a:ext cx="78867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Trebuchet MS"/>
              </a:rPr>
              <a:t>"Build random splits in the data. NORMAL points sit in the dense middle — many splits before they're isolated.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Trebuchet MS"/>
              </a:rPr>
              <a:t>ANOMALIES sit at the edges — they're isolated in just a few splits."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68880"/>
            <a:ext cx="8298180" cy="1714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930" y="2571750"/>
            <a:ext cx="8023860" cy="157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from sklearn.ensemble import IsolationForest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/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iso = IsolationForest(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    n_estimators=100,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    contamination=0.05,        # expected fraction of anomalies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    random_state=42,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    n_jobs=-1,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)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labels = iso.fit_predict(X_scaled)    # -1 = anomaly, +1 = normal</a:t>
            </a:r>
          </a:p>
          <a:p>
            <a:pPr algn="l"/>
            <a:r>
              <a:rPr sz="1050" b="0">
                <a:solidFill>
                  <a:srgbClr val="E8F1F5"/>
                </a:solidFill>
                <a:latin typeface="Consolas"/>
              </a:rPr>
              <a:t>scores = iso.score_samples(X_scaled)  # raw scores (lower = more anomalous)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286250"/>
            <a:ext cx="8298180" cy="4800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contamination = the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score is what's robust; re-threshold to match team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2674620" cy="17830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7447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6167"/>
                </a:solidFill>
                <a:latin typeface="Calibri"/>
              </a:rPr>
              <a:t>contamination = 0.01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1885950"/>
            <a:ext cx="24003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100 flagged from 10,000</a:t>
            </a:r>
          </a:p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Very strict — only the most extreme outliers.</a:t>
            </a:r>
          </a:p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Use when investigation cost is high.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23260" y="1371600"/>
            <a:ext cx="2674620" cy="17830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4710" y="147447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E795"/>
                </a:solidFill>
                <a:latin typeface="Calibri"/>
              </a:rPr>
              <a:t>contamination = 0.05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4710" y="1885950"/>
            <a:ext cx="24003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500 flagged from 10,000</a:t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Reasonable default.</a:t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Matches typical 'review the most unusual 5%' workflow.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71600"/>
            <a:ext cx="2674620" cy="17830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6490" y="1474470"/>
            <a:ext cx="24003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E795"/>
                </a:solidFill>
                <a:latin typeface="Calibri"/>
              </a:rPr>
              <a:t>contamination = 0.10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6490" y="1885950"/>
            <a:ext cx="24003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1,000 flagged from 10,000</a:t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Permissive — wide net.</a:t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/>
            </a:r>
          </a:p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Use when missing anomalies is more costly than reviewing extras.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360420"/>
            <a:ext cx="8298180" cy="12344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" y="346329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The practical move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" y="3771900"/>
            <a:ext cx="78867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Use score_samples() to get a continuous score per row.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Sort. Pick the top N where N = your team's review capacity (e.g., top 100 / week).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This ignores contamination entirely and lets ops constraints decide.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🟢  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nsolas"/>
              </a:rPr>
              <a:t>Open: 04_isolation_forest.ipynb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1.  Fit Isolation Forest with contamination=0.05.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2.  Inspect the top 10 most anomalous customers — what makes them weird?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3.  Cross-reference: which clusters from NB 03 generate the most anomalies?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⏱  30 minutes  ·  Stop at the 🟡 Extension marker  ·  Extension is self-paced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Friday — Sarah's Three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 lands on Marcus's desk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54864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4305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33731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4018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2D PCA visualisation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73380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Visible structure even though we have 10+ features. The picture Marcus sees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34590"/>
            <a:ext cx="54864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4033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2990" y="243459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53746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Four named customer segments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80360"/>
            <a:ext cx="73380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Loyal long-term · Dormant · New &amp; active · High returns.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With size and recommended action per segment.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31870"/>
            <a:ext cx="54864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3761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990" y="353187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3474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List of ~500 anomalous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77640"/>
            <a:ext cx="73380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Watch list for the customer success team.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Each one a different combination of unusual signals.</a:t>
            </a:r>
          </a:p>
        </p:txBody>
      </p:sp>
      <p:pic>
        <p:nvPicPr>
          <p:cNvPr id="23" name="Picture 2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E8F1F5"/>
                </a:solidFill>
                <a:latin typeface="Calibri"/>
              </a:rPr>
              <a:t>Bridge to Lesson 6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7749540" cy="16459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1540" y="137160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Marcus, after the Friday presentation: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" y="1714500"/>
            <a:ext cx="73380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"Great. Segments shipped. Watch list assigned.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Now — our sales are SEASONAL. We need to know quarterly revenue 90 days ahead so ops can plan inventory.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Can you forecast?"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23260"/>
            <a:ext cx="7749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Lesson 6 — Time Series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00450"/>
            <a:ext cx="7749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E8F1F5"/>
                </a:solidFill>
                <a:latin typeface="Calibri"/>
              </a:rPr>
              <a:t>Classical decomposition · ETS · ARIMA · ML-based forecasting (LightGBM with lag features)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11930"/>
            <a:ext cx="7749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alibri"/>
              </a:rPr>
              <a:t>Different toolkit. Same Sarah-week structure.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Assignment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E-commerce segmentation + credit-card anomalies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4114800" cy="3429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4018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Part A — StyleHub Segments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178308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C7293"/>
                </a:solidFill>
                <a:latin typeface="Consolas"/>
              </a:rPr>
              <a:t>notebooks/assignment.ipynb · Part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631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8,000 e-commerce customers, 7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Exercise A1: preprocessor + 2D PCA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489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Exercise A2: choose K with elbow + silhouette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Exercise A3: profile + name segments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3474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• Deliverable: 4-6 named segments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7730" y="1337310"/>
            <a:ext cx="3977640" cy="3429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3470" y="144018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Part B — Card Fraud Anomalies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6340" y="22631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5,000 credit-card 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6340" y="26060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Exercise B1: fit Isolation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6340" y="29489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Exercise B2: surface the top 50 most unusual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06340" y="32918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6340" y="3634740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• Deliverable: top-50 watch list + recommendation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Q&amp;A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Common questions + the path to L06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4114800" cy="3429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4018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65A82"/>
                </a:solidFill>
                <a:latin typeface="Calibri"/>
              </a:rPr>
              <a:t>💬  Common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545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How do I choose K when the elbow is smooth?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974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Should I use PCA components in K-Means or raw features?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403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Is Isolation Forest better than One-Class SVM?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83229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What if my clusters are non-globular?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261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• How do I evaluate clusters when I have no labels?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930" y="390906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96167"/>
                </a:solidFill>
                <a:latin typeface="Calibri"/>
              </a:rPr>
              <a:t>Bring your own questions.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97730" y="1337310"/>
            <a:ext cx="3977640" cy="3429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3470" y="144018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Calibri"/>
              </a:rPr>
              <a:t>📚  Going deeper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3470" y="19545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Optional notebook covers: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03470" y="22974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· Hierarchical clustering + dendrograms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3470" y="26403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· DBSCAN — density-based clustering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3470" y="2983229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  · UMAP — non-linear visualisation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3470" y="33261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3470" y="36690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Open notebooks/optional_extensions.ipynb</a:t>
            </a:r>
          </a:p>
        </p:txBody>
      </p:sp>
      <p:pic>
        <p:nvPicPr>
          <p:cNvPr id="22" name="Picture 2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Beyond the algorithms — the practical wisdom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54864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0876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33731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7447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Unsupervised methods FIND structure — humans NAME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1737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K-Means gives you cluster 0, 1, 2, 3. Sarah translates to 'Loyal', 'Dormant', 'New', 'High return'. The names are the deliverable.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34590"/>
            <a:ext cx="54864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0604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2990" y="243459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57175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ALWAYS scale before PCA / K-Means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1465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Both algorithms are variance/distance-based. Unscaled features will be dominated by the largest-range column. StandardScaler is the right default.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31870"/>
            <a:ext cx="54864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0332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990" y="353187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69030"/>
            <a:ext cx="73380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Anomaly detection surfaces, humans investigate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1193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The model can't tell you WHY a customer is anomalous. Look at the feature combinations and write the why yourself.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Method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When to reach for which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8298180" cy="3429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00300" y="1405889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405889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405889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Watch out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4879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" y="18310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PCA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0300" y="18310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Dimensionality reduction; viz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8310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Fast, interpretable, linear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3108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Need to scale first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125979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" y="2208275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K-Means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0300" y="2208275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Customer segmentation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208275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Fast, scalable, well understood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208275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Needs K; assumes spherical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50317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" y="258546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Isolation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0300" y="258546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Anomaly detection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58546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High dims; fast; standard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58546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Tune contamination per 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88036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" y="296265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Hierarchical (Ext)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0300" y="296265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Want all K values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296265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Dendrogram visualisation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96265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O(n²) — slow on big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25755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" y="333984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DBSCAN (Ext)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00300" y="333984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Non-globular clusters; outliers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333984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No K needed; finds outliers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33984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Eps tuning is finicky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63474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" y="371703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UMAP (Ext)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00300" y="371703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Non-linear viz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371703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Reveals non-linear 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717036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Slow; not for preprocessing</a:t>
            </a:r>
          </a:p>
        </p:txBody>
      </p:sp>
      <p:pic>
        <p:nvPicPr>
          <p:cNvPr id="41" name="Picture 4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80238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50" b="1">
                <a:solidFill>
                  <a:srgbClr val="FFFFFF"/>
                </a:solidFill>
                <a:latin typeface="Trebuchet MS"/>
              </a:rPr>
              <a:t>L05 —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9E795"/>
                </a:solidFill>
                <a:latin typeface="Calibri"/>
              </a:rPr>
              <a:t>Sarah's journey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5453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020" y="195453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Pre-trained model on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5100" y="195453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'how sure are we?'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6601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3020" y="236601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Confidence intervals + A/B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36601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'train your own?'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7749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020" y="277749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Logistic regression + threshold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277749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'make it better?'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8897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3020" y="318897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Random Forest + Gradient Boosting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318897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→ 'cluster customers?'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0045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E795"/>
                </a:solidFill>
                <a:latin typeface="Trebuchet MS"/>
              </a:rPr>
              <a:t>L05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3020" y="360045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9E795"/>
                </a:solidFill>
                <a:latin typeface="Calibri"/>
              </a:rPr>
              <a:t>PCA · K-Means · Isolation Forest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60045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9E795"/>
                </a:solidFill>
                <a:latin typeface="Calibri"/>
              </a:rPr>
              <a:t>→ 'forecast revenue?'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011930"/>
            <a:ext cx="685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Trebuchet MS"/>
              </a:rPr>
              <a:t>L06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020" y="4011930"/>
            <a:ext cx="5143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Time Series Forecasting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5100" y="4011930"/>
            <a:ext cx="21945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Coming next</a:t>
            </a:r>
          </a:p>
        </p:txBody>
      </p:sp>
      <p:pic>
        <p:nvPicPr>
          <p:cNvPr id="25" name="Picture 2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Where Unsupervised Lives in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PCA + K-Means + Isolation Forest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4018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📊 Marketing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846070" y="133731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44018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Customer segmentation (K-Means) · Product affinity (clustering)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188595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🏦 Finance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46070" y="178308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88595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Fraud (Isolation Forest) · Risk segmentation (clustering)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2885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30" y="233172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🛒 E-commerce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46070" y="222885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33172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Browse patterns (PCA + clustering) · Cart-abandon outliers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67462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30" y="277749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🏥 Healthcare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46070" y="267462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277749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Patient phenotype discovery · Imaging anomalies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12039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2930" y="322326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⚙ Manufacturing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46070" y="312039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322326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Defect detection (Isolation Forest) · Process clustering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56616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2930" y="366903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🌐 Security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46070" y="356616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66903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Network intrusion (anomaly) · User behaviour clustering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011930"/>
            <a:ext cx="2400300" cy="37719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2930" y="411480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E8F1F5"/>
                </a:solidFill>
                <a:latin typeface="Calibri"/>
              </a:rPr>
              <a:t>📰 Media / content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46070" y="4011930"/>
            <a:ext cx="5863590" cy="37719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4114800"/>
            <a:ext cx="5623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Topic clustering (text embeddings + K-Means) · Recommendation</a:t>
            </a:r>
          </a:p>
        </p:txBody>
      </p:sp>
      <p:pic>
        <p:nvPicPr>
          <p:cNvPr id="34" name="Picture 3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5 rules of thumb for unsupervised pipelines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08760"/>
            <a:ext cx="8298180" cy="4800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645920"/>
            <a:ext cx="8023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1.  ALWAYS scale numeric features before PCA, K-Means, or anything distance-based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91690"/>
            <a:ext cx="8298180" cy="4800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2228850"/>
            <a:ext cx="8023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2.  PCA n_components=2 for visualisation; 80-90% variance for preprocessing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674620"/>
            <a:ext cx="8298180" cy="4800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2811780"/>
            <a:ext cx="8023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3.  K-Means: choose K from elbow + silhouette + business judgement (not silhouette alone)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257550"/>
            <a:ext cx="8298180" cy="4800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3394710"/>
            <a:ext cx="8023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4.  Isolation Forest: contamination is the threshold only; use score_samples() for 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840480"/>
            <a:ext cx="8298180" cy="4800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30" y="3977640"/>
            <a:ext cx="80238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5.  Unsupervised finds structure; humans NAME it — the names are the deliverable</a:t>
            </a:r>
          </a:p>
        </p:txBody>
      </p:sp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What the Numbers Will Look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Milestones across the in-class notebooks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274320" cy="46634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0090" y="1337310"/>
            <a:ext cx="8023860" cy="466344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" y="1460754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PCA — first 2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460754"/>
            <a:ext cx="30861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Capture ~22% of 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9540" y="1460754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alibri"/>
              </a:rPr>
              <a:t>NB 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72234"/>
            <a:ext cx="274320" cy="466344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0090" y="1872234"/>
            <a:ext cx="8023860" cy="466344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" y="1995678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PCA — 80% 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995678"/>
            <a:ext cx="30861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Needs ~8 of 17 components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9540" y="1995678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065A82"/>
                </a:solidFill>
                <a:latin typeface="Calibri"/>
              </a:rPr>
              <a:t>NB 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07158"/>
            <a:ext cx="274320" cy="46634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0090" y="2407158"/>
            <a:ext cx="8023860" cy="466344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" y="2530602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K-Means K=4 silhouette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530602"/>
            <a:ext cx="30861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~0.09 (modest)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9540" y="2530602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C7293"/>
                </a:solidFill>
                <a:latin typeface="Calibri"/>
              </a:rPr>
              <a:t>NB 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942082"/>
            <a:ext cx="274320" cy="466344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0090" y="2942082"/>
            <a:ext cx="8023860" cy="466344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" y="3065526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Cluster sizes (K=4)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065526"/>
            <a:ext cx="30861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3463 · 1138 · 3540 · 1859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9540" y="3065526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1C7293"/>
                </a:solidFill>
                <a:latin typeface="Calibri"/>
              </a:rPr>
              <a:t>NB 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77006"/>
            <a:ext cx="274320" cy="46634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0090" y="3477006"/>
            <a:ext cx="8023860" cy="466344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1540" y="3600450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Isolation Forest @ 0.05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600450"/>
            <a:ext cx="30861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500 anomalies (of 10,000)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9540" y="3600450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96167"/>
                </a:solidFill>
                <a:latin typeface="Calibri"/>
              </a:rPr>
              <a:t>NB 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011930"/>
            <a:ext cx="274320" cy="46634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0090" y="4011930"/>
            <a:ext cx="8023860" cy="466344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1540" y="4135374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Anomaly rate by cluster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4135374"/>
            <a:ext cx="30861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14% in dormant · 3% in loyal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9540" y="4135374"/>
            <a:ext cx="10287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25" b="1">
                <a:solidFill>
                  <a:srgbClr val="F96167"/>
                </a:solidFill>
                <a:latin typeface="Calibri"/>
              </a:rPr>
              <a:t>NB 04</a:t>
            </a:r>
          </a:p>
        </p:txBody>
      </p:sp>
      <p:pic>
        <p:nvPicPr>
          <p:cNvPr id="36" name="Picture 3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PCA Loadings — One More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How features compose principal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8298180" cy="10287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4018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E8F1F5"/>
                </a:solidFill>
                <a:latin typeface="Calibri"/>
              </a:rPr>
              <a:t>The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8308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9E795"/>
                </a:solidFill>
                <a:latin typeface="Consolas"/>
              </a:rPr>
              <a:t>loadings = pd.DataFrame(pca.components_.T, index=feature_names, columns=['PC1','PC2'])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53746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What to look 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29489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• Large |loading| → that original feature CONTRIBUTES STRONGLY to that 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" y="32918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• Sign matters: positive vs negative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36347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• Group features by which PC they load onto — that's the PC's 'name'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" y="3977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• If a PC has uniform |loadings| → it's a 'magnitude' or 'scale' dimension</a:t>
            </a:r>
          </a:p>
        </p:txBody>
      </p:sp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Where to From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unsupervised arc beyond L05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05889"/>
            <a:ext cx="2057400" cy="9601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54304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Beyond PCA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2930" y="1885949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Autoencoders (deep)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03170" y="1405889"/>
            <a:ext cx="620649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4620" y="1611629"/>
            <a:ext cx="593217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Non-linear compression with neural nets. Useful for images and complex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68879"/>
            <a:ext cx="2057400" cy="96012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930" y="2606039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Beyond K-Means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930" y="2948939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Gaussian Mixture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3170" y="2468879"/>
            <a:ext cx="620649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4620" y="2674619"/>
            <a:ext cx="593217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Soft clustering — each point has a probability of belonging to each cluster.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31870"/>
            <a:ext cx="2057400" cy="96012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30" y="366903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Beyond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930" y="4011930"/>
            <a:ext cx="17830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Word/sentence embeddings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03170" y="3531870"/>
            <a:ext cx="6206490" cy="96012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4620" y="3737610"/>
            <a:ext cx="593217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Map words or whole sentences into vector space — then cluster or compare.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50" b="1">
                <a:solidFill>
                  <a:srgbClr val="FFFFFF"/>
                </a:solidFill>
                <a:latin typeface="Trebuchet MS"/>
              </a:rPr>
              <a:t>See You in L06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E8F1F5"/>
                </a:solidFill>
                <a:latin typeface="Calibri"/>
              </a:rPr>
              <a:t>Time Series Forecasting — ETS · ARIMA · ML-based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861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alibri"/>
              </a:rPr>
              <a:t>Before then: finish the L05 assignment (StyleHub + credit-card)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0332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8F1F5"/>
                </a:solidFill>
                <a:latin typeface="Calibri"/>
              </a:rPr>
              <a:t>Or dig into Hierarchical / DBSCAN / UMAP in optional_extensions.ipynb</a:t>
            </a:r>
          </a:p>
        </p:txBody>
      </p:sp>
      <p:pic>
        <p:nvPicPr>
          <p:cNvPr id="7" name="Picture 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IA_1920x1080_1" id="{AE813658-6506-A745-B494-E9623D69A84F}" vid="{98D95D8B-1F05-BF49-9671-2CF52C7BA5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