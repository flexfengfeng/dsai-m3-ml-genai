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Lesson 5 — Unsupervised Learning. Marcus's question from L04 — 'can we find clusters WITHOUT labels?' — is this week's brief. Three algorithms: PCA, K-Means, Isolation Forest. ~90 min slides + ~90 min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recap. Marcus signed off on the L04 gradient boosting model. Then asked a new kind of question: clusters without labels. That's the unsupervised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Unsupervised learning isn't just clustering. Three distinct categories: dimensionality reduction, clustering, and anomaly detection. We cover one algorithm from each — together they're ~90% of unsupervised work in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finds new AXES — principal components — along which the data is most spread out. The first component captures the most variance; the second is the next-most variance perpendicular to PC1; and so on. If most variance lives in a few directions, you can drop the rest without losing much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in sklearn is one line. The key output to look at is explained_variance_ratio_ — how much variance each component captures. Plot it as a scree plot to find the elbow.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fitting PCA, READ the loadings — they tell you what each PC 'means' in original feature terms. Large absolute loadings on a feature mean that feature contributes strongly to that PC. Sign indicates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02_pca.ipynb: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 partitions data into K groups by minimising within-cluster distance. Algorithm: assign each point to its nearest centroid, move centroids to cluster means, repeat. The result: K compact spherical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 doesn't tell you K. You have to decide. Three standard approaches: elbow method (find the bend in inertia), silhouette score (peaks at a 'right' K), and business judgement (4 segments are easier to act on than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clustering, the model gives you numbers (0, 1, 2, 3). The VALUE comes from profiling — for each cluster, compute the mean of every feature and compare to global. Then NAME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03_kmeans.ipynb: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Anomaly detection finds INDIVIDUAL items that look unlike everything else. Clustering finds groups; anomaly detection finds outliers. Same data, different question. Isolation Forest is the industry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Isolation Forest builds many random trees that recursively split the data. Normal points need MANY splits to be isolated; anomalies are isolated in FEW splits. The output: an anomaly score per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contamination parameter is your prior on how many anomalies exist. But the SCORE is what's robust — you can re-threshold after fitting. Operationally, the score is what you should use, not the binary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04_isolation_forest.ipynb: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Friday morning. Sarah has three deliverables: the PCA visualisation for context, the segment table for marketing, and the anomaly list for customer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Marcus's new question — 'can you forecast next quarter's revenue?' — is the engine of L06. Time series forecasting. Different toolkit entirely: ETS, ARIMA, and modern ML-based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parts to the assignment. Part A: segment 8,000 new e-commerce customers (StyleHub). Part B: flag anomalous credit-card transactions for fraud review. Same toolkit, different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and Q&amp;A. Common questions + floor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big lessons from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comparison of the methods covered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to date. L01-L05 covers supervised and unsupervised learning. L06 introduces time series — a different way of looking at data altogether.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scan of real-world applications. The Core L05 toolkit shows up across marketing, ops, fraud, and analytics functions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reference card you can keep open while working. The five things to remember about unsupervised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Numerical results learners will see in the notebooks. These are the milestones for the L05 in-class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reminder about PCA loadings. After fitting, READ the components_ attribute — it's where the interpretability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unsupervised arc beyond L05. Once you have PCA + K-Means + Isolation Forest, the natural extensions are: deep autoencoders, embedding spaces, and topic modelling. All built on the same foundations.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L06 — time series forecasting —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Trebuchet MS"/>
              </a:rPr>
              <a:t>L05 — 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8F1F5"/>
                </a:solidFill>
                <a:latin typeface="Calibri"/>
              </a:rPr>
              <a:t>Sarah's week of finding structure without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F1F5"/>
                </a:solidFill>
                <a:latin typeface="Calibri"/>
              </a:rPr>
              <a:t>PCA · K-Means · Isolation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Format: ~90 min slides · ~90 min hands-on (3 notebooks)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L04 → L05 — from prediction to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Marcus, end of L04: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"Now — what about the customers who DON'T churn but also don't log in for a year?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Can we find natural CLUSTERS of customer behaviour without labels?"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Same dataset, no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11480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10,000 NorthStar customers — `churned` column dropped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No 'right answer'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61772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We're looking for structure, not predicting a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20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Three new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1206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PCA (compress) · K-Means (group) · Isolation Forest (flag)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23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Friday deliverable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62356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Segments + anomaly list for marketing and customer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Three Categories of Unsupervised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One algorithm from each — covers most of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91440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FFFFFF"/>
                </a:solidFill>
                <a:latin typeface="Trebuchet MS"/>
              </a:rPr>
              <a:t>📐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783080"/>
            <a:ext cx="996696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Dimensionality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Squeeze high-dim data into fewer dimensions without losing the signal.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PCA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91440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FFFFFF"/>
                </a:solidFill>
                <a:latin typeface="Trebuchet MS"/>
              </a:rPr>
              <a:t>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246120"/>
            <a:ext cx="996696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3832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Clustering /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404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Group similar items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840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▸ K-Means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09160"/>
            <a:ext cx="91440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FFFFFF"/>
                </a:solidFill>
                <a:latin typeface="Trebuchet MS"/>
              </a:rPr>
              <a:t>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4709160"/>
            <a:ext cx="996696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8463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035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Flag items that look unlike everything else.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303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▸ Isolation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PCA — Principal Component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Find new axes that capture the most variance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554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"Find new axes — PC1, PC2, ... — that capture the data's variance.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If most variance lives in a few axes, the rest are mostly noise. Drop them."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When to reach 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Visualisation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1605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Project 10D customer data into 2D for a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6634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Feed a 5-component representation into a downstream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Decorrelation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16636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PCs are orthogonal — useful before some algorithms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⚠  ALWAYS standardise features before PCA — variance is scale-dependent.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PCA Mechanics + Scree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Read variance per component, decide how many to keep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from sklearn.preprocessing import StandardScaler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from sklearn.decomposition import PCA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scaler = StandardScaler()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X_scaled = scaler.fit_transform(X_numeric)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pca = PCA(n_components=2)     # keep top 2 components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X_2d = pca.fit_transform(X_scaled)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print(pca.explained_variance_ratio_)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# e.g.  [0.42, 0.18]  ← first 2 PCs capture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Reading the scree plot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11064240" cy="1691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Look for the ELBOW — the point where adding more PCs gains little.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For visualisation: keep 2 (it's all that fits on a chart).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For preprocessing: keep enough for 80-90% cumulative variance.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If there is no elbow, your data is mostly uncorrelated — PCA won't compress much.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PCA Loadings — Naming the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each principal component actually represents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7451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PC2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support_tickets_quarter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onsolas"/>
              </a:rPr>
              <a:t>+0.555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591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onsolas"/>
              </a:rPr>
              <a:t>+0.009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110642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249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249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onsolas"/>
              </a:rPr>
              <a:t>+0.452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249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onsolas"/>
              </a:rPr>
              <a:t>−0.405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17520"/>
            <a:ext cx="1106424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avg_review_polarity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906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onsolas"/>
              </a:rPr>
              <a:t>−0.432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0906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onsolas"/>
              </a:rPr>
              <a:t>+0.113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4564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tenure_months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onsolas"/>
              </a:rPr>
              <a:t>+0.352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onsolas"/>
              </a:rPr>
              <a:t>−0.239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2219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last_login_days_ago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2219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onsolas"/>
              </a:rPr>
              <a:t>+0.307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2219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onsolas"/>
              </a:rPr>
              <a:t>+0.468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187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returns_per_purchase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87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onsolas"/>
              </a:rPr>
              <a:t>−0.233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187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onsolas"/>
              </a:rPr>
              <a:t>−0.437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537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num_purchases_quarter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537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onsolas"/>
              </a:rPr>
              <a:t>+0.126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5537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onsolas"/>
              </a:rPr>
              <a:t>+0.591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Sarah's interpretation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rebuchet MS"/>
              </a:rPr>
              <a:t>PC1 → 'frustration': high tickets, age, low reviews. PC2 → 'activity': high purchases, low returns.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onsolas"/>
              </a:rPr>
              <a:t>Open: 02_pca.ipynb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Apply PCA to the preprocessed NorthStar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Read the scree plot — find the elbow.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Project to 2D and interpret the loadings.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K-Means — The Standard Clustering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Partition data into K groups by minimising within-cluster variance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F1F5"/>
                </a:solidFill>
                <a:latin typeface="Calibri"/>
              </a:rPr>
              <a:t>The algorithm (Lloyd's algorithm)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1.  Pick K starting centroids (randomly or with k-means++)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2.  Assign each point to its nearest centroid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3.  Move each centroid to the mean of its assigned points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4.  Repeat from step 2 until centroids stop moving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When K-Means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✓  Compact, roughly spherical clusters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589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✓  Moderate dimensionality (run PCA first if you have &gt; 50 features)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5157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✓  Reasonably balanced cluster sizes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4418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✗  Non-globular shapes (moons, rings) — use DBSCAN instead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Choosing K — Three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Mathematics + judgement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Elbow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317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Plot inertia vs K. Look for the 'bend' where adding more K stops helping much.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974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▸ Run K=2..10. Plot. Find the kink.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73152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20040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Silhouette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490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Per-point measure of cluster fit, averaged. Higher = better.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14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▸ Peak score → that K is mathematically the best.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17720"/>
            <a:ext cx="731520" cy="1280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461772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Business judgement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663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Are 4 segments more actionable than 7? Marketing teams have limits.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321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▸ Don't ignore operational reality.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Cluster Profiling — From Numbers to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makes each cluster distinctive?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280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9280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tenure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9280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9280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9280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last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9280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polarity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89280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Sarah's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95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Cluster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395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55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95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£71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95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0.09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95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21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395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+0.16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95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Loyal long-term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898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Cluster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898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36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898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£71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898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0.13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98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92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898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+0.12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898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Dormant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401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Cluster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401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17 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401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£69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401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0.10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401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21 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401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+0.13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401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New &amp; active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904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Cluster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3904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36 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3904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£69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904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0.31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904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22 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904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+0.18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904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High returns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The Sarah → Marcus translation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rebuchet MS"/>
              </a:rPr>
              <a:t>"Cluster 0 isn't a number. It's our LOYAL LONG-TERM segment — 35% of our base, low return rate, the people we keep happy.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Trebuchet MS"/>
              </a:rPr>
              <a:t>Cluster 1 are the DORMANT — they haven't logged in for three months on average. That's the re-engagement target."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onsolas"/>
              </a:rPr>
              <a:t>Open: 03_kmeans.ipynb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Compute elbow + silhouette for K = 2 to 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Pick K = 4 (or your own choice) and fit K-Means.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Profile each cluster + give them business names.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Anomaly Detection — Find Unusual Individuals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Different question from clustering — same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486400" cy="2743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Clustering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Trebuchet MS"/>
              </a:rPr>
              <a:t>"What GROUPS does my data fall into?"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Trebuchet MS"/>
              </a:rPr>
              <a:t/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Trebuchet MS"/>
              </a:rPr>
              <a:t>→ Output: K labels, one per point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Trebuchet MS"/>
              </a:rPr>
              <a:t/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Trebuchet MS"/>
              </a:rPr>
              <a:t>→ Tool: K-Means, hierarchical, DBSCAN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5486400" cy="2743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E795"/>
                </a:solidFill>
                <a:latin typeface="Calibri"/>
              </a:rPr>
              <a:t>Anomaly detection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Trebuchet MS"/>
              </a:rPr>
              <a:t>"Which INDIVIDUAL points are unusual?"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Trebuchet M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Trebuchet MS"/>
              </a:rPr>
              <a:t>→ Output: score per point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Trebuchet M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Trebuchet MS"/>
              </a:rPr>
              <a:t>→ Tool: Isolation Forest, One-Class SVM, autoencoders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Common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🚨  Fraud detection (banking, e-commerce, insurance)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046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🔧  Manufacturing defects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972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📊  Data quality (corrupt rows, outlier values)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990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🌐  Security / intrusion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Isolation Forest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Random trees isolate normal points; anomalies get isolated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The 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Trebuchet MS"/>
              </a:rPr>
              <a:t>"Build random splits in the data. NORMAL points sit in the dense middle — many splits before they're isolated.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Trebuchet MS"/>
              </a:rPr>
              <a:t>ANOMALIES sit at the edges — they're isolated in just a few splits."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11064240" cy="2286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from sklearn.ensemble import IsolationForest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iso = IsolationForest(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    n_estimators=100,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    contamination=0.05,        # expected fraction of anomalies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    random_state=42,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    n_jobs=-1,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labels = iso.fit_predict(X_scaled)    # -1 = anomaly, +1 = normal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scores = iso.score_samples(X_scaled)  # raw scores (lower = more anomalous)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contamination sets the threshold only. The continuous score is what matters operationally.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contamination = the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score is what's robust; re-threshold to match team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66160" cy="23774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contamination = 0.01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100 flagged from 10,000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Very strict — only the most extreme outliers.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Use when investigation cost is high.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566160" cy="2377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contamination = 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1460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500 flagged from 10,000</a:t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Reasonable default.</a:t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Matches typical 'review the most unusual 5%' workflow.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3566160" cy="2377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contamination = 0.10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1460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1,000 flagged from 10,000</a:t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Permissive — wide net.</a:t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Use when missing anomalies is more costly than reviewing extras.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The practical 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Use score_samples() to get a continuous score per row.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Sort. Pick the top N where N = your team's review capacity (e.g., top 100 / week).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This ignores contamination entirely and lets ops constraints decide.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onsolas"/>
              </a:rPr>
              <a:t>Open: 04_isolation_forest.ipynb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Fit Isolation Forest with contamination=0.05.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Inspect the top 10 most anomalous customers — what makes them weird?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Cross-reference: which clusters from NB 03 generate the most anomalies?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Friday — Sarah's Three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lands on Marcus's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2D PCA visualisation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Visible structure even though we have 10+ features. The picture Marcus sees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461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83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Four named customer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4048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Loyal long-term · Dormant · New &amp; active · High returns.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With size and recommended action per segment.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7091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List of ~500 anomalous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0352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Watch list for the customer success team.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Each one a different combination of unusual signals.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093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Marcus nods. 'OK. Now — sales are seasonal. Can you forecast next quarter\'s revenue?'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F1F5"/>
                </a:solidFill>
                <a:latin typeface="Calibri"/>
              </a:rPr>
              <a:t>Bridge to Lesson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21945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Marcus, after the Friday presentation: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9784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"Great. Segments shipped. Watch list assigned.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Now — our sales are SEASONAL. We need to know quarterly revenue 90 days ahead so ops can plan inventory.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Can you forecast?"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Lesson 6 — Time Series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F1F5"/>
                </a:solidFill>
                <a:latin typeface="Calibri"/>
              </a:rPr>
              <a:t>Classical decomposition · ETS · ARIMA · ML-based forecasting (LightGBM with lag features)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Different toolkit. Same Sarah-week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Before L06 — finish the L05 assignment in notebooks/assignment.ipynb.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E-commerce segmentation + credit-card anomalies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Part A — StyleHub Segments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C7293"/>
                </a:solidFill>
                <a:latin typeface="Consolas"/>
              </a:rPr>
              <a:t>notebooks/assignment.ipynb · Part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8,000 e-commerce customers, 7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Exercise A1: preprocessor + 2D PCA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Exercise A2: choose K with elbow + silhouette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Exercise A3: profile + name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Deliverable: 4-6 named 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303520" cy="4572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Part B — Card Fraud Anomalies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5,000 credit-card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474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Exercise B1: fit Isolation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Exercise B2: surface the top 50 most unusual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46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Deliverable: top-50 watch list +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Q&amp;A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Common questions + the path to L06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💬  Common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How do I choose K when the elbow is smooth?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Should I use PCA components in K-Means or raw features?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Is Isolation Forest better than One-Class SVM?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What if my clusters are non-globular?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How do I evaluate clusters when I have no labels?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6167"/>
                </a:solidFill>
                <a:latin typeface="Calibri"/>
              </a:rPr>
              <a:t>Bring your own questions.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303520" cy="4572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📚  Going deeper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06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Optional notebook covers: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Hierarchical clustering + dendrograms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20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DBSCAN — density-based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9776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UMAP — non-linear visualisation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434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892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Open notebooks/optional_extensions.ipynb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Beyond the algorithms — the practical wisdom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Unsupervised methods FIND structure — humans NAME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K-Means gives you cluster 0, 1, 2, 3. Sarah translates to 'Loyal', 'Dormant', 'New', 'High return'. The names are the deliverable.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461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ALWAYS scale before PCA / K-Means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8620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Both algorithms are variance/distance-based. Unscaled features will be dominated by the largest-range column. StandardScaler is the right default.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7091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920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Anomaly detection surfaces, humans investigate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492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The model can't tell you WHY a customer is anomalous. Look at the feature combinations and write the why yourself.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Method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When to reach for which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Watch out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PCA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Dimensionality reduction; viz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Fast, interpretable, 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Need to scale 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34639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44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K-Means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44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Customer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44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Fast, scalable, well understood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944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Needs K; assumes spherical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3756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47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Isolation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47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Anomaly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47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High dims; fast; standard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447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Tune contamination per 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50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Hierarchical (Ext)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950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Want all K values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50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Dendrogram visualisation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950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O(n²) — slow on big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453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DBSCAN (Ext)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453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Non-globular clusters; outliers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53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No K needed; finds outliers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453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Eps tuning is finicky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956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UMAP (Ext)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956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Non-linear viz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56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Reveals non-linear 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956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Slow; not for preprocessing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Trebuchet MS"/>
              </a:rPr>
              <a:t>L05 —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E795"/>
                </a:solidFill>
                <a:latin typeface="Calibri"/>
              </a:rPr>
              <a:t>Sarah's journey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6060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Pre-trained model on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606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'how sure are we?'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546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Confidence intervals + A/B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54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'train your own?'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033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Logistic regression +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703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'make it better?'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519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Random Forest + Gradient Boosting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251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'cluster customers?'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E795"/>
                </a:solidFill>
                <a:latin typeface="Trebuchet MS"/>
              </a:rPr>
              <a:t>L05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800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E795"/>
                </a:solidFill>
                <a:latin typeface="Calibri"/>
              </a:rPr>
              <a:t>PCA · K-Means · 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800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→ 'forecast revenue?'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3492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Time Series 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349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Coming next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F1F5"/>
                </a:solidFill>
                <a:latin typeface="Trebuchet MS"/>
              </a:rPr>
              <a:t>Thank you. Assignment in notebooks/assignment.ipynb — due before L06.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Where Unsupervised Lives in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PCA + K-Means + Isolation Forest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📊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178308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9202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Customer segmentation (K-Means) · Product affinity (clustering)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🏦 Finance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237744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51460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Fraud (Isolation Forest) · Risk segmentation (clustering)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🛒 E-commerce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97180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10896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Browse patterns (PCA + clustering) · Cart-abandon outliers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🏥 Healthcare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356616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70332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Patient phenotype discovery · Imaging anomalies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⚙ Manufacturing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416052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42976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Defect detection (Isolation Forest) · Process clustering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5488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🌐 Security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475488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48920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Network intrusion (anomaly) · User behaviour clustering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4924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📰 Media / content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534924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548640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Topic clustering (text embeddings + K-Means) · Recommendation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5 rules of thumb for unsupervised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1.  ALWAYS scale numeric features before PCA, K-Means, or anything distance-based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2.  PCA n_components=2 for visualisation; 80-90% variance for preprocessing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3.  K-Means: choose K from elbow + silhouette + business judgement (not silhouette alone)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4340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4.  Isolation Forest: contamination is the threshold only; use score_samples() for 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5.  Unsupervised finds structure; humans NAME it — the names are the 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What the Numbers Will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Milestones across the in-class notebooks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65760" cy="6217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783080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PCA — first 2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4767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Capture ~22% of 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9476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alibri"/>
              </a:rPr>
              <a:t>NB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96312"/>
            <a:ext cx="365760" cy="6217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496312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6090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PCA — 80%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60904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Needs ~8 of 17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66090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alibri"/>
              </a:rPr>
              <a:t>NB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9544"/>
            <a:ext cx="365760" cy="6217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3209544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37413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K-Means K=4 silhouette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74136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~0.09 (modest)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374136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NB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22776"/>
            <a:ext cx="365760" cy="6217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922776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08736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Cluster sizes (K=4)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8736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3463 · 1138 · 3540 · 1859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08736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NB 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36008"/>
            <a:ext cx="365760" cy="6217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4636008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80060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Isolation Forest @ 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0060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500 anomalies (of 10,000)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8006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NB 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49240"/>
            <a:ext cx="365760" cy="6217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" y="5349240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51383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Anomaly rate by cluster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1383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14% in dormant · 3% in loyal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5138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NB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PCA Loadings — One More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How features compose principal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F1F5"/>
                </a:solidFill>
                <a:latin typeface="Calibri"/>
              </a:rPr>
              <a:t>The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loadings = pd.DataFrame(pca.components_.T, index=feature_names, columns=['PC1','PC2'])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What to look 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• Large |loading| → that original feature CONTRIBUTES STRONGLY to that 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• Sign matters: positive vs negative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• Group features by which PC they load onto — that's the PC's 'name'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• If a PC has uniform |loadings| → it's a 'magnitude' or 'scale' dimension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Without loading interpretation, PCA is just a dimensionality magic trick. WITH it, PCA is genuine EDA.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Where to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unsupervised arc beyond L05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274320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39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Beyond PCA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59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Autoencoders (deep)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74519"/>
            <a:ext cx="827532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48839"/>
            <a:ext cx="7909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Non-linear compression with neural nets. Useful for images and complex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91839"/>
            <a:ext cx="274320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747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Beyond K-Means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Gaussian Mixture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291839"/>
            <a:ext cx="827532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59"/>
            <a:ext cx="7909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Soft clustering — each point has a probability of belonging to each cluster.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2743200" cy="1280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Beyond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Word/sentence embeddings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4709160"/>
            <a:ext cx="827532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983480"/>
            <a:ext cx="7909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Map words or whole sentences into vector space — then cluster or compare.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L05 — Slide 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Trebuchet MS"/>
              </a:rPr>
              <a:t>See You in L06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8F1F5"/>
                </a:solidFill>
                <a:latin typeface="Calibri"/>
              </a:rPr>
              <a:t>Time Series Forecasting — ETS · ARIMA · ML-based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Before then: finish the L05 assignment (StyleHub + credit-card)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Or dig into Hierarchical / DBSCAN / UMAP in optional_extensions.ipynb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